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L4，以及审计恢复能力已经具备；第二，对最强通用 Agent 的得分率为百分之八十二点五；第三，事实证据维度和二十二点九分钟的平均耗时仍是规模化验证的主要约束。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六页说明了系统如何落实要求，这一页开始展示真实产品效果。交互过程、能力画像和研究报告已经形成三类可验收产物，分别对应执行记录、能力收敛和正式交付。后面三页将逐一展开，而不是只停留在架构说明。</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代表任务中，前端记录了四百二十六个事件、八十个关键事件、六个已完成的专用 Agent 和九个保存点。架构总览、S1 到 S6 结果、L1 到 L4 循环和关键事件在同一页面连续呈现，因此运行问题可以被观察、定位和恢复。这使复杂研究链具备了工程复盘条件。</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能力画像把研究判断收敛为六个具体装备方向，其中一个被列为高优先级，平均置信度为百分之七十九。每个方向不仅有名称，还保留任务场景、谱系位置、核心差距、作战机理和演化路径。这里展示的价值，是把发散研究转化成可排序、可验证的装备发展候选。</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已经沉淀为可连续阅读和直接评审的正式报告。第一层组织需求与场景，第二层组织技术攻关和风险，第三层组织能力画像与效能贡献。报告正文同时保留事实、分析推断和待验证假设的边界，避免把概念潜力写成既成能力。</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Agent 是十五胜三平两负，得分率百分之八十二点五，百分之九十五区间为百分之六十五到百分之九十五；对纯 LLM 和智谱 GLM 均为十九胜一平零负，得分率百分之九十七点五。右侧截图展示了前端保存的二十条 Query 真实结果和八维票型。</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进一步看最强基线，完整方法在任务完成、因果机理、能力映射、军事价值、前瞻性、体系稳健和不确定性七个维度领先。唯一明显反向的是证据与事实可靠性，完整方法、平票、通用 Agent 的票型为十六比十四比五十。这说明下一阶段最优先的工作不是继续增加推理层次，而是把正文结论和可靠证据强绑定。</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对纯 LLM 的分维度结果显示，完整方法在八个评测维度全部领先。事实证据、不确定性验证和前瞻创新三个维度均为八十比零比零，说明双 Judge 在这三项上全部支持完整方法。其余维度的基线胜票也不超过七票，优势不是由单一维度拉动，而是覆盖任务完成、机理、能力映射和军事价值的整体提升。</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对智谱 GLM 的结果同样保持跨维度稳定优势。事实证据、不确定性验证和体系稳健三个维度均为八十比零比零；任务完成、因果机理、能力映射和军事价值均为七十八比零比二。前瞻创新为七十六比一比三，是该组中基线胜票最多的维度，但仍不改变整体领先结论。</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质量优势伴随着明显的运行成本。完整方法平均耗时二十二点九分钟，约为通用 Agent 的七点五倍，但平均来源数也达到十四点三。建议采用轻量筛选、按需升级深研、复用证据缓存和控制并行预算的分层策略。</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并关闭质量循环。合并后的结果覆盖十条 Query 和双 Judge，仍定位为探索性证据。</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合并后十条 Query 中，完整方法对去多源基线为百分之六十对百分之四十，差值二十个百分点；对去制胜机理为百分之九十五对百分之五，差值九十个百分点。制胜机理的贡献信号依然最强，多源基线则呈方向性增益。由于控制组版本和样本条件仍有限，这些差值不直接解释为严格因果效应。</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建议下一阶段批准三个工作包。第一，启动证据质量专项，完成正文与证据卡强绑定、关键数字核验和来源分级；第二，完成五十条全量 Benchmark，并固定版本和预注册口径；第三，开展同版本消融复测，同时记录质量、时延和成本。完成这三项后，项目才能从初步有效走向稳定可信和可规模化。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image" Target="../media/image_7b7e9609043c8e48.jpg"/>
  <Relationship Id="rId4" Type="http://schemas.openxmlformats.org/officeDocument/2006/relationships/image" Target="../media/image_63f4e2b2d2d45dd9.jpg"/>
  <Relationship Id="rId5"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e9609043c8e48.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f4e2b2d2d45dd9.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5582bb8542edad.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b33c501a1a755.jp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210217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82.5%</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15 胜 · 3 平 · 2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21264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 16:14:50</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核心发散能力已形成可验收前端闭环</a:t>
              </a:r>
            </a:p>
          </p:txBody>
        </p:sp>
        <p:sp>
          <p:nvSpPr>
            <p:cNvPr id="3" name="TextBox 3"/>
            <p:cNvSpPr txBox="1"/>
            <p:nvPr/>
          </p:nvSpPr>
          <p:spPr>
            <a:xfrm>
              <a:off x="600456" y="1043940"/>
              <a:ext cx="421035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过程可回放 · 画像可追溯 · 报告可评审</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grpSp>
      <p:grpSp>
        <p:nvGrpSpPr>
          <p:cNvPr id="8" name="Group 8"/>
          <p:cNvGrpSpPr/>
          <p:nvPr/>
        </p:nvGrpSpPr>
        <p:grpSpPr>
          <a:xfrm>
            <a:off x="590550" y="1789748"/>
            <a:ext cx="1939290" cy="962025"/>
            <a:chOff x="590550" y="1789748"/>
            <a:chExt cx="1939290" cy="962025"/>
          </a:xfrm>
        </p:grpSpPr>
        <p:sp>
          <p:nvSpPr>
            <p:cNvPr id="6" name="TextBox 6"/>
            <p:cNvSpPr txBox="1"/>
            <p:nvPr/>
          </p:nvSpPr>
          <p:spPr>
            <a:xfrm>
              <a:off x="590550" y="17897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3</a:t>
              </a:r>
            </a:p>
          </p:txBody>
        </p:sp>
        <p:sp>
          <p:nvSpPr>
            <p:cNvPr id="7" name="TextBox 7"/>
            <p:cNvSpPr txBox="1"/>
            <p:nvPr/>
          </p:nvSpPr>
          <p:spPr>
            <a:xfrm>
              <a:off x="1057656" y="20726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类可验收产物</a:t>
              </a:r>
            </a:p>
          </p:txBody>
        </p:sp>
      </p:grpSp>
      <p:grpSp>
        <p:nvGrpSpPr>
          <p:cNvPr id="13" name="Group 13"/>
          <p:cNvGrpSpPr/>
          <p:nvPr/>
        </p:nvGrpSpPr>
        <p:grpSpPr>
          <a:xfrm>
            <a:off x="600456" y="2762250"/>
            <a:ext cx="3361944" cy="2671001"/>
            <a:chOff x="600456" y="2762250"/>
            <a:chExt cx="3361944" cy="2671001"/>
          </a:xfrm>
        </p:grpSpPr>
        <p:sp>
          <p:nvSpPr>
            <p:cNvPr id="9" name="Rectangle 9"/>
            <p:cNvSpPr/>
            <p:nvPr/>
          </p:nvSpPr>
          <p:spPr>
            <a:xfrm>
              <a:off x="609600" y="2762250"/>
              <a:ext cx="3352800" cy="1885950"/>
            </a:xfrm>
            <a:prstGeom prst="rect">
              <a:avLst/>
            </a:prstGeom>
            <a:solidFill>
              <a:schemeClr val="accent5"/>
            </a:solidFill>
            <a:ln w="19050">
              <a:solidFill>
                <a:schemeClr val="accent2"/>
              </a:solidFill>
            </a:ln>
          </p:spPr>
        </p:sp>
        <p:pic>
          <p:nvPicPr>
            <p:cNvPr id="10" name="Image 10"/>
            <p:cNvPicPr>
              <a:picLocks noChangeAspect="1"/>
            </p:cNvPicPr>
            <p:nvPr/>
          </p:nvPicPr>
          <p:blipFill>
            <a:blip r:embed="rId2"/>
            <a:stretch>
              <a:fillRect/>
            </a:stretch>
          </p:blipFill>
          <p:spPr>
            <a:xfrm>
              <a:off x="669860" y="2819400"/>
              <a:ext cx="3232279" cy="1819275"/>
            </a:xfrm>
            <a:prstGeom prst="rect">
              <a:avLst/>
            </a:prstGeom>
          </p:spPr>
        </p:pic>
        <p:sp>
          <p:nvSpPr>
            <p:cNvPr id="11" name="TextBox 11"/>
            <p:cNvSpPr txBox="1"/>
            <p:nvPr/>
          </p:nvSpPr>
          <p:spPr>
            <a:xfrm>
              <a:off x="600456" y="4815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交互过程</a:t>
              </a:r>
            </a:p>
          </p:txBody>
        </p:sp>
        <p:sp>
          <p:nvSpPr>
            <p:cNvPr id="12" name="TextBox 12"/>
            <p:cNvSpPr txBox="1"/>
            <p:nvPr/>
          </p:nvSpPr>
          <p:spPr>
            <a:xfrm>
              <a:off x="602742" y="5169218"/>
              <a:ext cx="200373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426 个事件 · 9 个保存点</a:t>
              </a:r>
            </a:p>
          </p:txBody>
        </p:sp>
      </p:grpSp>
      <p:grpSp>
        <p:nvGrpSpPr>
          <p:cNvPr id="18" name="Group 18"/>
          <p:cNvGrpSpPr/>
          <p:nvPr/>
        </p:nvGrpSpPr>
        <p:grpSpPr>
          <a:xfrm>
            <a:off x="4410456" y="2381250"/>
            <a:ext cx="3361944" cy="2671001"/>
            <a:chOff x="4410456" y="2381250"/>
            <a:chExt cx="3361944" cy="2671001"/>
          </a:xfrm>
        </p:grpSpPr>
        <p:sp>
          <p:nvSpPr>
            <p:cNvPr id="14" name="Rectangle 14"/>
            <p:cNvSpPr/>
            <p:nvPr/>
          </p:nvSpPr>
          <p:spPr>
            <a:xfrm>
              <a:off x="4419600" y="2381250"/>
              <a:ext cx="3352800" cy="1885950"/>
            </a:xfrm>
            <a:prstGeom prst="rect">
              <a:avLst/>
            </a:prstGeom>
            <a:solidFill>
              <a:schemeClr val="accent5"/>
            </a:solidFill>
            <a:ln w="19050">
              <a:solidFill>
                <a:schemeClr val="accent3"/>
              </a:solidFill>
            </a:ln>
          </p:spPr>
        </p:sp>
        <p:pic>
          <p:nvPicPr>
            <p:cNvPr id="15" name="Image 15"/>
            <p:cNvPicPr>
              <a:picLocks noChangeAspect="1"/>
            </p:cNvPicPr>
            <p:nvPr/>
          </p:nvPicPr>
          <p:blipFill>
            <a:blip r:embed="rId3"/>
            <a:stretch>
              <a:fillRect/>
            </a:stretch>
          </p:blipFill>
          <p:spPr>
            <a:xfrm>
              <a:off x="4479860" y="2438400"/>
              <a:ext cx="3232279" cy="1819275"/>
            </a:xfrm>
            <a:prstGeom prst="rect">
              <a:avLst/>
            </a:prstGeom>
          </p:spPr>
        </p:pic>
        <p:sp>
          <p:nvSpPr>
            <p:cNvPr id="16" name="TextBox 16"/>
            <p:cNvSpPr txBox="1"/>
            <p:nvPr/>
          </p:nvSpPr>
          <p:spPr>
            <a:xfrm>
              <a:off x="4410456" y="4434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能力画像</a:t>
              </a:r>
            </a:p>
          </p:txBody>
        </p:sp>
        <p:sp>
          <p:nvSpPr>
            <p:cNvPr id="17" name="TextBox 17"/>
            <p:cNvSpPr txBox="1"/>
            <p:nvPr/>
          </p:nvSpPr>
          <p:spPr>
            <a:xfrm>
              <a:off x="4412742" y="4788218"/>
              <a:ext cx="258529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6 个装备方向 · 79% 平均置信度</a:t>
              </a:r>
            </a:p>
          </p:txBody>
        </p:sp>
      </p:grpSp>
      <p:grpSp>
        <p:nvGrpSpPr>
          <p:cNvPr id="23" name="Group 23"/>
          <p:cNvGrpSpPr/>
          <p:nvPr/>
        </p:nvGrpSpPr>
        <p:grpSpPr>
          <a:xfrm>
            <a:off x="8220456" y="2000250"/>
            <a:ext cx="3361944" cy="2671001"/>
            <a:chOff x="8220456" y="2000250"/>
            <a:chExt cx="3361944" cy="2671001"/>
          </a:xfrm>
        </p:grpSpPr>
        <p:sp>
          <p:nvSpPr>
            <p:cNvPr id="19" name="Rectangle 19"/>
            <p:cNvSpPr/>
            <p:nvPr/>
          </p:nvSpPr>
          <p:spPr>
            <a:xfrm>
              <a:off x="8229600" y="2000250"/>
              <a:ext cx="3352800" cy="1885950"/>
            </a:xfrm>
            <a:prstGeom prst="rect">
              <a:avLst/>
            </a:prstGeom>
            <a:solidFill>
              <a:schemeClr val="accent5"/>
            </a:solidFill>
            <a:ln w="19050">
              <a:solidFill>
                <a:schemeClr val="accent6"/>
              </a:solidFill>
            </a:ln>
          </p:spPr>
        </p:sp>
        <p:pic>
          <p:nvPicPr>
            <p:cNvPr id="20" name="Image 20"/>
            <p:cNvPicPr>
              <a:picLocks noChangeAspect="1"/>
            </p:cNvPicPr>
            <p:nvPr/>
          </p:nvPicPr>
          <p:blipFill>
            <a:blip r:embed="rId4"/>
            <a:stretch>
              <a:fillRect/>
            </a:stretch>
          </p:blipFill>
          <p:spPr>
            <a:xfrm>
              <a:off x="8289860" y="2057400"/>
              <a:ext cx="3232279" cy="1819275"/>
            </a:xfrm>
            <a:prstGeom prst="rect">
              <a:avLst/>
            </a:prstGeom>
          </p:spPr>
        </p:pic>
        <p:sp>
          <p:nvSpPr>
            <p:cNvPr id="21" name="TextBox 21"/>
            <p:cNvSpPr txBox="1"/>
            <p:nvPr/>
          </p:nvSpPr>
          <p:spPr>
            <a:xfrm>
              <a:off x="8220456" y="4053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研究报告</a:t>
              </a:r>
            </a:p>
          </p:txBody>
        </p:sp>
        <p:sp>
          <p:nvSpPr>
            <p:cNvPr id="22" name="TextBox 22"/>
            <p:cNvSpPr txBox="1"/>
            <p:nvPr/>
          </p:nvSpPr>
          <p:spPr>
            <a:xfrm>
              <a:off x="8222742" y="4407218"/>
              <a:ext cx="222182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三层九项正文 · 可直接评审</a:t>
              </a:r>
            </a:p>
          </p:txBody>
        </p:sp>
      </p:grpSp>
      <p:grpSp>
        <p:nvGrpSpPr>
          <p:cNvPr id="31" name="Group 31"/>
          <p:cNvGrpSpPr/>
          <p:nvPr/>
        </p:nvGrpSpPr>
        <p:grpSpPr>
          <a:xfrm>
            <a:off x="533400" y="5905500"/>
            <a:ext cx="11125200" cy="556451"/>
            <a:chOff x="533400" y="5905500"/>
            <a:chExt cx="11125200" cy="556451"/>
          </a:xfrm>
        </p:grpSpPr>
        <p:sp>
          <p:nvSpPr>
            <p:cNvPr id="24" name="Line 24"/>
            <p:cNvSpPr/>
            <p:nvPr/>
          </p:nvSpPr>
          <p:spPr>
            <a:xfrm>
              <a:off x="609600" y="5981700"/>
              <a:ext cx="10972800" cy="9525"/>
            </a:xfrm>
            <a:custGeom>
              <a:avLst/>
              <a:gdLst/>
              <a:ahLst/>
              <a:cxnLst/>
              <a:rect l="l" t="t" r="r" b="b"/>
              <a:pathLst>
                <a:path w="10972800" h="9525">
                  <a:moveTo>
                    <a:pt x="0" y="0"/>
                  </a:moveTo>
                  <a:lnTo>
                    <a:pt x="10972800" y="0"/>
                  </a:lnTo>
                </a:path>
              </a:pathLst>
            </a:custGeom>
            <a:noFill/>
            <a:ln w="19050">
              <a:solidFill>
                <a:srgbClr val="B7C7D6"/>
              </a:solidFill>
            </a:ln>
          </p:spPr>
        </p:sp>
        <p:sp>
          <p:nvSpPr>
            <p:cNvPr id="25" name="Ellipse 25"/>
            <p:cNvSpPr/>
            <p:nvPr/>
          </p:nvSpPr>
          <p:spPr>
            <a:xfrm>
              <a:off x="533400" y="5905500"/>
              <a:ext cx="152400" cy="152400"/>
            </a:xfrm>
            <a:prstGeom prst="ellipse">
              <a:avLst/>
            </a:prstGeom>
            <a:solidFill>
              <a:schemeClr val="accent2"/>
            </a:solidFill>
            <a:ln>
              <a:noFill/>
            </a:ln>
          </p:spPr>
        </p:sp>
        <p:sp>
          <p:nvSpPr>
            <p:cNvPr id="26" name="Ellipse 26"/>
            <p:cNvSpPr/>
            <p:nvPr/>
          </p:nvSpPr>
          <p:spPr>
            <a:xfrm>
              <a:off x="6019800" y="5905500"/>
              <a:ext cx="152400" cy="152400"/>
            </a:xfrm>
            <a:prstGeom prst="ellipse">
              <a:avLst/>
            </a:prstGeom>
            <a:solidFill>
              <a:schemeClr val="accent3"/>
            </a:solidFill>
            <a:ln>
              <a:noFill/>
            </a:ln>
          </p:spPr>
        </p:sp>
        <p:sp>
          <p:nvSpPr>
            <p:cNvPr id="27" name="Ellipse 27"/>
            <p:cNvSpPr/>
            <p:nvPr/>
          </p:nvSpPr>
          <p:spPr>
            <a:xfrm>
              <a:off x="11506200" y="5905500"/>
              <a:ext cx="152400" cy="152400"/>
            </a:xfrm>
            <a:prstGeom prst="ellipse">
              <a:avLst/>
            </a:prstGeom>
            <a:solidFill>
              <a:schemeClr val="accent6"/>
            </a:solidFill>
            <a:ln>
              <a:noFill/>
            </a:ln>
          </p:spPr>
        </p:sp>
        <p:sp>
          <p:nvSpPr>
            <p:cNvPr id="28" name="TextBox 28"/>
            <p:cNvSpPr txBox="1"/>
            <p:nvPr/>
          </p:nvSpPr>
          <p:spPr>
            <a:xfrm>
              <a:off x="602742" y="61979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执行记录</a:t>
              </a:r>
            </a:p>
          </p:txBody>
        </p:sp>
        <p:sp>
          <p:nvSpPr>
            <p:cNvPr id="29" name="TextBox 29"/>
            <p:cNvSpPr txBox="1"/>
            <p:nvPr/>
          </p:nvSpPr>
          <p:spPr>
            <a:xfrm>
              <a:off x="5725668" y="61979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能力收敛</a:t>
              </a:r>
            </a:p>
          </p:txBody>
        </p:sp>
        <p:sp>
          <p:nvSpPr>
            <p:cNvPr id="30" name="TextBox 30"/>
            <p:cNvSpPr txBox="1"/>
            <p:nvPr/>
          </p:nvSpPr>
          <p:spPr>
            <a:xfrm>
              <a:off x="10848594" y="61979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正式交付</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交互过程把复杂研究链变成可审计执行记录</a:t>
              </a:r>
            </a:p>
          </p:txBody>
        </p:sp>
        <p:sp>
          <p:nvSpPr>
            <p:cNvPr id="3" name="TextBox 3"/>
            <p:cNvSpPr txBox="1"/>
            <p:nvPr/>
          </p:nvSpPr>
          <p:spPr>
            <a:xfrm>
              <a:off x="600456" y="1043940"/>
              <a:ext cx="687994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架构总览、S1–S6、L1–L4 与关键事件在同一任务中连续呈现</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grpSp>
      <p:grpSp>
        <p:nvGrpSpPr>
          <p:cNvPr id="9" name="Group 9"/>
          <p:cNvGrpSpPr/>
          <p:nvPr/>
        </p:nvGrpSpPr>
        <p:grpSpPr>
          <a:xfrm>
            <a:off x="602742" y="1676400"/>
            <a:ext cx="7664958" cy="4728401"/>
            <a:chOff x="602742" y="1676400"/>
            <a:chExt cx="7664958" cy="4728401"/>
          </a:xfrm>
        </p:grpSpPr>
        <p:sp>
          <p:nvSpPr>
            <p:cNvPr id="6" name="Rectangle 6"/>
            <p:cNvSpPr/>
            <p:nvPr/>
          </p:nvSpPr>
          <p:spPr>
            <a:xfrm>
              <a:off x="609600" y="1676400"/>
              <a:ext cx="7658100" cy="430530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429500" cy="4181475"/>
            </a:xfrm>
            <a:prstGeom prst="rect">
              <a:avLst/>
            </a:prstGeom>
          </p:spPr>
        </p:pic>
        <p:sp>
          <p:nvSpPr>
            <p:cNvPr id="8" name="TextBox 8"/>
            <p:cNvSpPr txBox="1"/>
            <p:nvPr/>
          </p:nvSpPr>
          <p:spPr>
            <a:xfrm>
              <a:off x="602742" y="6140768"/>
              <a:ext cx="473887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真实任务：强干扰、弱通信条件下低信息依赖精确打击研究</a:t>
              </a:r>
            </a:p>
          </p:txBody>
        </p:sp>
      </p:grpSp>
      <p:grpSp>
        <p:nvGrpSpPr>
          <p:cNvPr id="14" name="Group 14"/>
          <p:cNvGrpSpPr/>
          <p:nvPr/>
        </p:nvGrpSpPr>
        <p:grpSpPr>
          <a:xfrm>
            <a:off x="8648700" y="1676400"/>
            <a:ext cx="2933700" cy="895350"/>
            <a:chOff x="8648700" y="1676400"/>
            <a:chExt cx="2933700" cy="895350"/>
          </a:xfrm>
        </p:grpSpPr>
        <p:sp>
          <p:nvSpPr>
            <p:cNvPr id="10" name="Rectangle 10"/>
            <p:cNvSpPr/>
            <p:nvPr/>
          </p:nvSpPr>
          <p:spPr>
            <a:xfrm>
              <a:off x="8648700" y="1676400"/>
              <a:ext cx="2933700" cy="895350"/>
            </a:xfrm>
            <a:prstGeom prst="rect">
              <a:avLst/>
            </a:prstGeom>
            <a:solidFill>
              <a:schemeClr val="accent5"/>
            </a:solidFill>
            <a:ln>
              <a:noFill/>
            </a:ln>
          </p:spPr>
        </p:sp>
        <p:sp>
          <p:nvSpPr>
            <p:cNvPr id="11" name="TextBox 11"/>
            <p:cNvSpPr txBox="1"/>
            <p:nvPr/>
          </p:nvSpPr>
          <p:spPr>
            <a:xfrm>
              <a:off x="8865870" y="18335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426</a:t>
              </a:r>
            </a:p>
          </p:txBody>
        </p:sp>
        <p:sp>
          <p:nvSpPr>
            <p:cNvPr id="12" name="TextBox 12"/>
            <p:cNvSpPr txBox="1"/>
            <p:nvPr/>
          </p:nvSpPr>
          <p:spPr>
            <a:xfrm>
              <a:off x="9611106" y="18726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全部事件</a:t>
              </a:r>
            </a:p>
          </p:txBody>
        </p:sp>
        <p:sp>
          <p:nvSpPr>
            <p:cNvPr id="13" name="TextBox 13"/>
            <p:cNvSpPr txBox="1"/>
            <p:nvPr/>
          </p:nvSpPr>
          <p:spPr>
            <a:xfrm>
              <a:off x="8870442" y="223551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完整运行轨迹可回放</a:t>
              </a:r>
            </a:p>
          </p:txBody>
        </p:sp>
      </p:grpSp>
      <p:grpSp>
        <p:nvGrpSpPr>
          <p:cNvPr id="19" name="Group 19"/>
          <p:cNvGrpSpPr/>
          <p:nvPr/>
        </p:nvGrpSpPr>
        <p:grpSpPr>
          <a:xfrm>
            <a:off x="8648700" y="2724150"/>
            <a:ext cx="2933700" cy="895350"/>
            <a:chOff x="8648700" y="2724150"/>
            <a:chExt cx="2933700" cy="895350"/>
          </a:xfrm>
        </p:grpSpPr>
        <p:sp>
          <p:nvSpPr>
            <p:cNvPr id="15" name="Rectangle 15"/>
            <p:cNvSpPr/>
            <p:nvPr/>
          </p:nvSpPr>
          <p:spPr>
            <a:xfrm>
              <a:off x="8648700" y="2724150"/>
              <a:ext cx="2933700" cy="895350"/>
            </a:xfrm>
            <a:prstGeom prst="rect">
              <a:avLst/>
            </a:prstGeom>
            <a:solidFill>
              <a:schemeClr val="accent5"/>
            </a:solidFill>
            <a:ln>
              <a:noFill/>
            </a:ln>
          </p:spPr>
        </p:sp>
        <p:sp>
          <p:nvSpPr>
            <p:cNvPr id="16" name="TextBox 16"/>
            <p:cNvSpPr txBox="1"/>
            <p:nvPr/>
          </p:nvSpPr>
          <p:spPr>
            <a:xfrm>
              <a:off x="8865870" y="288131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17" name="TextBox 17"/>
            <p:cNvSpPr txBox="1"/>
            <p:nvPr/>
          </p:nvSpPr>
          <p:spPr>
            <a:xfrm>
              <a:off x="9458706" y="292036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关键事件</a:t>
              </a:r>
            </a:p>
          </p:txBody>
        </p:sp>
        <p:sp>
          <p:nvSpPr>
            <p:cNvPr id="18" name="TextBox 18"/>
            <p:cNvSpPr txBox="1"/>
            <p:nvPr/>
          </p:nvSpPr>
          <p:spPr>
            <a:xfrm>
              <a:off x="8870442" y="32832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快速定位高价值节点</a:t>
              </a:r>
            </a:p>
          </p:txBody>
        </p:sp>
      </p:grpSp>
      <p:grpSp>
        <p:nvGrpSpPr>
          <p:cNvPr id="24" name="Group 24"/>
          <p:cNvGrpSpPr/>
          <p:nvPr/>
        </p:nvGrpSpPr>
        <p:grpSpPr>
          <a:xfrm>
            <a:off x="8648700" y="3771900"/>
            <a:ext cx="2933700" cy="895350"/>
            <a:chOff x="8648700" y="3771900"/>
            <a:chExt cx="2933700" cy="895350"/>
          </a:xfrm>
        </p:grpSpPr>
        <p:sp>
          <p:nvSpPr>
            <p:cNvPr id="20" name="Rectangle 20"/>
            <p:cNvSpPr/>
            <p:nvPr/>
          </p:nvSpPr>
          <p:spPr>
            <a:xfrm>
              <a:off x="8648700" y="3771900"/>
              <a:ext cx="2933700" cy="895350"/>
            </a:xfrm>
            <a:prstGeom prst="rect">
              <a:avLst/>
            </a:prstGeom>
            <a:solidFill>
              <a:srgbClr val="EAF5F0"/>
            </a:solidFill>
            <a:ln>
              <a:noFill/>
            </a:ln>
          </p:spPr>
        </p:sp>
        <p:sp>
          <p:nvSpPr>
            <p:cNvPr id="21" name="TextBox 21"/>
            <p:cNvSpPr txBox="1"/>
            <p:nvPr/>
          </p:nvSpPr>
          <p:spPr>
            <a:xfrm>
              <a:off x="8865870" y="3929062"/>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6/6</a:t>
              </a:r>
            </a:p>
          </p:txBody>
        </p:sp>
        <p:sp>
          <p:nvSpPr>
            <p:cNvPr id="22" name="TextBox 22"/>
            <p:cNvSpPr txBox="1"/>
            <p:nvPr/>
          </p:nvSpPr>
          <p:spPr>
            <a:xfrm>
              <a:off x="9592056" y="3968115"/>
              <a:ext cx="9070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 Agent</a:t>
              </a:r>
            </a:p>
          </p:txBody>
        </p:sp>
        <p:sp>
          <p:nvSpPr>
            <p:cNvPr id="23" name="TextBox 23"/>
            <p:cNvSpPr txBox="1"/>
            <p:nvPr/>
          </p:nvSpPr>
          <p:spPr>
            <a:xfrm>
              <a:off x="8870442" y="4331018"/>
              <a:ext cx="146761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专用分析全部完成</a:t>
              </a:r>
            </a:p>
          </p:txBody>
        </p:sp>
      </p:grpSp>
      <p:grpSp>
        <p:nvGrpSpPr>
          <p:cNvPr id="29" name="Group 29"/>
          <p:cNvGrpSpPr/>
          <p:nvPr/>
        </p:nvGrpSpPr>
        <p:grpSpPr>
          <a:xfrm>
            <a:off x="8648700" y="4819650"/>
            <a:ext cx="2933700" cy="895350"/>
            <a:chOff x="8648700" y="4819650"/>
            <a:chExt cx="2933700" cy="895350"/>
          </a:xfrm>
        </p:grpSpPr>
        <p:sp>
          <p:nvSpPr>
            <p:cNvPr id="25" name="Rectangle 25"/>
            <p:cNvSpPr/>
            <p:nvPr/>
          </p:nvSpPr>
          <p:spPr>
            <a:xfrm>
              <a:off x="8648700" y="4819650"/>
              <a:ext cx="2933700" cy="895350"/>
            </a:xfrm>
            <a:prstGeom prst="rect">
              <a:avLst/>
            </a:prstGeom>
            <a:solidFill>
              <a:srgbClr val="FFF4E8"/>
            </a:solidFill>
            <a:ln>
              <a:noFill/>
            </a:ln>
          </p:spPr>
        </p:sp>
        <p:sp>
          <p:nvSpPr>
            <p:cNvPr id="26" name="TextBox 26"/>
            <p:cNvSpPr txBox="1"/>
            <p:nvPr/>
          </p:nvSpPr>
          <p:spPr>
            <a:xfrm>
              <a:off x="8865870" y="4976812"/>
              <a:ext cx="197782"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9</a:t>
              </a:r>
            </a:p>
          </p:txBody>
        </p:sp>
        <p:sp>
          <p:nvSpPr>
            <p:cNvPr id="27" name="TextBox 27"/>
            <p:cNvSpPr txBox="1"/>
            <p:nvPr/>
          </p:nvSpPr>
          <p:spPr>
            <a:xfrm>
              <a:off x="9230106" y="501586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保存点</a:t>
              </a:r>
            </a:p>
          </p:txBody>
        </p:sp>
        <p:sp>
          <p:nvSpPr>
            <p:cNvPr id="28" name="TextBox 28"/>
            <p:cNvSpPr txBox="1"/>
            <p:nvPr/>
          </p:nvSpPr>
          <p:spPr>
            <a:xfrm>
              <a:off x="8870442" y="53787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支持恢复与定向复跑</a:t>
              </a:r>
            </a:p>
          </p:txBody>
        </p:sp>
      </p:grpSp>
      <p:grpSp>
        <p:nvGrpSpPr>
          <p:cNvPr id="32" name="Group 32"/>
          <p:cNvGrpSpPr/>
          <p:nvPr/>
        </p:nvGrpSpPr>
        <p:grpSpPr>
          <a:xfrm>
            <a:off x="8639556" y="5905500"/>
            <a:ext cx="2942844" cy="519684"/>
            <a:chOff x="8639556" y="5905500"/>
            <a:chExt cx="2942844" cy="519684"/>
          </a:xfrm>
        </p:grpSpPr>
        <p:sp>
          <p:nvSpPr>
            <p:cNvPr id="30" name="Line 30"/>
            <p:cNvSpPr/>
            <p:nvPr/>
          </p:nvSpPr>
          <p:spPr>
            <a:xfrm>
              <a:off x="8648700" y="5905500"/>
              <a:ext cx="2933700" cy="9525"/>
            </a:xfrm>
            <a:custGeom>
              <a:avLst/>
              <a:gdLst/>
              <a:ahLst/>
              <a:cxnLst/>
              <a:rect l="l" t="t" r="r" b="b"/>
              <a:pathLst>
                <a:path w="2933700" h="9525">
                  <a:moveTo>
                    <a:pt x="0" y="0"/>
                  </a:moveTo>
                  <a:lnTo>
                    <a:pt x="2933700" y="0"/>
                  </a:lnTo>
                </a:path>
              </a:pathLst>
            </a:custGeom>
            <a:noFill/>
            <a:ln w="28575">
              <a:solidFill>
                <a:schemeClr val="accent1"/>
              </a:solidFill>
            </a:ln>
          </p:spPr>
        </p:sp>
        <p:sp>
          <p:nvSpPr>
            <p:cNvPr id="31" name="TextBox 31"/>
            <p:cNvSpPr txBox="1"/>
            <p:nvPr/>
          </p:nvSpPr>
          <p:spPr>
            <a:xfrm>
              <a:off x="8639556" y="6073140"/>
              <a:ext cx="289336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可观察 · 可定位 · 可恢复</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276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能力画像已能给出装备方向、谱系位置与实现路径</a:t>
              </a:r>
            </a:p>
          </p:txBody>
        </p:sp>
        <p:sp>
          <p:nvSpPr>
            <p:cNvPr id="3" name="TextBox 3"/>
            <p:cNvSpPr txBox="1"/>
            <p:nvPr/>
          </p:nvSpPr>
          <p:spPr>
            <a:xfrm>
              <a:off x="600456" y="1043940"/>
              <a:ext cx="631850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从场景与制胜机理，收敛到可排序、可验证的装备能力方向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grpSp>
      <p:grpSp>
        <p:nvGrpSpPr>
          <p:cNvPr id="13" name="Group 13"/>
          <p:cNvGrpSpPr/>
          <p:nvPr/>
        </p:nvGrpSpPr>
        <p:grpSpPr>
          <a:xfrm>
            <a:off x="590550" y="1675448"/>
            <a:ext cx="2781300" cy="1969769"/>
            <a:chOff x="590550" y="1675448"/>
            <a:chExt cx="2781300" cy="1969769"/>
          </a:xfrm>
        </p:grpSpPr>
        <p:sp>
          <p:nvSpPr>
            <p:cNvPr id="6" name="TextBox 6"/>
            <p:cNvSpPr txBox="1"/>
            <p:nvPr/>
          </p:nvSpPr>
          <p:spPr>
            <a:xfrm>
              <a:off x="590550" y="16754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6</a:t>
              </a:r>
            </a:p>
          </p:txBody>
        </p:sp>
        <p:sp>
          <p:nvSpPr>
            <p:cNvPr id="7" name="TextBox 7"/>
            <p:cNvSpPr txBox="1"/>
            <p:nvPr/>
          </p:nvSpPr>
          <p:spPr>
            <a:xfrm>
              <a:off x="1095756" y="19583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个装备方向</a:t>
              </a:r>
            </a:p>
          </p:txBody>
        </p:sp>
        <p:sp>
          <p:nvSpPr>
            <p:cNvPr id="8" name="Line 8"/>
            <p:cNvSpPr/>
            <p:nvPr/>
          </p:nvSpPr>
          <p:spPr>
            <a:xfrm>
              <a:off x="609600" y="2476500"/>
              <a:ext cx="2762250" cy="9525"/>
            </a:xfrm>
            <a:custGeom>
              <a:avLst/>
              <a:gdLst/>
              <a:ahLst/>
              <a:cxnLst/>
              <a:rect l="l" t="t" r="r" b="b"/>
              <a:pathLst>
                <a:path w="2762250" h="9525">
                  <a:moveTo>
                    <a:pt x="0" y="0"/>
                  </a:moveTo>
                  <a:lnTo>
                    <a:pt x="2762250" y="0"/>
                  </a:lnTo>
                </a:path>
              </a:pathLst>
            </a:custGeom>
            <a:noFill/>
            <a:ln w="19050">
              <a:solidFill>
                <a:srgbClr val="B7C7D6"/>
              </a:solidFill>
            </a:ln>
          </p:spPr>
        </p:sp>
        <p:sp>
          <p:nvSpPr>
            <p:cNvPr id="9" name="TextBox 9"/>
            <p:cNvSpPr txBox="1"/>
            <p:nvPr/>
          </p:nvSpPr>
          <p:spPr>
            <a:xfrm>
              <a:off x="598170" y="27289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0" name="TextBox 10"/>
            <p:cNvSpPr txBox="1"/>
            <p:nvPr/>
          </p:nvSpPr>
          <p:spPr>
            <a:xfrm>
              <a:off x="962406" y="276796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个高优先级</a:t>
              </a:r>
            </a:p>
          </p:txBody>
        </p:sp>
        <p:sp>
          <p:nvSpPr>
            <p:cNvPr id="11" name="TextBox 11"/>
            <p:cNvSpPr txBox="1"/>
            <p:nvPr/>
          </p:nvSpPr>
          <p:spPr>
            <a:xfrm>
              <a:off x="598170" y="3205162"/>
              <a:ext cx="61123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79%</a:t>
              </a:r>
            </a:p>
          </p:txBody>
        </p:sp>
        <p:sp>
          <p:nvSpPr>
            <p:cNvPr id="12" name="TextBox 12"/>
            <p:cNvSpPr txBox="1"/>
            <p:nvPr/>
          </p:nvSpPr>
          <p:spPr>
            <a:xfrm>
              <a:off x="1286256" y="324421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平均置信度</a:t>
              </a:r>
            </a:p>
          </p:txBody>
        </p:sp>
      </p:grpSp>
      <p:grpSp>
        <p:nvGrpSpPr>
          <p:cNvPr id="17" name="Group 17"/>
          <p:cNvGrpSpPr/>
          <p:nvPr/>
        </p:nvGrpSpPr>
        <p:grpSpPr>
          <a:xfrm>
            <a:off x="3955542" y="1676400"/>
            <a:ext cx="7626858" cy="4728401"/>
            <a:chOff x="3955542" y="1676400"/>
            <a:chExt cx="7626858" cy="4728401"/>
          </a:xfrm>
        </p:grpSpPr>
        <p:sp>
          <p:nvSpPr>
            <p:cNvPr id="14" name="Rectangle 14"/>
            <p:cNvSpPr/>
            <p:nvPr/>
          </p:nvSpPr>
          <p:spPr>
            <a:xfrm>
              <a:off x="3962400" y="1676400"/>
              <a:ext cx="7620000" cy="4286250"/>
            </a:xfrm>
            <a:prstGeom prst="rect">
              <a:avLst/>
            </a:prstGeom>
            <a:solidFill>
              <a:schemeClr val="accent5"/>
            </a:solidFill>
            <a:ln w="19050">
              <a:solidFill>
                <a:schemeClr val="accent2"/>
              </a:solidFill>
            </a:ln>
          </p:spPr>
        </p:sp>
        <p:pic>
          <p:nvPicPr>
            <p:cNvPr id="15" name="Image 15"/>
            <p:cNvPicPr>
              <a:picLocks noChangeAspect="1"/>
            </p:cNvPicPr>
            <p:nvPr/>
          </p:nvPicPr>
          <p:blipFill>
            <a:blip r:embed="rId2"/>
            <a:stretch>
              <a:fillRect/>
            </a:stretch>
          </p:blipFill>
          <p:spPr>
            <a:xfrm>
              <a:off x="4076700" y="1790700"/>
              <a:ext cx="7391400" cy="4162425"/>
            </a:xfrm>
            <a:prstGeom prst="rect">
              <a:avLst/>
            </a:prstGeom>
          </p:spPr>
        </p:pic>
        <p:sp>
          <p:nvSpPr>
            <p:cNvPr id="16" name="TextBox 16"/>
            <p:cNvSpPr txBox="1"/>
            <p:nvPr/>
          </p:nvSpPr>
          <p:spPr>
            <a:xfrm>
              <a:off x="3955542" y="6140768"/>
              <a:ext cx="673798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前端保留：方向编号、优先级、置信度、任务场景、能力描述、核心差距与演化路径</a:t>
              </a:r>
            </a:p>
          </p:txBody>
        </p:sp>
      </p:grpSp>
      <p:grpSp>
        <p:nvGrpSpPr>
          <p:cNvPr id="24" name="Group 24"/>
          <p:cNvGrpSpPr/>
          <p:nvPr/>
        </p:nvGrpSpPr>
        <p:grpSpPr>
          <a:xfrm>
            <a:off x="600456" y="4149090"/>
            <a:ext cx="3279090" cy="2046161"/>
            <a:chOff x="600456" y="4149090"/>
            <a:chExt cx="3279090" cy="2046161"/>
          </a:xfrm>
        </p:grpSpPr>
        <p:sp>
          <p:nvSpPr>
            <p:cNvPr id="18" name="TextBox 18"/>
            <p:cNvSpPr txBox="1"/>
            <p:nvPr/>
          </p:nvSpPr>
          <p:spPr>
            <a:xfrm>
              <a:off x="600456" y="41490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能力谱系示例</a:t>
              </a:r>
            </a:p>
          </p:txBody>
        </p:sp>
        <p:sp>
          <p:nvSpPr>
            <p:cNvPr id="19" name="Rectangle 19"/>
            <p:cNvSpPr/>
            <p:nvPr/>
          </p:nvSpPr>
          <p:spPr>
            <a:xfrm>
              <a:off x="609600" y="4552950"/>
              <a:ext cx="76200" cy="1219200"/>
            </a:xfrm>
            <a:prstGeom prst="rect">
              <a:avLst/>
            </a:prstGeom>
            <a:solidFill>
              <a:schemeClr val="accent2"/>
            </a:solidFill>
            <a:ln>
              <a:noFill/>
            </a:ln>
          </p:spPr>
        </p:sp>
        <p:sp>
          <p:nvSpPr>
            <p:cNvPr id="20" name="TextBox 20"/>
            <p:cNvSpPr txBox="1"/>
            <p:nvPr/>
          </p:nvSpPr>
          <p:spPr>
            <a:xfrm>
              <a:off x="831342" y="46739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现役纵深导弹火力升级</a:t>
              </a:r>
            </a:p>
          </p:txBody>
        </p:sp>
        <p:sp>
          <p:nvSpPr>
            <p:cNvPr id="21" name="TextBox 21"/>
            <p:cNvSpPr txBox="1"/>
            <p:nvPr/>
          </p:nvSpPr>
          <p:spPr>
            <a:xfrm>
              <a:off x="831342" y="50358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低信息远程精确导弹族</a:t>
              </a:r>
            </a:p>
          </p:txBody>
        </p:sp>
        <p:sp>
          <p:nvSpPr>
            <p:cNvPr id="22" name="TextBox 22"/>
            <p:cNvSpPr txBox="1"/>
            <p:nvPr/>
          </p:nvSpPr>
          <p:spPr>
            <a:xfrm>
              <a:off x="831342" y="53978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低信息侦打巡飞弹</a:t>
              </a:r>
            </a:p>
          </p:txBody>
        </p:sp>
        <p:sp>
          <p:nvSpPr>
            <p:cNvPr id="23" name="TextBox 23"/>
            <p:cNvSpPr txBox="1"/>
            <p:nvPr/>
          </p:nvSpPr>
          <p:spPr>
            <a:xfrm>
              <a:off x="602742" y="5931218"/>
              <a:ext cx="327680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不仅“提方向”，还给出验证与建设路径</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9371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三层九项已沉淀为可直接评审的深度研究报告</a:t>
              </a:r>
            </a:p>
          </p:txBody>
        </p:sp>
        <p:sp>
          <p:nvSpPr>
            <p:cNvPr id="3" name="TextBox 3"/>
            <p:cNvSpPr txBox="1"/>
            <p:nvPr/>
          </p:nvSpPr>
          <p:spPr>
            <a:xfrm>
              <a:off x="600456" y="1043940"/>
              <a:ext cx="656082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统一交付结构覆盖场景、机理、能力、技术、风险与效能贡献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9" name="Group 9"/>
          <p:cNvGrpSpPr/>
          <p:nvPr/>
        </p:nvGrpSpPr>
        <p:grpSpPr>
          <a:xfrm>
            <a:off x="602742" y="1676400"/>
            <a:ext cx="7531608" cy="4728401"/>
            <a:chOff x="602742" y="1676400"/>
            <a:chExt cx="7531608" cy="4728401"/>
          </a:xfrm>
        </p:grpSpPr>
        <p:sp>
          <p:nvSpPr>
            <p:cNvPr id="6" name="Rectangle 6"/>
            <p:cNvSpPr/>
            <p:nvPr/>
          </p:nvSpPr>
          <p:spPr>
            <a:xfrm>
              <a:off x="609600" y="1676400"/>
              <a:ext cx="7524750" cy="428625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296150" cy="4105275"/>
            </a:xfrm>
            <a:prstGeom prst="rect">
              <a:avLst/>
            </a:prstGeom>
          </p:spPr>
        </p:pic>
        <p:sp>
          <p:nvSpPr>
            <p:cNvPr id="8" name="TextBox 8"/>
            <p:cNvSpPr txBox="1"/>
            <p:nvPr/>
          </p:nvSpPr>
          <p:spPr>
            <a:xfrm>
              <a:off x="602742" y="6140768"/>
              <a:ext cx="528408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真实报告正文：标题、三级结构、列表与表格均可连续阅读和评审</a:t>
              </a:r>
            </a:p>
          </p:txBody>
        </p:sp>
      </p:grpSp>
      <p:grpSp>
        <p:nvGrpSpPr>
          <p:cNvPr id="14" name="Group 14"/>
          <p:cNvGrpSpPr/>
          <p:nvPr/>
        </p:nvGrpSpPr>
        <p:grpSpPr>
          <a:xfrm>
            <a:off x="8515350" y="1676400"/>
            <a:ext cx="3067050" cy="1066800"/>
            <a:chOff x="8515350" y="1676400"/>
            <a:chExt cx="3067050" cy="1066800"/>
          </a:xfrm>
        </p:grpSpPr>
        <p:sp>
          <p:nvSpPr>
            <p:cNvPr id="10" name="Rectangle 10"/>
            <p:cNvSpPr/>
            <p:nvPr/>
          </p:nvSpPr>
          <p:spPr>
            <a:xfrm>
              <a:off x="8515350" y="1676400"/>
              <a:ext cx="3067050" cy="1066800"/>
            </a:xfrm>
            <a:prstGeom prst="rect">
              <a:avLst/>
            </a:prstGeom>
            <a:solidFill>
              <a:srgbClr val="EAF1F8"/>
            </a:solidFill>
            <a:ln>
              <a:noFill/>
            </a:ln>
          </p:spPr>
        </p:sp>
        <p:sp>
          <p:nvSpPr>
            <p:cNvPr id="11" name="TextBox 11"/>
            <p:cNvSpPr txBox="1"/>
            <p:nvPr/>
          </p:nvSpPr>
          <p:spPr>
            <a:xfrm>
              <a:off x="8732520" y="17954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12" name="TextBox 12"/>
            <p:cNvSpPr txBox="1"/>
            <p:nvPr/>
          </p:nvSpPr>
          <p:spPr>
            <a:xfrm>
              <a:off x="9249156" y="1824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需求挖掘层</a:t>
              </a:r>
            </a:p>
          </p:txBody>
        </p:sp>
        <p:sp>
          <p:nvSpPr>
            <p:cNvPr id="13" name="TextBox 13"/>
            <p:cNvSpPr txBox="1"/>
            <p:nvPr/>
          </p:nvSpPr>
          <p:spPr>
            <a:xfrm>
              <a:off x="8737092" y="22545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场景 · 战法/机理 · 能力特征</a:t>
              </a:r>
            </a:p>
          </p:txBody>
        </p:sp>
      </p:grpSp>
      <p:grpSp>
        <p:nvGrpSpPr>
          <p:cNvPr id="19" name="Group 19"/>
          <p:cNvGrpSpPr/>
          <p:nvPr/>
        </p:nvGrpSpPr>
        <p:grpSpPr>
          <a:xfrm>
            <a:off x="8515350" y="2914650"/>
            <a:ext cx="3067050" cy="1066800"/>
            <a:chOff x="8515350" y="2914650"/>
            <a:chExt cx="3067050" cy="1066800"/>
          </a:xfrm>
        </p:grpSpPr>
        <p:sp>
          <p:nvSpPr>
            <p:cNvPr id="15" name="Rectangle 15"/>
            <p:cNvSpPr/>
            <p:nvPr/>
          </p:nvSpPr>
          <p:spPr>
            <a:xfrm>
              <a:off x="8515350" y="2914650"/>
              <a:ext cx="3067050" cy="1066800"/>
            </a:xfrm>
            <a:prstGeom prst="rect">
              <a:avLst/>
            </a:prstGeom>
            <a:solidFill>
              <a:srgbClr val="EAF5F0"/>
            </a:solidFill>
            <a:ln>
              <a:noFill/>
            </a:ln>
          </p:spPr>
        </p:sp>
        <p:sp>
          <p:nvSpPr>
            <p:cNvPr id="16" name="TextBox 16"/>
            <p:cNvSpPr txBox="1"/>
            <p:nvPr/>
          </p:nvSpPr>
          <p:spPr>
            <a:xfrm>
              <a:off x="8732520" y="303371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7" name="TextBox 17"/>
            <p:cNvSpPr txBox="1"/>
            <p:nvPr/>
          </p:nvSpPr>
          <p:spPr>
            <a:xfrm>
              <a:off x="9249156" y="30632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技术攻关层</a:t>
              </a:r>
            </a:p>
          </p:txBody>
        </p:sp>
        <p:sp>
          <p:nvSpPr>
            <p:cNvPr id="18" name="TextBox 18"/>
            <p:cNvSpPr txBox="1"/>
            <p:nvPr/>
          </p:nvSpPr>
          <p:spPr>
            <a:xfrm>
              <a:off x="8737092" y="3492818"/>
              <a:ext cx="26125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实现途径 · 核心技术 · 耦合风险</a:t>
              </a:r>
            </a:p>
          </p:txBody>
        </p:sp>
      </p:grpSp>
      <p:grpSp>
        <p:nvGrpSpPr>
          <p:cNvPr id="24" name="Group 24"/>
          <p:cNvGrpSpPr/>
          <p:nvPr/>
        </p:nvGrpSpPr>
        <p:grpSpPr>
          <a:xfrm>
            <a:off x="8515350" y="4152900"/>
            <a:ext cx="3067050" cy="1066800"/>
            <a:chOff x="8515350" y="4152900"/>
            <a:chExt cx="3067050" cy="1066800"/>
          </a:xfrm>
        </p:grpSpPr>
        <p:sp>
          <p:nvSpPr>
            <p:cNvPr id="20" name="Rectangle 20"/>
            <p:cNvSpPr/>
            <p:nvPr/>
          </p:nvSpPr>
          <p:spPr>
            <a:xfrm>
              <a:off x="8515350" y="4152900"/>
              <a:ext cx="3067050" cy="1066800"/>
            </a:xfrm>
            <a:prstGeom prst="rect">
              <a:avLst/>
            </a:prstGeom>
            <a:solidFill>
              <a:srgbClr val="FFF4E8"/>
            </a:solidFill>
            <a:ln>
              <a:noFill/>
            </a:ln>
          </p:spPr>
        </p:sp>
        <p:sp>
          <p:nvSpPr>
            <p:cNvPr id="21" name="TextBox 21"/>
            <p:cNvSpPr txBox="1"/>
            <p:nvPr/>
          </p:nvSpPr>
          <p:spPr>
            <a:xfrm>
              <a:off x="8732520" y="42719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03</a:t>
              </a:r>
            </a:p>
          </p:txBody>
        </p:sp>
        <p:sp>
          <p:nvSpPr>
            <p:cNvPr id="22" name="TextBox 22"/>
            <p:cNvSpPr txBox="1"/>
            <p:nvPr/>
          </p:nvSpPr>
          <p:spPr>
            <a:xfrm>
              <a:off x="9249156" y="43014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能力与效能层</a:t>
              </a:r>
            </a:p>
          </p:txBody>
        </p:sp>
        <p:sp>
          <p:nvSpPr>
            <p:cNvPr id="23" name="TextBox 23"/>
            <p:cNvSpPr txBox="1"/>
            <p:nvPr/>
          </p:nvSpPr>
          <p:spPr>
            <a:xfrm>
              <a:off x="8737092" y="4731068"/>
              <a:ext cx="27942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装备画像 · 验证评估 · 优先级抓手</a:t>
              </a:r>
            </a:p>
          </p:txBody>
        </p:sp>
      </p:grpSp>
      <p:grpSp>
        <p:nvGrpSpPr>
          <p:cNvPr id="28" name="Group 28"/>
          <p:cNvGrpSpPr/>
          <p:nvPr/>
        </p:nvGrpSpPr>
        <p:grpSpPr>
          <a:xfrm>
            <a:off x="8506206" y="5486400"/>
            <a:ext cx="3076194" cy="823151"/>
            <a:chOff x="8506206" y="5486400"/>
            <a:chExt cx="3076194" cy="823151"/>
          </a:xfrm>
        </p:grpSpPr>
        <p:sp>
          <p:nvSpPr>
            <p:cNvPr id="25" name="Line 25"/>
            <p:cNvSpPr/>
            <p:nvPr/>
          </p:nvSpPr>
          <p:spPr>
            <a:xfrm>
              <a:off x="8515350" y="5486400"/>
              <a:ext cx="3067050" cy="9525"/>
            </a:xfrm>
            <a:custGeom>
              <a:avLst/>
              <a:gdLst/>
              <a:ahLst/>
              <a:cxnLst/>
              <a:rect l="l" t="t" r="r" b="b"/>
              <a:pathLst>
                <a:path w="3067050" h="9525">
                  <a:moveTo>
                    <a:pt x="0" y="0"/>
                  </a:moveTo>
                  <a:lnTo>
                    <a:pt x="3067050" y="0"/>
                  </a:lnTo>
                </a:path>
              </a:pathLst>
            </a:custGeom>
            <a:noFill/>
            <a:ln w="28575">
              <a:solidFill>
                <a:schemeClr val="accent1"/>
              </a:solidFill>
            </a:ln>
          </p:spPr>
        </p:sp>
        <p:sp>
          <p:nvSpPr>
            <p:cNvPr id="26" name="TextBox 26"/>
            <p:cNvSpPr txBox="1"/>
            <p:nvPr/>
          </p:nvSpPr>
          <p:spPr>
            <a:xfrm>
              <a:off x="8506206" y="5654040"/>
              <a:ext cx="238450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事实 → 推断 → 待验证</a:t>
              </a:r>
            </a:p>
          </p:txBody>
        </p:sp>
        <p:sp>
          <p:nvSpPr>
            <p:cNvPr id="27" name="TextBox 27"/>
            <p:cNvSpPr txBox="1"/>
            <p:nvPr/>
          </p:nvSpPr>
          <p:spPr>
            <a:xfrm>
              <a:off x="8508492" y="6045518"/>
              <a:ext cx="273977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正文显式保留证据边界与失效条件</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909888"/>
                <a:ext cx="876300" cy="2043112"/>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542571" y="253841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82.5%</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前端结果证据：15胜3平2负及八维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39392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Agent：15胜3平2负，95% CI 65%–95%</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514286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Agent 的八维票型</a:t>
              </a:r>
            </a:p>
          </p:txBody>
        </p:sp>
        <p:sp>
          <p:nvSpPr>
            <p:cNvPr id="3" name="TextBox 3"/>
            <p:cNvSpPr txBox="1"/>
            <p:nvPr/>
          </p:nvSpPr>
          <p:spPr>
            <a:xfrm>
              <a:off x="600456" y="1024890"/>
              <a:ext cx="316839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七维领先，一维证据明显落后</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14</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643438" cy="228600"/>
              </a:xfrm>
              <a:prstGeom prst="rect">
                <a:avLst/>
              </a:prstGeom>
              <a:solidFill>
                <a:schemeClr val="accent2"/>
              </a:solidFill>
              <a:ln>
                <a:noFill/>
              </a:ln>
            </p:spPr>
          </p:sp>
          <p:sp>
            <p:nvSpPr>
              <p:cNvPr id="9" name="Rectangle 9"/>
              <p:cNvSpPr/>
              <p:nvPr/>
            </p:nvSpPr>
            <p:spPr>
              <a:xfrm>
                <a:off x="7500938" y="1981200"/>
                <a:ext cx="142875" cy="228600"/>
              </a:xfrm>
              <a:prstGeom prst="rect">
                <a:avLst/>
              </a:prstGeom>
              <a:solidFill>
                <a:srgbClr val="B7C7D6"/>
              </a:solidFill>
              <a:ln>
                <a:noFill/>
              </a:ln>
            </p:spPr>
          </p:sp>
          <p:sp>
            <p:nvSpPr>
              <p:cNvPr id="10" name="Rectangle 10"/>
              <p:cNvSpPr/>
              <p:nvPr/>
            </p:nvSpPr>
            <p:spPr>
              <a:xfrm>
                <a:off x="7643812" y="1981200"/>
                <a:ext cx="928688" cy="228600"/>
              </a:xfrm>
              <a:prstGeom prst="rect">
                <a:avLst/>
              </a:prstGeom>
              <a:solidFill>
                <a:schemeClr val="accent6"/>
              </a:solidFill>
              <a:ln>
                <a:noFill/>
              </a:ln>
            </p:spPr>
          </p:sp>
          <p:sp>
            <p:nvSpPr>
              <p:cNvPr id="11" name="TextBox 11"/>
              <p:cNvSpPr txBox="1"/>
              <p:nvPr/>
            </p:nvSpPr>
            <p:spPr>
              <a:xfrm>
                <a:off x="8737092" y="2025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65:2:13</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1143000" cy="228600"/>
              </a:xfrm>
              <a:prstGeom prst="rect">
                <a:avLst/>
              </a:prstGeom>
              <a:solidFill>
                <a:schemeClr val="accent2"/>
              </a:solidFill>
              <a:ln>
                <a:noFill/>
              </a:ln>
            </p:spPr>
          </p:sp>
          <p:sp>
            <p:nvSpPr>
              <p:cNvPr id="14" name="Rectangle 14"/>
              <p:cNvSpPr/>
              <p:nvPr/>
            </p:nvSpPr>
            <p:spPr>
              <a:xfrm>
                <a:off x="4000500" y="2457450"/>
                <a:ext cx="1000125" cy="228600"/>
              </a:xfrm>
              <a:prstGeom prst="rect">
                <a:avLst/>
              </a:prstGeom>
              <a:solidFill>
                <a:srgbClr val="B7C7D6"/>
              </a:solidFill>
              <a:ln>
                <a:noFill/>
              </a:ln>
            </p:spPr>
          </p:sp>
          <p:sp>
            <p:nvSpPr>
              <p:cNvPr id="15" name="Rectangle 15"/>
              <p:cNvSpPr/>
              <p:nvPr/>
            </p:nvSpPr>
            <p:spPr>
              <a:xfrm>
                <a:off x="5000625" y="2457450"/>
                <a:ext cx="3571875"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16:14:50</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857750" cy="228600"/>
              </a:xfrm>
              <a:prstGeom prst="rect">
                <a:avLst/>
              </a:prstGeom>
              <a:solidFill>
                <a:schemeClr val="accent2"/>
              </a:solidFill>
              <a:ln>
                <a:noFill/>
              </a:ln>
            </p:spPr>
          </p:sp>
          <p:sp>
            <p:nvSpPr>
              <p:cNvPr id="19" name="Rectangle 19"/>
              <p:cNvSpPr/>
              <p:nvPr/>
            </p:nvSpPr>
            <p:spPr>
              <a:xfrm>
                <a:off x="7715250" y="2933700"/>
                <a:ext cx="857250"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4929188" cy="228600"/>
              </a:xfrm>
              <a:prstGeom prst="rect">
                <a:avLst/>
              </a:prstGeom>
              <a:solidFill>
                <a:schemeClr val="accent2"/>
              </a:solidFill>
              <a:ln>
                <a:noFill/>
              </a:ln>
            </p:spPr>
          </p:sp>
          <p:sp>
            <p:nvSpPr>
              <p:cNvPr id="23" name="Rectangle 23"/>
              <p:cNvSpPr/>
              <p:nvPr/>
            </p:nvSpPr>
            <p:spPr>
              <a:xfrm>
                <a:off x="7786688" y="3409950"/>
                <a:ext cx="71438" cy="228600"/>
              </a:xfrm>
              <a:prstGeom prst="rect">
                <a:avLst/>
              </a:prstGeom>
              <a:solidFill>
                <a:srgbClr val="B7C7D6"/>
              </a:solidFill>
              <a:ln>
                <a:noFill/>
              </a:ln>
            </p:spPr>
          </p:sp>
          <p:sp>
            <p:nvSpPr>
              <p:cNvPr id="24" name="Rectangle 24"/>
              <p:cNvSpPr/>
              <p:nvPr/>
            </p:nvSpPr>
            <p:spPr>
              <a:xfrm>
                <a:off x="7858125" y="3409950"/>
                <a:ext cx="714375" cy="228600"/>
              </a:xfrm>
              <a:prstGeom prst="rect">
                <a:avLst/>
              </a:prstGeom>
              <a:solidFill>
                <a:schemeClr val="accent6"/>
              </a:solidFill>
              <a:ln>
                <a:noFill/>
              </a:ln>
            </p:spPr>
          </p:sp>
          <p:sp>
            <p:nvSpPr>
              <p:cNvPr id="25" name="TextBox 25"/>
              <p:cNvSpPr txBox="1"/>
              <p:nvPr/>
            </p:nvSpPr>
            <p:spPr>
              <a:xfrm>
                <a:off x="8737092" y="3454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69:1:10</a:t>
                </a:r>
              </a:p>
            </p:txBody>
          </p:sp>
          <p:sp>
            <p:nvSpPr>
              <p:cNvPr id="26" name="TextBox 26"/>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7" name="Rectangle 27"/>
              <p:cNvSpPr/>
              <p:nvPr/>
            </p:nvSpPr>
            <p:spPr>
              <a:xfrm>
                <a:off x="2857500" y="3886200"/>
                <a:ext cx="4286250" cy="228600"/>
              </a:xfrm>
              <a:prstGeom prst="rect">
                <a:avLst/>
              </a:prstGeom>
              <a:solidFill>
                <a:schemeClr val="accent2"/>
              </a:solidFill>
              <a:ln>
                <a:noFill/>
              </a:ln>
            </p:spPr>
          </p:sp>
          <p:sp>
            <p:nvSpPr>
              <p:cNvPr id="28" name="Rectangle 28"/>
              <p:cNvSpPr/>
              <p:nvPr/>
            </p:nvSpPr>
            <p:spPr>
              <a:xfrm>
                <a:off x="7143750" y="3886200"/>
                <a:ext cx="285750" cy="228600"/>
              </a:xfrm>
              <a:prstGeom prst="rect">
                <a:avLst/>
              </a:prstGeom>
              <a:solidFill>
                <a:srgbClr val="B7C7D6"/>
              </a:solidFill>
              <a:ln>
                <a:noFill/>
              </a:ln>
            </p:spPr>
          </p:sp>
          <p:sp>
            <p:nvSpPr>
              <p:cNvPr id="29" name="Rectangle 29"/>
              <p:cNvSpPr/>
              <p:nvPr/>
            </p:nvSpPr>
            <p:spPr>
              <a:xfrm>
                <a:off x="7429500" y="3886200"/>
                <a:ext cx="1143000" cy="228600"/>
              </a:xfrm>
              <a:prstGeom prst="rect">
                <a:avLst/>
              </a:prstGeom>
              <a:solidFill>
                <a:schemeClr val="accent6"/>
              </a:solidFill>
              <a:ln>
                <a:noFill/>
              </a:ln>
            </p:spPr>
          </p:sp>
          <p:sp>
            <p:nvSpPr>
              <p:cNvPr id="30" name="TextBox 30"/>
              <p:cNvSpPr txBox="1"/>
              <p:nvPr/>
            </p:nvSpPr>
            <p:spPr>
              <a:xfrm>
                <a:off x="8737092" y="3930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60:4:16</a:t>
                </a:r>
              </a:p>
            </p:txBody>
          </p:sp>
          <p:sp>
            <p:nvSpPr>
              <p:cNvPr id="31" name="TextBox 31"/>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2" name="Rectangle 32"/>
              <p:cNvSpPr/>
              <p:nvPr/>
            </p:nvSpPr>
            <p:spPr>
              <a:xfrm>
                <a:off x="2857500" y="4362450"/>
                <a:ext cx="4929188" cy="228600"/>
              </a:xfrm>
              <a:prstGeom prst="rect">
                <a:avLst/>
              </a:prstGeom>
              <a:solidFill>
                <a:schemeClr val="accent2"/>
              </a:solidFill>
              <a:ln>
                <a:noFill/>
              </a:ln>
            </p:spPr>
          </p:sp>
          <p:sp>
            <p:nvSpPr>
              <p:cNvPr id="33" name="Rectangle 33"/>
              <p:cNvSpPr/>
              <p:nvPr/>
            </p:nvSpPr>
            <p:spPr>
              <a:xfrm>
                <a:off x="7786688" y="4362450"/>
                <a:ext cx="785812" cy="228600"/>
              </a:xfrm>
              <a:prstGeom prst="rect">
                <a:avLst/>
              </a:prstGeom>
              <a:solidFill>
                <a:schemeClr val="accent6"/>
              </a:solidFill>
              <a:ln>
                <a:noFill/>
              </a:ln>
            </p:spPr>
          </p:sp>
          <p:sp>
            <p:nvSpPr>
              <p:cNvPr id="34" name="TextBox 34"/>
              <p:cNvSpPr txBox="1"/>
              <p:nvPr/>
            </p:nvSpPr>
            <p:spPr>
              <a:xfrm>
                <a:off x="8737092" y="44072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69:0:11</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5072062" cy="228600"/>
              </a:xfrm>
              <a:prstGeom prst="rect">
                <a:avLst/>
              </a:prstGeom>
              <a:solidFill>
                <a:schemeClr val="accent2"/>
              </a:solidFill>
              <a:ln>
                <a:noFill/>
              </a:ln>
            </p:spPr>
          </p:sp>
          <p:sp>
            <p:nvSpPr>
              <p:cNvPr id="37" name="Rectangle 37"/>
              <p:cNvSpPr/>
              <p:nvPr/>
            </p:nvSpPr>
            <p:spPr>
              <a:xfrm>
                <a:off x="7929562" y="4838700"/>
                <a:ext cx="357188" cy="228600"/>
              </a:xfrm>
              <a:prstGeom prst="rect">
                <a:avLst/>
              </a:prstGeom>
              <a:solidFill>
                <a:srgbClr val="B7C7D6"/>
              </a:solidFill>
              <a:ln>
                <a:noFill/>
              </a:ln>
            </p:spPr>
          </p:sp>
          <p:sp>
            <p:nvSpPr>
              <p:cNvPr id="38" name="Rectangle 38"/>
              <p:cNvSpPr/>
              <p:nvPr/>
            </p:nvSpPr>
            <p:spPr>
              <a:xfrm>
                <a:off x="8286750" y="4838700"/>
                <a:ext cx="285750"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71:5:4</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4714875" cy="228600"/>
              </a:xfrm>
              <a:prstGeom prst="rect">
                <a:avLst/>
              </a:prstGeom>
              <a:solidFill>
                <a:schemeClr val="accent2"/>
              </a:solidFill>
              <a:ln>
                <a:noFill/>
              </a:ln>
            </p:spPr>
          </p:sp>
          <p:sp>
            <p:nvSpPr>
              <p:cNvPr id="42" name="Rectangle 42"/>
              <p:cNvSpPr/>
              <p:nvPr/>
            </p:nvSpPr>
            <p:spPr>
              <a:xfrm>
                <a:off x="7572375" y="5314950"/>
                <a:ext cx="142875" cy="228600"/>
              </a:xfrm>
              <a:prstGeom prst="rect">
                <a:avLst/>
              </a:prstGeom>
              <a:solidFill>
                <a:srgbClr val="B7C7D6"/>
              </a:solidFill>
              <a:ln>
                <a:noFill/>
              </a:ln>
            </p:spPr>
          </p:sp>
          <p:sp>
            <p:nvSpPr>
              <p:cNvPr id="43" name="Rectangle 43"/>
              <p:cNvSpPr/>
              <p:nvPr/>
            </p:nvSpPr>
            <p:spPr>
              <a:xfrm>
                <a:off x="7715250" y="5314950"/>
                <a:ext cx="857250" cy="228600"/>
              </a:xfrm>
              <a:prstGeom prst="rect">
                <a:avLst/>
              </a:prstGeom>
              <a:solidFill>
                <a:schemeClr val="accent6"/>
              </a:solidFill>
              <a:ln>
                <a:noFill/>
              </a:ln>
            </p:spPr>
          </p:sp>
          <p:sp>
            <p:nvSpPr>
              <p:cNvPr id="44" name="TextBox 44"/>
              <p:cNvSpPr txBox="1"/>
              <p:nvPr/>
            </p:nvSpPr>
            <p:spPr>
              <a:xfrm>
                <a:off x="8737092" y="5359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66:2:12</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最大短板</a:t>
              </a:r>
            </a:p>
          </p:txBody>
        </p:sp>
        <p:sp>
          <p:nvSpPr>
            <p:cNvPr id="49" name="TextBox 49"/>
            <p:cNvSpPr txBox="1"/>
            <p:nvPr/>
          </p:nvSpPr>
          <p:spPr>
            <a:xfrm>
              <a:off x="9486900" y="22659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50</a:t>
              </a:r>
            </a:p>
          </p:txBody>
        </p:sp>
        <p:sp>
          <p:nvSpPr>
            <p:cNvPr id="50" name="TextBox 50"/>
            <p:cNvSpPr txBox="1"/>
            <p:nvPr/>
          </p:nvSpPr>
          <p:spPr>
            <a:xfrm>
              <a:off x="9499092" y="3035618"/>
              <a:ext cx="114048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baseline 胜票</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证据事实维度</a:t>
              </a:r>
            </a:p>
          </p:txBody>
        </p:sp>
        <p:sp>
          <p:nvSpPr>
            <p:cNvPr id="53" name="TextBox 53"/>
            <p:cNvSpPr txBox="1"/>
            <p:nvPr/>
          </p:nvSpPr>
          <p:spPr>
            <a:xfrm>
              <a:off x="9499092" y="4197668"/>
              <a:ext cx="120409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正文—证据绑定</a:t>
              </a:r>
            </a:p>
          </p:txBody>
        </p:sp>
        <p:sp>
          <p:nvSpPr>
            <p:cNvPr id="54" name="TextBox 54"/>
            <p:cNvSpPr txBox="1"/>
            <p:nvPr/>
          </p:nvSpPr>
          <p:spPr>
            <a:xfrm>
              <a:off x="9499092" y="45024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关键数字核验</a:t>
              </a:r>
            </a:p>
          </p:txBody>
        </p:sp>
        <p:sp>
          <p:nvSpPr>
            <p:cNvPr id="55" name="TextBox 55"/>
            <p:cNvSpPr txBox="1"/>
            <p:nvPr/>
          </p:nvSpPr>
          <p:spPr>
            <a:xfrm>
              <a:off x="9499092" y="48072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来源质量分级</a:t>
              </a:r>
            </a:p>
          </p:txBody>
        </p:sp>
      </p:grpSp>
      <p:grpSp>
        <p:nvGrpSpPr>
          <p:cNvPr id="63" name="Group 63"/>
          <p:cNvGrpSpPr/>
          <p:nvPr/>
        </p:nvGrpSpPr>
        <p:grpSpPr>
          <a:xfrm>
            <a:off x="609600" y="6172200"/>
            <a:ext cx="4021120" cy="270701"/>
            <a:chOff x="609600" y="6172200"/>
            <a:chExt cx="4021120"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941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Agent</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4778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对纯 LLM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八维全部领先，三个维度获得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15</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5286375" cy="228600"/>
              </a:xfrm>
              <a:prstGeom prst="rect">
                <a:avLst/>
              </a:prstGeom>
              <a:solidFill>
                <a:schemeClr val="accent2"/>
              </a:solidFill>
              <a:ln>
                <a:noFill/>
              </a:ln>
            </p:spPr>
          </p:sp>
          <p:sp>
            <p:nvSpPr>
              <p:cNvPr id="9" name="Rectangle 9"/>
              <p:cNvSpPr/>
              <p:nvPr/>
            </p:nvSpPr>
            <p:spPr>
              <a:xfrm>
                <a:off x="8143875" y="1981200"/>
                <a:ext cx="428625"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74:0:6</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5429250" cy="228600"/>
              </a:xfrm>
              <a:prstGeom prst="rect">
                <a:avLst/>
              </a:prstGeom>
              <a:solidFill>
                <a:schemeClr val="accent2"/>
              </a:solidFill>
              <a:ln>
                <a:noFill/>
              </a:ln>
            </p:spPr>
          </p:sp>
          <p:sp>
            <p:nvSpPr>
              <p:cNvPr id="16" name="Rectangle 16"/>
              <p:cNvSpPr/>
              <p:nvPr/>
            </p:nvSpPr>
            <p:spPr>
              <a:xfrm>
                <a:off x="8286750" y="2933700"/>
                <a:ext cx="28575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76:0:4</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5357812" cy="228600"/>
              </a:xfrm>
              <a:prstGeom prst="rect">
                <a:avLst/>
              </a:prstGeom>
              <a:solidFill>
                <a:schemeClr val="accent2"/>
              </a:solidFill>
              <a:ln>
                <a:noFill/>
              </a:ln>
            </p:spPr>
          </p:sp>
          <p:sp>
            <p:nvSpPr>
              <p:cNvPr id="20" name="Rectangle 20"/>
              <p:cNvSpPr/>
              <p:nvPr/>
            </p:nvSpPr>
            <p:spPr>
              <a:xfrm>
                <a:off x="8215312" y="3409950"/>
                <a:ext cx="357188"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75:0:5</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5572125" cy="228600"/>
              </a:xfrm>
              <a:prstGeom prst="rect">
                <a:avLst/>
              </a:prstGeom>
              <a:solidFill>
                <a:schemeClr val="accent2"/>
              </a:solidFill>
              <a:ln>
                <a:noFill/>
              </a:ln>
            </p:spPr>
          </p:sp>
          <p:sp>
            <p:nvSpPr>
              <p:cNvPr id="27" name="Rectangle 27"/>
              <p:cNvSpPr/>
              <p:nvPr/>
            </p:nvSpPr>
            <p:spPr>
              <a:xfrm>
                <a:off x="8429625" y="4362450"/>
                <a:ext cx="142875"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6783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前瞻创新性</a:t>
                </a:r>
              </a:p>
            </p:txBody>
          </p:sp>
          <p:sp>
            <p:nvSpPr>
              <p:cNvPr id="30" name="Rectangle 30"/>
              <p:cNvSpPr/>
              <p:nvPr/>
            </p:nvSpPr>
            <p:spPr>
              <a:xfrm>
                <a:off x="2857500" y="4838700"/>
                <a:ext cx="5715000" cy="228600"/>
              </a:xfrm>
              <a:prstGeom prst="rect">
                <a:avLst/>
              </a:prstGeom>
              <a:solidFill>
                <a:schemeClr val="accent2"/>
              </a:solidFill>
              <a:ln>
                <a:noFill/>
              </a:ln>
            </p:spPr>
          </p:sp>
          <p:sp>
            <p:nvSpPr>
              <p:cNvPr id="31" name="TextBox 31"/>
              <p:cNvSpPr txBox="1"/>
              <p:nvPr/>
            </p:nvSpPr>
            <p:spPr>
              <a:xfrm>
                <a:off x="8737092" y="48834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32" name="TextBox 32"/>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33" name="Rectangle 33"/>
              <p:cNvSpPr/>
              <p:nvPr/>
            </p:nvSpPr>
            <p:spPr>
              <a:xfrm>
                <a:off x="2857500" y="5314950"/>
                <a:ext cx="5072062" cy="228600"/>
              </a:xfrm>
              <a:prstGeom prst="rect">
                <a:avLst/>
              </a:prstGeom>
              <a:solidFill>
                <a:schemeClr val="accent2"/>
              </a:solidFill>
              <a:ln>
                <a:noFill/>
              </a:ln>
            </p:spPr>
          </p:sp>
          <p:sp>
            <p:nvSpPr>
              <p:cNvPr id="34" name="Rectangle 34"/>
              <p:cNvSpPr/>
              <p:nvPr/>
            </p:nvSpPr>
            <p:spPr>
              <a:xfrm>
                <a:off x="7929562" y="5314950"/>
                <a:ext cx="142875" cy="228600"/>
              </a:xfrm>
              <a:prstGeom prst="rect">
                <a:avLst/>
              </a:prstGeom>
              <a:solidFill>
                <a:srgbClr val="B7C7D6"/>
              </a:solidFill>
              <a:ln>
                <a:noFill/>
              </a:ln>
            </p:spPr>
          </p:sp>
          <p:sp>
            <p:nvSpPr>
              <p:cNvPr id="35" name="Rectangle 35"/>
              <p:cNvSpPr/>
              <p:nvPr/>
            </p:nvSpPr>
            <p:spPr>
              <a:xfrm>
                <a:off x="8072438" y="5314950"/>
                <a:ext cx="500062" cy="228600"/>
              </a:xfrm>
              <a:prstGeom prst="rect">
                <a:avLst/>
              </a:prstGeom>
              <a:solidFill>
                <a:schemeClr val="accent6"/>
              </a:solidFill>
              <a:ln>
                <a:noFill/>
              </a:ln>
            </p:spPr>
          </p:sp>
          <p:sp>
            <p:nvSpPr>
              <p:cNvPr id="36" name="TextBox 36"/>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71:2:7</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前瞻创新</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优势覆盖质量、边界与创新</a:t>
              </a:r>
            </a:p>
          </p:txBody>
        </p:sp>
      </p:grpSp>
      <p:grpSp>
        <p:nvGrpSpPr>
          <p:cNvPr id="55" name="Group 55"/>
          <p:cNvGrpSpPr/>
          <p:nvPr/>
        </p:nvGrpSpPr>
        <p:grpSpPr>
          <a:xfrm>
            <a:off x="609600" y="6172200"/>
            <a:ext cx="3697834" cy="270701"/>
            <a:chOff x="609600" y="6172200"/>
            <a:chExt cx="3697834"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6185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94829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对智谱 GLM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八维优势稳定，三项维度获得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16</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5572125" cy="228600"/>
              </a:xfrm>
              <a:prstGeom prst="rect">
                <a:avLst/>
              </a:prstGeom>
              <a:solidFill>
                <a:schemeClr val="accent2"/>
              </a:solidFill>
              <a:ln>
                <a:noFill/>
              </a:ln>
            </p:spPr>
          </p:sp>
          <p:sp>
            <p:nvSpPr>
              <p:cNvPr id="9" name="Rectangle 9"/>
              <p:cNvSpPr/>
              <p:nvPr/>
            </p:nvSpPr>
            <p:spPr>
              <a:xfrm>
                <a:off x="8429625" y="1981200"/>
                <a:ext cx="142875"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5572125" cy="228600"/>
              </a:xfrm>
              <a:prstGeom prst="rect">
                <a:avLst/>
              </a:prstGeom>
              <a:solidFill>
                <a:schemeClr val="accent2"/>
              </a:solidFill>
              <a:ln>
                <a:noFill/>
              </a:ln>
            </p:spPr>
          </p:sp>
          <p:sp>
            <p:nvSpPr>
              <p:cNvPr id="16" name="Rectangle 16"/>
              <p:cNvSpPr/>
              <p:nvPr/>
            </p:nvSpPr>
            <p:spPr>
              <a:xfrm>
                <a:off x="8429625" y="2933700"/>
                <a:ext cx="142875"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5572125" cy="228600"/>
              </a:xfrm>
              <a:prstGeom prst="rect">
                <a:avLst/>
              </a:prstGeom>
              <a:solidFill>
                <a:schemeClr val="accent2"/>
              </a:solidFill>
              <a:ln>
                <a:noFill/>
              </a:ln>
            </p:spPr>
          </p:sp>
          <p:sp>
            <p:nvSpPr>
              <p:cNvPr id="20" name="Rectangle 20"/>
              <p:cNvSpPr/>
              <p:nvPr/>
            </p:nvSpPr>
            <p:spPr>
              <a:xfrm>
                <a:off x="8429625" y="3409950"/>
                <a:ext cx="142875"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5572125" cy="228600"/>
              </a:xfrm>
              <a:prstGeom prst="rect">
                <a:avLst/>
              </a:prstGeom>
              <a:solidFill>
                <a:schemeClr val="accent2"/>
              </a:solidFill>
              <a:ln>
                <a:noFill/>
              </a:ln>
            </p:spPr>
          </p:sp>
          <p:sp>
            <p:nvSpPr>
              <p:cNvPr id="27" name="Rectangle 27"/>
              <p:cNvSpPr/>
              <p:nvPr/>
            </p:nvSpPr>
            <p:spPr>
              <a:xfrm>
                <a:off x="8429625" y="4362450"/>
                <a:ext cx="142875"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0" name="Rectangle 30"/>
              <p:cNvSpPr/>
              <p:nvPr/>
            </p:nvSpPr>
            <p:spPr>
              <a:xfrm>
                <a:off x="2857500" y="4838700"/>
                <a:ext cx="5429250" cy="228600"/>
              </a:xfrm>
              <a:prstGeom prst="rect">
                <a:avLst/>
              </a:prstGeom>
              <a:solidFill>
                <a:schemeClr val="accent2"/>
              </a:solidFill>
              <a:ln>
                <a:noFill/>
              </a:ln>
            </p:spPr>
          </p:sp>
          <p:sp>
            <p:nvSpPr>
              <p:cNvPr id="31" name="Rectangle 31"/>
              <p:cNvSpPr/>
              <p:nvPr/>
            </p:nvSpPr>
            <p:spPr>
              <a:xfrm>
                <a:off x="8286750" y="4838700"/>
                <a:ext cx="71438" cy="228600"/>
              </a:xfrm>
              <a:prstGeom prst="rect">
                <a:avLst/>
              </a:prstGeom>
              <a:solidFill>
                <a:srgbClr val="B7C7D6"/>
              </a:solidFill>
              <a:ln>
                <a:noFill/>
              </a:ln>
            </p:spPr>
          </p:sp>
          <p:sp>
            <p:nvSpPr>
              <p:cNvPr id="32" name="Rectangle 32"/>
              <p:cNvSpPr/>
              <p:nvPr/>
            </p:nvSpPr>
            <p:spPr>
              <a:xfrm>
                <a:off x="8358188" y="4838700"/>
                <a:ext cx="214312" cy="228600"/>
              </a:xfrm>
              <a:prstGeom prst="rect">
                <a:avLst/>
              </a:prstGeom>
              <a:solidFill>
                <a:schemeClr val="accent6"/>
              </a:solidFill>
              <a:ln>
                <a:noFill/>
              </a:ln>
            </p:spPr>
          </p:sp>
          <p:sp>
            <p:nvSpPr>
              <p:cNvPr id="33" name="TextBox 33"/>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76:1:3</a:t>
                </a:r>
              </a:p>
            </p:txBody>
          </p:sp>
          <p:sp>
            <p:nvSpPr>
              <p:cNvPr id="34" name="TextBox 34"/>
              <p:cNvSpPr txBox="1"/>
              <p:nvPr/>
            </p:nvSpPr>
            <p:spPr>
              <a:xfrm>
                <a:off x="602742" y="53787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体系与跨场景稳健</a:t>
                </a:r>
              </a:p>
            </p:txBody>
          </p:sp>
          <p:sp>
            <p:nvSpPr>
              <p:cNvPr id="35" name="Rectangle 35"/>
              <p:cNvSpPr/>
              <p:nvPr/>
            </p:nvSpPr>
            <p:spPr>
              <a:xfrm>
                <a:off x="2857500" y="5314950"/>
                <a:ext cx="5715000" cy="228600"/>
              </a:xfrm>
              <a:prstGeom prst="rect">
                <a:avLst/>
              </a:prstGeom>
              <a:solidFill>
                <a:schemeClr val="accent2"/>
              </a:solidFill>
              <a:ln>
                <a:noFill/>
              </a:ln>
            </p:spPr>
          </p:sp>
          <p:sp>
            <p:nvSpPr>
              <p:cNvPr id="36" name="TextBox 36"/>
              <p:cNvSpPr txBox="1"/>
              <p:nvPr/>
            </p:nvSpPr>
            <p:spPr>
              <a:xfrm>
                <a:off x="8737092" y="53597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体系稳健</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跨模型基线仍保持稳定优势</a:t>
              </a:r>
            </a:p>
          </p:txBody>
        </p:sp>
      </p:grpSp>
      <p:grpSp>
        <p:nvGrpSpPr>
          <p:cNvPr id="55" name="Group 55"/>
          <p:cNvGrpSpPr/>
          <p:nvPr/>
        </p:nvGrpSpPr>
        <p:grpSpPr>
          <a:xfrm>
            <a:off x="609600" y="6172200"/>
            <a:ext cx="3889858" cy="270701"/>
            <a:chOff x="609600" y="6172200"/>
            <a:chExt cx="3889858"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8106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GLM</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294842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质量—时延权衡</a:t>
              </a:r>
            </a:p>
          </p:txBody>
        </p:sp>
        <p:sp>
          <p:nvSpPr>
            <p:cNvPr id="3" name="TextBox 3"/>
            <p:cNvSpPr txBox="1"/>
            <p:nvPr/>
          </p:nvSpPr>
          <p:spPr>
            <a:xfrm>
              <a:off x="600456" y="1043940"/>
              <a:ext cx="531156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效果领先，但平均耗时比通用 Agent 高约 7.5 倍</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17</a:t>
              </a:r>
            </a:p>
          </p:txBody>
        </p:sp>
      </p:grpSp>
      <p:grpSp>
        <p:nvGrpSpPr>
          <p:cNvPr id="26" name="Group 26"/>
          <p:cNvGrpSpPr/>
          <p:nvPr/>
        </p:nvGrpSpPr>
        <p:grpSpPr>
          <a:xfrm>
            <a:off x="520636" y="1657350"/>
            <a:ext cx="7841800" cy="4171950"/>
            <a:chOff x="520636" y="1657350"/>
            <a:chExt cx="7841800" cy="4171950"/>
          </a:xfrm>
        </p:grpSpPr>
        <p:sp>
          <p:nvSpPr>
            <p:cNvPr id="6" name="Rectangle 6"/>
            <p:cNvSpPr/>
            <p:nvPr/>
          </p:nvSpPr>
          <p:spPr>
            <a:xfrm>
              <a:off x="609600" y="1657350"/>
              <a:ext cx="7429500" cy="4171950"/>
            </a:xfrm>
            <a:prstGeom prst="rect">
              <a:avLst/>
            </a:prstGeom>
            <a:solidFill>
              <a:schemeClr val="accent5"/>
            </a:solidFill>
            <a:ln>
              <a:noFill/>
            </a:ln>
          </p:spPr>
        </p:sp>
        <p:grpSp>
          <p:nvGrpSpPr>
            <p:cNvPr id="25" name="Group 25"/>
            <p:cNvGrpSpPr/>
            <p:nvPr/>
          </p:nvGrpSpPr>
          <p:grpSpPr>
            <a:xfrm>
              <a:off x="520636" y="2133600"/>
              <a:ext cx="7841800" cy="3604451"/>
              <a:chOff x="520636" y="2133600"/>
              <a:chExt cx="7841800" cy="3604451"/>
            </a:xfrm>
          </p:grpSpPr>
          <p:sp>
            <p:nvSpPr>
              <p:cNvPr id="7" name="Line 7"/>
              <p:cNvSpPr/>
              <p:nvPr/>
            </p:nvSpPr>
            <p:spPr>
              <a:xfrm>
                <a:off x="1181100" y="5219700"/>
                <a:ext cx="6477000" cy="9525"/>
              </a:xfrm>
              <a:custGeom>
                <a:avLst/>
                <a:gdLst/>
                <a:ahLst/>
                <a:cxnLst/>
                <a:rect l="l" t="t" r="r" b="b"/>
                <a:pathLst>
                  <a:path w="6477000" h="9525">
                    <a:moveTo>
                      <a:pt x="0" y="0"/>
                    </a:moveTo>
                    <a:lnTo>
                      <a:pt x="6477000" y="0"/>
                    </a:lnTo>
                  </a:path>
                </a:pathLst>
              </a:custGeom>
              <a:noFill/>
              <a:ln w="19050">
                <a:solidFill>
                  <a:schemeClr val="accent1"/>
                </a:solidFill>
              </a:ln>
            </p:spPr>
          </p:sp>
          <p:sp>
            <p:nvSpPr>
              <p:cNvPr id="8" name="Line 8"/>
              <p:cNvSpPr/>
              <p:nvPr/>
            </p:nvSpPr>
            <p:spPr>
              <a:xfrm>
                <a:off x="1181100" y="2133600"/>
                <a:ext cx="9525" cy="3086100"/>
              </a:xfrm>
              <a:custGeom>
                <a:avLst/>
                <a:gdLst/>
                <a:ahLst/>
                <a:cxnLst/>
                <a:rect l="l" t="t" r="r" b="b"/>
                <a:pathLst>
                  <a:path w="9525" h="3086100">
                    <a:moveTo>
                      <a:pt x="0" y="0"/>
                    </a:moveTo>
                    <a:lnTo>
                      <a:pt x="0" y="3086100"/>
                    </a:lnTo>
                  </a:path>
                </a:pathLst>
              </a:custGeom>
              <a:noFill/>
              <a:ln w="19050">
                <a:solidFill>
                  <a:schemeClr val="accent1"/>
                </a:solidFill>
              </a:ln>
            </p:spPr>
          </p:sp>
          <p:sp>
            <p:nvSpPr>
              <p:cNvPr id="9" name="Line 9"/>
              <p:cNvSpPr/>
              <p:nvPr/>
            </p:nvSpPr>
            <p:spPr>
              <a:xfrm>
                <a:off x="2533650" y="2133600"/>
                <a:ext cx="9525" cy="3086100"/>
              </a:xfrm>
              <a:custGeom>
                <a:avLst/>
                <a:gdLst/>
                <a:ahLst/>
                <a:cxnLst/>
                <a:rect l="l" t="t" r="r" b="b"/>
                <a:pathLst>
                  <a:path w="9525" h="3086100">
                    <a:moveTo>
                      <a:pt x="0" y="0"/>
                    </a:moveTo>
                    <a:lnTo>
                      <a:pt x="0" y="3086100"/>
                    </a:lnTo>
                  </a:path>
                </a:pathLst>
              </a:custGeom>
              <a:noFill/>
              <a:ln w="19050">
                <a:solidFill>
                  <a:srgbClr val="B7C7D6"/>
                </a:solidFill>
                <a:custDash>
                  <a:ds d="300000" sp="300000"/>
                </a:custDash>
              </a:ln>
            </p:spPr>
          </p:sp>
          <p:sp>
            <p:nvSpPr>
              <p:cNvPr id="10" name="Line 10"/>
              <p:cNvSpPr/>
              <p:nvPr/>
            </p:nvSpPr>
            <p:spPr>
              <a:xfrm>
                <a:off x="1181100" y="2750820"/>
                <a:ext cx="6477000" cy="9525"/>
              </a:xfrm>
              <a:custGeom>
                <a:avLst/>
                <a:gdLst/>
                <a:ahLst/>
                <a:cxnLst/>
                <a:rect l="l" t="t" r="r" b="b"/>
                <a:pathLst>
                  <a:path w="6477000" h="9525">
                    <a:moveTo>
                      <a:pt x="0" y="0"/>
                    </a:moveTo>
                    <a:lnTo>
                      <a:pt x="6477000" y="0"/>
                    </a:lnTo>
                  </a:path>
                </a:pathLst>
              </a:custGeom>
              <a:noFill/>
              <a:ln w="19050">
                <a:solidFill>
                  <a:srgbClr val="B7C7D6"/>
                </a:solidFill>
                <a:custDash>
                  <a:ds d="300000" sp="300000"/>
                </a:custDash>
              </a:ln>
            </p:spPr>
          </p:sp>
          <p:sp>
            <p:nvSpPr>
              <p:cNvPr id="11" name="TextBox 11"/>
              <p:cNvSpPr txBox="1"/>
              <p:nvPr/>
            </p:nvSpPr>
            <p:spPr>
              <a:xfrm>
                <a:off x="1288542" y="2235518"/>
                <a:ext cx="13781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高质量 · 低时延</a:t>
                </a:r>
              </a:p>
            </p:txBody>
          </p:sp>
          <p:sp>
            <p:nvSpPr>
              <p:cNvPr id="12" name="TextBox 12"/>
              <p:cNvSpPr txBox="1"/>
              <p:nvPr/>
            </p:nvSpPr>
            <p:spPr>
              <a:xfrm>
                <a:off x="5974842" y="2235518"/>
                <a:ext cx="13781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高质量 · 高时延</a:t>
                </a:r>
              </a:p>
            </p:txBody>
          </p:sp>
          <p:sp>
            <p:nvSpPr>
              <p:cNvPr id="13" name="Ellipse 13"/>
              <p:cNvSpPr/>
              <p:nvPr/>
            </p:nvSpPr>
            <p:spPr>
              <a:xfrm>
                <a:off x="7038975" y="2349818"/>
                <a:ext cx="647700" cy="647700"/>
              </a:xfrm>
              <a:prstGeom prst="ellipse">
                <a:avLst/>
              </a:prstGeom>
              <a:solidFill>
                <a:schemeClr val="accent2">
                  <a:alpha val="82000"/>
                </a:schemeClr>
              </a:solidFill>
              <a:ln>
                <a:noFill/>
              </a:ln>
            </p:spPr>
          </p:sp>
          <p:sp>
            <p:nvSpPr>
              <p:cNvPr id="14" name="TextBox 14"/>
              <p:cNvSpPr txBox="1"/>
              <p:nvPr/>
            </p:nvSpPr>
            <p:spPr>
              <a:xfrm>
                <a:off x="6813042" y="305466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完整方法</a:t>
                </a:r>
              </a:p>
            </p:txBody>
          </p:sp>
          <p:sp>
            <p:nvSpPr>
              <p:cNvPr id="15" name="TextBox 15"/>
              <p:cNvSpPr txBox="1"/>
              <p:nvPr/>
            </p:nvSpPr>
            <p:spPr>
              <a:xfrm>
                <a:off x="6813042" y="3283268"/>
                <a:ext cx="154939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22.9 min · 14.3源</a:t>
                </a:r>
              </a:p>
            </p:txBody>
          </p:sp>
          <p:sp>
            <p:nvSpPr>
              <p:cNvPr id="16" name="Ellipse 16"/>
              <p:cNvSpPr/>
              <p:nvPr/>
            </p:nvSpPr>
            <p:spPr>
              <a:xfrm>
                <a:off x="1704975" y="4393882"/>
                <a:ext cx="571500" cy="571500"/>
              </a:xfrm>
              <a:prstGeom prst="ellipse">
                <a:avLst/>
              </a:prstGeom>
              <a:solidFill>
                <a:schemeClr val="accent6">
                  <a:alpha val="78000"/>
                </a:schemeClr>
              </a:solidFill>
              <a:ln>
                <a:noFill/>
              </a:ln>
            </p:spPr>
          </p:sp>
          <p:sp>
            <p:nvSpPr>
              <p:cNvPr id="17" name="TextBox 17"/>
              <p:cNvSpPr txBox="1"/>
              <p:nvPr/>
            </p:nvSpPr>
            <p:spPr>
              <a:xfrm>
                <a:off x="2317242" y="4464368"/>
                <a:ext cx="988286"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通用 Agent</a:t>
                </a:r>
              </a:p>
            </p:txBody>
          </p:sp>
          <p:sp>
            <p:nvSpPr>
              <p:cNvPr id="18" name="TextBox 18"/>
              <p:cNvSpPr txBox="1"/>
              <p:nvPr/>
            </p:nvSpPr>
            <p:spPr>
              <a:xfrm>
                <a:off x="2317242" y="4692968"/>
                <a:ext cx="144943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3.0 min · 11.8源</a:t>
                </a:r>
              </a:p>
            </p:txBody>
          </p:sp>
          <p:sp>
            <p:nvSpPr>
              <p:cNvPr id="19" name="Ellipse 19"/>
              <p:cNvSpPr/>
              <p:nvPr/>
            </p:nvSpPr>
            <p:spPr>
              <a:xfrm>
                <a:off x="1762125" y="5047298"/>
                <a:ext cx="190500" cy="190500"/>
              </a:xfrm>
              <a:prstGeom prst="ellipse">
                <a:avLst/>
              </a:prstGeom>
              <a:solidFill>
                <a:srgbClr val="6B7785"/>
              </a:solidFill>
              <a:ln>
                <a:noFill/>
              </a:ln>
            </p:spPr>
          </p:sp>
          <p:sp>
            <p:nvSpPr>
              <p:cNvPr id="20" name="TextBox 20"/>
              <p:cNvSpPr txBox="1"/>
              <p:nvPr/>
            </p:nvSpPr>
            <p:spPr>
              <a:xfrm>
                <a:off x="2088642" y="4997768"/>
                <a:ext cx="148072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 · 2.5 min</a:t>
                </a:r>
              </a:p>
            </p:txBody>
          </p:sp>
          <p:sp>
            <p:nvSpPr>
              <p:cNvPr id="21" name="Ellipse 21"/>
              <p:cNvSpPr/>
              <p:nvPr/>
            </p:nvSpPr>
            <p:spPr>
              <a:xfrm>
                <a:off x="1304925" y="5047298"/>
                <a:ext cx="190500" cy="190500"/>
              </a:xfrm>
              <a:prstGeom prst="ellipse">
                <a:avLst/>
              </a:prstGeom>
              <a:solidFill>
                <a:srgbClr val="B7C7D6"/>
              </a:solidFill>
              <a:ln>
                <a:noFill/>
              </a:ln>
            </p:spPr>
          </p:sp>
          <p:sp>
            <p:nvSpPr>
              <p:cNvPr id="22" name="TextBox 22"/>
              <p:cNvSpPr txBox="1"/>
              <p:nvPr/>
            </p:nvSpPr>
            <p:spPr>
              <a:xfrm>
                <a:off x="1021842" y="5397818"/>
                <a:ext cx="123135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 0.8 min</a:t>
                </a:r>
              </a:p>
            </p:txBody>
          </p:sp>
          <p:sp>
            <p:nvSpPr>
              <p:cNvPr id="23" name="TextBox 23"/>
              <p:cNvSpPr txBox="1"/>
              <p:nvPr/>
            </p:nvSpPr>
            <p:spPr>
              <a:xfrm>
                <a:off x="3608556" y="5474018"/>
                <a:ext cx="162208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平均耗时（分钟） →</a:t>
                </a:r>
              </a:p>
            </p:txBody>
          </p:sp>
          <p:sp>
            <p:nvSpPr>
              <p:cNvPr id="24" name="TextBox 24"/>
              <p:cNvSpPr txBox="1"/>
              <p:nvPr/>
            </p:nvSpPr>
            <p:spPr>
              <a:xfrm>
                <a:off x="520636" y="3759518"/>
                <a:ext cx="558927"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得分率</a:t>
                </a:r>
              </a:p>
            </p:txBody>
          </p:sp>
        </p:grpSp>
      </p:grpSp>
      <p:grpSp>
        <p:nvGrpSpPr>
          <p:cNvPr id="36" name="Group 36"/>
          <p:cNvGrpSpPr/>
          <p:nvPr/>
        </p:nvGrpSpPr>
        <p:grpSpPr>
          <a:xfrm>
            <a:off x="8343900" y="1657350"/>
            <a:ext cx="3238500" cy="4171950"/>
            <a:chOff x="8343900" y="1657350"/>
            <a:chExt cx="3238500" cy="4171950"/>
          </a:xfrm>
        </p:grpSpPr>
        <p:sp>
          <p:nvSpPr>
            <p:cNvPr id="27" name="Rectangle 27"/>
            <p:cNvSpPr/>
            <p:nvPr/>
          </p:nvSpPr>
          <p:spPr>
            <a:xfrm>
              <a:off x="8343900" y="1657350"/>
              <a:ext cx="3238500" cy="4171950"/>
            </a:xfrm>
            <a:prstGeom prst="rect">
              <a:avLst/>
            </a:prstGeom>
            <a:solidFill>
              <a:schemeClr val="accent1"/>
            </a:solidFill>
            <a:ln>
              <a:noFill/>
            </a:ln>
          </p:spPr>
        </p:sp>
        <p:sp>
          <p:nvSpPr>
            <p:cNvPr id="28" name="TextBox 28"/>
            <p:cNvSpPr txBox="1"/>
            <p:nvPr/>
          </p:nvSpPr>
          <p:spPr>
            <a:xfrm>
              <a:off x="8598408" y="18554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效率优化方向</a:t>
              </a:r>
            </a:p>
          </p:txBody>
        </p:sp>
        <p:sp>
          <p:nvSpPr>
            <p:cNvPr id="29" name="TextBox 29"/>
            <p:cNvSpPr txBox="1"/>
            <p:nvPr/>
          </p:nvSpPr>
          <p:spPr>
            <a:xfrm>
              <a:off x="8591550" y="2265998"/>
              <a:ext cx="1577412"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7.5×</a:t>
              </a:r>
            </a:p>
          </p:txBody>
        </p:sp>
        <p:sp>
          <p:nvSpPr>
            <p:cNvPr id="30" name="TextBox 30"/>
            <p:cNvSpPr txBox="1"/>
            <p:nvPr/>
          </p:nvSpPr>
          <p:spPr>
            <a:xfrm>
              <a:off x="8603742" y="3035618"/>
              <a:ext cx="228357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相对通用 Agent 的时延倍数</a:t>
              </a:r>
            </a:p>
          </p:txBody>
        </p:sp>
        <p:sp>
          <p:nvSpPr>
            <p:cNvPr id="31" name="Line 31"/>
            <p:cNvSpPr/>
            <p:nvPr/>
          </p:nvSpPr>
          <p:spPr>
            <a:xfrm>
              <a:off x="8610600" y="3524250"/>
              <a:ext cx="2705100" cy="9525"/>
            </a:xfrm>
            <a:custGeom>
              <a:avLst/>
              <a:gdLst/>
              <a:ahLst/>
              <a:cxnLst/>
              <a:rect l="l" t="t" r="r" b="b"/>
              <a:pathLst>
                <a:path w="2705100" h="9525">
                  <a:moveTo>
                    <a:pt x="0" y="0"/>
                  </a:moveTo>
                  <a:lnTo>
                    <a:pt x="2705100" y="0"/>
                  </a:lnTo>
                </a:path>
              </a:pathLst>
            </a:custGeom>
            <a:noFill/>
            <a:ln w="19050">
              <a:solidFill>
                <a:srgbClr val="6D89A3"/>
              </a:solidFill>
            </a:ln>
          </p:spPr>
        </p:sp>
        <p:sp>
          <p:nvSpPr>
            <p:cNvPr id="32" name="TextBox 32"/>
            <p:cNvSpPr txBox="1"/>
            <p:nvPr/>
          </p:nvSpPr>
          <p:spPr>
            <a:xfrm>
              <a:off x="8601456" y="38061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轻量筛选</a:t>
              </a:r>
            </a:p>
          </p:txBody>
        </p:sp>
        <p:sp>
          <p:nvSpPr>
            <p:cNvPr id="33" name="TextBox 33"/>
            <p:cNvSpPr txBox="1"/>
            <p:nvPr/>
          </p:nvSpPr>
          <p:spPr>
            <a:xfrm>
              <a:off x="8601456" y="42252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深研升级</a:t>
              </a:r>
            </a:p>
          </p:txBody>
        </p:sp>
        <p:sp>
          <p:nvSpPr>
            <p:cNvPr id="34" name="TextBox 34"/>
            <p:cNvSpPr txBox="1"/>
            <p:nvPr/>
          </p:nvSpPr>
          <p:spPr>
            <a:xfrm>
              <a:off x="8601456" y="46443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证据缓存</a:t>
              </a:r>
            </a:p>
          </p:txBody>
        </p:sp>
        <p:sp>
          <p:nvSpPr>
            <p:cNvPr id="35" name="TextBox 35"/>
            <p:cNvSpPr txBox="1"/>
            <p:nvPr/>
          </p:nvSpPr>
          <p:spPr>
            <a:xfrm>
              <a:off x="8601456" y="50634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并行预算</a:t>
              </a:r>
            </a:p>
          </p:txBody>
        </p:sp>
      </p:grpSp>
      <p:sp>
        <p:nvSpPr>
          <p:cNvPr id="37" name="TextBox 37"/>
          <p:cNvSpPr txBox="1"/>
          <p:nvPr/>
        </p:nvSpPr>
        <p:spPr>
          <a:xfrm>
            <a:off x="602742" y="6236018"/>
            <a:ext cx="4717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气泡大小表示平均来源数；得分率采用 Pairwise 评测口径</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18</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3116197"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10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01541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合并后 10 条 Query：制胜机理贡献仍最突出</a:t>
              </a:r>
            </a:p>
          </p:txBody>
        </p:sp>
        <p:sp>
          <p:nvSpPr>
            <p:cNvPr id="3" name="TextBox 3"/>
            <p:cNvSpPr txBox="1"/>
            <p:nvPr/>
          </p:nvSpPr>
          <p:spPr>
            <a:xfrm>
              <a:off x="600456" y="1043940"/>
              <a:ext cx="7215073"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多源基线呈 20 个百分点方向性增益；两组结果仍按探索性证据解读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19</a:t>
              </a:r>
            </a:p>
          </p:txBody>
        </p:sp>
      </p:grpSp>
      <p:grpSp>
        <p:nvGrpSpPr>
          <p:cNvPr id="27" name="Group 27"/>
          <p:cNvGrpSpPr/>
          <p:nvPr/>
        </p:nvGrpSpPr>
        <p:grpSpPr>
          <a:xfrm>
            <a:off x="609600" y="1676400"/>
            <a:ext cx="5143500" cy="4024884"/>
            <a:chOff x="609600" y="1676400"/>
            <a:chExt cx="5143500" cy="4024884"/>
          </a:xfrm>
        </p:grpSpPr>
        <p:sp>
          <p:nvSpPr>
            <p:cNvPr id="6" name="Rectangle 6"/>
            <p:cNvSpPr/>
            <p:nvPr/>
          </p:nvSpPr>
          <p:spPr>
            <a:xfrm>
              <a:off x="609600" y="1676400"/>
              <a:ext cx="5143500" cy="4000500"/>
            </a:xfrm>
            <a:prstGeom prst="rect">
              <a:avLst/>
            </a:prstGeom>
            <a:solidFill>
              <a:schemeClr val="accent5"/>
            </a:solidFill>
            <a:ln>
              <a:noFill/>
            </a:ln>
          </p:spPr>
        </p:sp>
        <p:sp>
          <p:nvSpPr>
            <p:cNvPr id="7" name="TextBox 7"/>
            <p:cNvSpPr txBox="1"/>
            <p:nvPr/>
          </p:nvSpPr>
          <p:spPr>
            <a:xfrm>
              <a:off x="829056" y="18630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完整方法与消融臂得分率</a:t>
              </a:r>
            </a:p>
          </p:txBody>
        </p:sp>
        <p:grpSp>
          <p:nvGrpSpPr>
            <p:cNvPr id="22" name="Group 22"/>
            <p:cNvGrpSpPr/>
            <p:nvPr/>
          </p:nvGrpSpPr>
          <p:grpSpPr>
            <a:xfrm>
              <a:off x="645776" y="2081212"/>
              <a:ext cx="4745374" cy="3009139"/>
              <a:chOff x="645776" y="2081212"/>
              <a:chExt cx="4745374" cy="3009139"/>
            </a:xfrm>
          </p:grpSpPr>
          <p:sp>
            <p:nvSpPr>
              <p:cNvPr id="8" name="Line 8"/>
              <p:cNvSpPr/>
              <p:nvPr/>
            </p:nvSpPr>
            <p:spPr>
              <a:xfrm>
                <a:off x="1066800" y="4914900"/>
                <a:ext cx="4324350" cy="9525"/>
              </a:xfrm>
              <a:custGeom>
                <a:avLst/>
                <a:gdLst/>
                <a:ahLst/>
                <a:cxnLst/>
                <a:rect l="l" t="t" r="r" b="b"/>
                <a:pathLst>
                  <a:path w="4324350" h="9525">
                    <a:moveTo>
                      <a:pt x="0" y="0"/>
                    </a:moveTo>
                    <a:lnTo>
                      <a:pt x="4324350" y="0"/>
                    </a:lnTo>
                  </a:path>
                </a:pathLst>
              </a:custGeom>
              <a:noFill/>
              <a:ln w="19050">
                <a:solidFill>
                  <a:srgbClr val="94A3B8"/>
                </a:solidFill>
              </a:ln>
            </p:spPr>
          </p:sp>
          <p:sp>
            <p:nvSpPr>
              <p:cNvPr id="9" name="Line 9"/>
              <p:cNvSpPr/>
              <p:nvPr/>
            </p:nvSpPr>
            <p:spPr>
              <a:xfrm>
                <a:off x="1066800" y="2343150"/>
                <a:ext cx="9525" cy="2571750"/>
              </a:xfrm>
              <a:custGeom>
                <a:avLst/>
                <a:gdLst/>
                <a:ahLst/>
                <a:cxnLst/>
                <a:rect l="l" t="t" r="r" b="b"/>
                <a:pathLst>
                  <a:path w="9525" h="2571750">
                    <a:moveTo>
                      <a:pt x="0" y="0"/>
                    </a:moveTo>
                    <a:lnTo>
                      <a:pt x="0" y="2571750"/>
                    </a:lnTo>
                  </a:path>
                </a:pathLst>
              </a:custGeom>
              <a:noFill/>
              <a:ln w="19050">
                <a:solidFill>
                  <a:srgbClr val="94A3B8"/>
                </a:solidFill>
              </a:ln>
            </p:spPr>
          </p:sp>
          <p:sp>
            <p:nvSpPr>
              <p:cNvPr id="10" name="Line 10"/>
              <p:cNvSpPr/>
              <p:nvPr/>
            </p:nvSpPr>
            <p:spPr>
              <a:xfrm>
                <a:off x="1066800" y="3629025"/>
                <a:ext cx="4324350" cy="9525"/>
              </a:xfrm>
              <a:custGeom>
                <a:avLst/>
                <a:gdLst/>
                <a:ahLst/>
                <a:cxnLst/>
                <a:rect l="l" t="t" r="r" b="b"/>
                <a:pathLst>
                  <a:path w="4324350" h="9525">
                    <a:moveTo>
                      <a:pt x="0" y="0"/>
                    </a:moveTo>
                    <a:lnTo>
                      <a:pt x="4324350" y="0"/>
                    </a:lnTo>
                  </a:path>
                </a:pathLst>
              </a:custGeom>
              <a:noFill/>
              <a:ln w="19050">
                <a:solidFill>
                  <a:srgbClr val="D8E1EA"/>
                </a:solidFill>
                <a:custDash>
                  <a:ds d="300000" sp="300000"/>
                </a:custDash>
              </a:ln>
            </p:spPr>
          </p:sp>
          <p:sp>
            <p:nvSpPr>
              <p:cNvPr id="11" name="TextBox 11"/>
              <p:cNvSpPr txBox="1"/>
              <p:nvPr/>
            </p:nvSpPr>
            <p:spPr>
              <a:xfrm>
                <a:off x="845687" y="4826318"/>
                <a:ext cx="113671"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a:t>
                </a:r>
              </a:p>
            </p:txBody>
          </p:sp>
          <p:sp>
            <p:nvSpPr>
              <p:cNvPr id="12" name="TextBox 12"/>
              <p:cNvSpPr txBox="1"/>
              <p:nvPr/>
            </p:nvSpPr>
            <p:spPr>
              <a:xfrm>
                <a:off x="745731" y="3540442"/>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50</a:t>
                </a:r>
              </a:p>
            </p:txBody>
          </p:sp>
          <p:sp>
            <p:nvSpPr>
              <p:cNvPr id="13" name="TextBox 13"/>
              <p:cNvSpPr txBox="1"/>
              <p:nvPr/>
            </p:nvSpPr>
            <p:spPr>
              <a:xfrm>
                <a:off x="645776" y="2254568"/>
                <a:ext cx="313582"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100</a:t>
                </a:r>
              </a:p>
            </p:txBody>
          </p:sp>
          <p:sp>
            <p:nvSpPr>
              <p:cNvPr id="14" name="Rectangle 14"/>
              <p:cNvSpPr/>
              <p:nvPr/>
            </p:nvSpPr>
            <p:spPr>
              <a:xfrm>
                <a:off x="1428750" y="3371850"/>
                <a:ext cx="685800" cy="1543050"/>
              </a:xfrm>
              <a:prstGeom prst="rect">
                <a:avLst/>
              </a:prstGeom>
              <a:solidFill>
                <a:schemeClr val="accent2"/>
              </a:solidFill>
              <a:ln>
                <a:noFill/>
              </a:ln>
            </p:spPr>
          </p:sp>
          <p:sp>
            <p:nvSpPr>
              <p:cNvPr id="15" name="Rectangle 15"/>
              <p:cNvSpPr/>
              <p:nvPr/>
            </p:nvSpPr>
            <p:spPr>
              <a:xfrm>
                <a:off x="2190750" y="3886200"/>
                <a:ext cx="685800" cy="1028700"/>
              </a:xfrm>
              <a:prstGeom prst="rect">
                <a:avLst/>
              </a:prstGeom>
              <a:solidFill>
                <a:schemeClr val="accent6"/>
              </a:solidFill>
              <a:ln>
                <a:noFill/>
              </a:ln>
            </p:spPr>
          </p:sp>
          <p:sp>
            <p:nvSpPr>
              <p:cNvPr id="16" name="Rectangle 16"/>
              <p:cNvSpPr/>
              <p:nvPr/>
            </p:nvSpPr>
            <p:spPr>
              <a:xfrm>
                <a:off x="3581400" y="2471738"/>
                <a:ext cx="685800" cy="2443162"/>
              </a:xfrm>
              <a:prstGeom prst="rect">
                <a:avLst/>
              </a:prstGeom>
              <a:solidFill>
                <a:schemeClr val="accent3"/>
              </a:solidFill>
              <a:ln>
                <a:noFill/>
              </a:ln>
            </p:spPr>
          </p:sp>
          <p:sp>
            <p:nvSpPr>
              <p:cNvPr id="17" name="Rectangle 17"/>
              <p:cNvSpPr/>
              <p:nvPr/>
            </p:nvSpPr>
            <p:spPr>
              <a:xfrm>
                <a:off x="4343400" y="4786312"/>
                <a:ext cx="685800" cy="128588"/>
              </a:xfrm>
              <a:prstGeom prst="rect">
                <a:avLst/>
              </a:prstGeom>
              <a:solidFill>
                <a:schemeClr val="accent6"/>
              </a:solidFill>
              <a:ln>
                <a:noFill/>
              </a:ln>
            </p:spPr>
          </p:sp>
          <p:sp>
            <p:nvSpPr>
              <p:cNvPr id="18" name="TextBox 18"/>
              <p:cNvSpPr txBox="1"/>
              <p:nvPr/>
            </p:nvSpPr>
            <p:spPr>
              <a:xfrm>
                <a:off x="1466033" y="297656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60%</a:t>
                </a:r>
              </a:p>
            </p:txBody>
          </p:sp>
          <p:sp>
            <p:nvSpPr>
              <p:cNvPr id="19" name="TextBox 19"/>
              <p:cNvSpPr txBox="1"/>
              <p:nvPr/>
            </p:nvSpPr>
            <p:spPr>
              <a:xfrm>
                <a:off x="2228033" y="3490912"/>
                <a:ext cx="611234"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40%</a:t>
                </a:r>
              </a:p>
            </p:txBody>
          </p:sp>
          <p:sp>
            <p:nvSpPr>
              <p:cNvPr id="20" name="TextBox 20"/>
              <p:cNvSpPr txBox="1"/>
              <p:nvPr/>
            </p:nvSpPr>
            <p:spPr>
              <a:xfrm>
                <a:off x="3618683" y="2081212"/>
                <a:ext cx="611234"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95%</a:t>
                </a:r>
              </a:p>
            </p:txBody>
          </p:sp>
          <p:sp>
            <p:nvSpPr>
              <p:cNvPr id="21" name="TextBox 21"/>
              <p:cNvSpPr txBox="1"/>
              <p:nvPr/>
            </p:nvSpPr>
            <p:spPr>
              <a:xfrm>
                <a:off x="4468144" y="4386262"/>
                <a:ext cx="43631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5%</a:t>
                </a:r>
              </a:p>
            </p:txBody>
          </p:sp>
        </p:grpSp>
        <p:sp>
          <p:nvSpPr>
            <p:cNvPr id="23" name="TextBox 23"/>
            <p:cNvSpPr txBox="1"/>
            <p:nvPr/>
          </p:nvSpPr>
          <p:spPr>
            <a:xfrm>
              <a:off x="135523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去多源</a:t>
              </a:r>
            </a:p>
          </p:txBody>
        </p:sp>
        <p:sp>
          <p:nvSpPr>
            <p:cNvPr id="24" name="TextBox 24"/>
            <p:cNvSpPr txBox="1"/>
            <p:nvPr/>
          </p:nvSpPr>
          <p:spPr>
            <a:xfrm>
              <a:off x="350788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去机理</a:t>
              </a:r>
            </a:p>
          </p:txBody>
        </p:sp>
        <p:sp>
          <p:nvSpPr>
            <p:cNvPr id="25" name="TextBox 25"/>
            <p:cNvSpPr txBox="1"/>
            <p:nvPr/>
          </p:nvSpPr>
          <p:spPr>
            <a:xfrm>
              <a:off x="178058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Δ 20%</a:t>
              </a:r>
            </a:p>
          </p:txBody>
        </p:sp>
        <p:sp>
          <p:nvSpPr>
            <p:cNvPr id="26" name="TextBox 26"/>
            <p:cNvSpPr txBox="1"/>
            <p:nvPr/>
          </p:nvSpPr>
          <p:spPr>
            <a:xfrm>
              <a:off x="393323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Δ 90%</a:t>
              </a:r>
            </a:p>
          </p:txBody>
        </p:sp>
      </p:grpSp>
      <p:grpSp>
        <p:nvGrpSpPr>
          <p:cNvPr id="31" name="Group 31"/>
          <p:cNvGrpSpPr/>
          <p:nvPr/>
        </p:nvGrpSpPr>
        <p:grpSpPr>
          <a:xfrm>
            <a:off x="6051042" y="1676400"/>
            <a:ext cx="5531358" cy="3452051"/>
            <a:chOff x="6051042" y="1676400"/>
            <a:chExt cx="5531358" cy="3452051"/>
          </a:xfrm>
        </p:grpSpPr>
        <p:sp>
          <p:nvSpPr>
            <p:cNvPr id="28" name="Rectangle 28"/>
            <p:cNvSpPr/>
            <p:nvPr/>
          </p:nvSpPr>
          <p:spPr>
            <a:xfrm>
              <a:off x="6057900" y="1676400"/>
              <a:ext cx="5524500" cy="3105150"/>
            </a:xfrm>
            <a:prstGeom prst="rect">
              <a:avLst/>
            </a:prstGeom>
            <a:solidFill>
              <a:schemeClr val="lt1"/>
            </a:solidFill>
            <a:ln w="19050">
              <a:solidFill>
                <a:schemeClr val="accent2"/>
              </a:solidFill>
            </a:ln>
          </p:spPr>
        </p:sp>
        <p:pic>
          <p:nvPicPr>
            <p:cNvPr id="29" name="Image 29"/>
            <p:cNvPicPr>
              <a:picLocks noChangeAspect="1"/>
            </p:cNvPicPr>
            <p:nvPr/>
          </p:nvPicPr>
          <p:blipFill>
            <a:blip r:embed="rId2"/>
            <a:stretch>
              <a:fillRect/>
            </a:stretch>
          </p:blipFill>
          <p:spPr>
            <a:xfrm>
              <a:off x="6153150" y="1771650"/>
              <a:ext cx="5334000" cy="3000375"/>
            </a:xfrm>
            <a:prstGeom prst="rect">
              <a:avLst/>
            </a:prstGeom>
          </p:spPr>
        </p:pic>
        <p:sp>
          <p:nvSpPr>
            <p:cNvPr id="30" name="TextBox 30"/>
            <p:cNvSpPr txBox="1"/>
            <p:nvPr/>
          </p:nvSpPr>
          <p:spPr>
            <a:xfrm>
              <a:off x="6051042" y="4864418"/>
              <a:ext cx="52723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前端记录：合并后 Q-0001 至 Q-0010 · 匿名正反序 · 双 Judge</a:t>
              </a:r>
            </a:p>
          </p:txBody>
        </p:sp>
      </p:grpSp>
      <p:grpSp>
        <p:nvGrpSpPr>
          <p:cNvPr id="35" name="Group 35"/>
          <p:cNvGrpSpPr/>
          <p:nvPr/>
        </p:nvGrpSpPr>
        <p:grpSpPr>
          <a:xfrm>
            <a:off x="6057900" y="5448300"/>
            <a:ext cx="5524500" cy="933450"/>
            <a:chOff x="6057900" y="5448300"/>
            <a:chExt cx="5524500" cy="933450"/>
          </a:xfrm>
        </p:grpSpPr>
        <p:sp>
          <p:nvSpPr>
            <p:cNvPr id="32" name="Rectangle 32"/>
            <p:cNvSpPr/>
            <p:nvPr/>
          </p:nvSpPr>
          <p:spPr>
            <a:xfrm>
              <a:off x="6057900" y="5448300"/>
              <a:ext cx="5524500" cy="933450"/>
            </a:xfrm>
            <a:prstGeom prst="rect">
              <a:avLst/>
            </a:prstGeom>
            <a:solidFill>
              <a:srgbClr val="FFF4E8"/>
            </a:solidFill>
            <a:ln>
              <a:noFill/>
            </a:ln>
          </p:spPr>
        </p:sp>
        <p:sp>
          <p:nvSpPr>
            <p:cNvPr id="33" name="TextBox 33"/>
            <p:cNvSpPr txBox="1"/>
            <p:nvPr/>
          </p:nvSpPr>
          <p:spPr>
            <a:xfrm>
              <a:off x="6277356" y="5615940"/>
              <a:ext cx="1036015"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解读边界</a:t>
              </a:r>
            </a:p>
          </p:txBody>
        </p:sp>
        <p:sp>
          <p:nvSpPr>
            <p:cNvPr id="34" name="TextBox 34"/>
            <p:cNvSpPr txBox="1"/>
            <p:nvPr/>
          </p:nvSpPr>
          <p:spPr>
            <a:xfrm>
              <a:off x="6279642" y="6007418"/>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控制组版本和样本仍有限，不将差值解释为严格因果效应。</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下一阶段：补证据、扩样本、降时延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20</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证据质量专项</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209009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正文—证据卡强绑定</a:t>
              </a:r>
            </a:p>
          </p:txBody>
        </p:sp>
        <p:sp>
          <p:nvSpPr>
            <p:cNvPr id="10" name="TextBox 10"/>
            <p:cNvSpPr txBox="1"/>
            <p:nvPr/>
          </p:nvSpPr>
          <p:spPr>
            <a:xfrm>
              <a:off x="600456" y="392049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关键数字核验</a:t>
              </a:r>
            </a:p>
          </p:txBody>
        </p:sp>
        <p:sp>
          <p:nvSpPr>
            <p:cNvPr id="11" name="TextBox 11"/>
            <p:cNvSpPr txBox="1"/>
            <p:nvPr/>
          </p:nvSpPr>
          <p:spPr>
            <a:xfrm>
              <a:off x="60045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来源质量分级</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2026-07-29T15:15:36Z</dcterms:created>
  <dcterms:modified xsi:type="dcterms:W3CDTF">2026-07-29T15:15:36Z</dcterms:modified>
  <cp:category/>
  <cp:contentStatus/>
</cp:coreProperties>
</file>