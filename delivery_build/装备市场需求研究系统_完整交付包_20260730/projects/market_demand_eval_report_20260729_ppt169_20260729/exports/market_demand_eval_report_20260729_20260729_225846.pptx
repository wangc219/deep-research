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六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的票型为十六比十四比五十。这说明下一阶段最优先的工作不是继续增加推理层次，而是把正文结论和可靠证据强绑定。</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质量优势伴随着明显的运行成本。完整方法平均耗时二十二点九分钟，约为通用 Agent 的七点五倍，但平均来源数也达到十四点三。建议采用轻量筛选、按需升级深研、复用证据缓存和控制并行预算的分层策略。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合并后十条 Query 中，完整方法对去多源基线为百分之六十对百分之四十，差值二十个百分点；对去制胜机理为百分之九十五对百分之五，差值九十个百分点。制胜机理的贡献信号依然最强，多源基线则呈方向性增益。由于控制组版本和样本条件仍有限，这些差值不直接解释为严格因果效应。</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建议下一阶段批准三个工作包。第一，启动证据质量专项，完成正文与证据卡强绑定、关键数字核验和来源分级；第二，完成五十条全量 Benchmark，并固定版本和预注册口径；第三，开展同版本消融复测，同时记录质量、时延和成本。完成这三项后，项目才能从初步有效走向稳定可信和可规模化。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643438" cy="228600"/>
              </a:xfrm>
              <a:prstGeom prst="rect">
                <a:avLst/>
              </a:prstGeom>
              <a:solidFill>
                <a:schemeClr val="accent2"/>
              </a:solidFill>
              <a:ln>
                <a:noFill/>
              </a:ln>
            </p:spPr>
          </p:sp>
          <p:sp>
            <p:nvSpPr>
              <p:cNvPr id="9" name="Rectangle 9"/>
              <p:cNvSpPr/>
              <p:nvPr/>
            </p:nvSpPr>
            <p:spPr>
              <a:xfrm>
                <a:off x="7500938" y="1981200"/>
                <a:ext cx="142875" cy="228600"/>
              </a:xfrm>
              <a:prstGeom prst="rect">
                <a:avLst/>
              </a:prstGeom>
              <a:solidFill>
                <a:srgbClr val="B7C7D6"/>
              </a:solidFill>
              <a:ln>
                <a:noFill/>
              </a:ln>
            </p:spPr>
          </p:sp>
          <p:sp>
            <p:nvSpPr>
              <p:cNvPr id="10" name="Rectangle 10"/>
              <p:cNvSpPr/>
              <p:nvPr/>
            </p:nvSpPr>
            <p:spPr>
              <a:xfrm>
                <a:off x="7643812" y="1981200"/>
                <a:ext cx="928688"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143000" cy="228600"/>
              </a:xfrm>
              <a:prstGeom prst="rect">
                <a:avLst/>
              </a:prstGeom>
              <a:solidFill>
                <a:schemeClr val="accent2"/>
              </a:solidFill>
              <a:ln>
                <a:noFill/>
              </a:ln>
            </p:spPr>
          </p:sp>
          <p:sp>
            <p:nvSpPr>
              <p:cNvPr id="14" name="Rectangle 14"/>
              <p:cNvSpPr/>
              <p:nvPr/>
            </p:nvSpPr>
            <p:spPr>
              <a:xfrm>
                <a:off x="4000500" y="2457450"/>
                <a:ext cx="1000125" cy="228600"/>
              </a:xfrm>
              <a:prstGeom prst="rect">
                <a:avLst/>
              </a:prstGeom>
              <a:solidFill>
                <a:srgbClr val="B7C7D6"/>
              </a:solidFill>
              <a:ln>
                <a:noFill/>
              </a:ln>
            </p:spPr>
          </p:sp>
          <p:sp>
            <p:nvSpPr>
              <p:cNvPr id="15" name="Rectangle 15"/>
              <p:cNvSpPr/>
              <p:nvPr/>
            </p:nvSpPr>
            <p:spPr>
              <a:xfrm>
                <a:off x="5000625" y="2457450"/>
                <a:ext cx="3571875"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857750" cy="228600"/>
              </a:xfrm>
              <a:prstGeom prst="rect">
                <a:avLst/>
              </a:prstGeom>
              <a:solidFill>
                <a:schemeClr val="accent2"/>
              </a:solidFill>
              <a:ln>
                <a:noFill/>
              </a:ln>
            </p:spPr>
          </p:sp>
          <p:sp>
            <p:nvSpPr>
              <p:cNvPr id="19" name="Rectangle 19"/>
              <p:cNvSpPr/>
              <p:nvPr/>
            </p:nvSpPr>
            <p:spPr>
              <a:xfrm>
                <a:off x="7715250" y="2933700"/>
                <a:ext cx="857250"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4929188" cy="228600"/>
              </a:xfrm>
              <a:prstGeom prst="rect">
                <a:avLst/>
              </a:prstGeom>
              <a:solidFill>
                <a:schemeClr val="accent2"/>
              </a:solidFill>
              <a:ln>
                <a:noFill/>
              </a:ln>
            </p:spPr>
          </p:sp>
          <p:sp>
            <p:nvSpPr>
              <p:cNvPr id="23" name="Rectangle 23"/>
              <p:cNvSpPr/>
              <p:nvPr/>
            </p:nvSpPr>
            <p:spPr>
              <a:xfrm>
                <a:off x="7786688" y="3409950"/>
                <a:ext cx="71438" cy="228600"/>
              </a:xfrm>
              <a:prstGeom prst="rect">
                <a:avLst/>
              </a:prstGeom>
              <a:solidFill>
                <a:srgbClr val="B7C7D6"/>
              </a:solidFill>
              <a:ln>
                <a:noFill/>
              </a:ln>
            </p:spPr>
          </p:sp>
          <p:sp>
            <p:nvSpPr>
              <p:cNvPr id="24" name="Rectangle 24"/>
              <p:cNvSpPr/>
              <p:nvPr/>
            </p:nvSpPr>
            <p:spPr>
              <a:xfrm>
                <a:off x="7858125" y="3409950"/>
                <a:ext cx="71437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4286250" cy="228600"/>
              </a:xfrm>
              <a:prstGeom prst="rect">
                <a:avLst/>
              </a:prstGeom>
              <a:solidFill>
                <a:schemeClr val="accent2"/>
              </a:solidFill>
              <a:ln>
                <a:noFill/>
              </a:ln>
            </p:spPr>
          </p:sp>
          <p:sp>
            <p:nvSpPr>
              <p:cNvPr id="28" name="Rectangle 28"/>
              <p:cNvSpPr/>
              <p:nvPr/>
            </p:nvSpPr>
            <p:spPr>
              <a:xfrm>
                <a:off x="7143750" y="3886200"/>
                <a:ext cx="285750" cy="228600"/>
              </a:xfrm>
              <a:prstGeom prst="rect">
                <a:avLst/>
              </a:prstGeom>
              <a:solidFill>
                <a:srgbClr val="B7C7D6"/>
              </a:solidFill>
              <a:ln>
                <a:noFill/>
              </a:ln>
            </p:spPr>
          </p:sp>
          <p:sp>
            <p:nvSpPr>
              <p:cNvPr id="29" name="Rectangle 29"/>
              <p:cNvSpPr/>
              <p:nvPr/>
            </p:nvSpPr>
            <p:spPr>
              <a:xfrm>
                <a:off x="7429500" y="3886200"/>
                <a:ext cx="1143000"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929188" cy="228600"/>
              </a:xfrm>
              <a:prstGeom prst="rect">
                <a:avLst/>
              </a:prstGeom>
              <a:solidFill>
                <a:schemeClr val="accent2"/>
              </a:solidFill>
              <a:ln>
                <a:noFill/>
              </a:ln>
            </p:spPr>
          </p:sp>
          <p:sp>
            <p:nvSpPr>
              <p:cNvPr id="33" name="Rectangle 33"/>
              <p:cNvSpPr/>
              <p:nvPr/>
            </p:nvSpPr>
            <p:spPr>
              <a:xfrm>
                <a:off x="7786688" y="4362450"/>
                <a:ext cx="785812"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5072062" cy="228600"/>
              </a:xfrm>
              <a:prstGeom prst="rect">
                <a:avLst/>
              </a:prstGeom>
              <a:solidFill>
                <a:schemeClr val="accent2"/>
              </a:solidFill>
              <a:ln>
                <a:noFill/>
              </a:ln>
            </p:spPr>
          </p:sp>
          <p:sp>
            <p:nvSpPr>
              <p:cNvPr id="37" name="Rectangle 37"/>
              <p:cNvSpPr/>
              <p:nvPr/>
            </p:nvSpPr>
            <p:spPr>
              <a:xfrm>
                <a:off x="7929562" y="4838700"/>
                <a:ext cx="357188" cy="228600"/>
              </a:xfrm>
              <a:prstGeom prst="rect">
                <a:avLst/>
              </a:prstGeom>
              <a:solidFill>
                <a:srgbClr val="B7C7D6"/>
              </a:solidFill>
              <a:ln>
                <a:noFill/>
              </a:ln>
            </p:spPr>
          </p:sp>
          <p:sp>
            <p:nvSpPr>
              <p:cNvPr id="38" name="Rectangle 38"/>
              <p:cNvSpPr/>
              <p:nvPr/>
            </p:nvSpPr>
            <p:spPr>
              <a:xfrm>
                <a:off x="8286750" y="4838700"/>
                <a:ext cx="285750"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4714875" cy="228600"/>
              </a:xfrm>
              <a:prstGeom prst="rect">
                <a:avLst/>
              </a:prstGeom>
              <a:solidFill>
                <a:schemeClr val="accent2"/>
              </a:solidFill>
              <a:ln>
                <a:noFill/>
              </a:ln>
            </p:spPr>
          </p:sp>
          <p:sp>
            <p:nvSpPr>
              <p:cNvPr id="42" name="Rectangle 42"/>
              <p:cNvSpPr/>
              <p:nvPr/>
            </p:nvSpPr>
            <p:spPr>
              <a:xfrm>
                <a:off x="7572375" y="5314950"/>
                <a:ext cx="142875" cy="228600"/>
              </a:xfrm>
              <a:prstGeom prst="rect">
                <a:avLst/>
              </a:prstGeom>
              <a:solidFill>
                <a:srgbClr val="B7C7D6"/>
              </a:solidFill>
              <a:ln>
                <a:noFill/>
              </a:ln>
            </p:spPr>
          </p:sp>
          <p:sp>
            <p:nvSpPr>
              <p:cNvPr id="43" name="Rectangle 43"/>
              <p:cNvSpPr/>
              <p:nvPr/>
            </p:nvSpPr>
            <p:spPr>
              <a:xfrm>
                <a:off x="7715250" y="5314950"/>
                <a:ext cx="857250"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3" name="Group 63"/>
          <p:cNvGrpSpPr/>
          <p:nvPr/>
        </p:nvGrpSpPr>
        <p:grpSpPr>
          <a:xfrm>
            <a:off x="609600" y="6172200"/>
            <a:ext cx="4021120" cy="270701"/>
            <a:chOff x="609600" y="6172200"/>
            <a:chExt cx="4021120"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294842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质量—时延权衡</a:t>
              </a:r>
            </a:p>
          </p:txBody>
        </p:sp>
        <p:sp>
          <p:nvSpPr>
            <p:cNvPr id="3" name="TextBox 3"/>
            <p:cNvSpPr txBox="1"/>
            <p:nvPr/>
          </p:nvSpPr>
          <p:spPr>
            <a:xfrm>
              <a:off x="600456" y="1043940"/>
              <a:ext cx="531156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效果领先，但平均耗时比通用 Agent 高约 7.5 倍</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26" name="Group 26"/>
          <p:cNvGrpSpPr/>
          <p:nvPr/>
        </p:nvGrpSpPr>
        <p:grpSpPr>
          <a:xfrm>
            <a:off x="520636" y="1657350"/>
            <a:ext cx="7841800" cy="4171950"/>
            <a:chOff x="520636" y="1657350"/>
            <a:chExt cx="7841800" cy="4171950"/>
          </a:xfrm>
        </p:grpSpPr>
        <p:sp>
          <p:nvSpPr>
            <p:cNvPr id="6" name="Rectangle 6"/>
            <p:cNvSpPr/>
            <p:nvPr/>
          </p:nvSpPr>
          <p:spPr>
            <a:xfrm>
              <a:off x="609600" y="1657350"/>
              <a:ext cx="7429500" cy="4171950"/>
            </a:xfrm>
            <a:prstGeom prst="rect">
              <a:avLst/>
            </a:prstGeom>
            <a:solidFill>
              <a:schemeClr val="accent5"/>
            </a:solidFill>
            <a:ln>
              <a:noFill/>
            </a:ln>
          </p:spPr>
        </p:sp>
        <p:grpSp>
          <p:nvGrpSpPr>
            <p:cNvPr id="25" name="Group 25"/>
            <p:cNvGrpSpPr/>
            <p:nvPr/>
          </p:nvGrpSpPr>
          <p:grpSpPr>
            <a:xfrm>
              <a:off x="520636" y="2133600"/>
              <a:ext cx="7841800" cy="3604451"/>
              <a:chOff x="520636" y="2133600"/>
              <a:chExt cx="7841800" cy="3604451"/>
            </a:xfrm>
          </p:grpSpPr>
          <p:sp>
            <p:nvSpPr>
              <p:cNvPr id="7" name="Line 7"/>
              <p:cNvSpPr/>
              <p:nvPr/>
            </p:nvSpPr>
            <p:spPr>
              <a:xfrm>
                <a:off x="1181100" y="5219700"/>
                <a:ext cx="6477000" cy="9525"/>
              </a:xfrm>
              <a:custGeom>
                <a:avLst/>
                <a:gdLst/>
                <a:ahLst/>
                <a:cxnLst/>
                <a:rect l="l" t="t" r="r" b="b"/>
                <a:pathLst>
                  <a:path w="6477000" h="9525">
                    <a:moveTo>
                      <a:pt x="0" y="0"/>
                    </a:moveTo>
                    <a:lnTo>
                      <a:pt x="6477000" y="0"/>
                    </a:lnTo>
                  </a:path>
                </a:pathLst>
              </a:custGeom>
              <a:noFill/>
              <a:ln w="19050">
                <a:solidFill>
                  <a:schemeClr val="accent1"/>
                </a:solidFill>
              </a:ln>
            </p:spPr>
          </p:sp>
          <p:sp>
            <p:nvSpPr>
              <p:cNvPr id="8" name="Line 8"/>
              <p:cNvSpPr/>
              <p:nvPr/>
            </p:nvSpPr>
            <p:spPr>
              <a:xfrm>
                <a:off x="1181100" y="2133600"/>
                <a:ext cx="9525" cy="3086100"/>
              </a:xfrm>
              <a:custGeom>
                <a:avLst/>
                <a:gdLst/>
                <a:ahLst/>
                <a:cxnLst/>
                <a:rect l="l" t="t" r="r" b="b"/>
                <a:pathLst>
                  <a:path w="9525" h="3086100">
                    <a:moveTo>
                      <a:pt x="0" y="0"/>
                    </a:moveTo>
                    <a:lnTo>
                      <a:pt x="0" y="3086100"/>
                    </a:lnTo>
                  </a:path>
                </a:pathLst>
              </a:custGeom>
              <a:noFill/>
              <a:ln w="19050">
                <a:solidFill>
                  <a:schemeClr val="accent1"/>
                </a:solidFill>
              </a:ln>
            </p:spPr>
          </p:sp>
          <p:sp>
            <p:nvSpPr>
              <p:cNvPr id="9" name="Line 9"/>
              <p:cNvSpPr/>
              <p:nvPr/>
            </p:nvSpPr>
            <p:spPr>
              <a:xfrm>
                <a:off x="2533650" y="2133600"/>
                <a:ext cx="9525" cy="3086100"/>
              </a:xfrm>
              <a:custGeom>
                <a:avLst/>
                <a:gdLst/>
                <a:ahLst/>
                <a:cxnLst/>
                <a:rect l="l" t="t" r="r" b="b"/>
                <a:pathLst>
                  <a:path w="9525" h="3086100">
                    <a:moveTo>
                      <a:pt x="0" y="0"/>
                    </a:moveTo>
                    <a:lnTo>
                      <a:pt x="0" y="3086100"/>
                    </a:lnTo>
                  </a:path>
                </a:pathLst>
              </a:custGeom>
              <a:noFill/>
              <a:ln w="19050">
                <a:solidFill>
                  <a:srgbClr val="B7C7D6"/>
                </a:solidFill>
                <a:custDash>
                  <a:ds d="300000" sp="300000"/>
                </a:custDash>
              </a:ln>
            </p:spPr>
          </p:sp>
          <p:sp>
            <p:nvSpPr>
              <p:cNvPr id="10" name="Line 10"/>
              <p:cNvSpPr/>
              <p:nvPr/>
            </p:nvSpPr>
            <p:spPr>
              <a:xfrm>
                <a:off x="1181100" y="2750820"/>
                <a:ext cx="6477000" cy="9525"/>
              </a:xfrm>
              <a:custGeom>
                <a:avLst/>
                <a:gdLst/>
                <a:ahLst/>
                <a:cxnLst/>
                <a:rect l="l" t="t" r="r" b="b"/>
                <a:pathLst>
                  <a:path w="6477000" h="9525">
                    <a:moveTo>
                      <a:pt x="0" y="0"/>
                    </a:moveTo>
                    <a:lnTo>
                      <a:pt x="6477000" y="0"/>
                    </a:lnTo>
                  </a:path>
                </a:pathLst>
              </a:custGeom>
              <a:noFill/>
              <a:ln w="19050">
                <a:solidFill>
                  <a:srgbClr val="B7C7D6"/>
                </a:solidFill>
                <a:custDash>
                  <a:ds d="300000" sp="300000"/>
                </a:custDash>
              </a:ln>
            </p:spPr>
          </p:sp>
          <p:sp>
            <p:nvSpPr>
              <p:cNvPr id="11" name="TextBox 11"/>
              <p:cNvSpPr txBox="1"/>
              <p:nvPr/>
            </p:nvSpPr>
            <p:spPr>
              <a:xfrm>
                <a:off x="1288542" y="2235518"/>
                <a:ext cx="13781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高质量 · 低时延</a:t>
                </a:r>
              </a:p>
            </p:txBody>
          </p:sp>
          <p:sp>
            <p:nvSpPr>
              <p:cNvPr id="12" name="TextBox 12"/>
              <p:cNvSpPr txBox="1"/>
              <p:nvPr/>
            </p:nvSpPr>
            <p:spPr>
              <a:xfrm>
                <a:off x="5974842" y="2235518"/>
                <a:ext cx="13781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高质量 · 高时延</a:t>
                </a:r>
              </a:p>
            </p:txBody>
          </p:sp>
          <p:sp>
            <p:nvSpPr>
              <p:cNvPr id="13" name="Ellipse 13"/>
              <p:cNvSpPr/>
              <p:nvPr/>
            </p:nvSpPr>
            <p:spPr>
              <a:xfrm>
                <a:off x="7038975" y="2349818"/>
                <a:ext cx="647700" cy="647700"/>
              </a:xfrm>
              <a:prstGeom prst="ellipse">
                <a:avLst/>
              </a:prstGeom>
              <a:solidFill>
                <a:schemeClr val="accent2">
                  <a:alpha val="82000"/>
                </a:schemeClr>
              </a:solidFill>
              <a:ln>
                <a:noFill/>
              </a:ln>
            </p:spPr>
          </p:sp>
          <p:sp>
            <p:nvSpPr>
              <p:cNvPr id="14" name="TextBox 14"/>
              <p:cNvSpPr txBox="1"/>
              <p:nvPr/>
            </p:nvSpPr>
            <p:spPr>
              <a:xfrm>
                <a:off x="6813042" y="30546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完整方法</a:t>
                </a:r>
              </a:p>
            </p:txBody>
          </p:sp>
          <p:sp>
            <p:nvSpPr>
              <p:cNvPr id="15" name="TextBox 15"/>
              <p:cNvSpPr txBox="1"/>
              <p:nvPr/>
            </p:nvSpPr>
            <p:spPr>
              <a:xfrm>
                <a:off x="6813042" y="3283268"/>
                <a:ext cx="154939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22.9 min · 14.3源</a:t>
                </a:r>
              </a:p>
            </p:txBody>
          </p:sp>
          <p:sp>
            <p:nvSpPr>
              <p:cNvPr id="16" name="Ellipse 16"/>
              <p:cNvSpPr/>
              <p:nvPr/>
            </p:nvSpPr>
            <p:spPr>
              <a:xfrm>
                <a:off x="1704975" y="4393882"/>
                <a:ext cx="571500" cy="571500"/>
              </a:xfrm>
              <a:prstGeom prst="ellipse">
                <a:avLst/>
              </a:prstGeom>
              <a:solidFill>
                <a:schemeClr val="accent6">
                  <a:alpha val="78000"/>
                </a:schemeClr>
              </a:solidFill>
              <a:ln>
                <a:noFill/>
              </a:ln>
            </p:spPr>
          </p:sp>
          <p:sp>
            <p:nvSpPr>
              <p:cNvPr id="17" name="TextBox 17"/>
              <p:cNvSpPr txBox="1"/>
              <p:nvPr/>
            </p:nvSpPr>
            <p:spPr>
              <a:xfrm>
                <a:off x="2317242" y="4464368"/>
                <a:ext cx="98828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通用 Agent</a:t>
                </a:r>
              </a:p>
            </p:txBody>
          </p:sp>
          <p:sp>
            <p:nvSpPr>
              <p:cNvPr id="18" name="TextBox 18"/>
              <p:cNvSpPr txBox="1"/>
              <p:nvPr/>
            </p:nvSpPr>
            <p:spPr>
              <a:xfrm>
                <a:off x="2317242" y="4692968"/>
                <a:ext cx="144943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3.0 min · 11.8源</a:t>
                </a:r>
              </a:p>
            </p:txBody>
          </p:sp>
          <p:sp>
            <p:nvSpPr>
              <p:cNvPr id="19" name="Ellipse 19"/>
              <p:cNvSpPr/>
              <p:nvPr/>
            </p:nvSpPr>
            <p:spPr>
              <a:xfrm>
                <a:off x="1762125" y="5047298"/>
                <a:ext cx="190500" cy="190500"/>
              </a:xfrm>
              <a:prstGeom prst="ellipse">
                <a:avLst/>
              </a:prstGeom>
              <a:solidFill>
                <a:srgbClr val="6B7785"/>
              </a:solidFill>
              <a:ln>
                <a:noFill/>
              </a:ln>
            </p:spPr>
          </p:sp>
          <p:sp>
            <p:nvSpPr>
              <p:cNvPr id="20" name="TextBox 20"/>
              <p:cNvSpPr txBox="1"/>
              <p:nvPr/>
            </p:nvSpPr>
            <p:spPr>
              <a:xfrm>
                <a:off x="2088642" y="4997768"/>
                <a:ext cx="148072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 · 2.5 min</a:t>
                </a:r>
              </a:p>
            </p:txBody>
          </p:sp>
          <p:sp>
            <p:nvSpPr>
              <p:cNvPr id="21" name="Ellipse 21"/>
              <p:cNvSpPr/>
              <p:nvPr/>
            </p:nvSpPr>
            <p:spPr>
              <a:xfrm>
                <a:off x="1304925" y="5047298"/>
                <a:ext cx="190500" cy="190500"/>
              </a:xfrm>
              <a:prstGeom prst="ellipse">
                <a:avLst/>
              </a:prstGeom>
              <a:solidFill>
                <a:srgbClr val="B7C7D6"/>
              </a:solidFill>
              <a:ln>
                <a:noFill/>
              </a:ln>
            </p:spPr>
          </p:sp>
          <p:sp>
            <p:nvSpPr>
              <p:cNvPr id="22" name="TextBox 22"/>
              <p:cNvSpPr txBox="1"/>
              <p:nvPr/>
            </p:nvSpPr>
            <p:spPr>
              <a:xfrm>
                <a:off x="1021842" y="5397818"/>
                <a:ext cx="12313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 0.8 min</a:t>
                </a:r>
              </a:p>
            </p:txBody>
          </p:sp>
          <p:sp>
            <p:nvSpPr>
              <p:cNvPr id="23" name="TextBox 23"/>
              <p:cNvSpPr txBox="1"/>
              <p:nvPr/>
            </p:nvSpPr>
            <p:spPr>
              <a:xfrm>
                <a:off x="3608556" y="5474018"/>
                <a:ext cx="162208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平均耗时（分钟） →</a:t>
                </a:r>
              </a:p>
            </p:txBody>
          </p:sp>
          <p:sp>
            <p:nvSpPr>
              <p:cNvPr id="24" name="TextBox 24"/>
              <p:cNvSpPr txBox="1"/>
              <p:nvPr/>
            </p:nvSpPr>
            <p:spPr>
              <a:xfrm>
                <a:off x="520636" y="3759518"/>
                <a:ext cx="558927"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得分率</a:t>
                </a:r>
              </a:p>
            </p:txBody>
          </p:sp>
        </p:grpSp>
      </p:grpSp>
      <p:grpSp>
        <p:nvGrpSpPr>
          <p:cNvPr id="36" name="Group 36"/>
          <p:cNvGrpSpPr/>
          <p:nvPr/>
        </p:nvGrpSpPr>
        <p:grpSpPr>
          <a:xfrm>
            <a:off x="8343900" y="1657350"/>
            <a:ext cx="3238500" cy="4171950"/>
            <a:chOff x="8343900" y="1657350"/>
            <a:chExt cx="3238500" cy="4171950"/>
          </a:xfrm>
        </p:grpSpPr>
        <p:sp>
          <p:nvSpPr>
            <p:cNvPr id="27" name="Rectangle 27"/>
            <p:cNvSpPr/>
            <p:nvPr/>
          </p:nvSpPr>
          <p:spPr>
            <a:xfrm>
              <a:off x="8343900" y="1657350"/>
              <a:ext cx="3238500" cy="4171950"/>
            </a:xfrm>
            <a:prstGeom prst="rect">
              <a:avLst/>
            </a:prstGeom>
            <a:solidFill>
              <a:schemeClr val="accent1"/>
            </a:solidFill>
            <a:ln>
              <a:noFill/>
            </a:ln>
          </p:spPr>
        </p:sp>
        <p:sp>
          <p:nvSpPr>
            <p:cNvPr id="28" name="TextBox 28"/>
            <p:cNvSpPr txBox="1"/>
            <p:nvPr/>
          </p:nvSpPr>
          <p:spPr>
            <a:xfrm>
              <a:off x="8598408" y="18554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效率优化方向</a:t>
              </a:r>
            </a:p>
          </p:txBody>
        </p:sp>
        <p:sp>
          <p:nvSpPr>
            <p:cNvPr id="29" name="TextBox 29"/>
            <p:cNvSpPr txBox="1"/>
            <p:nvPr/>
          </p:nvSpPr>
          <p:spPr>
            <a:xfrm>
              <a:off x="8591550" y="2265998"/>
              <a:ext cx="1577412"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7.5×</a:t>
              </a:r>
            </a:p>
          </p:txBody>
        </p:sp>
        <p:sp>
          <p:nvSpPr>
            <p:cNvPr id="30" name="TextBox 30"/>
            <p:cNvSpPr txBox="1"/>
            <p:nvPr/>
          </p:nvSpPr>
          <p:spPr>
            <a:xfrm>
              <a:off x="8603742" y="3035618"/>
              <a:ext cx="228357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相对通用 Agent 的时延倍数</a:t>
              </a:r>
            </a:p>
          </p:txBody>
        </p:sp>
        <p:sp>
          <p:nvSpPr>
            <p:cNvPr id="31" name="Line 31"/>
            <p:cNvSpPr/>
            <p:nvPr/>
          </p:nvSpPr>
          <p:spPr>
            <a:xfrm>
              <a:off x="8610600" y="3524250"/>
              <a:ext cx="2705100" cy="9525"/>
            </a:xfrm>
            <a:custGeom>
              <a:avLst/>
              <a:gdLst/>
              <a:ahLst/>
              <a:cxnLst/>
              <a:rect l="l" t="t" r="r" b="b"/>
              <a:pathLst>
                <a:path w="2705100" h="9525">
                  <a:moveTo>
                    <a:pt x="0" y="0"/>
                  </a:moveTo>
                  <a:lnTo>
                    <a:pt x="2705100" y="0"/>
                  </a:lnTo>
                </a:path>
              </a:pathLst>
            </a:custGeom>
            <a:noFill/>
            <a:ln w="19050">
              <a:solidFill>
                <a:srgbClr val="6D89A3"/>
              </a:solidFill>
            </a:ln>
          </p:spPr>
        </p:sp>
        <p:sp>
          <p:nvSpPr>
            <p:cNvPr id="32" name="TextBox 32"/>
            <p:cNvSpPr txBox="1"/>
            <p:nvPr/>
          </p:nvSpPr>
          <p:spPr>
            <a:xfrm>
              <a:off x="8601456" y="38061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轻量筛选</a:t>
              </a:r>
            </a:p>
          </p:txBody>
        </p:sp>
        <p:sp>
          <p:nvSpPr>
            <p:cNvPr id="33" name="TextBox 33"/>
            <p:cNvSpPr txBox="1"/>
            <p:nvPr/>
          </p:nvSpPr>
          <p:spPr>
            <a:xfrm>
              <a:off x="8601456" y="42252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深研升级</a:t>
              </a:r>
            </a:p>
          </p:txBody>
        </p:sp>
        <p:sp>
          <p:nvSpPr>
            <p:cNvPr id="34" name="TextBox 34"/>
            <p:cNvSpPr txBox="1"/>
            <p:nvPr/>
          </p:nvSpPr>
          <p:spPr>
            <a:xfrm>
              <a:off x="8601456" y="46443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证据缓存</a:t>
              </a:r>
            </a:p>
          </p:txBody>
        </p:sp>
        <p:sp>
          <p:nvSpPr>
            <p:cNvPr id="35" name="TextBox 35"/>
            <p:cNvSpPr txBox="1"/>
            <p:nvPr/>
          </p:nvSpPr>
          <p:spPr>
            <a:xfrm>
              <a:off x="8601456" y="50634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并行预算</a:t>
              </a:r>
            </a:p>
          </p:txBody>
        </p:sp>
      </p:grpSp>
      <p:sp>
        <p:nvSpPr>
          <p:cNvPr id="37" name="TextBox 37"/>
          <p:cNvSpPr txBox="1"/>
          <p:nvPr/>
        </p:nvSpPr>
        <p:spPr>
          <a:xfrm>
            <a:off x="602742" y="6236018"/>
            <a:ext cx="4717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气泡大小表示平均来源数；得分率采用 Pairwise 评测口径</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01541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合并后 10 条 Query：制胜机理贡献仍最突出</a:t>
              </a:r>
            </a:p>
          </p:txBody>
        </p:sp>
        <p:sp>
          <p:nvSpPr>
            <p:cNvPr id="3" name="TextBox 3"/>
            <p:cNvSpPr txBox="1"/>
            <p:nvPr/>
          </p:nvSpPr>
          <p:spPr>
            <a:xfrm>
              <a:off x="600456" y="1043940"/>
              <a:ext cx="7215073"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多源基线呈 20 个百分点方向性增益；两组结果仍按探索性证据解读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下一阶段：补证据、扩样本、降时延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18</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证据质量专项</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209009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正文—证据卡强绑定</a:t>
              </a:r>
            </a:p>
          </p:txBody>
        </p:sp>
        <p:sp>
          <p:nvSpPr>
            <p:cNvPr id="10" name="TextBox 10"/>
            <p:cNvSpPr txBox="1"/>
            <p:nvPr/>
          </p:nvSpPr>
          <p:spPr>
            <a:xfrm>
              <a:off x="600456" y="392049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关键数字核验</a:t>
              </a:r>
            </a:p>
          </p:txBody>
        </p:sp>
        <p:sp>
          <p:nvSpPr>
            <p:cNvPr id="11" name="TextBox 11"/>
            <p:cNvSpPr txBox="1"/>
            <p:nvPr/>
          </p:nvSpPr>
          <p:spPr>
            <a:xfrm>
              <a:off x="60045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来源质量分级</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2026-07-29T14:58:46Z</dcterms:created>
  <dcterms:modified xsi:type="dcterms:W3CDTF">2026-07-29T14:58:46Z</dcterms:modified>
  <cp:category/>
  <cp:contentStatus/>
</cp:coreProperties>
</file>