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Default Extension="jpg" ContentType="image/jpeg"/>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  <Relationship Id="rId27"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endParaRPr lang="en-US"/>
          </a:p>
        </p:txBody>
      </p:sp>
      <p:sp>
        <p:nvSpPr>
          <p:cNvPr id="3" name="Date Placeholder 2"/>
          <p:cNvSpPr>
            <a:spLocks noGrp="1"/>
          </p:cNvSpPr>
          <p:nvPr>
            <p:ph type="dt" sz="half" idx="1"/>
          </p:nvPr>
        </p:nvSpPr>
        <p:spPr>
          <a:xfrm>
            <a:off x="3884613" y="0"/>
            <a:ext cx="2971800" cy="457200"/>
          </a:xfrm>
          <a:prstGeom prst="rect">
            <a:avLst/>
          </a:prstGeom>
        </p:spPr>
        <p:txBody>
          <a:bodyPr/>
          <a:lstStyle/>
          <a:p>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endParaRPr lang="en-US"/>
          </a:p>
        </p:txBody>
      </p:sp>
    </p:spTree>
  </p:cSld>
  <p:clrMap bg1="lt1" tx1="dk1" bg2="lt2" tx2="dk2" accent1="accent1" accent2="accent2" accent3="accent3" accent4="accent4" accent5="accent5" accent6="accent6" hlink="hlink" folHlink="folHlink"/>
  <p:hf/>
  <p:notesStyle>
    <a:lvl1pPr marL="0" algn="l">
      <a:defRPr sz="1200" lang="en-US"/>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本次汇报聚焦三个问题：文档中的发散要求是否真正落地，完整方法在 Benchmark 中表现如何，以及关键模块到底贡献了什么。当前结论是，三层九项、制胜机理和评测闭环已经形成可运行系统，并获得初步效果证据。下一阶段的重点不是继续增加复杂度，而是补强证据质量、扩大样本并降低运行时延。</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先看三点结论。第一，A 到 H 的研究路径、三层九项、S1 到 S6、L1 到 L4，以及审计恢复能力已经具备；第二，对最强通用 Agent 的得分率为百分之八十二点五；第三，事实证据维度和二十二点九分钟的平均耗时仍是规模化验证的主要约束。</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原始文档允许研究路径、场景战法、装备技术和验证交付充分发散，但最终必须回到五项业务验收。成果必须真正符合领域属性，形成装备能力图像，论证制胜效能，同时兼顾创新性和可实现性。这个拆解决定了项目不是一般性的资料检索工具。</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文档中的发散问题没有被整段复制进每个 Agent 的 Prompt，而是压缩成四层运行机制。十二类分类提问先进入唯一责任分支或专业 Agent，每个角色只获得最多三个专属镜头；六类颠覆逻辑则被整理为十二张反事实种子卡，运行时通常只确定性选择两到三张。S1 先形成竞争性对手体系和反适应假设，S2 再形成机制不同的作战路径，随后 S3 到 S6 逐步转化为突破机制、能力映射、差距成熟度和五到七项具体装备，最后通过五项质量门。整个选卡过程在本地完成，不增加模型调用，而且种子始终被标记为假设镜头而不是事实或必选目录。</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从落实情况看，需求层、技术层和装备决策层都已经映射成明确产物。运行验收显示，A 到 H 路由、六步推理、九字段能力画像、证据、审计、恢复和并发等主要检查均已通过。当前运行完成、发布就绪和审计批准状态都已经形成工程证据。</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项目主链从 Query 和模板开始，经由 A 到 H 路由与多源研究，进入 S1 到 S6 的制胜机理推理，再输出三层九项报告和能力画像。最后通过 L1 到 L4 完成复核、审计和恢复。这样每一步都有结构化产物，也能追溯结论来自哪里。</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三层九项的作用，是允许研究过程发散，同时保证交付不会失控。需求挖掘层回答场景、战法机理和能力特征，技术攻关层回答实现途径、核心技术和耦合短板，装备决策层回答装备映射、演示验证和优先级抓手。S1 到 S6 负责机理收敛，L1 到 L4 负责质量回路。</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前六页说明了系统如何落实要求，这一页开始展示真实产品效果。交互过程、能力画像和研究报告已经形成三类可验收产物，分别对应执行记录、能力收敛和正式交付。后面三页将逐一展开，而不是只停留在架构说明。</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代表任务中，前端记录了四百二十六个事件、八十个关键事件、六个已完成的专用 Agent 和九个保存点。架构总览、S1 到 S6 结果、L1 到 L4 循环和关键事件在同一页面连续呈现，因此运行问题可以被观察、定位和恢复。这使复杂研究链具备了工程复盘条件。</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能力画像把研究判断收敛为六个具体装备方向，其中一个被列为高优先级，平均置信度为百分之七十九。每个方向不仅有名称，还保留任务场景、谱系位置、核心差距、作战机理和演化路径。这里展示的价值，是把发散研究转化成可排序、可验证的装备发展候选。</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三层九项已经沉淀为可连续阅读和直接评审的正式报告。第一层组织需求与场景，第二层组织技术攻关和风险，第三层组织能力画像与效能贡献。报告正文同时保留事实、分析推断和待验证假设的边界，避免把概念潜力写成既成能力。</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Benchmark 使用同一批二十条 Query 比较四套系统，并复用真实完成的研究报告。总计形成八十份回答和一百二十个盲评配对，由两名 GPT-5.5 评审专家分别执行 A 对 B 和 B 对 A 的双顺序评审。本轮评审错误数为零，前端也保留了完整运行记录。</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五项业务验收进一步拆成八个可判维度，避免只凭总体印象判断。评审关注任务完成、事实证据、因果机理、军事价值、能力映射、前瞻创新、体系稳健和不确定性验证。篇幅更长、格式更复杂或者术语更多，都不会自动获得更高评价。</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总体结果显示，完整方法对三类基线均领先。对通用 Agent 是十五胜三平两负，得分率百分之八十二点五，百分之九十五区间为百分之六十五到百分之九十五；对纯 LLM 和智谱 GLM 均为十九胜一平零负，得分率百分之九十七点五。右侧截图展示了前端保存的二十条 Query 真实结果和八维票型。</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进一步看最强基线，完整方法在任务完成、因果机理、能力映射、军事价值、前瞻性、体系稳健和不确定性七个维度领先。唯一明显反向的是证据与事实可靠性，完整方法、平票、通用 Agent 的票型为十六比十四比五十。本页条长采用压缩示意，并适度收短橙色段以保持版面平衡，准确结论仍以右侧票数为准。</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对纯 LLM 的分维度结果显示，完整方法在八个评测维度全部领先。事实证据、不确定性验证和前瞻创新三个维度均为八十比零比零，说明双 Judge 在这三项上全部支持完整方法。条形采用平方根压缩，使六到七张 Baseline 胜票仍能清晰辨认，但准确大小仍由右侧票数表达。</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对智谱 GLM 的结果同样保持跨维度稳定优势。事实证据、不确定性验证和体系稳健三个维度均为八十比零比零；任务完成、因果机理、能力映射和军事价值均为七十八比零比二。前瞻创新为七十六比一比三，是该组中 Baseline 胜票最多的维度；条形经过平方根压缩后更容易看清这些少数票，但不改变票数结论。</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消融实验设置了完整方法、去多源基线和去制胜机理三组。去多源组只把研究基线替换为单一受限通用检索 Agent，其余机理和循环保留；去制胜机理组保留多源基线，但跳过 S1 到 S6 并关闭质量循环。合并后的结果覆盖十条 Query 和双 Judge，仍定位为探索性证据。</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初步消融实验中，完整方法对去多源基线为百分之六十对百分之四十，差值二十个百分点；对去制胜机理为百分之九十五对百分之五，差值九十个百分点。制胜机理的贡献信号依然最强，多源基线目前只呈方向性增益。由于控制组版本和样本条件仍有限，这些差值不直接解释为严格因果效应。</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zh-CN" dirty="0"/>
              <a:t>建议下一阶段批准三个工作包。第一，继续优化智能体设计，严格落实分类分支、专属镜头、种子边界和装备质量门；第二，完成五十条全量 Benchmark，并固定代码与模型版本、预注册评测口径；第三，开展同版本消融复测，同时记录质量、时延和成本。完成这三项后，项目才能从初步有效走向稳定可信和可规模化。</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market_demand_eval_report_20260729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market_demand_eval_report_20260729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315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17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16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145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135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125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11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1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9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700" kern="1200">
          <a:solidFill>
            <a:schemeClr val="tx1"/>
          </a:solidFill>
          <a:latin typeface="+mn-lt"/>
          <a:ea typeface="+mn-ea"/>
          <a:cs typeface="+mn-cs"/>
        </a:defRPr>
      </a:lvl2pPr>
      <a:lvl3pPr marL="914400" algn="l" defTabSz="457200" rtl="0" eaLnBrk="1" latinLnBrk="0" hangingPunct="1">
        <a:defRPr sz="1600" kern="1200">
          <a:solidFill>
            <a:schemeClr val="tx1"/>
          </a:solidFill>
          <a:latin typeface="+mn-lt"/>
          <a:ea typeface="+mn-ea"/>
          <a:cs typeface="+mn-cs"/>
        </a:defRPr>
      </a:lvl3pPr>
      <a:lvl4pPr marL="1371600" algn="l" defTabSz="457200" rtl="0" eaLnBrk="1" latinLnBrk="0" hangingPunct="1">
        <a:defRPr sz="1450" kern="1200">
          <a:solidFill>
            <a:schemeClr val="tx1"/>
          </a:solidFill>
          <a:latin typeface="+mn-lt"/>
          <a:ea typeface="+mn-ea"/>
          <a:cs typeface="+mn-cs"/>
        </a:defRPr>
      </a:lvl4pPr>
      <a:lvl5pPr marL="1828800" algn="l" defTabSz="457200" rtl="0" eaLnBrk="1" latinLnBrk="0" hangingPunct="1">
        <a:defRPr sz="1350" kern="1200">
          <a:solidFill>
            <a:schemeClr val="tx1"/>
          </a:solidFill>
          <a:latin typeface="+mn-lt"/>
          <a:ea typeface="+mn-ea"/>
          <a:cs typeface="+mn-cs"/>
        </a:defRPr>
      </a:lvl5pPr>
      <a:lvl6pPr marL="2286000" algn="l" defTabSz="457200" rtl="0" eaLnBrk="1" latinLnBrk="0" hangingPunct="1">
        <a:defRPr sz="1250" kern="1200">
          <a:solidFill>
            <a:schemeClr val="tx1"/>
          </a:solidFill>
          <a:latin typeface="+mn-lt"/>
          <a:ea typeface="+mn-ea"/>
          <a:cs typeface="+mn-cs"/>
        </a:defRPr>
      </a:lvl6pPr>
      <a:lvl7pPr marL="2743200" algn="l" defTabSz="457200" rtl="0" eaLnBrk="1" latinLnBrk="0" hangingPunct="1">
        <a:defRPr sz="1100" kern="1200">
          <a:solidFill>
            <a:schemeClr val="tx1"/>
          </a:solidFill>
          <a:latin typeface="+mn-lt"/>
          <a:ea typeface="+mn-ea"/>
          <a:cs typeface="+mn-cs"/>
        </a:defRPr>
      </a:lvl7pPr>
      <a:lvl8pPr marL="3200400" algn="l" defTabSz="457200" rtl="0" eaLnBrk="1" latinLnBrk="0" hangingPunct="1">
        <a:defRPr sz="1000" kern="1200">
          <a:solidFill>
            <a:schemeClr val="tx1"/>
          </a:solidFill>
          <a:latin typeface="+mn-lt"/>
          <a:ea typeface="+mn-ea"/>
          <a:cs typeface="+mn-cs"/>
        </a:defRPr>
      </a:lvl8pPr>
      <a:lvl9pPr marL="3657600" algn="l" defTabSz="457200" rtl="0" eaLnBrk="1" latinLnBrk="0" hangingPunct="1">
        <a:defRPr sz="9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18f6f642be1a263.jpg"/>
  <Relationship Id="rId3" Type="http://schemas.openxmlformats.org/officeDocument/2006/relationships/image" Target="../media/image_7b7e9609043c8e48.jpg"/>
  <Relationship Id="rId4" Type="http://schemas.openxmlformats.org/officeDocument/2006/relationships/image" Target="../media/image_63f4e2b2d2d45dd9.jpg"/>
  <Relationship Id="rId5"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118f6f642be1a263.jpg"/>
  <Relationship Id="rId3"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b7e9609043c8e48.jpg"/>
  <Relationship Id="rId3"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63f4e2b2d2d45dd9.jpg"/>
  <Relationship Id="rId3"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f2e24efd05c412dc.jpg"/>
  <Relationship Id="rId3"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7d5582bb8542edad.jpg"/>
  <Relationship Id="rId3"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5e5fb4a68b2532c6.jpg"/>
  <Relationship Id="rId3"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image" Target="../media/image_4c8b33c501a1a755.jpg"/>
  <Relationship Id="rId3"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2" name="Rectangle 2"/>
          <p:cNvSpPr/>
          <p:nvPr/>
        </p:nvSpPr>
        <p:spPr>
          <a:xfrm>
            <a:off x="0" y="0"/>
            <a:ext cx="171450" cy="6858000"/>
          </a:xfrm>
          <a:prstGeom prst="rect">
            <a:avLst/>
          </a:prstGeom>
          <a:solidFill>
            <a:schemeClr val="accent1"/>
          </a:solidFill>
          <a:ln>
            <a:noFill/>
          </a:ln>
        </p:spPr>
      </p:sp>
      <p:grpSp>
        <p:nvGrpSpPr>
          <p:cNvPr id="7" name="Group 7"/>
          <p:cNvGrpSpPr/>
          <p:nvPr/>
        </p:nvGrpSpPr>
        <p:grpSpPr>
          <a:xfrm>
            <a:off x="688848" y="1378268"/>
            <a:ext cx="4232529" cy="2265616"/>
            <a:chOff x="688848" y="1378268"/>
            <a:chExt cx="4232529" cy="2265616"/>
          </a:xfrm>
        </p:grpSpPr>
        <p:sp>
          <p:nvSpPr>
            <p:cNvPr id="3" name="TextBox 3"/>
            <p:cNvSpPr txBox="1"/>
            <p:nvPr/>
          </p:nvSpPr>
          <p:spPr>
            <a:xfrm>
              <a:off x="697992" y="1378268"/>
              <a:ext cx="1731131"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阶段评审 · 2026.07</a:t>
              </a:r>
            </a:p>
          </p:txBody>
        </p:sp>
        <p:sp>
          <p:nvSpPr>
            <p:cNvPr id="4" name="TextBox 4"/>
            <p:cNvSpPr txBox="1"/>
            <p:nvPr/>
          </p:nvSpPr>
          <p:spPr>
            <a:xfrm>
              <a:off x="688848" y="1869758"/>
              <a:ext cx="4232529" cy="1187577"/>
            </a:xfrm>
            <a:prstGeom prst="rect">
              <a:avLst/>
            </a:prstGeom>
            <a:noFill/>
            <a:ln>
              <a:noFill/>
            </a:ln>
          </p:spPr>
          <p:txBody>
            <a:bodyPr wrap="square" lIns="0" tIns="0" rIns="0" bIns="0" anchor="t" anchorCtr="0"/>
            <a:lstStyle/>
            <a:p>
              <a:pPr algn="l">
                <a:lnSpc>
                  <a:spcPts val="4500"/>
                </a:lnSpc>
              </a:pPr>
              <a:r>
                <a:rPr lang="zh-CN" sz="3150" b="1" dirty="0">
                  <a:solidFill>
                    <a:schemeClr val="accent1"/>
                  </a:solidFill>
                  <a:latin typeface="+mn-lt"/>
                  <a:ea typeface="+mn-ea"/>
                  <a:cs typeface="+mn-cs"/>
                </a:rPr>
                <a:t>市场需求发散要求落实与评测汇报</a:t>
              </a:r>
            </a:p>
          </p:txBody>
        </p:sp>
        <p:sp>
          <p:nvSpPr>
            <p:cNvPr id="5" name="Rectangle 5"/>
            <p:cNvSpPr/>
            <p:nvPr/>
          </p:nvSpPr>
          <p:spPr>
            <a:xfrm>
              <a:off x="704850" y="3105150"/>
              <a:ext cx="1257300" cy="47625"/>
            </a:xfrm>
            <a:prstGeom prst="rect">
              <a:avLst/>
            </a:prstGeom>
            <a:solidFill>
              <a:schemeClr val="accent2"/>
            </a:solidFill>
            <a:ln>
              <a:noFill/>
            </a:ln>
          </p:spPr>
        </p:sp>
        <p:sp>
          <p:nvSpPr>
            <p:cNvPr id="6" name="TextBox 6"/>
            <p:cNvSpPr txBox="1"/>
            <p:nvPr/>
          </p:nvSpPr>
          <p:spPr>
            <a:xfrm>
              <a:off x="695706" y="3291840"/>
              <a:ext cx="378561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项目落实 · Benchmark · 消融实验</a:t>
              </a:r>
            </a:p>
          </p:txBody>
        </p:sp>
      </p:grpSp>
      <p:grpSp>
        <p:nvGrpSpPr>
          <p:cNvPr id="18" name="Group 18"/>
          <p:cNvGrpSpPr/>
          <p:nvPr/>
        </p:nvGrpSpPr>
        <p:grpSpPr>
          <a:xfrm>
            <a:off x="685800" y="4229100"/>
            <a:ext cx="10839450" cy="999173"/>
            <a:chOff x="685800" y="4229100"/>
            <a:chExt cx="10839450" cy="999173"/>
          </a:xfrm>
        </p:grpSpPr>
        <p:sp>
          <p:nvSpPr>
            <p:cNvPr id="8" name="Line 8"/>
            <p:cNvSpPr/>
            <p:nvPr/>
          </p:nvSpPr>
          <p:spPr>
            <a:xfrm>
              <a:off x="704850" y="4229100"/>
              <a:ext cx="10820400" cy="9525"/>
            </a:xfrm>
            <a:custGeom>
              <a:avLst/>
              <a:gdLst/>
              <a:ahLst/>
              <a:cxnLst/>
              <a:rect l="l" t="t" r="r" b="b"/>
              <a:pathLst>
                <a:path w="10820400" h="9525">
                  <a:moveTo>
                    <a:pt x="0" y="0"/>
                  </a:moveTo>
                  <a:lnTo>
                    <a:pt x="10820400" y="0"/>
                  </a:lnTo>
                </a:path>
              </a:pathLst>
            </a:custGeom>
            <a:noFill/>
            <a:ln w="19050">
              <a:solidFill>
                <a:srgbClr val="D8E1EA"/>
              </a:solidFill>
            </a:ln>
          </p:spPr>
        </p:sp>
        <p:sp>
          <p:nvSpPr>
            <p:cNvPr id="9" name="TextBox 9"/>
            <p:cNvSpPr txBox="1"/>
            <p:nvPr/>
          </p:nvSpPr>
          <p:spPr>
            <a:xfrm>
              <a:off x="68580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10" name="TextBox 10"/>
            <p:cNvSpPr txBox="1"/>
            <p:nvPr/>
          </p:nvSpPr>
          <p:spPr>
            <a:xfrm>
              <a:off x="1572006" y="4415790"/>
              <a:ext cx="1799311"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三层九项已落地</a:t>
              </a:r>
            </a:p>
          </p:txBody>
        </p:sp>
        <p:sp>
          <p:nvSpPr>
            <p:cNvPr id="11" name="TextBox 11"/>
            <p:cNvSpPr txBox="1"/>
            <p:nvPr/>
          </p:nvSpPr>
          <p:spPr>
            <a:xfrm>
              <a:off x="1574292" y="4807268"/>
              <a:ext cx="310324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需求合同与工程闭环具备运行验收证据</a:t>
              </a:r>
            </a:p>
          </p:txBody>
        </p:sp>
        <p:sp>
          <p:nvSpPr>
            <p:cNvPr id="12" name="TextBox 12"/>
            <p:cNvSpPr txBox="1"/>
            <p:nvPr/>
          </p:nvSpPr>
          <p:spPr>
            <a:xfrm>
              <a:off x="459105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02</a:t>
              </a:r>
            </a:p>
          </p:txBody>
        </p:sp>
        <p:sp>
          <p:nvSpPr>
            <p:cNvPr id="13" name="TextBox 13"/>
            <p:cNvSpPr txBox="1"/>
            <p:nvPr/>
          </p:nvSpPr>
          <p:spPr>
            <a:xfrm>
              <a:off x="5477256" y="4415790"/>
              <a:ext cx="2437790"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Benchmark 初步领先</a:t>
              </a:r>
            </a:p>
          </p:txBody>
        </p:sp>
        <p:sp>
          <p:nvSpPr>
            <p:cNvPr id="14" name="TextBox 14"/>
            <p:cNvSpPr txBox="1"/>
            <p:nvPr/>
          </p:nvSpPr>
          <p:spPr>
            <a:xfrm>
              <a:off x="5479542" y="4807268"/>
              <a:ext cx="269711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对最强通用 Agent 得分率 82.5%</a:t>
              </a:r>
            </a:p>
          </p:txBody>
        </p:sp>
        <p:sp>
          <p:nvSpPr>
            <p:cNvPr id="15" name="TextBox 15"/>
            <p:cNvSpPr txBox="1"/>
            <p:nvPr/>
          </p:nvSpPr>
          <p:spPr>
            <a:xfrm>
              <a:off x="8039100" y="426624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16" name="TextBox 16"/>
            <p:cNvSpPr txBox="1"/>
            <p:nvPr/>
          </p:nvSpPr>
          <p:spPr>
            <a:xfrm>
              <a:off x="8925306" y="4415790"/>
              <a:ext cx="1544879" cy="352044"/>
            </a:xfrm>
            <a:prstGeom prst="rect">
              <a:avLst/>
            </a:prstGeom>
            <a:noFill/>
            <a:ln>
              <a:noFill/>
            </a:ln>
          </p:spPr>
          <p:txBody>
            <a:bodyPr wrap="none" lIns="0" tIns="0" rIns="0" bIns="0" anchor="t" anchorCtr="0">
              <a:spAutoFit/>
            </a:bodyPr>
            <a:lstStyle/>
            <a:p>
              <a:pPr algn="l"/>
              <a:r>
                <a:rPr lang="zh-CN" sz="1800" b="1" dirty="0">
                  <a:solidFill>
                    <a:schemeClr val="dk1"/>
                  </a:solidFill>
                  <a:latin typeface="+mn-lt"/>
                  <a:ea typeface="+mn-ea"/>
                  <a:cs typeface="+mn-cs"/>
                </a:rPr>
                <a:t>补证据与效率</a:t>
              </a:r>
            </a:p>
          </p:txBody>
        </p:sp>
        <p:sp>
          <p:nvSpPr>
            <p:cNvPr id="17" name="TextBox 17"/>
            <p:cNvSpPr txBox="1"/>
            <p:nvPr/>
          </p:nvSpPr>
          <p:spPr>
            <a:xfrm>
              <a:off x="8927592" y="4807268"/>
              <a:ext cx="2012823"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扩大样本并降低平均时延</a:t>
              </a:r>
            </a:p>
          </p:txBody>
        </p:sp>
      </p:grpSp>
      <p:grpSp>
        <p:nvGrpSpPr>
          <p:cNvPr id="21" name="Group 21"/>
          <p:cNvGrpSpPr/>
          <p:nvPr/>
        </p:nvGrpSpPr>
        <p:grpSpPr>
          <a:xfrm>
            <a:off x="697992" y="6216968"/>
            <a:ext cx="10834116" cy="264033"/>
            <a:chOff x="697992" y="6216968"/>
            <a:chExt cx="10834116" cy="264033"/>
          </a:xfrm>
        </p:grpSpPr>
        <p:sp>
          <p:nvSpPr>
            <p:cNvPr id="19" name="TextBox 19"/>
            <p:cNvSpPr txBox="1"/>
            <p:nvPr/>
          </p:nvSpPr>
          <p:spPr>
            <a:xfrm>
              <a:off x="697992" y="6216968"/>
              <a:ext cx="276703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装备能力图像 · 市场需求挖掘项目</a:t>
              </a:r>
            </a:p>
          </p:txBody>
        </p:sp>
        <p:sp>
          <p:nvSpPr>
            <p:cNvPr id="20" name="TextBox 20"/>
            <p:cNvSpPr txBox="1"/>
            <p:nvPr/>
          </p:nvSpPr>
          <p:spPr>
            <a:xfrm>
              <a:off x="11318481" y="62169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01</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616267"/>
            <a:chOff x="593598" y="498158"/>
            <a:chExt cx="10995660" cy="616267"/>
          </a:xfrm>
        </p:grpSpPr>
        <p:sp>
          <p:nvSpPr>
            <p:cNvPr id="2" name="TextBox 2"/>
            <p:cNvSpPr txBox="1"/>
            <p:nvPr/>
          </p:nvSpPr>
          <p:spPr>
            <a:xfrm>
              <a:off x="593598" y="498158"/>
              <a:ext cx="181302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核心结论</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02</a:t>
              </a:r>
            </a:p>
          </p:txBody>
        </p:sp>
        <p:sp>
          <p:nvSpPr>
            <p:cNvPr id="4" name="Rectangle 4"/>
            <p:cNvSpPr/>
            <p:nvPr/>
          </p:nvSpPr>
          <p:spPr>
            <a:xfrm>
              <a:off x="609600" y="1066800"/>
              <a:ext cx="876300" cy="47625"/>
            </a:xfrm>
            <a:prstGeom prst="rect">
              <a:avLst/>
            </a:prstGeom>
            <a:solidFill>
              <a:schemeClr val="accent2"/>
            </a:solidFill>
            <a:ln>
              <a:noFill/>
            </a:ln>
          </p:spPr>
        </p:sp>
      </p:grpSp>
      <p:grpSp>
        <p:nvGrpSpPr>
          <p:cNvPr id="14" name="Group 14"/>
          <p:cNvGrpSpPr/>
          <p:nvPr/>
        </p:nvGrpSpPr>
        <p:grpSpPr>
          <a:xfrm>
            <a:off x="609600" y="1657350"/>
            <a:ext cx="3429000" cy="3333750"/>
            <a:chOff x="609600" y="1657350"/>
            <a:chExt cx="3429000" cy="3333750"/>
          </a:xfrm>
        </p:grpSpPr>
        <p:sp>
          <p:nvSpPr>
            <p:cNvPr id="6" name="Rectangle 6"/>
            <p:cNvSpPr/>
            <p:nvPr/>
          </p:nvSpPr>
          <p:spPr>
            <a:xfrm>
              <a:off x="609600" y="1657350"/>
              <a:ext cx="3429000" cy="3333750"/>
            </a:xfrm>
            <a:prstGeom prst="roundRect">
              <a:avLst>
                <a:gd name="adj" fmla="val 3429"/>
              </a:avLst>
            </a:prstGeom>
            <a:solidFill>
              <a:schemeClr val="accent5"/>
            </a:solidFill>
            <a:ln>
              <a:noFill/>
            </a:ln>
          </p:spPr>
        </p:sp>
        <p:sp>
          <p:nvSpPr>
            <p:cNvPr id="7" name="Rectangle 7"/>
            <p:cNvSpPr/>
            <p:nvPr/>
          </p:nvSpPr>
          <p:spPr>
            <a:xfrm>
              <a:off x="609600" y="1657350"/>
              <a:ext cx="3429000" cy="76200"/>
            </a:xfrm>
            <a:prstGeom prst="rect">
              <a:avLst/>
            </a:prstGeom>
            <a:solidFill>
              <a:schemeClr val="accent3"/>
            </a:solidFill>
            <a:ln>
              <a:noFill/>
            </a:ln>
          </p:spPr>
        </p:sp>
        <p:sp>
          <p:nvSpPr>
            <p:cNvPr id="8" name="TextBox 8"/>
            <p:cNvSpPr txBox="1"/>
            <p:nvPr/>
          </p:nvSpPr>
          <p:spPr>
            <a:xfrm>
              <a:off x="857250" y="173259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9" name="TextBox 9"/>
            <p:cNvSpPr txBox="1"/>
            <p:nvPr/>
          </p:nvSpPr>
          <p:spPr>
            <a:xfrm>
              <a:off x="864108" y="2541270"/>
              <a:ext cx="17205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主链已跑通</a:t>
              </a:r>
            </a:p>
          </p:txBody>
        </p:sp>
        <p:sp>
          <p:nvSpPr>
            <p:cNvPr id="10" name="TextBox 10"/>
            <p:cNvSpPr txBox="1"/>
            <p:nvPr/>
          </p:nvSpPr>
          <p:spPr>
            <a:xfrm>
              <a:off x="867156" y="3101340"/>
              <a:ext cx="154167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A–H 发散路径</a:t>
              </a:r>
            </a:p>
          </p:txBody>
        </p:sp>
        <p:sp>
          <p:nvSpPr>
            <p:cNvPr id="11" name="TextBox 11"/>
            <p:cNvSpPr txBox="1"/>
            <p:nvPr/>
          </p:nvSpPr>
          <p:spPr>
            <a:xfrm>
              <a:off x="867156" y="3463290"/>
              <a:ext cx="204094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三层九项 · S1–S6</a:t>
              </a:r>
            </a:p>
          </p:txBody>
        </p:sp>
        <p:sp>
          <p:nvSpPr>
            <p:cNvPr id="12" name="TextBox 12"/>
            <p:cNvSpPr txBox="1"/>
            <p:nvPr/>
          </p:nvSpPr>
          <p:spPr>
            <a:xfrm>
              <a:off x="867156" y="3825240"/>
              <a:ext cx="204094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L1–L4 · 审计恢复</a:t>
              </a:r>
            </a:p>
          </p:txBody>
        </p:sp>
        <p:sp>
          <p:nvSpPr>
            <p:cNvPr id="13" name="TextBox 13"/>
            <p:cNvSpPr txBox="1"/>
            <p:nvPr/>
          </p:nvSpPr>
          <p:spPr>
            <a:xfrm>
              <a:off x="869442" y="4483418"/>
              <a:ext cx="1876520" cy="264033"/>
            </a:xfrm>
            <a:prstGeom prst="rect">
              <a:avLst/>
            </a:prstGeom>
            <a:noFill/>
            <a:ln>
              <a:noFill/>
            </a:ln>
          </p:spPr>
          <p:txBody>
            <a:bodyPr wrap="none" lIns="0" tIns="0" rIns="0" bIns="0" anchor="t" anchorCtr="0">
              <a:spAutoFit/>
            </a:bodyPr>
            <a:lstStyle/>
            <a:p>
              <a:pPr algn="l"/>
              <a:r>
                <a:rPr lang="en-US" sz="1350" dirty="0">
                  <a:solidFill>
                    <a:srgbClr val="6B7785"/>
                  </a:solidFill>
                  <a:latin typeface="+mn-lt"/>
                  <a:ea typeface="+mn-ea"/>
                  <a:cs typeface="+mn-cs"/>
                </a:rPr>
                <a:t>release_ready = true</a:t>
              </a:r>
            </a:p>
          </p:txBody>
        </p:sp>
      </p:grpSp>
      <p:grpSp>
        <p:nvGrpSpPr>
          <p:cNvPr id="22" name="Group 22"/>
          <p:cNvGrpSpPr/>
          <p:nvPr/>
        </p:nvGrpSpPr>
        <p:grpSpPr>
          <a:xfrm>
            <a:off x="4381500" y="1657350"/>
            <a:ext cx="3429000" cy="3333750"/>
            <a:chOff x="4381500" y="1657350"/>
            <a:chExt cx="3429000" cy="3333750"/>
          </a:xfrm>
        </p:grpSpPr>
        <p:sp>
          <p:nvSpPr>
            <p:cNvPr id="15" name="Rectangle 15"/>
            <p:cNvSpPr/>
            <p:nvPr/>
          </p:nvSpPr>
          <p:spPr>
            <a:xfrm>
              <a:off x="4381500" y="1657350"/>
              <a:ext cx="3429000" cy="3333750"/>
            </a:xfrm>
            <a:prstGeom prst="roundRect">
              <a:avLst>
                <a:gd name="adj" fmla="val 3429"/>
              </a:avLst>
            </a:prstGeom>
            <a:solidFill>
              <a:schemeClr val="accent5"/>
            </a:solidFill>
            <a:ln>
              <a:noFill/>
            </a:ln>
          </p:spPr>
        </p:sp>
        <p:sp>
          <p:nvSpPr>
            <p:cNvPr id="16" name="Rectangle 16"/>
            <p:cNvSpPr/>
            <p:nvPr/>
          </p:nvSpPr>
          <p:spPr>
            <a:xfrm>
              <a:off x="4381500" y="1657350"/>
              <a:ext cx="3429000" cy="76200"/>
            </a:xfrm>
            <a:prstGeom prst="rect">
              <a:avLst/>
            </a:prstGeom>
            <a:solidFill>
              <a:schemeClr val="accent2"/>
            </a:solidFill>
            <a:ln>
              <a:noFill/>
            </a:ln>
          </p:spPr>
        </p:sp>
        <p:sp>
          <p:nvSpPr>
            <p:cNvPr id="17" name="TextBox 17"/>
            <p:cNvSpPr txBox="1"/>
            <p:nvPr/>
          </p:nvSpPr>
          <p:spPr>
            <a:xfrm>
              <a:off x="4629150" y="1732598"/>
              <a:ext cx="2102178"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82.5%</a:t>
              </a:r>
            </a:p>
          </p:txBody>
        </p:sp>
        <p:sp>
          <p:nvSpPr>
            <p:cNvPr id="18" name="TextBox 18"/>
            <p:cNvSpPr txBox="1"/>
            <p:nvPr/>
          </p:nvSpPr>
          <p:spPr>
            <a:xfrm>
              <a:off x="4636008" y="2541270"/>
              <a:ext cx="205983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初步效果领先</a:t>
              </a:r>
            </a:p>
          </p:txBody>
        </p:sp>
        <p:sp>
          <p:nvSpPr>
            <p:cNvPr id="19" name="TextBox 19"/>
            <p:cNvSpPr txBox="1"/>
            <p:nvPr/>
          </p:nvSpPr>
          <p:spPr>
            <a:xfrm>
              <a:off x="4639056" y="3158490"/>
              <a:ext cx="150089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对通用 Agent</a:t>
              </a:r>
            </a:p>
          </p:txBody>
        </p:sp>
        <p:sp>
          <p:nvSpPr>
            <p:cNvPr id="20" name="TextBox 20"/>
            <p:cNvSpPr txBox="1"/>
            <p:nvPr/>
          </p:nvSpPr>
          <p:spPr>
            <a:xfrm>
              <a:off x="4636770" y="3605212"/>
              <a:ext cx="2694394" cy="440055"/>
            </a:xfrm>
            <a:prstGeom prst="rect">
              <a:avLst/>
            </a:prstGeom>
            <a:noFill/>
            <a:ln>
              <a:noFill/>
            </a:ln>
          </p:spPr>
          <p:txBody>
            <a:bodyPr wrap="none" lIns="0" tIns="0" rIns="0" bIns="0" anchor="t" anchorCtr="0">
              <a:spAutoFit/>
            </a:bodyPr>
            <a:lstStyle/>
            <a:p>
              <a:pPr algn="l"/>
              <a:r>
                <a:rPr lang="zh-CN" sz="2250" b="1" dirty="0">
                  <a:solidFill>
                    <a:schemeClr val="accent2"/>
                  </a:solidFill>
                  <a:latin typeface="+mn-lt"/>
                  <a:ea typeface="+mn-ea"/>
                  <a:cs typeface="+mn-cs"/>
                </a:rPr>
                <a:t>15 胜 · 3 平 · 2 负</a:t>
              </a:r>
            </a:p>
          </p:txBody>
        </p:sp>
        <p:sp>
          <p:nvSpPr>
            <p:cNvPr id="21" name="TextBox 21"/>
            <p:cNvSpPr txBox="1"/>
            <p:nvPr/>
          </p:nvSpPr>
          <p:spPr>
            <a:xfrm>
              <a:off x="4641342" y="4197668"/>
              <a:ext cx="227228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Bootstrap 95%：65%–95%</a:t>
              </a:r>
            </a:p>
          </p:txBody>
        </p:sp>
      </p:grpSp>
      <p:grpSp>
        <p:nvGrpSpPr>
          <p:cNvPr id="30" name="Group 30"/>
          <p:cNvGrpSpPr/>
          <p:nvPr/>
        </p:nvGrpSpPr>
        <p:grpSpPr>
          <a:xfrm>
            <a:off x="8153400" y="1657350"/>
            <a:ext cx="3429000" cy="3333750"/>
            <a:chOff x="8153400" y="1657350"/>
            <a:chExt cx="3429000" cy="3333750"/>
          </a:xfrm>
        </p:grpSpPr>
        <p:sp>
          <p:nvSpPr>
            <p:cNvPr id="23" name="Rectangle 23"/>
            <p:cNvSpPr/>
            <p:nvPr/>
          </p:nvSpPr>
          <p:spPr>
            <a:xfrm>
              <a:off x="8153400" y="1657350"/>
              <a:ext cx="3429000" cy="3333750"/>
            </a:xfrm>
            <a:prstGeom prst="roundRect">
              <a:avLst>
                <a:gd name="adj" fmla="val 3429"/>
              </a:avLst>
            </a:prstGeom>
            <a:solidFill>
              <a:schemeClr val="accent5"/>
            </a:solidFill>
            <a:ln>
              <a:noFill/>
            </a:ln>
          </p:spPr>
        </p:sp>
        <p:sp>
          <p:nvSpPr>
            <p:cNvPr id="24" name="Rectangle 24"/>
            <p:cNvSpPr/>
            <p:nvPr/>
          </p:nvSpPr>
          <p:spPr>
            <a:xfrm>
              <a:off x="8153400" y="1657350"/>
              <a:ext cx="3429000" cy="76200"/>
            </a:xfrm>
            <a:prstGeom prst="rect">
              <a:avLst/>
            </a:prstGeom>
            <a:solidFill>
              <a:schemeClr val="accent6"/>
            </a:solidFill>
            <a:ln>
              <a:noFill/>
            </a:ln>
          </p:spPr>
        </p:sp>
        <p:sp>
          <p:nvSpPr>
            <p:cNvPr id="25" name="TextBox 25"/>
            <p:cNvSpPr txBox="1"/>
            <p:nvPr/>
          </p:nvSpPr>
          <p:spPr>
            <a:xfrm>
              <a:off x="8401050" y="17325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26" name="TextBox 26"/>
            <p:cNvSpPr txBox="1"/>
            <p:nvPr/>
          </p:nvSpPr>
          <p:spPr>
            <a:xfrm>
              <a:off x="8407908" y="2541270"/>
              <a:ext cx="1720596"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短板已暴露</a:t>
              </a:r>
            </a:p>
          </p:txBody>
        </p:sp>
        <p:sp>
          <p:nvSpPr>
            <p:cNvPr id="27" name="TextBox 27"/>
            <p:cNvSpPr txBox="1"/>
            <p:nvPr/>
          </p:nvSpPr>
          <p:spPr>
            <a:xfrm>
              <a:off x="8410956" y="3139440"/>
              <a:ext cx="2126437"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事实证据 16:14:50</a:t>
              </a:r>
            </a:p>
          </p:txBody>
        </p:sp>
        <p:sp>
          <p:nvSpPr>
            <p:cNvPr id="28" name="TextBox 28"/>
            <p:cNvSpPr txBox="1"/>
            <p:nvPr/>
          </p:nvSpPr>
          <p:spPr>
            <a:xfrm>
              <a:off x="8410956" y="3615690"/>
              <a:ext cx="215066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平均耗时 22.9 分钟</a:t>
              </a:r>
            </a:p>
          </p:txBody>
        </p:sp>
        <p:sp>
          <p:nvSpPr>
            <p:cNvPr id="29" name="TextBox 29"/>
            <p:cNvSpPr txBox="1"/>
            <p:nvPr/>
          </p:nvSpPr>
          <p:spPr>
            <a:xfrm>
              <a:off x="8413242" y="4197668"/>
              <a:ext cx="183108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规模化验证的核心约束</a:t>
              </a:r>
            </a:p>
          </p:txBody>
        </p:sp>
      </p:grpSp>
      <p:grpSp>
        <p:nvGrpSpPr>
          <p:cNvPr id="33" name="Group 33"/>
          <p:cNvGrpSpPr/>
          <p:nvPr/>
        </p:nvGrpSpPr>
        <p:grpSpPr>
          <a:xfrm>
            <a:off x="609600" y="5372100"/>
            <a:ext cx="10972800" cy="876300"/>
            <a:chOff x="609600" y="5372100"/>
            <a:chExt cx="10972800" cy="876300"/>
          </a:xfrm>
        </p:grpSpPr>
        <p:sp>
          <p:nvSpPr>
            <p:cNvPr id="31" name="Rectangle 31"/>
            <p:cNvSpPr/>
            <p:nvPr/>
          </p:nvSpPr>
          <p:spPr>
            <a:xfrm>
              <a:off x="609600" y="5372100"/>
              <a:ext cx="10972800" cy="876300"/>
            </a:xfrm>
            <a:prstGeom prst="rect">
              <a:avLst/>
            </a:prstGeom>
            <a:solidFill>
              <a:schemeClr val="accent1"/>
            </a:solidFill>
            <a:ln>
              <a:noFill/>
            </a:ln>
          </p:spPr>
        </p:sp>
        <p:sp>
          <p:nvSpPr>
            <p:cNvPr id="32" name="TextBox 32"/>
            <p:cNvSpPr txBox="1"/>
            <p:nvPr/>
          </p:nvSpPr>
          <p:spPr>
            <a:xfrm>
              <a:off x="867156" y="5711190"/>
              <a:ext cx="8684971"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建议决策：优先启动证据质量专项、50 条全量 Benchmark、同版本消融复测</a:t>
              </a:r>
            </a:p>
          </p:txBody>
        </p:sp>
      </p:gr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270353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原始需求拆解</a:t>
              </a:r>
            </a:p>
          </p:txBody>
        </p:sp>
        <p:sp>
          <p:nvSpPr>
            <p:cNvPr id="3" name="TextBox 3"/>
            <p:cNvSpPr txBox="1"/>
            <p:nvPr/>
          </p:nvSpPr>
          <p:spPr>
            <a:xfrm>
              <a:off x="600456" y="1024890"/>
              <a:ext cx="3459175"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从“开放发散”转化为“固定验收”</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03</a:t>
              </a:r>
            </a:p>
          </p:txBody>
        </p:sp>
      </p:grpSp>
      <p:grpSp>
        <p:nvGrpSpPr>
          <p:cNvPr id="21" name="Group 21"/>
          <p:cNvGrpSpPr/>
          <p:nvPr/>
        </p:nvGrpSpPr>
        <p:grpSpPr>
          <a:xfrm>
            <a:off x="609600" y="1695450"/>
            <a:ext cx="4476750" cy="4324350"/>
            <a:chOff x="609600" y="1695450"/>
            <a:chExt cx="4476750" cy="4324350"/>
          </a:xfrm>
        </p:grpSpPr>
        <p:sp>
          <p:nvSpPr>
            <p:cNvPr id="6" name="Rectangle 6"/>
            <p:cNvSpPr/>
            <p:nvPr/>
          </p:nvSpPr>
          <p:spPr>
            <a:xfrm>
              <a:off x="609600" y="1695450"/>
              <a:ext cx="4476750" cy="4324350"/>
            </a:xfrm>
            <a:prstGeom prst="rect">
              <a:avLst/>
            </a:prstGeom>
            <a:solidFill>
              <a:schemeClr val="accent5"/>
            </a:solidFill>
            <a:ln>
              <a:noFill/>
            </a:ln>
          </p:spPr>
        </p:sp>
        <p:sp>
          <p:nvSpPr>
            <p:cNvPr id="7" name="TextBox 7"/>
            <p:cNvSpPr txBox="1"/>
            <p:nvPr/>
          </p:nvSpPr>
          <p:spPr>
            <a:xfrm>
              <a:off x="864108" y="1893570"/>
              <a:ext cx="2059838"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四类发散输入</a:t>
              </a:r>
            </a:p>
          </p:txBody>
        </p:sp>
        <p:sp>
          <p:nvSpPr>
            <p:cNvPr id="8" name="Line 8"/>
            <p:cNvSpPr/>
            <p:nvPr/>
          </p:nvSpPr>
          <p:spPr>
            <a:xfrm>
              <a:off x="876300" y="2343150"/>
              <a:ext cx="3943350" cy="9525"/>
            </a:xfrm>
            <a:custGeom>
              <a:avLst/>
              <a:gdLst/>
              <a:ahLst/>
              <a:cxnLst/>
              <a:rect l="l" t="t" r="r" b="b"/>
              <a:pathLst>
                <a:path w="3943350" h="9525">
                  <a:moveTo>
                    <a:pt x="0" y="0"/>
                  </a:moveTo>
                  <a:lnTo>
                    <a:pt x="3943350" y="0"/>
                  </a:lnTo>
                </a:path>
              </a:pathLst>
            </a:custGeom>
            <a:noFill/>
            <a:ln w="19050">
              <a:solidFill>
                <a:srgbClr val="D8E1EA"/>
              </a:solidFill>
            </a:ln>
          </p:spPr>
        </p:sp>
        <p:sp>
          <p:nvSpPr>
            <p:cNvPr id="9" name="Ellipse 9"/>
            <p:cNvSpPr/>
            <p:nvPr/>
          </p:nvSpPr>
          <p:spPr>
            <a:xfrm>
              <a:off x="876300" y="2705100"/>
              <a:ext cx="304800" cy="304800"/>
            </a:xfrm>
            <a:prstGeom prst="ellipse">
              <a:avLst/>
            </a:prstGeom>
            <a:solidFill>
              <a:schemeClr val="accent2"/>
            </a:solidFill>
            <a:ln>
              <a:noFill/>
            </a:ln>
          </p:spPr>
        </p:sp>
        <p:sp>
          <p:nvSpPr>
            <p:cNvPr id="10" name="TextBox 10"/>
            <p:cNvSpPr txBox="1"/>
            <p:nvPr/>
          </p:nvSpPr>
          <p:spPr>
            <a:xfrm>
              <a:off x="969365" y="2787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1</a:t>
              </a:r>
            </a:p>
          </p:txBody>
        </p:sp>
        <p:sp>
          <p:nvSpPr>
            <p:cNvPr id="11" name="TextBox 11"/>
            <p:cNvSpPr txBox="1"/>
            <p:nvPr/>
          </p:nvSpPr>
          <p:spPr>
            <a:xfrm>
              <a:off x="1343406" y="273939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研究路径发散</a:t>
              </a:r>
            </a:p>
          </p:txBody>
        </p:sp>
        <p:sp>
          <p:nvSpPr>
            <p:cNvPr id="12" name="Ellipse 12"/>
            <p:cNvSpPr/>
            <p:nvPr/>
          </p:nvSpPr>
          <p:spPr>
            <a:xfrm>
              <a:off x="876300" y="3467100"/>
              <a:ext cx="304800" cy="304800"/>
            </a:xfrm>
            <a:prstGeom prst="ellipse">
              <a:avLst/>
            </a:prstGeom>
            <a:solidFill>
              <a:schemeClr val="accent2"/>
            </a:solidFill>
            <a:ln>
              <a:noFill/>
            </a:ln>
          </p:spPr>
        </p:sp>
        <p:sp>
          <p:nvSpPr>
            <p:cNvPr id="13" name="TextBox 13"/>
            <p:cNvSpPr txBox="1"/>
            <p:nvPr/>
          </p:nvSpPr>
          <p:spPr>
            <a:xfrm>
              <a:off x="969365" y="3549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2</a:t>
              </a:r>
            </a:p>
          </p:txBody>
        </p:sp>
        <p:sp>
          <p:nvSpPr>
            <p:cNvPr id="14" name="TextBox 14"/>
            <p:cNvSpPr txBox="1"/>
            <p:nvPr/>
          </p:nvSpPr>
          <p:spPr>
            <a:xfrm>
              <a:off x="1343406" y="35013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场景与战法发散</a:t>
              </a:r>
            </a:p>
          </p:txBody>
        </p:sp>
        <p:sp>
          <p:nvSpPr>
            <p:cNvPr id="15" name="Ellipse 15"/>
            <p:cNvSpPr/>
            <p:nvPr/>
          </p:nvSpPr>
          <p:spPr>
            <a:xfrm>
              <a:off x="876300" y="4229100"/>
              <a:ext cx="304800" cy="304800"/>
            </a:xfrm>
            <a:prstGeom prst="ellipse">
              <a:avLst/>
            </a:prstGeom>
            <a:solidFill>
              <a:schemeClr val="accent2"/>
            </a:solidFill>
            <a:ln>
              <a:noFill/>
            </a:ln>
          </p:spPr>
        </p:sp>
        <p:sp>
          <p:nvSpPr>
            <p:cNvPr id="16" name="TextBox 16"/>
            <p:cNvSpPr txBox="1"/>
            <p:nvPr/>
          </p:nvSpPr>
          <p:spPr>
            <a:xfrm>
              <a:off x="969365" y="4311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3</a:t>
              </a:r>
            </a:p>
          </p:txBody>
        </p:sp>
        <p:sp>
          <p:nvSpPr>
            <p:cNvPr id="17" name="TextBox 17"/>
            <p:cNvSpPr txBox="1"/>
            <p:nvPr/>
          </p:nvSpPr>
          <p:spPr>
            <a:xfrm>
              <a:off x="1343406" y="4263390"/>
              <a:ext cx="219913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装备能力与技术发散</a:t>
              </a:r>
            </a:p>
          </p:txBody>
        </p:sp>
        <p:sp>
          <p:nvSpPr>
            <p:cNvPr id="18" name="Ellipse 18"/>
            <p:cNvSpPr/>
            <p:nvPr/>
          </p:nvSpPr>
          <p:spPr>
            <a:xfrm>
              <a:off x="876300" y="4991100"/>
              <a:ext cx="304800" cy="304800"/>
            </a:xfrm>
            <a:prstGeom prst="ellipse">
              <a:avLst/>
            </a:prstGeom>
            <a:solidFill>
              <a:schemeClr val="accent2"/>
            </a:solidFill>
            <a:ln>
              <a:noFill/>
            </a:ln>
          </p:spPr>
        </p:sp>
        <p:sp>
          <p:nvSpPr>
            <p:cNvPr id="19" name="TextBox 19"/>
            <p:cNvSpPr txBox="1"/>
            <p:nvPr/>
          </p:nvSpPr>
          <p:spPr>
            <a:xfrm>
              <a:off x="969365" y="5073968"/>
              <a:ext cx="118669"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4</a:t>
              </a:r>
            </a:p>
          </p:txBody>
        </p:sp>
        <p:sp>
          <p:nvSpPr>
            <p:cNvPr id="20" name="TextBox 20"/>
            <p:cNvSpPr txBox="1"/>
            <p:nvPr/>
          </p:nvSpPr>
          <p:spPr>
            <a:xfrm>
              <a:off x="1343406" y="5025390"/>
              <a:ext cx="1714500"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验证与交付发散</a:t>
              </a:r>
            </a:p>
          </p:txBody>
        </p:sp>
      </p:grpSp>
      <p:grpSp>
        <p:nvGrpSpPr>
          <p:cNvPr id="26" name="Group 26"/>
          <p:cNvGrpSpPr/>
          <p:nvPr/>
        </p:nvGrpSpPr>
        <p:grpSpPr>
          <a:xfrm>
            <a:off x="5429250" y="3025140"/>
            <a:ext cx="1123950" cy="1188911"/>
            <a:chOff x="5429250" y="3025140"/>
            <a:chExt cx="1123950" cy="1188911"/>
          </a:xfrm>
        </p:grpSpPr>
        <p:sp>
          <p:nvSpPr>
            <p:cNvPr id="22" name="Line 22"/>
            <p:cNvSpPr/>
            <p:nvPr/>
          </p:nvSpPr>
          <p:spPr>
            <a:xfrm>
              <a:off x="5429250" y="3562350"/>
              <a:ext cx="1123950" cy="9525"/>
            </a:xfrm>
            <a:custGeom>
              <a:avLst/>
              <a:gdLst/>
              <a:ahLst/>
              <a:cxnLst/>
              <a:rect l="l" t="t" r="r" b="b"/>
              <a:pathLst>
                <a:path w="1123950" h="9525">
                  <a:moveTo>
                    <a:pt x="0" y="0"/>
                  </a:moveTo>
                  <a:lnTo>
                    <a:pt x="1123950" y="0"/>
                  </a:lnTo>
                </a:path>
              </a:pathLst>
            </a:custGeom>
            <a:noFill/>
            <a:ln w="38100">
              <a:solidFill>
                <a:schemeClr val="accent2"/>
              </a:solidFill>
            </a:ln>
          </p:spPr>
        </p:sp>
        <p:sp>
          <p:nvSpPr>
            <p:cNvPr id="23" name="Polygon 23"/>
            <p:cNvSpPr/>
            <p:nvPr/>
          </p:nvSpPr>
          <p:spPr>
            <a:xfrm>
              <a:off x="6343650" y="3429000"/>
              <a:ext cx="209550" cy="266700"/>
            </a:xfrm>
            <a:custGeom>
              <a:avLst/>
              <a:gdLst/>
              <a:ahLst/>
              <a:cxnLst/>
              <a:rect l="l" t="t" r="r" b="b"/>
              <a:pathLst>
                <a:path w="209550" h="266700">
                  <a:moveTo>
                    <a:pt x="209550" y="133350"/>
                  </a:moveTo>
                  <a:lnTo>
                    <a:pt x="0" y="0"/>
                  </a:lnTo>
                  <a:lnTo>
                    <a:pt x="0" y="266700"/>
                  </a:lnTo>
                  <a:close/>
                </a:path>
              </a:pathLst>
            </a:custGeom>
            <a:solidFill>
              <a:schemeClr val="accent2"/>
            </a:solidFill>
            <a:ln>
              <a:noFill/>
            </a:ln>
          </p:spPr>
        </p:sp>
        <p:sp>
          <p:nvSpPr>
            <p:cNvPr id="24" name="TextBox 24"/>
            <p:cNvSpPr txBox="1"/>
            <p:nvPr/>
          </p:nvSpPr>
          <p:spPr>
            <a:xfrm>
              <a:off x="5600433" y="3025140"/>
              <a:ext cx="781583"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收敛为</a:t>
              </a:r>
            </a:p>
          </p:txBody>
        </p:sp>
        <p:sp>
          <p:nvSpPr>
            <p:cNvPr id="25" name="TextBox 25"/>
            <p:cNvSpPr txBox="1"/>
            <p:nvPr/>
          </p:nvSpPr>
          <p:spPr>
            <a:xfrm>
              <a:off x="5439156" y="3950018"/>
              <a:ext cx="110413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统一验收口径</a:t>
              </a:r>
            </a:p>
          </p:txBody>
        </p:sp>
      </p:grpSp>
      <p:grpSp>
        <p:nvGrpSpPr>
          <p:cNvPr id="35" name="Group 35"/>
          <p:cNvGrpSpPr/>
          <p:nvPr/>
        </p:nvGrpSpPr>
        <p:grpSpPr>
          <a:xfrm>
            <a:off x="6896100" y="1695450"/>
            <a:ext cx="4686300" cy="4324350"/>
            <a:chOff x="6896100" y="1695450"/>
            <a:chExt cx="4686300" cy="4324350"/>
          </a:xfrm>
        </p:grpSpPr>
        <p:sp>
          <p:nvSpPr>
            <p:cNvPr id="27" name="Rectangle 27"/>
            <p:cNvSpPr/>
            <p:nvPr/>
          </p:nvSpPr>
          <p:spPr>
            <a:xfrm>
              <a:off x="6896100" y="1695450"/>
              <a:ext cx="4686300" cy="4324350"/>
            </a:xfrm>
            <a:prstGeom prst="rect">
              <a:avLst/>
            </a:prstGeom>
            <a:solidFill>
              <a:schemeClr val="accent1"/>
            </a:solidFill>
            <a:ln>
              <a:noFill/>
            </a:ln>
          </p:spPr>
        </p:sp>
        <p:sp>
          <p:nvSpPr>
            <p:cNvPr id="28" name="TextBox 28"/>
            <p:cNvSpPr txBox="1"/>
            <p:nvPr/>
          </p:nvSpPr>
          <p:spPr>
            <a:xfrm>
              <a:off x="7188708" y="1893570"/>
              <a:ext cx="20598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五项验收标准</a:t>
              </a:r>
            </a:p>
          </p:txBody>
        </p:sp>
        <p:sp>
          <p:nvSpPr>
            <p:cNvPr id="29" name="Line 29"/>
            <p:cNvSpPr/>
            <p:nvPr/>
          </p:nvSpPr>
          <p:spPr>
            <a:xfrm>
              <a:off x="7200900" y="2343150"/>
              <a:ext cx="4076700" cy="9525"/>
            </a:xfrm>
            <a:custGeom>
              <a:avLst/>
              <a:gdLst/>
              <a:ahLst/>
              <a:cxnLst/>
              <a:rect l="l" t="t" r="r" b="b"/>
              <a:pathLst>
                <a:path w="4076700" h="9525">
                  <a:moveTo>
                    <a:pt x="0" y="0"/>
                  </a:moveTo>
                  <a:lnTo>
                    <a:pt x="4076700" y="0"/>
                  </a:lnTo>
                </a:path>
              </a:pathLst>
            </a:custGeom>
            <a:noFill/>
            <a:ln w="19050">
              <a:solidFill>
                <a:srgbClr val="6D89A3"/>
              </a:solidFill>
            </a:ln>
          </p:spPr>
        </p:sp>
        <p:sp>
          <p:nvSpPr>
            <p:cNvPr id="30" name="TextBox 30"/>
            <p:cNvSpPr txBox="1"/>
            <p:nvPr/>
          </p:nvSpPr>
          <p:spPr>
            <a:xfrm>
              <a:off x="7191756" y="2701290"/>
              <a:ext cx="21555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01 领域属性符合性</a:t>
              </a:r>
            </a:p>
          </p:txBody>
        </p:sp>
        <p:sp>
          <p:nvSpPr>
            <p:cNvPr id="31" name="TextBox 31"/>
            <p:cNvSpPr txBox="1"/>
            <p:nvPr/>
          </p:nvSpPr>
          <p:spPr>
            <a:xfrm>
              <a:off x="7191756" y="3329940"/>
              <a:ext cx="1901083"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02 装备能力图像</a:t>
              </a:r>
            </a:p>
          </p:txBody>
        </p:sp>
        <p:sp>
          <p:nvSpPr>
            <p:cNvPr id="32" name="TextBox 32"/>
            <p:cNvSpPr txBox="1"/>
            <p:nvPr/>
          </p:nvSpPr>
          <p:spPr>
            <a:xfrm>
              <a:off x="7191756" y="3958590"/>
              <a:ext cx="1392220"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03 制胜效能</a:t>
              </a:r>
            </a:p>
          </p:txBody>
        </p:sp>
        <p:sp>
          <p:nvSpPr>
            <p:cNvPr id="33" name="TextBox 33"/>
            <p:cNvSpPr txBox="1"/>
            <p:nvPr/>
          </p:nvSpPr>
          <p:spPr>
            <a:xfrm>
              <a:off x="7191756" y="4587240"/>
              <a:ext cx="1137788"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04 创新性</a:t>
              </a:r>
            </a:p>
          </p:txBody>
        </p:sp>
        <p:sp>
          <p:nvSpPr>
            <p:cNvPr id="34" name="TextBox 34"/>
            <p:cNvSpPr txBox="1"/>
            <p:nvPr/>
          </p:nvSpPr>
          <p:spPr>
            <a:xfrm>
              <a:off x="7191756" y="5215890"/>
              <a:ext cx="2448112"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05 可实现性 / 成熟度</a:t>
              </a:r>
            </a:p>
          </p:txBody>
        </p:sp>
      </p:grpSp>
      <p:sp>
        <p:nvSpPr>
          <p:cNvPr id="36" name="TextBox 36"/>
          <p:cNvSpPr txBox="1"/>
          <p:nvPr/>
        </p:nvSpPr>
        <p:spPr>
          <a:xfrm>
            <a:off x="602742" y="6293168"/>
            <a:ext cx="271962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来源：市场需求 query 及模板 V2</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4360" y="495300"/>
            <a:ext cx="10994898" cy="862584"/>
            <a:chOff x="594360" y="495300"/>
            <a:chExt cx="10994898" cy="862584"/>
          </a:xfrm>
        </p:grpSpPr>
        <p:sp>
          <p:nvSpPr>
            <p:cNvPr id="2" name="TextBox 2"/>
            <p:cNvSpPr txBox="1"/>
            <p:nvPr/>
          </p:nvSpPr>
          <p:spPr>
            <a:xfrm>
              <a:off x="594360" y="495300"/>
              <a:ext cx="10646207" cy="586740"/>
            </a:xfrm>
            <a:prstGeom prst="rect">
              <a:avLst/>
            </a:prstGeom>
            <a:noFill/>
            <a:ln>
              <a:noFill/>
            </a:ln>
          </p:spPr>
          <p:txBody>
            <a:bodyPr wrap="none" lIns="0" tIns="0" rIns="0" bIns="0" anchor="t" anchorCtr="0">
              <a:spAutoFit/>
            </a:bodyPr>
            <a:lstStyle/>
            <a:p>
              <a:pPr algn="l"/>
              <a:r>
                <a:rPr lang="zh-CN" sz="3000" b="1" dirty="0">
                  <a:solidFill>
                    <a:schemeClr val="accent1"/>
                  </a:solidFill>
                  <a:latin typeface="+mn-lt"/>
                  <a:ea typeface="+mn-ea"/>
                  <a:cs typeface="+mn-cs"/>
                </a:rPr>
                <a:t>发散问题没有整段复制进 Prompt，而是压缩为四层机制</a:t>
              </a:r>
            </a:p>
          </p:txBody>
        </p:sp>
        <p:sp>
          <p:nvSpPr>
            <p:cNvPr id="3" name="TextBox 3"/>
            <p:cNvSpPr txBox="1"/>
            <p:nvPr/>
          </p:nvSpPr>
          <p:spPr>
            <a:xfrm>
              <a:off x="600456" y="1005840"/>
              <a:ext cx="5106924"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保留发散能力，同时控制上下文规模与概念漂移</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04</a:t>
              </a:r>
            </a:p>
          </p:txBody>
        </p:sp>
      </p:grpSp>
      <p:grpSp>
        <p:nvGrpSpPr>
          <p:cNvPr id="30" name="Group 30"/>
          <p:cNvGrpSpPr/>
          <p:nvPr/>
        </p:nvGrpSpPr>
        <p:grpSpPr>
          <a:xfrm>
            <a:off x="609600" y="1504950"/>
            <a:ext cx="10972800" cy="1809750"/>
            <a:chOff x="609600" y="1504950"/>
            <a:chExt cx="10972800" cy="1809750"/>
          </a:xfrm>
        </p:grpSpPr>
        <p:sp>
          <p:nvSpPr>
            <p:cNvPr id="6" name="Rectangle 6"/>
            <p:cNvSpPr/>
            <p:nvPr/>
          </p:nvSpPr>
          <p:spPr>
            <a:xfrm>
              <a:off x="609600" y="1504950"/>
              <a:ext cx="2628900" cy="1809750"/>
            </a:xfrm>
            <a:prstGeom prst="rect">
              <a:avLst/>
            </a:prstGeom>
            <a:solidFill>
              <a:schemeClr val="accent5"/>
            </a:solidFill>
            <a:ln>
              <a:noFill/>
            </a:ln>
          </p:spPr>
        </p:sp>
        <p:sp>
          <p:nvSpPr>
            <p:cNvPr id="7" name="Rectangle 7"/>
            <p:cNvSpPr/>
            <p:nvPr/>
          </p:nvSpPr>
          <p:spPr>
            <a:xfrm>
              <a:off x="609600" y="1504950"/>
              <a:ext cx="2628900" cy="76200"/>
            </a:xfrm>
            <a:prstGeom prst="rect">
              <a:avLst/>
            </a:prstGeom>
            <a:solidFill>
              <a:schemeClr val="accent1"/>
            </a:solidFill>
            <a:ln>
              <a:noFill/>
            </a:ln>
          </p:spPr>
        </p:sp>
        <p:sp>
          <p:nvSpPr>
            <p:cNvPr id="8" name="TextBox 8"/>
            <p:cNvSpPr txBox="1"/>
            <p:nvPr/>
          </p:nvSpPr>
          <p:spPr>
            <a:xfrm>
              <a:off x="788670" y="17192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01</a:t>
              </a:r>
            </a:p>
          </p:txBody>
        </p:sp>
        <p:sp>
          <p:nvSpPr>
            <p:cNvPr id="9" name="TextBox 9"/>
            <p:cNvSpPr txBox="1"/>
            <p:nvPr/>
          </p:nvSpPr>
          <p:spPr>
            <a:xfrm>
              <a:off x="1248156" y="1767840"/>
              <a:ext cx="1036015"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分支内核</a:t>
              </a:r>
            </a:p>
          </p:txBody>
        </p:sp>
        <p:sp>
          <p:nvSpPr>
            <p:cNvPr id="10" name="TextBox 10"/>
            <p:cNvSpPr txBox="1"/>
            <p:nvPr/>
          </p:nvSpPr>
          <p:spPr>
            <a:xfrm>
              <a:off x="793242" y="2235518"/>
              <a:ext cx="2242566" cy="5688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12 类问题 → 唯一责任分支每个分支只保留一句任务内核</a:t>
              </a:r>
            </a:p>
          </p:txBody>
        </p:sp>
        <p:sp>
          <p:nvSpPr>
            <p:cNvPr id="11" name="TextBox 11"/>
            <p:cNvSpPr txBox="1"/>
            <p:nvPr/>
          </p:nvSpPr>
          <p:spPr>
            <a:xfrm>
              <a:off x="793242" y="2902268"/>
              <a:ext cx="1474960"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A–H / 专业 Agent</a:t>
              </a:r>
            </a:p>
          </p:txBody>
        </p:sp>
        <p:sp>
          <p:nvSpPr>
            <p:cNvPr id="12" name="Rectangle 12"/>
            <p:cNvSpPr/>
            <p:nvPr/>
          </p:nvSpPr>
          <p:spPr>
            <a:xfrm>
              <a:off x="3390900" y="1504950"/>
              <a:ext cx="2628900" cy="1809750"/>
            </a:xfrm>
            <a:prstGeom prst="rect">
              <a:avLst/>
            </a:prstGeom>
            <a:solidFill>
              <a:schemeClr val="accent5"/>
            </a:solidFill>
            <a:ln>
              <a:noFill/>
            </a:ln>
          </p:spPr>
        </p:sp>
        <p:sp>
          <p:nvSpPr>
            <p:cNvPr id="13" name="Rectangle 13"/>
            <p:cNvSpPr/>
            <p:nvPr/>
          </p:nvSpPr>
          <p:spPr>
            <a:xfrm>
              <a:off x="3390900" y="1504950"/>
              <a:ext cx="2628900" cy="76200"/>
            </a:xfrm>
            <a:prstGeom prst="rect">
              <a:avLst/>
            </a:prstGeom>
            <a:solidFill>
              <a:schemeClr val="accent2"/>
            </a:solidFill>
            <a:ln>
              <a:noFill/>
            </a:ln>
          </p:spPr>
        </p:sp>
        <p:sp>
          <p:nvSpPr>
            <p:cNvPr id="14" name="TextBox 14"/>
            <p:cNvSpPr txBox="1"/>
            <p:nvPr/>
          </p:nvSpPr>
          <p:spPr>
            <a:xfrm>
              <a:off x="3569970" y="17192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02</a:t>
              </a:r>
            </a:p>
          </p:txBody>
        </p:sp>
        <p:sp>
          <p:nvSpPr>
            <p:cNvPr id="15" name="TextBox 15"/>
            <p:cNvSpPr txBox="1"/>
            <p:nvPr/>
          </p:nvSpPr>
          <p:spPr>
            <a:xfrm>
              <a:off x="4029456" y="1767840"/>
              <a:ext cx="183233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Agent 专属镜头</a:t>
              </a:r>
            </a:p>
          </p:txBody>
        </p:sp>
        <p:sp>
          <p:nvSpPr>
            <p:cNvPr id="16" name="TextBox 16"/>
            <p:cNvSpPr txBox="1"/>
            <p:nvPr/>
          </p:nvSpPr>
          <p:spPr>
            <a:xfrm>
              <a:off x="3574542" y="2235518"/>
              <a:ext cx="2585466" cy="5688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按职责配置，不重复分析全量问题每个前置 Agent 最多 3 个镜头</a:t>
              </a:r>
            </a:p>
          </p:txBody>
        </p:sp>
        <p:sp>
          <p:nvSpPr>
            <p:cNvPr id="17" name="TextBox 17"/>
            <p:cNvSpPr txBox="1"/>
            <p:nvPr/>
          </p:nvSpPr>
          <p:spPr>
            <a:xfrm>
              <a:off x="3574542" y="2902268"/>
              <a:ext cx="209460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场景 / 装备 / 体系 / 技术</a:t>
              </a:r>
            </a:p>
          </p:txBody>
        </p:sp>
        <p:sp>
          <p:nvSpPr>
            <p:cNvPr id="18" name="Rectangle 18"/>
            <p:cNvSpPr/>
            <p:nvPr/>
          </p:nvSpPr>
          <p:spPr>
            <a:xfrm>
              <a:off x="6172200" y="1504950"/>
              <a:ext cx="2628900" cy="1809750"/>
            </a:xfrm>
            <a:prstGeom prst="rect">
              <a:avLst/>
            </a:prstGeom>
            <a:solidFill>
              <a:schemeClr val="accent5"/>
            </a:solidFill>
            <a:ln>
              <a:noFill/>
            </a:ln>
          </p:spPr>
        </p:sp>
        <p:sp>
          <p:nvSpPr>
            <p:cNvPr id="19" name="Rectangle 19"/>
            <p:cNvSpPr/>
            <p:nvPr/>
          </p:nvSpPr>
          <p:spPr>
            <a:xfrm>
              <a:off x="6172200" y="1504950"/>
              <a:ext cx="2628900" cy="76200"/>
            </a:xfrm>
            <a:prstGeom prst="rect">
              <a:avLst/>
            </a:prstGeom>
            <a:solidFill>
              <a:schemeClr val="accent3"/>
            </a:solidFill>
            <a:ln>
              <a:noFill/>
            </a:ln>
          </p:spPr>
        </p:sp>
        <p:sp>
          <p:nvSpPr>
            <p:cNvPr id="20" name="TextBox 20"/>
            <p:cNvSpPr txBox="1"/>
            <p:nvPr/>
          </p:nvSpPr>
          <p:spPr>
            <a:xfrm>
              <a:off x="6351270" y="1719262"/>
              <a:ext cx="372704"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03</a:t>
              </a:r>
            </a:p>
          </p:txBody>
        </p:sp>
        <p:sp>
          <p:nvSpPr>
            <p:cNvPr id="21" name="TextBox 21"/>
            <p:cNvSpPr txBox="1"/>
            <p:nvPr/>
          </p:nvSpPr>
          <p:spPr>
            <a:xfrm>
              <a:off x="6810756" y="176784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颠覆性种子卡</a:t>
              </a:r>
            </a:p>
          </p:txBody>
        </p:sp>
        <p:sp>
          <p:nvSpPr>
            <p:cNvPr id="22" name="TextBox 22"/>
            <p:cNvSpPr txBox="1"/>
            <p:nvPr/>
          </p:nvSpPr>
          <p:spPr>
            <a:xfrm>
              <a:off x="6355842" y="2235518"/>
              <a:ext cx="2276856" cy="5688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六类逻辑 → A1–F2 十二张短卡根据 Query 通常只选 2–3 张</a:t>
              </a:r>
            </a:p>
          </p:txBody>
        </p:sp>
        <p:sp>
          <p:nvSpPr>
            <p:cNvPr id="23" name="TextBox 23"/>
            <p:cNvSpPr txBox="1"/>
            <p:nvPr/>
          </p:nvSpPr>
          <p:spPr>
            <a:xfrm>
              <a:off x="6355842" y="2902268"/>
              <a:ext cx="224908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关系变化 / 装备牵引 / 风险</a:t>
              </a:r>
            </a:p>
          </p:txBody>
        </p:sp>
        <p:sp>
          <p:nvSpPr>
            <p:cNvPr id="24" name="Rectangle 24"/>
            <p:cNvSpPr/>
            <p:nvPr/>
          </p:nvSpPr>
          <p:spPr>
            <a:xfrm>
              <a:off x="8953500" y="1504950"/>
              <a:ext cx="2628900" cy="1809750"/>
            </a:xfrm>
            <a:prstGeom prst="rect">
              <a:avLst/>
            </a:prstGeom>
            <a:solidFill>
              <a:schemeClr val="accent5"/>
            </a:solidFill>
            <a:ln>
              <a:noFill/>
            </a:ln>
          </p:spPr>
        </p:sp>
        <p:sp>
          <p:nvSpPr>
            <p:cNvPr id="25" name="Rectangle 25"/>
            <p:cNvSpPr/>
            <p:nvPr/>
          </p:nvSpPr>
          <p:spPr>
            <a:xfrm>
              <a:off x="8953500" y="1504950"/>
              <a:ext cx="2628900" cy="76200"/>
            </a:xfrm>
            <a:prstGeom prst="rect">
              <a:avLst/>
            </a:prstGeom>
            <a:solidFill>
              <a:schemeClr val="accent6"/>
            </a:solidFill>
            <a:ln>
              <a:noFill/>
            </a:ln>
          </p:spPr>
        </p:sp>
        <p:sp>
          <p:nvSpPr>
            <p:cNvPr id="26" name="TextBox 26"/>
            <p:cNvSpPr txBox="1"/>
            <p:nvPr/>
          </p:nvSpPr>
          <p:spPr>
            <a:xfrm>
              <a:off x="9132570" y="1719262"/>
              <a:ext cx="372704"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04</a:t>
              </a:r>
            </a:p>
          </p:txBody>
        </p:sp>
        <p:sp>
          <p:nvSpPr>
            <p:cNvPr id="27" name="TextBox 27"/>
            <p:cNvSpPr txBox="1"/>
            <p:nvPr/>
          </p:nvSpPr>
          <p:spPr>
            <a:xfrm>
              <a:off x="9592056" y="1767840"/>
              <a:ext cx="781583"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质量门</a:t>
              </a:r>
            </a:p>
          </p:txBody>
        </p:sp>
        <p:sp>
          <p:nvSpPr>
            <p:cNvPr id="28" name="TextBox 28"/>
            <p:cNvSpPr txBox="1"/>
            <p:nvPr/>
          </p:nvSpPr>
          <p:spPr>
            <a:xfrm>
              <a:off x="9137142" y="2235518"/>
              <a:ext cx="2071116" cy="568833"/>
            </a:xfrm>
            <a:prstGeom prst="rect">
              <a:avLst/>
            </a:prstGeom>
            <a:noFill/>
            <a:ln>
              <a:noFill/>
            </a:ln>
          </p:spPr>
          <p:txBody>
            <a:bodyPr wrap="square" lIns="0" tIns="0" rIns="0" bIns="0" anchor="t" anchorCtr="0"/>
            <a:lstStyle/>
            <a:p>
              <a:pPr algn="l">
                <a:lnSpc>
                  <a:spcPts val="2400"/>
                </a:lnSpc>
              </a:pPr>
              <a:r>
                <a:rPr lang="zh-CN" sz="1350" dirty="0">
                  <a:solidFill>
                    <a:schemeClr val="dk1"/>
                  </a:solidFill>
                  <a:latin typeface="+mn-lt"/>
                  <a:ea typeface="+mn-ea"/>
                  <a:cs typeface="+mn-cs"/>
                </a:rPr>
                <a:t>S1–S6 逐步发散并收敛最终通过五项业务验收标准</a:t>
              </a:r>
            </a:p>
          </p:txBody>
        </p:sp>
        <p:sp>
          <p:nvSpPr>
            <p:cNvPr id="29" name="TextBox 29"/>
            <p:cNvSpPr txBox="1"/>
            <p:nvPr/>
          </p:nvSpPr>
          <p:spPr>
            <a:xfrm>
              <a:off x="9137142" y="2902268"/>
              <a:ext cx="2058257"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5–7 项 · 可验证 · 有边界</a:t>
              </a:r>
            </a:p>
          </p:txBody>
        </p:sp>
      </p:grpSp>
      <p:grpSp>
        <p:nvGrpSpPr>
          <p:cNvPr id="75" name="Group 75"/>
          <p:cNvGrpSpPr/>
          <p:nvPr/>
        </p:nvGrpSpPr>
        <p:grpSpPr>
          <a:xfrm>
            <a:off x="602742" y="3607118"/>
            <a:ext cx="10979658" cy="1565338"/>
            <a:chOff x="602742" y="3607118"/>
            <a:chExt cx="10979658" cy="1565338"/>
          </a:xfrm>
        </p:grpSpPr>
        <p:sp>
          <p:nvSpPr>
            <p:cNvPr id="31" name="TextBox 31"/>
            <p:cNvSpPr txBox="1"/>
            <p:nvPr/>
          </p:nvSpPr>
          <p:spPr>
            <a:xfrm>
              <a:off x="602742" y="3607118"/>
              <a:ext cx="2473543"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运行落点 · S1–S6 完整链路</a:t>
              </a:r>
            </a:p>
          </p:txBody>
        </p:sp>
        <p:sp>
          <p:nvSpPr>
            <p:cNvPr id="32" name="Rectangle 32"/>
            <p:cNvSpPr/>
            <p:nvPr/>
          </p:nvSpPr>
          <p:spPr>
            <a:xfrm>
              <a:off x="609600" y="3867150"/>
              <a:ext cx="1638300" cy="533400"/>
            </a:xfrm>
            <a:prstGeom prst="rect">
              <a:avLst/>
            </a:prstGeom>
            <a:solidFill>
              <a:schemeClr val="accent1"/>
            </a:solidFill>
            <a:ln>
              <a:noFill/>
            </a:ln>
          </p:spPr>
        </p:sp>
        <p:sp>
          <p:nvSpPr>
            <p:cNvPr id="33" name="TextBox 33"/>
            <p:cNvSpPr txBox="1"/>
            <p:nvPr/>
          </p:nvSpPr>
          <p:spPr>
            <a:xfrm>
              <a:off x="915309" y="3950018"/>
              <a:ext cx="1026883"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原始 Query</a:t>
              </a:r>
            </a:p>
          </p:txBody>
        </p:sp>
        <p:sp>
          <p:nvSpPr>
            <p:cNvPr id="34" name="TextBox 34"/>
            <p:cNvSpPr txBox="1"/>
            <p:nvPr/>
          </p:nvSpPr>
          <p:spPr>
            <a:xfrm>
              <a:off x="1099566" y="4175760"/>
              <a:ext cx="658368"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任务输入</a:t>
              </a:r>
            </a:p>
          </p:txBody>
        </p:sp>
        <p:sp>
          <p:nvSpPr>
            <p:cNvPr id="35" name="Freeform 35"/>
            <p:cNvSpPr/>
            <p:nvPr/>
          </p:nvSpPr>
          <p:spPr>
            <a:xfrm>
              <a:off x="22860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36" name="Rectangle 36"/>
            <p:cNvSpPr/>
            <p:nvPr/>
          </p:nvSpPr>
          <p:spPr>
            <a:xfrm>
              <a:off x="2476500" y="3867150"/>
              <a:ext cx="1638300" cy="533400"/>
            </a:xfrm>
            <a:prstGeom prst="rect">
              <a:avLst/>
            </a:prstGeom>
            <a:solidFill>
              <a:srgbClr val="DCE9F5"/>
            </a:solidFill>
            <a:ln>
              <a:noFill/>
            </a:ln>
          </p:spPr>
        </p:sp>
        <p:sp>
          <p:nvSpPr>
            <p:cNvPr id="37" name="TextBox 37"/>
            <p:cNvSpPr txBox="1"/>
            <p:nvPr/>
          </p:nvSpPr>
          <p:spPr>
            <a:xfrm>
              <a:off x="3122451" y="3950018"/>
              <a:ext cx="346398"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A–H</a:t>
              </a:r>
            </a:p>
          </p:txBody>
        </p:sp>
        <p:sp>
          <p:nvSpPr>
            <p:cNvPr id="38" name="TextBox 38"/>
            <p:cNvSpPr txBox="1"/>
            <p:nvPr/>
          </p:nvSpPr>
          <p:spPr>
            <a:xfrm>
              <a:off x="2966466" y="4175760"/>
              <a:ext cx="658368" cy="234696"/>
            </a:xfrm>
            <a:prstGeom prst="rect">
              <a:avLst/>
            </a:prstGeom>
            <a:noFill/>
            <a:ln>
              <a:noFill/>
            </a:ln>
          </p:spPr>
          <p:txBody>
            <a:bodyPr wrap="none" lIns="0" tIns="0" rIns="0" bIns="0" anchor="t" anchorCtr="0">
              <a:spAutoFit/>
            </a:bodyPr>
            <a:lstStyle/>
            <a:p>
              <a:pPr algn="ctr"/>
              <a:r>
                <a:rPr lang="zh-CN" sz="1200" dirty="0">
                  <a:solidFill>
                    <a:schemeClr val="accent1"/>
                  </a:solidFill>
                  <a:latin typeface="+mn-lt"/>
                  <a:ea typeface="+mn-ea"/>
                  <a:cs typeface="+mn-cs"/>
                </a:rPr>
                <a:t>路径识别</a:t>
              </a:r>
            </a:p>
          </p:txBody>
        </p:sp>
        <p:sp>
          <p:nvSpPr>
            <p:cNvPr id="39" name="Freeform 39"/>
            <p:cNvSpPr/>
            <p:nvPr/>
          </p:nvSpPr>
          <p:spPr>
            <a:xfrm>
              <a:off x="41529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40" name="Rectangle 40"/>
            <p:cNvSpPr/>
            <p:nvPr/>
          </p:nvSpPr>
          <p:spPr>
            <a:xfrm>
              <a:off x="4343400" y="3867150"/>
              <a:ext cx="1638300" cy="533400"/>
            </a:xfrm>
            <a:prstGeom prst="rect">
              <a:avLst/>
            </a:prstGeom>
            <a:solidFill>
              <a:srgbClr val="DCE9F5"/>
            </a:solidFill>
            <a:ln>
              <a:noFill/>
            </a:ln>
          </p:spPr>
        </p:sp>
        <p:sp>
          <p:nvSpPr>
            <p:cNvPr id="41" name="TextBox 41"/>
            <p:cNvSpPr txBox="1"/>
            <p:nvPr/>
          </p:nvSpPr>
          <p:spPr>
            <a:xfrm>
              <a:off x="4475423" y="3950018"/>
              <a:ext cx="1374254" cy="264033"/>
            </a:xfrm>
            <a:prstGeom prst="rect">
              <a:avLst/>
            </a:prstGeom>
            <a:noFill/>
            <a:ln>
              <a:noFill/>
            </a:ln>
          </p:spPr>
          <p:txBody>
            <a:bodyPr wrap="none" lIns="0" tIns="0" rIns="0" bIns="0" anchor="t" anchorCtr="0">
              <a:spAutoFit/>
            </a:bodyPr>
            <a:lstStyle/>
            <a:p>
              <a:pPr algn="ctr"/>
              <a:r>
                <a:rPr lang="zh-CN" sz="1350" b="1" dirty="0">
                  <a:solidFill>
                    <a:schemeClr val="accent1"/>
                  </a:solidFill>
                  <a:latin typeface="+mn-lt"/>
                  <a:ea typeface="+mn-ea"/>
                  <a:cs typeface="+mn-cs"/>
                </a:rPr>
                <a:t>前置专业 Agent</a:t>
              </a:r>
            </a:p>
          </p:txBody>
        </p:sp>
        <p:sp>
          <p:nvSpPr>
            <p:cNvPr id="42" name="TextBox 42"/>
            <p:cNvSpPr txBox="1"/>
            <p:nvPr/>
          </p:nvSpPr>
          <p:spPr>
            <a:xfrm>
              <a:off x="4671822" y="4175760"/>
              <a:ext cx="981456" cy="234696"/>
            </a:xfrm>
            <a:prstGeom prst="rect">
              <a:avLst/>
            </a:prstGeom>
            <a:noFill/>
            <a:ln>
              <a:noFill/>
            </a:ln>
          </p:spPr>
          <p:txBody>
            <a:bodyPr wrap="none" lIns="0" tIns="0" rIns="0" bIns="0" anchor="t" anchorCtr="0">
              <a:spAutoFit/>
            </a:bodyPr>
            <a:lstStyle/>
            <a:p>
              <a:pPr algn="ctr"/>
              <a:r>
                <a:rPr lang="zh-CN" sz="1200" dirty="0">
                  <a:solidFill>
                    <a:schemeClr val="accent1"/>
                  </a:solidFill>
                  <a:latin typeface="+mn-lt"/>
                  <a:ea typeface="+mn-ea"/>
                  <a:cs typeface="+mn-cs"/>
                </a:rPr>
                <a:t>专属发散镜头</a:t>
              </a:r>
            </a:p>
          </p:txBody>
        </p:sp>
        <p:sp>
          <p:nvSpPr>
            <p:cNvPr id="43" name="Freeform 43"/>
            <p:cNvSpPr/>
            <p:nvPr/>
          </p:nvSpPr>
          <p:spPr>
            <a:xfrm>
              <a:off x="60198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44" name="Rectangle 44"/>
            <p:cNvSpPr/>
            <p:nvPr/>
          </p:nvSpPr>
          <p:spPr>
            <a:xfrm>
              <a:off x="6210300" y="3867150"/>
              <a:ext cx="1638300" cy="533400"/>
            </a:xfrm>
            <a:prstGeom prst="rect">
              <a:avLst/>
            </a:prstGeom>
            <a:solidFill>
              <a:schemeClr val="accent2"/>
            </a:solidFill>
            <a:ln>
              <a:noFill/>
            </a:ln>
          </p:spPr>
        </p:sp>
        <p:sp>
          <p:nvSpPr>
            <p:cNvPr id="45" name="TextBox 45"/>
            <p:cNvSpPr txBox="1"/>
            <p:nvPr/>
          </p:nvSpPr>
          <p:spPr>
            <a:xfrm>
              <a:off x="6911698" y="3950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S1</a:t>
              </a:r>
            </a:p>
          </p:txBody>
        </p:sp>
        <p:sp>
          <p:nvSpPr>
            <p:cNvPr id="46" name="TextBox 46"/>
            <p:cNvSpPr txBox="1"/>
            <p:nvPr/>
          </p:nvSpPr>
          <p:spPr>
            <a:xfrm>
              <a:off x="6377178" y="4175760"/>
              <a:ext cx="1304544"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对手体系与反适应</a:t>
              </a:r>
            </a:p>
          </p:txBody>
        </p:sp>
        <p:sp>
          <p:nvSpPr>
            <p:cNvPr id="47" name="Freeform 47"/>
            <p:cNvSpPr/>
            <p:nvPr/>
          </p:nvSpPr>
          <p:spPr>
            <a:xfrm>
              <a:off x="78867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48" name="Rectangle 48"/>
            <p:cNvSpPr/>
            <p:nvPr/>
          </p:nvSpPr>
          <p:spPr>
            <a:xfrm>
              <a:off x="8077200" y="3867150"/>
              <a:ext cx="1638300" cy="533400"/>
            </a:xfrm>
            <a:prstGeom prst="rect">
              <a:avLst/>
            </a:prstGeom>
            <a:solidFill>
              <a:schemeClr val="accent2"/>
            </a:solidFill>
            <a:ln>
              <a:noFill/>
            </a:ln>
          </p:spPr>
        </p:sp>
        <p:sp>
          <p:nvSpPr>
            <p:cNvPr id="49" name="TextBox 49"/>
            <p:cNvSpPr txBox="1"/>
            <p:nvPr/>
          </p:nvSpPr>
          <p:spPr>
            <a:xfrm>
              <a:off x="8778598" y="3950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S2</a:t>
              </a:r>
            </a:p>
          </p:txBody>
        </p:sp>
        <p:sp>
          <p:nvSpPr>
            <p:cNvPr id="50" name="TextBox 50"/>
            <p:cNvSpPr txBox="1"/>
            <p:nvPr/>
          </p:nvSpPr>
          <p:spPr>
            <a:xfrm>
              <a:off x="8324850" y="4175760"/>
              <a:ext cx="1143000"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竞争性作战路径</a:t>
              </a:r>
            </a:p>
          </p:txBody>
        </p:sp>
        <p:sp>
          <p:nvSpPr>
            <p:cNvPr id="51" name="Freeform 51"/>
            <p:cNvSpPr/>
            <p:nvPr/>
          </p:nvSpPr>
          <p:spPr>
            <a:xfrm>
              <a:off x="9753600" y="4067175"/>
              <a:ext cx="152400" cy="133350"/>
            </a:xfrm>
            <a:custGeom>
              <a:avLst/>
              <a:gdLst/>
              <a:ahLst/>
              <a:cxnLst/>
              <a:rect l="l" t="t" r="r" b="b"/>
              <a:pathLst>
                <a:path w="152400" h="133350">
                  <a:moveTo>
                    <a:pt x="0" y="0"/>
                  </a:moveTo>
                  <a:lnTo>
                    <a:pt x="152400" y="66675"/>
                  </a:lnTo>
                  <a:lnTo>
                    <a:pt x="0" y="133350"/>
                  </a:lnTo>
                  <a:close/>
                </a:path>
              </a:pathLst>
            </a:custGeom>
            <a:solidFill>
              <a:srgbClr val="94A3B8"/>
            </a:solidFill>
            <a:ln>
              <a:noFill/>
            </a:ln>
          </p:spPr>
        </p:sp>
        <p:sp>
          <p:nvSpPr>
            <p:cNvPr id="52" name="Rectangle 52"/>
            <p:cNvSpPr/>
            <p:nvPr/>
          </p:nvSpPr>
          <p:spPr>
            <a:xfrm>
              <a:off x="9944100" y="3867150"/>
              <a:ext cx="1638300" cy="533400"/>
            </a:xfrm>
            <a:prstGeom prst="rect">
              <a:avLst/>
            </a:prstGeom>
            <a:solidFill>
              <a:schemeClr val="accent2"/>
            </a:solidFill>
            <a:ln>
              <a:noFill/>
            </a:ln>
          </p:spPr>
        </p:sp>
        <p:sp>
          <p:nvSpPr>
            <p:cNvPr id="53" name="TextBox 53"/>
            <p:cNvSpPr txBox="1"/>
            <p:nvPr/>
          </p:nvSpPr>
          <p:spPr>
            <a:xfrm>
              <a:off x="10645498" y="3950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S3</a:t>
              </a:r>
            </a:p>
          </p:txBody>
        </p:sp>
        <p:sp>
          <p:nvSpPr>
            <p:cNvPr id="54" name="TextBox 54"/>
            <p:cNvSpPr txBox="1"/>
            <p:nvPr/>
          </p:nvSpPr>
          <p:spPr>
            <a:xfrm>
              <a:off x="10110978" y="4175760"/>
              <a:ext cx="1304544"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突破机制与效果链</a:t>
              </a:r>
            </a:p>
          </p:txBody>
        </p:sp>
        <p:sp>
          <p:nvSpPr>
            <p:cNvPr id="55" name="Freeform 55"/>
            <p:cNvSpPr/>
            <p:nvPr/>
          </p:nvSpPr>
          <p:spPr>
            <a:xfrm>
              <a:off x="10687050" y="4438650"/>
              <a:ext cx="152400" cy="152400"/>
            </a:xfrm>
            <a:custGeom>
              <a:avLst/>
              <a:gdLst/>
              <a:ahLst/>
              <a:cxnLst/>
              <a:rect l="l" t="t" r="r" b="b"/>
              <a:pathLst>
                <a:path w="152400" h="152400">
                  <a:moveTo>
                    <a:pt x="76200" y="0"/>
                  </a:moveTo>
                  <a:lnTo>
                    <a:pt x="76200" y="76200"/>
                  </a:lnTo>
                  <a:lnTo>
                    <a:pt x="0" y="76200"/>
                  </a:lnTo>
                  <a:lnTo>
                    <a:pt x="76200" y="152400"/>
                  </a:lnTo>
                  <a:lnTo>
                    <a:pt x="152400" y="76200"/>
                  </a:lnTo>
                  <a:lnTo>
                    <a:pt x="76200" y="76200"/>
                  </a:lnTo>
                </a:path>
              </a:pathLst>
            </a:custGeom>
            <a:solidFill>
              <a:srgbClr val="94A3B8"/>
            </a:solidFill>
            <a:ln>
              <a:noFill/>
            </a:ln>
          </p:spPr>
        </p:sp>
        <p:sp>
          <p:nvSpPr>
            <p:cNvPr id="56" name="Rectangle 56"/>
            <p:cNvSpPr/>
            <p:nvPr/>
          </p:nvSpPr>
          <p:spPr>
            <a:xfrm>
              <a:off x="9925050" y="4629150"/>
              <a:ext cx="1657350" cy="533400"/>
            </a:xfrm>
            <a:prstGeom prst="rect">
              <a:avLst/>
            </a:prstGeom>
            <a:solidFill>
              <a:schemeClr val="accent2"/>
            </a:solidFill>
            <a:ln>
              <a:noFill/>
            </a:ln>
          </p:spPr>
        </p:sp>
        <p:sp>
          <p:nvSpPr>
            <p:cNvPr id="57" name="TextBox 57"/>
            <p:cNvSpPr txBox="1"/>
            <p:nvPr/>
          </p:nvSpPr>
          <p:spPr>
            <a:xfrm>
              <a:off x="10635973" y="4712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S4</a:t>
              </a:r>
            </a:p>
          </p:txBody>
        </p:sp>
        <p:sp>
          <p:nvSpPr>
            <p:cNvPr id="58" name="TextBox 58"/>
            <p:cNvSpPr txBox="1"/>
            <p:nvPr/>
          </p:nvSpPr>
          <p:spPr>
            <a:xfrm>
              <a:off x="10424541" y="4937760"/>
              <a:ext cx="658368"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能力映射</a:t>
              </a:r>
            </a:p>
          </p:txBody>
        </p:sp>
        <p:sp>
          <p:nvSpPr>
            <p:cNvPr id="59" name="Freeform 59"/>
            <p:cNvSpPr/>
            <p:nvPr/>
          </p:nvSpPr>
          <p:spPr>
            <a:xfrm>
              <a:off x="9734550" y="4829175"/>
              <a:ext cx="152400" cy="133350"/>
            </a:xfrm>
            <a:custGeom>
              <a:avLst/>
              <a:gdLst/>
              <a:ahLst/>
              <a:cxnLst/>
              <a:rect l="l" t="t" r="r" b="b"/>
              <a:pathLst>
                <a:path w="152400" h="133350">
                  <a:moveTo>
                    <a:pt x="152400" y="0"/>
                  </a:moveTo>
                  <a:lnTo>
                    <a:pt x="0" y="66675"/>
                  </a:lnTo>
                  <a:lnTo>
                    <a:pt x="152400" y="133350"/>
                  </a:lnTo>
                  <a:close/>
                </a:path>
              </a:pathLst>
            </a:custGeom>
            <a:solidFill>
              <a:srgbClr val="94A3B8"/>
            </a:solidFill>
            <a:ln>
              <a:noFill/>
            </a:ln>
          </p:spPr>
        </p:sp>
        <p:sp>
          <p:nvSpPr>
            <p:cNvPr id="60" name="Rectangle 60"/>
            <p:cNvSpPr/>
            <p:nvPr/>
          </p:nvSpPr>
          <p:spPr>
            <a:xfrm>
              <a:off x="7829550" y="4629150"/>
              <a:ext cx="1657350" cy="533400"/>
            </a:xfrm>
            <a:prstGeom prst="rect">
              <a:avLst/>
            </a:prstGeom>
            <a:solidFill>
              <a:schemeClr val="accent2"/>
            </a:solidFill>
            <a:ln>
              <a:noFill/>
            </a:ln>
          </p:spPr>
        </p:sp>
        <p:sp>
          <p:nvSpPr>
            <p:cNvPr id="61" name="TextBox 61"/>
            <p:cNvSpPr txBox="1"/>
            <p:nvPr/>
          </p:nvSpPr>
          <p:spPr>
            <a:xfrm>
              <a:off x="8540473" y="4712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S5</a:t>
              </a:r>
            </a:p>
          </p:txBody>
        </p:sp>
        <p:sp>
          <p:nvSpPr>
            <p:cNvPr id="62" name="TextBox 62"/>
            <p:cNvSpPr txBox="1"/>
            <p:nvPr/>
          </p:nvSpPr>
          <p:spPr>
            <a:xfrm>
              <a:off x="8167497" y="4937760"/>
              <a:ext cx="981456"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差距与成熟度</a:t>
              </a:r>
            </a:p>
          </p:txBody>
        </p:sp>
        <p:sp>
          <p:nvSpPr>
            <p:cNvPr id="63" name="Freeform 63"/>
            <p:cNvSpPr/>
            <p:nvPr/>
          </p:nvSpPr>
          <p:spPr>
            <a:xfrm>
              <a:off x="7639050" y="4829175"/>
              <a:ext cx="152400" cy="133350"/>
            </a:xfrm>
            <a:custGeom>
              <a:avLst/>
              <a:gdLst/>
              <a:ahLst/>
              <a:cxnLst/>
              <a:rect l="l" t="t" r="r" b="b"/>
              <a:pathLst>
                <a:path w="152400" h="133350">
                  <a:moveTo>
                    <a:pt x="152400" y="0"/>
                  </a:moveTo>
                  <a:lnTo>
                    <a:pt x="0" y="66675"/>
                  </a:lnTo>
                  <a:lnTo>
                    <a:pt x="152400" y="133350"/>
                  </a:lnTo>
                  <a:close/>
                </a:path>
              </a:pathLst>
            </a:custGeom>
            <a:solidFill>
              <a:srgbClr val="94A3B8"/>
            </a:solidFill>
            <a:ln>
              <a:noFill/>
            </a:ln>
          </p:spPr>
        </p:sp>
        <p:sp>
          <p:nvSpPr>
            <p:cNvPr id="64" name="Rectangle 64"/>
            <p:cNvSpPr/>
            <p:nvPr/>
          </p:nvSpPr>
          <p:spPr>
            <a:xfrm>
              <a:off x="5734050" y="4629150"/>
              <a:ext cx="1657350" cy="533400"/>
            </a:xfrm>
            <a:prstGeom prst="rect">
              <a:avLst/>
            </a:prstGeom>
            <a:solidFill>
              <a:schemeClr val="accent3"/>
            </a:solidFill>
            <a:ln>
              <a:noFill/>
            </a:ln>
          </p:spPr>
        </p:sp>
        <p:sp>
          <p:nvSpPr>
            <p:cNvPr id="65" name="TextBox 65"/>
            <p:cNvSpPr txBox="1"/>
            <p:nvPr/>
          </p:nvSpPr>
          <p:spPr>
            <a:xfrm>
              <a:off x="6444973" y="4712018"/>
              <a:ext cx="235504" cy="264033"/>
            </a:xfrm>
            <a:prstGeom prst="rect">
              <a:avLst/>
            </a:prstGeom>
            <a:noFill/>
            <a:ln>
              <a:noFill/>
            </a:ln>
          </p:spPr>
          <p:txBody>
            <a:bodyPr wrap="none" lIns="0" tIns="0" rIns="0" bIns="0" anchor="t" anchorCtr="0">
              <a:spAutoFit/>
            </a:bodyPr>
            <a:lstStyle/>
            <a:p>
              <a:pPr algn="ctr"/>
              <a:r>
                <a:rPr lang="en-US" sz="1350" b="1" dirty="0">
                  <a:solidFill>
                    <a:srgbClr val="FFFFFF"/>
                  </a:solidFill>
                  <a:latin typeface="+mn-lt"/>
                  <a:ea typeface="+mn-ea"/>
                  <a:cs typeface="+mn-cs"/>
                </a:rPr>
                <a:t>S6</a:t>
              </a:r>
            </a:p>
          </p:txBody>
        </p:sp>
        <p:sp>
          <p:nvSpPr>
            <p:cNvPr id="66" name="TextBox 66"/>
            <p:cNvSpPr txBox="1"/>
            <p:nvPr/>
          </p:nvSpPr>
          <p:spPr>
            <a:xfrm>
              <a:off x="5971032" y="4937760"/>
              <a:ext cx="1183386"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形成 5–7 项装备</a:t>
              </a:r>
            </a:p>
          </p:txBody>
        </p:sp>
        <p:sp>
          <p:nvSpPr>
            <p:cNvPr id="67" name="Freeform 67"/>
            <p:cNvSpPr/>
            <p:nvPr/>
          </p:nvSpPr>
          <p:spPr>
            <a:xfrm>
              <a:off x="5543550" y="4829175"/>
              <a:ext cx="152400" cy="133350"/>
            </a:xfrm>
            <a:custGeom>
              <a:avLst/>
              <a:gdLst/>
              <a:ahLst/>
              <a:cxnLst/>
              <a:rect l="l" t="t" r="r" b="b"/>
              <a:pathLst>
                <a:path w="152400" h="133350">
                  <a:moveTo>
                    <a:pt x="152400" y="0"/>
                  </a:moveTo>
                  <a:lnTo>
                    <a:pt x="0" y="66675"/>
                  </a:lnTo>
                  <a:lnTo>
                    <a:pt x="152400" y="133350"/>
                  </a:lnTo>
                  <a:close/>
                </a:path>
              </a:pathLst>
            </a:custGeom>
            <a:solidFill>
              <a:srgbClr val="94A3B8"/>
            </a:solidFill>
            <a:ln>
              <a:noFill/>
            </a:ln>
          </p:spPr>
        </p:sp>
        <p:sp>
          <p:nvSpPr>
            <p:cNvPr id="68" name="Rectangle 68"/>
            <p:cNvSpPr/>
            <p:nvPr/>
          </p:nvSpPr>
          <p:spPr>
            <a:xfrm>
              <a:off x="3638550" y="4629150"/>
              <a:ext cx="1657350" cy="533400"/>
            </a:xfrm>
            <a:prstGeom prst="rect">
              <a:avLst/>
            </a:prstGeom>
            <a:solidFill>
              <a:srgbClr val="DDEDE7"/>
            </a:solidFill>
            <a:ln>
              <a:noFill/>
            </a:ln>
          </p:spPr>
        </p:sp>
        <p:sp>
          <p:nvSpPr>
            <p:cNvPr id="69" name="TextBox 69"/>
            <p:cNvSpPr txBox="1"/>
            <p:nvPr/>
          </p:nvSpPr>
          <p:spPr>
            <a:xfrm>
              <a:off x="4037584" y="4712018"/>
              <a:ext cx="859282" cy="264033"/>
            </a:xfrm>
            <a:prstGeom prst="rect">
              <a:avLst/>
            </a:prstGeom>
            <a:noFill/>
            <a:ln>
              <a:noFill/>
            </a:ln>
          </p:spPr>
          <p:txBody>
            <a:bodyPr wrap="none" lIns="0" tIns="0" rIns="0" bIns="0" anchor="t" anchorCtr="0">
              <a:spAutoFit/>
            </a:bodyPr>
            <a:lstStyle/>
            <a:p>
              <a:pPr algn="ctr"/>
              <a:r>
                <a:rPr lang="en-US" sz="1350" b="1" dirty="0">
                  <a:solidFill>
                    <a:schemeClr val="accent1"/>
                  </a:solidFill>
                  <a:latin typeface="+mn-lt"/>
                  <a:ea typeface="+mn-ea"/>
                  <a:cs typeface="+mn-cs"/>
                </a:rPr>
                <a:t>Reporter</a:t>
              </a:r>
            </a:p>
          </p:txBody>
        </p:sp>
        <p:sp>
          <p:nvSpPr>
            <p:cNvPr id="70" name="TextBox 70"/>
            <p:cNvSpPr txBox="1"/>
            <p:nvPr/>
          </p:nvSpPr>
          <p:spPr>
            <a:xfrm>
              <a:off x="3976497" y="4937760"/>
              <a:ext cx="981456" cy="234696"/>
            </a:xfrm>
            <a:prstGeom prst="rect">
              <a:avLst/>
            </a:prstGeom>
            <a:noFill/>
            <a:ln>
              <a:noFill/>
            </a:ln>
          </p:spPr>
          <p:txBody>
            <a:bodyPr wrap="none" lIns="0" tIns="0" rIns="0" bIns="0" anchor="t" anchorCtr="0">
              <a:spAutoFit/>
            </a:bodyPr>
            <a:lstStyle/>
            <a:p>
              <a:pPr algn="ctr"/>
              <a:r>
                <a:rPr lang="zh-CN" sz="1200" dirty="0">
                  <a:solidFill>
                    <a:schemeClr val="accent1"/>
                  </a:solidFill>
                  <a:latin typeface="+mn-lt"/>
                  <a:ea typeface="+mn-ea"/>
                  <a:cs typeface="+mn-cs"/>
                </a:rPr>
                <a:t>三层九项报告</a:t>
              </a:r>
            </a:p>
          </p:txBody>
        </p:sp>
        <p:sp>
          <p:nvSpPr>
            <p:cNvPr id="71" name="Freeform 71"/>
            <p:cNvSpPr/>
            <p:nvPr/>
          </p:nvSpPr>
          <p:spPr>
            <a:xfrm>
              <a:off x="3448050" y="4829175"/>
              <a:ext cx="152400" cy="133350"/>
            </a:xfrm>
            <a:custGeom>
              <a:avLst/>
              <a:gdLst/>
              <a:ahLst/>
              <a:cxnLst/>
              <a:rect l="l" t="t" r="r" b="b"/>
              <a:pathLst>
                <a:path w="152400" h="133350">
                  <a:moveTo>
                    <a:pt x="152400" y="0"/>
                  </a:moveTo>
                  <a:lnTo>
                    <a:pt x="0" y="66675"/>
                  </a:lnTo>
                  <a:lnTo>
                    <a:pt x="152400" y="133350"/>
                  </a:lnTo>
                  <a:close/>
                </a:path>
              </a:pathLst>
            </a:custGeom>
            <a:solidFill>
              <a:srgbClr val="94A3B8"/>
            </a:solidFill>
            <a:ln>
              <a:noFill/>
            </a:ln>
          </p:spPr>
        </p:sp>
        <p:sp>
          <p:nvSpPr>
            <p:cNvPr id="72" name="Rectangle 72"/>
            <p:cNvSpPr/>
            <p:nvPr/>
          </p:nvSpPr>
          <p:spPr>
            <a:xfrm>
              <a:off x="1543050" y="4629150"/>
              <a:ext cx="1657350" cy="533400"/>
            </a:xfrm>
            <a:prstGeom prst="rect">
              <a:avLst/>
            </a:prstGeom>
            <a:solidFill>
              <a:schemeClr val="accent1"/>
            </a:solidFill>
            <a:ln>
              <a:noFill/>
            </a:ln>
          </p:spPr>
        </p:sp>
        <p:sp>
          <p:nvSpPr>
            <p:cNvPr id="73" name="TextBox 73"/>
            <p:cNvSpPr txBox="1"/>
            <p:nvPr/>
          </p:nvSpPr>
          <p:spPr>
            <a:xfrm>
              <a:off x="1887807" y="4712018"/>
              <a:ext cx="967835" cy="264033"/>
            </a:xfrm>
            <a:prstGeom prst="rect">
              <a:avLst/>
            </a:prstGeom>
            <a:noFill/>
            <a:ln>
              <a:noFill/>
            </a:ln>
          </p:spPr>
          <p:txBody>
            <a:bodyPr wrap="none" lIns="0" tIns="0" rIns="0" bIns="0" anchor="t" anchorCtr="0">
              <a:spAutoFit/>
            </a:bodyPr>
            <a:lstStyle/>
            <a:p>
              <a:pPr algn="ctr"/>
              <a:r>
                <a:rPr lang="zh-CN" sz="1350" b="1" dirty="0">
                  <a:solidFill>
                    <a:srgbClr val="FFFFFF"/>
                  </a:solidFill>
                  <a:latin typeface="+mn-lt"/>
                  <a:ea typeface="+mn-ea"/>
                  <a:cs typeface="+mn-cs"/>
                </a:rPr>
                <a:t>五项质量门</a:t>
              </a:r>
            </a:p>
          </p:txBody>
        </p:sp>
        <p:sp>
          <p:nvSpPr>
            <p:cNvPr id="74" name="TextBox 74"/>
            <p:cNvSpPr txBox="1"/>
            <p:nvPr/>
          </p:nvSpPr>
          <p:spPr>
            <a:xfrm>
              <a:off x="1961769" y="4937760"/>
              <a:ext cx="819912" cy="234696"/>
            </a:xfrm>
            <a:prstGeom prst="rect">
              <a:avLst/>
            </a:prstGeom>
            <a:noFill/>
            <a:ln>
              <a:noFill/>
            </a:ln>
          </p:spPr>
          <p:txBody>
            <a:bodyPr wrap="none" lIns="0" tIns="0" rIns="0" bIns="0" anchor="t" anchorCtr="0">
              <a:spAutoFit/>
            </a:bodyPr>
            <a:lstStyle/>
            <a:p>
              <a:pPr algn="ctr"/>
              <a:r>
                <a:rPr lang="zh-CN" sz="1200" dirty="0">
                  <a:solidFill>
                    <a:srgbClr val="FFFFFF"/>
                  </a:solidFill>
                  <a:latin typeface="+mn-lt"/>
                  <a:ea typeface="+mn-ea"/>
                  <a:cs typeface="+mn-cs"/>
                </a:rPr>
                <a:t>收敛与验收</a:t>
              </a:r>
            </a:p>
          </p:txBody>
        </p:sp>
      </p:grpSp>
      <p:grpSp>
        <p:nvGrpSpPr>
          <p:cNvPr id="81" name="Group 81"/>
          <p:cNvGrpSpPr/>
          <p:nvPr/>
        </p:nvGrpSpPr>
        <p:grpSpPr>
          <a:xfrm>
            <a:off x="609600" y="5467350"/>
            <a:ext cx="10972800" cy="895350"/>
            <a:chOff x="609600" y="5467350"/>
            <a:chExt cx="10972800" cy="895350"/>
          </a:xfrm>
        </p:grpSpPr>
        <p:sp>
          <p:nvSpPr>
            <p:cNvPr id="76" name="Rectangle 76"/>
            <p:cNvSpPr/>
            <p:nvPr/>
          </p:nvSpPr>
          <p:spPr>
            <a:xfrm>
              <a:off x="609600" y="5467350"/>
              <a:ext cx="10972800" cy="895350"/>
            </a:xfrm>
            <a:prstGeom prst="rect">
              <a:avLst/>
            </a:prstGeom>
            <a:solidFill>
              <a:schemeClr val="accent5"/>
            </a:solidFill>
            <a:ln>
              <a:noFill/>
            </a:ln>
          </p:spPr>
        </p:sp>
        <p:sp>
          <p:nvSpPr>
            <p:cNvPr id="77" name="TextBox 77"/>
            <p:cNvSpPr txBox="1"/>
            <p:nvPr/>
          </p:nvSpPr>
          <p:spPr>
            <a:xfrm>
              <a:off x="831342" y="5626418"/>
              <a:ext cx="1158659" cy="264033"/>
            </a:xfrm>
            <a:prstGeom prst="rect">
              <a:avLst/>
            </a:prstGeom>
            <a:noFill/>
            <a:ln>
              <a:noFill/>
            </a:ln>
          </p:spPr>
          <p:txBody>
            <a:bodyPr wrap="none" lIns="0" tIns="0" rIns="0" bIns="0" anchor="t" anchorCtr="0">
              <a:spAutoFit/>
            </a:bodyPr>
            <a:lstStyle/>
            <a:p>
              <a:pPr algn="l"/>
              <a:r>
                <a:rPr lang="zh-CN" sz="1350" b="1" dirty="0">
                  <a:solidFill>
                    <a:schemeClr val="accent1"/>
                  </a:solidFill>
                  <a:latin typeface="+mn-lt"/>
                  <a:ea typeface="+mn-ea"/>
                  <a:cs typeface="+mn-cs"/>
                </a:rPr>
                <a:t>三条运行边界</a:t>
              </a:r>
            </a:p>
          </p:txBody>
        </p:sp>
        <p:sp>
          <p:nvSpPr>
            <p:cNvPr id="78" name="TextBox 78"/>
            <p:cNvSpPr txBox="1"/>
            <p:nvPr/>
          </p:nvSpPr>
          <p:spPr>
            <a:xfrm>
              <a:off x="831342" y="5969318"/>
              <a:ext cx="289424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① 本地确定性选卡，不增加模型调用</a:t>
              </a:r>
            </a:p>
          </p:txBody>
        </p:sp>
        <p:sp>
          <p:nvSpPr>
            <p:cNvPr id="79" name="TextBox 79"/>
            <p:cNvSpPr txBox="1"/>
            <p:nvPr/>
          </p:nvSpPr>
          <p:spPr>
            <a:xfrm>
              <a:off x="4279392" y="5969318"/>
              <a:ext cx="384836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② bounded_exploration 最多挑战一个既有前提</a:t>
              </a:r>
            </a:p>
          </p:txBody>
        </p:sp>
        <p:sp>
          <p:nvSpPr>
            <p:cNvPr id="80" name="TextBox 80"/>
            <p:cNvSpPr txBox="1"/>
            <p:nvPr/>
          </p:nvSpPr>
          <p:spPr>
            <a:xfrm>
              <a:off x="8356092" y="5969318"/>
              <a:ext cx="271251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③ 种子不是事实、指标或必选目录</a:t>
              </a:r>
            </a:p>
          </p:txBody>
        </p:sp>
      </p:gr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616267"/>
            <a:chOff x="593598" y="498158"/>
            <a:chExt cx="10995660" cy="616267"/>
          </a:xfrm>
        </p:grpSpPr>
        <p:sp>
          <p:nvSpPr>
            <p:cNvPr id="2" name="TextBox 2"/>
            <p:cNvSpPr txBox="1"/>
            <p:nvPr/>
          </p:nvSpPr>
          <p:spPr>
            <a:xfrm>
              <a:off x="593598" y="498158"/>
              <a:ext cx="3594049"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发散要求落实矩阵</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05</a:t>
              </a:r>
            </a:p>
          </p:txBody>
        </p:sp>
        <p:sp>
          <p:nvSpPr>
            <p:cNvPr id="4" name="Rectangle 4"/>
            <p:cNvSpPr/>
            <p:nvPr/>
          </p:nvSpPr>
          <p:spPr>
            <a:xfrm>
              <a:off x="609600" y="1066800"/>
              <a:ext cx="1104900" cy="47625"/>
            </a:xfrm>
            <a:prstGeom prst="rect">
              <a:avLst/>
            </a:prstGeom>
            <a:solidFill>
              <a:schemeClr val="accent3"/>
            </a:solidFill>
            <a:ln>
              <a:noFill/>
            </a:ln>
          </p:spPr>
        </p:sp>
      </p:grpSp>
      <p:grpSp>
        <p:nvGrpSpPr>
          <p:cNvPr id="30" name="Group 30"/>
          <p:cNvGrpSpPr/>
          <p:nvPr/>
        </p:nvGrpSpPr>
        <p:grpSpPr>
          <a:xfrm>
            <a:off x="609600" y="1543050"/>
            <a:ext cx="7543800" cy="4476750"/>
            <a:chOff x="609600" y="1543050"/>
            <a:chExt cx="7543800" cy="4476750"/>
          </a:xfrm>
        </p:grpSpPr>
        <p:sp>
          <p:nvSpPr>
            <p:cNvPr id="6" name="Rectangle 6"/>
            <p:cNvSpPr/>
            <p:nvPr/>
          </p:nvSpPr>
          <p:spPr>
            <a:xfrm>
              <a:off x="609600" y="1543050"/>
              <a:ext cx="7543800" cy="4476750"/>
            </a:xfrm>
            <a:prstGeom prst="rect">
              <a:avLst/>
            </a:prstGeom>
            <a:solidFill>
              <a:schemeClr val="accent5"/>
            </a:solidFill>
            <a:ln>
              <a:noFill/>
            </a:ln>
          </p:spPr>
        </p:sp>
        <p:sp>
          <p:nvSpPr>
            <p:cNvPr id="7" name="TextBox 7"/>
            <p:cNvSpPr txBox="1"/>
            <p:nvPr/>
          </p:nvSpPr>
          <p:spPr>
            <a:xfrm>
              <a:off x="867156" y="1767840"/>
              <a:ext cx="2053742"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三层九项交付合同</a:t>
              </a:r>
            </a:p>
          </p:txBody>
        </p:sp>
        <p:sp>
          <p:nvSpPr>
            <p:cNvPr id="8" name="Rectangle 8"/>
            <p:cNvSpPr/>
            <p:nvPr/>
          </p:nvSpPr>
          <p:spPr>
            <a:xfrm>
              <a:off x="876300" y="2209800"/>
              <a:ext cx="2095500" cy="1047750"/>
            </a:xfrm>
            <a:prstGeom prst="rect">
              <a:avLst/>
            </a:prstGeom>
            <a:solidFill>
              <a:srgbClr val="DCE9F5"/>
            </a:solidFill>
            <a:ln>
              <a:noFill/>
            </a:ln>
          </p:spPr>
        </p:sp>
        <p:sp>
          <p:nvSpPr>
            <p:cNvPr id="9" name="TextBox 9"/>
            <p:cNvSpPr txBox="1"/>
            <p:nvPr/>
          </p:nvSpPr>
          <p:spPr>
            <a:xfrm>
              <a:off x="10218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第一层 · 需求挖掘</a:t>
              </a:r>
            </a:p>
          </p:txBody>
        </p:sp>
        <p:sp>
          <p:nvSpPr>
            <p:cNvPr id="10" name="TextBox 10"/>
            <p:cNvSpPr txBox="1"/>
            <p:nvPr/>
          </p:nvSpPr>
          <p:spPr>
            <a:xfrm>
              <a:off x="1021842" y="2730818"/>
              <a:ext cx="156756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① 场景 ② 战法/机理</a:t>
              </a:r>
            </a:p>
          </p:txBody>
        </p:sp>
        <p:sp>
          <p:nvSpPr>
            <p:cNvPr id="11" name="TextBox 11"/>
            <p:cNvSpPr txBox="1"/>
            <p:nvPr/>
          </p:nvSpPr>
          <p:spPr>
            <a:xfrm>
              <a:off x="1021842" y="2978468"/>
              <a:ext cx="89514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③ 能力特征</a:t>
              </a:r>
            </a:p>
          </p:txBody>
        </p:sp>
        <p:sp>
          <p:nvSpPr>
            <p:cNvPr id="12" name="Rectangle 12"/>
            <p:cNvSpPr/>
            <p:nvPr/>
          </p:nvSpPr>
          <p:spPr>
            <a:xfrm>
              <a:off x="3086100" y="2209800"/>
              <a:ext cx="2324100" cy="1047750"/>
            </a:xfrm>
            <a:prstGeom prst="rect">
              <a:avLst/>
            </a:prstGeom>
            <a:solidFill>
              <a:srgbClr val="E6EEF6"/>
            </a:solidFill>
            <a:ln>
              <a:noFill/>
            </a:ln>
          </p:spPr>
        </p:sp>
        <p:sp>
          <p:nvSpPr>
            <p:cNvPr id="13" name="TextBox 13"/>
            <p:cNvSpPr txBox="1"/>
            <p:nvPr/>
          </p:nvSpPr>
          <p:spPr>
            <a:xfrm>
              <a:off x="32316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第二层 · 技术攻关</a:t>
              </a:r>
            </a:p>
          </p:txBody>
        </p:sp>
        <p:sp>
          <p:nvSpPr>
            <p:cNvPr id="14" name="TextBox 14"/>
            <p:cNvSpPr txBox="1"/>
            <p:nvPr/>
          </p:nvSpPr>
          <p:spPr>
            <a:xfrm>
              <a:off x="3231642" y="27308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④ 实现途径 ⑤ 核心技术</a:t>
              </a:r>
            </a:p>
          </p:txBody>
        </p:sp>
        <p:sp>
          <p:nvSpPr>
            <p:cNvPr id="15" name="TextBox 15"/>
            <p:cNvSpPr txBox="1"/>
            <p:nvPr/>
          </p:nvSpPr>
          <p:spPr>
            <a:xfrm>
              <a:off x="3231642" y="2978468"/>
              <a:ext cx="89514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⑥ 耦合短板</a:t>
              </a:r>
            </a:p>
          </p:txBody>
        </p:sp>
        <p:sp>
          <p:nvSpPr>
            <p:cNvPr id="16" name="Rectangle 16"/>
            <p:cNvSpPr/>
            <p:nvPr/>
          </p:nvSpPr>
          <p:spPr>
            <a:xfrm>
              <a:off x="5524500" y="2209800"/>
              <a:ext cx="2362200" cy="1047750"/>
            </a:xfrm>
            <a:prstGeom prst="rect">
              <a:avLst/>
            </a:prstGeom>
            <a:solidFill>
              <a:srgbClr val="DDEDE7"/>
            </a:solidFill>
            <a:ln>
              <a:noFill/>
            </a:ln>
          </p:spPr>
        </p:sp>
        <p:sp>
          <p:nvSpPr>
            <p:cNvPr id="17" name="TextBox 17"/>
            <p:cNvSpPr txBox="1"/>
            <p:nvPr/>
          </p:nvSpPr>
          <p:spPr>
            <a:xfrm>
              <a:off x="5670042" y="2387918"/>
              <a:ext cx="1568930"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第三层 · 装备决策</a:t>
              </a:r>
            </a:p>
          </p:txBody>
        </p:sp>
        <p:sp>
          <p:nvSpPr>
            <p:cNvPr id="18" name="TextBox 18"/>
            <p:cNvSpPr txBox="1"/>
            <p:nvPr/>
          </p:nvSpPr>
          <p:spPr>
            <a:xfrm>
              <a:off x="5670042" y="27308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⑦ 装备映射 ⑧ 演示验证</a:t>
              </a:r>
            </a:p>
          </p:txBody>
        </p:sp>
        <p:sp>
          <p:nvSpPr>
            <p:cNvPr id="19" name="TextBox 19"/>
            <p:cNvSpPr txBox="1"/>
            <p:nvPr/>
          </p:nvSpPr>
          <p:spPr>
            <a:xfrm>
              <a:off x="5670042" y="2978468"/>
              <a:ext cx="107687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⑨ 优先级抓手</a:t>
              </a:r>
            </a:p>
          </p:txBody>
        </p:sp>
        <p:sp>
          <p:nvSpPr>
            <p:cNvPr id="20" name="Line 20"/>
            <p:cNvSpPr/>
            <p:nvPr/>
          </p:nvSpPr>
          <p:spPr>
            <a:xfrm>
              <a:off x="876300" y="3619500"/>
              <a:ext cx="7010400" cy="9525"/>
            </a:xfrm>
            <a:custGeom>
              <a:avLst/>
              <a:gdLst/>
              <a:ahLst/>
              <a:cxnLst/>
              <a:rect l="l" t="t" r="r" b="b"/>
              <a:pathLst>
                <a:path w="7010400" h="9525">
                  <a:moveTo>
                    <a:pt x="0" y="0"/>
                  </a:moveTo>
                  <a:lnTo>
                    <a:pt x="7010400" y="0"/>
                  </a:lnTo>
                </a:path>
              </a:pathLst>
            </a:custGeom>
            <a:noFill/>
            <a:ln w="19050">
              <a:solidFill>
                <a:srgbClr val="C9D5E0"/>
              </a:solidFill>
            </a:ln>
          </p:spPr>
        </p:sp>
        <p:sp>
          <p:nvSpPr>
            <p:cNvPr id="21" name="TextBox 21"/>
            <p:cNvSpPr txBox="1"/>
            <p:nvPr/>
          </p:nvSpPr>
          <p:spPr>
            <a:xfrm>
              <a:off x="867156" y="382524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关键运行验收</a:t>
              </a:r>
            </a:p>
          </p:txBody>
        </p:sp>
        <p:sp>
          <p:nvSpPr>
            <p:cNvPr id="22" name="TextBox 22"/>
            <p:cNvSpPr txBox="1"/>
            <p:nvPr/>
          </p:nvSpPr>
          <p:spPr>
            <a:xfrm>
              <a:off x="869442" y="4292918"/>
              <a:ext cx="115625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A–H 路由检查</a:t>
              </a:r>
            </a:p>
          </p:txBody>
        </p:sp>
        <p:sp>
          <p:nvSpPr>
            <p:cNvPr id="23" name="TextBox 23"/>
            <p:cNvSpPr txBox="1"/>
            <p:nvPr/>
          </p:nvSpPr>
          <p:spPr>
            <a:xfrm>
              <a:off x="3003042" y="429291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六步推理检查</a:t>
              </a:r>
            </a:p>
          </p:txBody>
        </p:sp>
        <p:sp>
          <p:nvSpPr>
            <p:cNvPr id="24" name="TextBox 24"/>
            <p:cNvSpPr txBox="1"/>
            <p:nvPr/>
          </p:nvSpPr>
          <p:spPr>
            <a:xfrm>
              <a:off x="5136642" y="42929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九字段能力画像</a:t>
              </a:r>
            </a:p>
          </p:txBody>
        </p:sp>
        <p:sp>
          <p:nvSpPr>
            <p:cNvPr id="25" name="TextBox 25"/>
            <p:cNvSpPr txBox="1"/>
            <p:nvPr/>
          </p:nvSpPr>
          <p:spPr>
            <a:xfrm>
              <a:off x="869442" y="473106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证据引用与绑定</a:t>
              </a:r>
            </a:p>
          </p:txBody>
        </p:sp>
        <p:sp>
          <p:nvSpPr>
            <p:cNvPr id="26" name="TextBox 26"/>
            <p:cNvSpPr txBox="1"/>
            <p:nvPr/>
          </p:nvSpPr>
          <p:spPr>
            <a:xfrm>
              <a:off x="3003042" y="473106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审计与恢复</a:t>
              </a:r>
            </a:p>
          </p:txBody>
        </p:sp>
        <p:sp>
          <p:nvSpPr>
            <p:cNvPr id="27" name="TextBox 27"/>
            <p:cNvSpPr txBox="1"/>
            <p:nvPr/>
          </p:nvSpPr>
          <p:spPr>
            <a:xfrm>
              <a:off x="5136642" y="473106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并发与任务编排</a:t>
              </a:r>
            </a:p>
          </p:txBody>
        </p:sp>
        <p:sp>
          <p:nvSpPr>
            <p:cNvPr id="28" name="Rectangle 28"/>
            <p:cNvSpPr/>
            <p:nvPr/>
          </p:nvSpPr>
          <p:spPr>
            <a:xfrm>
              <a:off x="876300" y="5257800"/>
              <a:ext cx="7010400" cy="514350"/>
            </a:xfrm>
            <a:prstGeom prst="rect">
              <a:avLst/>
            </a:prstGeom>
            <a:solidFill>
              <a:schemeClr val="accent3"/>
            </a:solidFill>
            <a:ln>
              <a:noFill/>
            </a:ln>
          </p:spPr>
        </p:sp>
        <p:sp>
          <p:nvSpPr>
            <p:cNvPr id="29" name="TextBox 29"/>
            <p:cNvSpPr txBox="1"/>
            <p:nvPr/>
          </p:nvSpPr>
          <p:spPr>
            <a:xfrm>
              <a:off x="3163805" y="5396865"/>
              <a:ext cx="2435390"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主要验收项均为 true</a:t>
              </a:r>
            </a:p>
          </p:txBody>
        </p:sp>
      </p:grpSp>
      <p:grpSp>
        <p:nvGrpSpPr>
          <p:cNvPr id="40" name="Group 40"/>
          <p:cNvGrpSpPr/>
          <p:nvPr/>
        </p:nvGrpSpPr>
        <p:grpSpPr>
          <a:xfrm>
            <a:off x="8420100" y="1543050"/>
            <a:ext cx="3162300" cy="4476750"/>
            <a:chOff x="8420100" y="1543050"/>
            <a:chExt cx="3162300" cy="4476750"/>
          </a:xfrm>
        </p:grpSpPr>
        <p:sp>
          <p:nvSpPr>
            <p:cNvPr id="31" name="Rectangle 31"/>
            <p:cNvSpPr/>
            <p:nvPr/>
          </p:nvSpPr>
          <p:spPr>
            <a:xfrm>
              <a:off x="8420100" y="1543050"/>
              <a:ext cx="3162300" cy="4476750"/>
            </a:xfrm>
            <a:prstGeom prst="rect">
              <a:avLst/>
            </a:prstGeom>
            <a:solidFill>
              <a:schemeClr val="accent1"/>
            </a:solidFill>
            <a:ln>
              <a:noFill/>
            </a:ln>
          </p:spPr>
        </p:sp>
        <p:sp>
          <p:nvSpPr>
            <p:cNvPr id="32" name="TextBox 32"/>
            <p:cNvSpPr txBox="1"/>
            <p:nvPr/>
          </p:nvSpPr>
          <p:spPr>
            <a:xfrm>
              <a:off x="8674608" y="1741170"/>
              <a:ext cx="1381354"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工程状态</a:t>
              </a:r>
            </a:p>
          </p:txBody>
        </p:sp>
        <p:sp>
          <p:nvSpPr>
            <p:cNvPr id="33" name="TextBox 33"/>
            <p:cNvSpPr txBox="1"/>
            <p:nvPr/>
          </p:nvSpPr>
          <p:spPr>
            <a:xfrm>
              <a:off x="8667750" y="2189798"/>
              <a:ext cx="1664543"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TRUE</a:t>
              </a:r>
            </a:p>
          </p:txBody>
        </p:sp>
        <p:sp>
          <p:nvSpPr>
            <p:cNvPr id="34" name="TextBox 34"/>
            <p:cNvSpPr txBox="1"/>
            <p:nvPr/>
          </p:nvSpPr>
          <p:spPr>
            <a:xfrm>
              <a:off x="8677656" y="2948940"/>
              <a:ext cx="2126437"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mn-lt"/>
                  <a:ea typeface="+mn-ea"/>
                  <a:cs typeface="+mn-cs"/>
                </a:rPr>
                <a:t>runtime_complete</a:t>
              </a:r>
            </a:p>
          </p:txBody>
        </p:sp>
        <p:sp>
          <p:nvSpPr>
            <p:cNvPr id="35" name="TextBox 35"/>
            <p:cNvSpPr txBox="1"/>
            <p:nvPr/>
          </p:nvSpPr>
          <p:spPr>
            <a:xfrm>
              <a:off x="8667750" y="3180398"/>
              <a:ext cx="1664543"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TRUE</a:t>
              </a:r>
            </a:p>
          </p:txBody>
        </p:sp>
        <p:sp>
          <p:nvSpPr>
            <p:cNvPr id="36" name="TextBox 36"/>
            <p:cNvSpPr txBox="1"/>
            <p:nvPr/>
          </p:nvSpPr>
          <p:spPr>
            <a:xfrm>
              <a:off x="8677656" y="3939540"/>
              <a:ext cx="1690268" cy="352044"/>
            </a:xfrm>
            <a:prstGeom prst="rect">
              <a:avLst/>
            </a:prstGeom>
            <a:noFill/>
            <a:ln>
              <a:noFill/>
            </a:ln>
          </p:spPr>
          <p:txBody>
            <a:bodyPr wrap="none" lIns="0" tIns="0" rIns="0" bIns="0" anchor="t" anchorCtr="0">
              <a:spAutoFit/>
            </a:bodyPr>
            <a:lstStyle/>
            <a:p>
              <a:pPr algn="l"/>
              <a:r>
                <a:rPr lang="en-US" sz="1800" dirty="0">
                  <a:solidFill>
                    <a:srgbClr val="FFFFFF"/>
                  </a:solidFill>
                  <a:latin typeface="+mn-lt"/>
                  <a:ea typeface="+mn-ea"/>
                  <a:cs typeface="+mn-cs"/>
                </a:rPr>
                <a:t>release_ready</a:t>
              </a:r>
            </a:p>
          </p:txBody>
        </p:sp>
        <p:sp>
          <p:nvSpPr>
            <p:cNvPr id="37" name="Line 37"/>
            <p:cNvSpPr/>
            <p:nvPr/>
          </p:nvSpPr>
          <p:spPr>
            <a:xfrm>
              <a:off x="8686800" y="4514850"/>
              <a:ext cx="2628900" cy="9525"/>
            </a:xfrm>
            <a:custGeom>
              <a:avLst/>
              <a:gdLst/>
              <a:ahLst/>
              <a:cxnLst/>
              <a:rect l="l" t="t" r="r" b="b"/>
              <a:pathLst>
                <a:path w="2628900" h="9525">
                  <a:moveTo>
                    <a:pt x="0" y="0"/>
                  </a:moveTo>
                  <a:lnTo>
                    <a:pt x="2628900" y="0"/>
                  </a:lnTo>
                </a:path>
              </a:pathLst>
            </a:custGeom>
            <a:noFill/>
            <a:ln w="19050">
              <a:solidFill>
                <a:srgbClr val="6D89A3"/>
              </a:solidFill>
            </a:ln>
          </p:spPr>
        </p:sp>
        <p:sp>
          <p:nvSpPr>
            <p:cNvPr id="38" name="TextBox 38"/>
            <p:cNvSpPr txBox="1"/>
            <p:nvPr/>
          </p:nvSpPr>
          <p:spPr>
            <a:xfrm>
              <a:off x="8677656" y="475869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审计状态</a:t>
              </a:r>
            </a:p>
          </p:txBody>
        </p:sp>
        <p:sp>
          <p:nvSpPr>
            <p:cNvPr id="39" name="TextBox 39"/>
            <p:cNvSpPr txBox="1"/>
            <p:nvPr/>
          </p:nvSpPr>
          <p:spPr>
            <a:xfrm>
              <a:off x="8675370" y="5186362"/>
              <a:ext cx="1568653"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APPROVED</a:t>
              </a:r>
            </a:p>
          </p:txBody>
        </p:sp>
      </p:grpSp>
      <p:sp>
        <p:nvSpPr>
          <p:cNvPr id="41" name="TextBox 41"/>
          <p:cNvSpPr txBox="1"/>
          <p:nvPr/>
        </p:nvSpPr>
        <p:spPr>
          <a:xfrm>
            <a:off x="602742" y="6293168"/>
            <a:ext cx="5593808"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来源：architecture-acceptance.json；市场需求 query 及模板 V2</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4039305"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项目主链已形成闭环</a:t>
              </a:r>
            </a:p>
          </p:txBody>
        </p:sp>
        <p:sp>
          <p:nvSpPr>
            <p:cNvPr id="3" name="TextBox 3"/>
            <p:cNvSpPr txBox="1"/>
            <p:nvPr/>
          </p:nvSpPr>
          <p:spPr>
            <a:xfrm>
              <a:off x="600456" y="1062990"/>
              <a:ext cx="6279551"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 Query 到能力画像，每一步都有结构化产物与审计状态</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06</a:t>
              </a:r>
            </a:p>
          </p:txBody>
        </p:sp>
      </p:grpSp>
      <p:grpSp>
        <p:nvGrpSpPr>
          <p:cNvPr id="27" name="Group 27"/>
          <p:cNvGrpSpPr/>
          <p:nvPr/>
        </p:nvGrpSpPr>
        <p:grpSpPr>
          <a:xfrm>
            <a:off x="689869" y="2914650"/>
            <a:ext cx="10818160" cy="1528001"/>
            <a:chOff x="689869" y="2914650"/>
            <a:chExt cx="10818160" cy="1528001"/>
          </a:xfrm>
        </p:grpSpPr>
        <p:sp>
          <p:nvSpPr>
            <p:cNvPr id="6" name="Line 6"/>
            <p:cNvSpPr/>
            <p:nvPr/>
          </p:nvSpPr>
          <p:spPr>
            <a:xfrm>
              <a:off x="1257300" y="3238500"/>
              <a:ext cx="9677400" cy="9525"/>
            </a:xfrm>
            <a:custGeom>
              <a:avLst/>
              <a:gdLst/>
              <a:ahLst/>
              <a:cxnLst/>
              <a:rect l="l" t="t" r="r" b="b"/>
              <a:pathLst>
                <a:path w="9677400" h="9525">
                  <a:moveTo>
                    <a:pt x="0" y="0"/>
                  </a:moveTo>
                  <a:lnTo>
                    <a:pt x="9677400" y="0"/>
                  </a:lnTo>
                </a:path>
              </a:pathLst>
            </a:custGeom>
            <a:noFill/>
            <a:ln w="38100">
              <a:solidFill>
                <a:srgbClr val="B7C7D6"/>
              </a:solidFill>
            </a:ln>
          </p:spPr>
        </p:sp>
        <p:sp>
          <p:nvSpPr>
            <p:cNvPr id="7" name="Ellipse 7"/>
            <p:cNvSpPr/>
            <p:nvPr/>
          </p:nvSpPr>
          <p:spPr>
            <a:xfrm>
              <a:off x="933450" y="2914650"/>
              <a:ext cx="647700" cy="647700"/>
            </a:xfrm>
            <a:prstGeom prst="ellipse">
              <a:avLst/>
            </a:prstGeom>
            <a:solidFill>
              <a:schemeClr val="accent1"/>
            </a:solidFill>
            <a:ln>
              <a:noFill/>
            </a:ln>
          </p:spPr>
        </p:sp>
        <p:sp>
          <p:nvSpPr>
            <p:cNvPr id="8" name="Ellipse 8"/>
            <p:cNvSpPr/>
            <p:nvPr/>
          </p:nvSpPr>
          <p:spPr>
            <a:xfrm>
              <a:off x="3352800" y="2914650"/>
              <a:ext cx="647700" cy="647700"/>
            </a:xfrm>
            <a:prstGeom prst="ellipse">
              <a:avLst/>
            </a:prstGeom>
            <a:solidFill>
              <a:schemeClr val="accent2"/>
            </a:solidFill>
            <a:ln>
              <a:noFill/>
            </a:ln>
          </p:spPr>
        </p:sp>
        <p:sp>
          <p:nvSpPr>
            <p:cNvPr id="9" name="Ellipse 9"/>
            <p:cNvSpPr/>
            <p:nvPr/>
          </p:nvSpPr>
          <p:spPr>
            <a:xfrm>
              <a:off x="5772150" y="2914650"/>
              <a:ext cx="647700" cy="647700"/>
            </a:xfrm>
            <a:prstGeom prst="ellipse">
              <a:avLst/>
            </a:prstGeom>
            <a:solidFill>
              <a:schemeClr val="accent2"/>
            </a:solidFill>
            <a:ln>
              <a:noFill/>
            </a:ln>
          </p:spPr>
        </p:sp>
        <p:sp>
          <p:nvSpPr>
            <p:cNvPr id="10" name="Ellipse 10"/>
            <p:cNvSpPr/>
            <p:nvPr/>
          </p:nvSpPr>
          <p:spPr>
            <a:xfrm>
              <a:off x="8191500" y="2914650"/>
              <a:ext cx="647700" cy="647700"/>
            </a:xfrm>
            <a:prstGeom prst="ellipse">
              <a:avLst/>
            </a:prstGeom>
            <a:solidFill>
              <a:schemeClr val="accent3"/>
            </a:solidFill>
            <a:ln>
              <a:noFill/>
            </a:ln>
          </p:spPr>
        </p:sp>
        <p:sp>
          <p:nvSpPr>
            <p:cNvPr id="11" name="Ellipse 11"/>
            <p:cNvSpPr/>
            <p:nvPr/>
          </p:nvSpPr>
          <p:spPr>
            <a:xfrm>
              <a:off x="10610850" y="2914650"/>
              <a:ext cx="647700" cy="647700"/>
            </a:xfrm>
            <a:prstGeom prst="ellipse">
              <a:avLst/>
            </a:prstGeom>
            <a:solidFill>
              <a:schemeClr val="accent1"/>
            </a:solidFill>
            <a:ln>
              <a:noFill/>
            </a:ln>
          </p:spPr>
        </p:sp>
        <p:sp>
          <p:nvSpPr>
            <p:cNvPr id="12" name="TextBox 12"/>
            <p:cNvSpPr txBox="1"/>
            <p:nvPr/>
          </p:nvSpPr>
          <p:spPr>
            <a:xfrm>
              <a:off x="11584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1</a:t>
              </a:r>
            </a:p>
          </p:txBody>
        </p:sp>
        <p:sp>
          <p:nvSpPr>
            <p:cNvPr id="13" name="TextBox 13"/>
            <p:cNvSpPr txBox="1"/>
            <p:nvPr/>
          </p:nvSpPr>
          <p:spPr>
            <a:xfrm>
              <a:off x="357775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2</a:t>
              </a:r>
            </a:p>
          </p:txBody>
        </p:sp>
        <p:sp>
          <p:nvSpPr>
            <p:cNvPr id="14" name="TextBox 14"/>
            <p:cNvSpPr txBox="1"/>
            <p:nvPr/>
          </p:nvSpPr>
          <p:spPr>
            <a:xfrm>
              <a:off x="59971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3</a:t>
              </a:r>
            </a:p>
          </p:txBody>
        </p:sp>
        <p:sp>
          <p:nvSpPr>
            <p:cNvPr id="15" name="TextBox 15"/>
            <p:cNvSpPr txBox="1"/>
            <p:nvPr/>
          </p:nvSpPr>
          <p:spPr>
            <a:xfrm>
              <a:off x="841645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4</a:t>
              </a:r>
            </a:p>
          </p:txBody>
        </p:sp>
        <p:sp>
          <p:nvSpPr>
            <p:cNvPr id="16" name="TextBox 16"/>
            <p:cNvSpPr txBox="1"/>
            <p:nvPr/>
          </p:nvSpPr>
          <p:spPr>
            <a:xfrm>
              <a:off x="10835809" y="3090862"/>
              <a:ext cx="197782" cy="440055"/>
            </a:xfrm>
            <a:prstGeom prst="rect">
              <a:avLst/>
            </a:prstGeom>
            <a:noFill/>
            <a:ln>
              <a:noFill/>
            </a:ln>
          </p:spPr>
          <p:txBody>
            <a:bodyPr wrap="none" lIns="0" tIns="0" rIns="0" bIns="0" anchor="t" anchorCtr="0">
              <a:spAutoFit/>
            </a:bodyPr>
            <a:lstStyle/>
            <a:p>
              <a:pPr algn="ctr"/>
              <a:r>
                <a:rPr lang="en-US" sz="2250" b="1" dirty="0">
                  <a:solidFill>
                    <a:srgbClr val="FFFFFF"/>
                  </a:solidFill>
                  <a:latin typeface="+mn-lt"/>
                  <a:ea typeface="+mn-ea"/>
                  <a:cs typeface="+mn-cs"/>
                </a:rPr>
                <a:t>5</a:t>
              </a:r>
            </a:p>
          </p:txBody>
        </p:sp>
        <p:sp>
          <p:nvSpPr>
            <p:cNvPr id="17" name="TextBox 17"/>
            <p:cNvSpPr txBox="1"/>
            <p:nvPr/>
          </p:nvSpPr>
          <p:spPr>
            <a:xfrm>
              <a:off x="9937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输入</a:t>
              </a:r>
            </a:p>
          </p:txBody>
        </p:sp>
        <p:sp>
          <p:nvSpPr>
            <p:cNvPr id="18" name="TextBox 18"/>
            <p:cNvSpPr txBox="1"/>
            <p:nvPr/>
          </p:nvSpPr>
          <p:spPr>
            <a:xfrm>
              <a:off x="689869" y="4178618"/>
              <a:ext cx="1134862"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Query / 模板</a:t>
              </a:r>
            </a:p>
          </p:txBody>
        </p:sp>
        <p:sp>
          <p:nvSpPr>
            <p:cNvPr id="19" name="TextBox 19"/>
            <p:cNvSpPr txBox="1"/>
            <p:nvPr/>
          </p:nvSpPr>
          <p:spPr>
            <a:xfrm>
              <a:off x="341307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研究</a:t>
              </a:r>
            </a:p>
          </p:txBody>
        </p:sp>
        <p:sp>
          <p:nvSpPr>
            <p:cNvPr id="20" name="TextBox 20"/>
            <p:cNvSpPr txBox="1"/>
            <p:nvPr/>
          </p:nvSpPr>
          <p:spPr>
            <a:xfrm>
              <a:off x="2988107" y="4178618"/>
              <a:ext cx="1377086"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A–H 路由 · 多源</a:t>
              </a:r>
            </a:p>
          </p:txBody>
        </p:sp>
        <p:sp>
          <p:nvSpPr>
            <p:cNvPr id="21" name="TextBox 21"/>
            <p:cNvSpPr txBox="1"/>
            <p:nvPr/>
          </p:nvSpPr>
          <p:spPr>
            <a:xfrm>
              <a:off x="58324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推理</a:t>
              </a:r>
            </a:p>
          </p:txBody>
        </p:sp>
        <p:sp>
          <p:nvSpPr>
            <p:cNvPr id="22" name="TextBox 22"/>
            <p:cNvSpPr txBox="1"/>
            <p:nvPr/>
          </p:nvSpPr>
          <p:spPr>
            <a:xfrm>
              <a:off x="5412257" y="4178618"/>
              <a:ext cx="1367485"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S1–S6 制胜机理</a:t>
              </a:r>
            </a:p>
          </p:txBody>
        </p:sp>
        <p:sp>
          <p:nvSpPr>
            <p:cNvPr id="23" name="TextBox 23"/>
            <p:cNvSpPr txBox="1"/>
            <p:nvPr/>
          </p:nvSpPr>
          <p:spPr>
            <a:xfrm>
              <a:off x="825177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交付</a:t>
              </a:r>
            </a:p>
          </p:txBody>
        </p:sp>
        <p:sp>
          <p:nvSpPr>
            <p:cNvPr id="24" name="TextBox 24"/>
            <p:cNvSpPr txBox="1"/>
            <p:nvPr/>
          </p:nvSpPr>
          <p:spPr>
            <a:xfrm>
              <a:off x="7677045" y="4178618"/>
              <a:ext cx="1676610"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三层九项 · 能力画像</a:t>
              </a:r>
            </a:p>
          </p:txBody>
        </p:sp>
        <p:sp>
          <p:nvSpPr>
            <p:cNvPr id="25" name="TextBox 25"/>
            <p:cNvSpPr txBox="1"/>
            <p:nvPr/>
          </p:nvSpPr>
          <p:spPr>
            <a:xfrm>
              <a:off x="10671124" y="3806190"/>
              <a:ext cx="527152"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审计</a:t>
              </a:r>
            </a:p>
          </p:txBody>
        </p:sp>
        <p:sp>
          <p:nvSpPr>
            <p:cNvPr id="26" name="TextBox 26"/>
            <p:cNvSpPr txBox="1"/>
            <p:nvPr/>
          </p:nvSpPr>
          <p:spPr>
            <a:xfrm>
              <a:off x="10361371" y="4178618"/>
              <a:ext cx="114665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L1–L4 · 恢复</a:t>
              </a:r>
            </a:p>
          </p:txBody>
        </p:sp>
      </p:grpSp>
      <p:grpSp>
        <p:nvGrpSpPr>
          <p:cNvPr id="31" name="Group 31"/>
          <p:cNvGrpSpPr/>
          <p:nvPr/>
        </p:nvGrpSpPr>
        <p:grpSpPr>
          <a:xfrm>
            <a:off x="2918738" y="2045018"/>
            <a:ext cx="6515824" cy="264033"/>
            <a:chOff x="2918738" y="2045018"/>
            <a:chExt cx="6515824" cy="264033"/>
          </a:xfrm>
        </p:grpSpPr>
        <p:sp>
          <p:nvSpPr>
            <p:cNvPr id="28" name="TextBox 28"/>
            <p:cNvSpPr txBox="1"/>
            <p:nvPr/>
          </p:nvSpPr>
          <p:spPr>
            <a:xfrm>
              <a:off x="2918738" y="2045018"/>
              <a:ext cx="1515824"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RESEARCH LANES</a:t>
              </a:r>
            </a:p>
          </p:txBody>
        </p:sp>
        <p:sp>
          <p:nvSpPr>
            <p:cNvPr id="29" name="TextBox 29"/>
            <p:cNvSpPr txBox="1"/>
            <p:nvPr/>
          </p:nvSpPr>
          <p:spPr>
            <a:xfrm>
              <a:off x="5574998" y="2045018"/>
              <a:ext cx="1042005" cy="264033"/>
            </a:xfrm>
            <a:prstGeom prst="rect">
              <a:avLst/>
            </a:prstGeom>
            <a:noFill/>
            <a:ln>
              <a:noFill/>
            </a:ln>
          </p:spPr>
          <p:txBody>
            <a:bodyPr wrap="none" lIns="0" tIns="0" rIns="0" bIns="0" anchor="t" anchorCtr="0">
              <a:spAutoFit/>
            </a:bodyPr>
            <a:lstStyle/>
            <a:p>
              <a:pPr algn="ctr"/>
              <a:r>
                <a:rPr lang="en-US" sz="1350" b="1" dirty="0">
                  <a:solidFill>
                    <a:schemeClr val="accent2"/>
                  </a:solidFill>
                  <a:latin typeface="+mn-lt"/>
                  <a:ea typeface="+mn-ea"/>
                  <a:cs typeface="+mn-cs"/>
                </a:rPr>
                <a:t>MECHANISM</a:t>
              </a:r>
            </a:p>
          </p:txBody>
        </p:sp>
        <p:sp>
          <p:nvSpPr>
            <p:cNvPr id="30" name="TextBox 30"/>
            <p:cNvSpPr txBox="1"/>
            <p:nvPr/>
          </p:nvSpPr>
          <p:spPr>
            <a:xfrm>
              <a:off x="7596138" y="2045018"/>
              <a:ext cx="1838424" cy="264033"/>
            </a:xfrm>
            <a:prstGeom prst="rect">
              <a:avLst/>
            </a:prstGeom>
            <a:noFill/>
            <a:ln>
              <a:noFill/>
            </a:ln>
          </p:spPr>
          <p:txBody>
            <a:bodyPr wrap="none" lIns="0" tIns="0" rIns="0" bIns="0" anchor="t" anchorCtr="0">
              <a:spAutoFit/>
            </a:bodyPr>
            <a:lstStyle/>
            <a:p>
              <a:pPr algn="ctr"/>
              <a:r>
                <a:rPr lang="en-US" sz="1350" b="1" dirty="0">
                  <a:solidFill>
                    <a:schemeClr val="accent3"/>
                  </a:solidFill>
                  <a:latin typeface="+mn-lt"/>
                  <a:ea typeface="+mn-ea"/>
                  <a:cs typeface="+mn-cs"/>
                </a:rPr>
                <a:t>DELIVERY CONTRACT</a:t>
              </a:r>
            </a:p>
          </p:txBody>
        </p:sp>
      </p:grpSp>
      <p:grpSp>
        <p:nvGrpSpPr>
          <p:cNvPr id="34" name="Group 34"/>
          <p:cNvGrpSpPr/>
          <p:nvPr/>
        </p:nvGrpSpPr>
        <p:grpSpPr>
          <a:xfrm>
            <a:off x="602742" y="6057900"/>
            <a:ext cx="10979658" cy="480251"/>
            <a:chOff x="602742" y="6057900"/>
            <a:chExt cx="10979658" cy="480251"/>
          </a:xfrm>
        </p:grpSpPr>
        <p:sp>
          <p:nvSpPr>
            <p:cNvPr id="32" name="Line 32"/>
            <p:cNvSpPr/>
            <p:nvPr/>
          </p:nvSpPr>
          <p:spPr>
            <a:xfrm>
              <a:off x="609600" y="6057900"/>
              <a:ext cx="10972800" cy="9525"/>
            </a:xfrm>
            <a:custGeom>
              <a:avLst/>
              <a:gdLst/>
              <a:ahLst/>
              <a:cxnLst/>
              <a:rect l="l" t="t" r="r" b="b"/>
              <a:pathLst>
                <a:path w="10972800" h="9525">
                  <a:moveTo>
                    <a:pt x="0" y="0"/>
                  </a:moveTo>
                  <a:lnTo>
                    <a:pt x="10972800" y="0"/>
                  </a:lnTo>
                </a:path>
              </a:pathLst>
            </a:custGeom>
            <a:noFill/>
            <a:ln w="19050">
              <a:solidFill>
                <a:srgbClr val="D8E1EA"/>
              </a:solidFill>
            </a:ln>
          </p:spPr>
        </p:sp>
        <p:sp>
          <p:nvSpPr>
            <p:cNvPr id="33" name="TextBox 33"/>
            <p:cNvSpPr txBox="1"/>
            <p:nvPr/>
          </p:nvSpPr>
          <p:spPr>
            <a:xfrm>
              <a:off x="602742" y="6274118"/>
              <a:ext cx="3484893"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形成“可追溯、可复核、可恢复”的研究闭环</a:t>
              </a:r>
            </a:p>
          </p:txBody>
        </p:sp>
      </p:gr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760135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三层九项把发散研究约束为可验收产物</a:t>
              </a:r>
            </a:p>
          </p:txBody>
        </p:sp>
        <p:sp>
          <p:nvSpPr>
            <p:cNvPr id="3" name="TextBox 3"/>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07</a:t>
              </a:r>
            </a:p>
          </p:txBody>
        </p:sp>
        <p:sp>
          <p:nvSpPr>
            <p:cNvPr id="4" name="TextBox 4"/>
            <p:cNvSpPr txBox="1"/>
            <p:nvPr/>
          </p:nvSpPr>
          <p:spPr>
            <a:xfrm>
              <a:off x="600456" y="1062990"/>
              <a:ext cx="534924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研究路径可以发散，交付结构与验证口径保持稳定</a:t>
              </a:r>
            </a:p>
          </p:txBody>
        </p:sp>
      </p:grpSp>
      <p:grpSp>
        <p:nvGrpSpPr>
          <p:cNvPr id="9" name="Group 9"/>
          <p:cNvGrpSpPr/>
          <p:nvPr/>
        </p:nvGrpSpPr>
        <p:grpSpPr>
          <a:xfrm>
            <a:off x="933450" y="1828800"/>
            <a:ext cx="6477000" cy="1257300"/>
            <a:chOff x="933450" y="1828800"/>
            <a:chExt cx="6477000" cy="1257300"/>
          </a:xfrm>
        </p:grpSpPr>
        <p:sp>
          <p:nvSpPr>
            <p:cNvPr id="6" name="Polygon 6"/>
            <p:cNvSpPr/>
            <p:nvPr/>
          </p:nvSpPr>
          <p:spPr>
            <a:xfrm>
              <a:off x="933450" y="1828800"/>
              <a:ext cx="6477000" cy="1257300"/>
            </a:xfrm>
            <a:custGeom>
              <a:avLst/>
              <a:gdLst/>
              <a:ahLst/>
              <a:cxnLst/>
              <a:rect l="l" t="t" r="r" b="b"/>
              <a:pathLst>
                <a:path w="6477000" h="1257300">
                  <a:moveTo>
                    <a:pt x="0" y="1257300"/>
                  </a:moveTo>
                  <a:lnTo>
                    <a:pt x="6477000" y="1257300"/>
                  </a:lnTo>
                  <a:lnTo>
                    <a:pt x="5619750" y="0"/>
                  </a:lnTo>
                  <a:lnTo>
                    <a:pt x="857250" y="0"/>
                  </a:lnTo>
                  <a:close/>
                </a:path>
              </a:pathLst>
            </a:custGeom>
            <a:solidFill>
              <a:schemeClr val="accent3"/>
            </a:solidFill>
            <a:ln>
              <a:noFill/>
            </a:ln>
          </p:spPr>
        </p:sp>
        <p:sp>
          <p:nvSpPr>
            <p:cNvPr id="7" name="TextBox 7"/>
            <p:cNvSpPr txBox="1"/>
            <p:nvPr/>
          </p:nvSpPr>
          <p:spPr>
            <a:xfrm>
              <a:off x="3125996" y="205359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第三层 · 装备决策</a:t>
              </a:r>
            </a:p>
          </p:txBody>
        </p:sp>
        <p:sp>
          <p:nvSpPr>
            <p:cNvPr id="8" name="TextBox 8"/>
            <p:cNvSpPr txBox="1"/>
            <p:nvPr/>
          </p:nvSpPr>
          <p:spPr>
            <a:xfrm>
              <a:off x="2570350" y="2540318"/>
              <a:ext cx="3203200"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⑦ 装备映射　⑧ 演示验证　⑨ 优先级抓手</a:t>
              </a:r>
            </a:p>
          </p:txBody>
        </p:sp>
      </p:grpSp>
      <p:grpSp>
        <p:nvGrpSpPr>
          <p:cNvPr id="13" name="Group 13"/>
          <p:cNvGrpSpPr/>
          <p:nvPr/>
        </p:nvGrpSpPr>
        <p:grpSpPr>
          <a:xfrm>
            <a:off x="933450" y="3200400"/>
            <a:ext cx="6477000" cy="1143000"/>
            <a:chOff x="933450" y="3200400"/>
            <a:chExt cx="6477000" cy="1143000"/>
          </a:xfrm>
        </p:grpSpPr>
        <p:sp>
          <p:nvSpPr>
            <p:cNvPr id="10" name="Polygon 10"/>
            <p:cNvSpPr/>
            <p:nvPr/>
          </p:nvSpPr>
          <p:spPr>
            <a:xfrm>
              <a:off x="933450" y="3200400"/>
              <a:ext cx="6477000" cy="1143000"/>
            </a:xfrm>
            <a:custGeom>
              <a:avLst/>
              <a:gdLst/>
              <a:ahLst/>
              <a:cxnLst/>
              <a:rect l="l" t="t" r="r" b="b"/>
              <a:pathLst>
                <a:path w="6477000" h="1143000">
                  <a:moveTo>
                    <a:pt x="285750" y="1143000"/>
                  </a:moveTo>
                  <a:lnTo>
                    <a:pt x="6191250" y="1143000"/>
                  </a:lnTo>
                  <a:lnTo>
                    <a:pt x="6477000" y="0"/>
                  </a:lnTo>
                  <a:lnTo>
                    <a:pt x="0" y="0"/>
                  </a:lnTo>
                  <a:close/>
                </a:path>
              </a:pathLst>
            </a:custGeom>
            <a:solidFill>
              <a:schemeClr val="accent2"/>
            </a:solidFill>
            <a:ln>
              <a:noFill/>
            </a:ln>
          </p:spPr>
        </p:sp>
        <p:sp>
          <p:nvSpPr>
            <p:cNvPr id="11" name="TextBox 11"/>
            <p:cNvSpPr txBox="1"/>
            <p:nvPr/>
          </p:nvSpPr>
          <p:spPr>
            <a:xfrm>
              <a:off x="3125996" y="340614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第二层 · 技术攻关</a:t>
              </a:r>
            </a:p>
          </p:txBody>
        </p:sp>
        <p:sp>
          <p:nvSpPr>
            <p:cNvPr id="12" name="TextBox 12"/>
            <p:cNvSpPr txBox="1"/>
            <p:nvPr/>
          </p:nvSpPr>
          <p:spPr>
            <a:xfrm>
              <a:off x="2661218" y="3892868"/>
              <a:ext cx="3021463"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④ 实现途径　⑤ 核心技术　⑥ 耦合短板</a:t>
              </a:r>
            </a:p>
          </p:txBody>
        </p:sp>
      </p:grpSp>
      <p:grpSp>
        <p:nvGrpSpPr>
          <p:cNvPr id="17" name="Group 17"/>
          <p:cNvGrpSpPr/>
          <p:nvPr/>
        </p:nvGrpSpPr>
        <p:grpSpPr>
          <a:xfrm>
            <a:off x="1219200" y="4457700"/>
            <a:ext cx="5905500" cy="1143000"/>
            <a:chOff x="1219200" y="4457700"/>
            <a:chExt cx="5905500" cy="1143000"/>
          </a:xfrm>
        </p:grpSpPr>
        <p:sp>
          <p:nvSpPr>
            <p:cNvPr id="14" name="Polygon 14"/>
            <p:cNvSpPr/>
            <p:nvPr/>
          </p:nvSpPr>
          <p:spPr>
            <a:xfrm>
              <a:off x="1219200" y="4457700"/>
              <a:ext cx="5905500" cy="1143000"/>
            </a:xfrm>
            <a:custGeom>
              <a:avLst/>
              <a:gdLst/>
              <a:ahLst/>
              <a:cxnLst/>
              <a:rect l="l" t="t" r="r" b="b"/>
              <a:pathLst>
                <a:path w="5905500" h="1143000">
                  <a:moveTo>
                    <a:pt x="285750" y="1143000"/>
                  </a:moveTo>
                  <a:lnTo>
                    <a:pt x="5619750" y="1143000"/>
                  </a:lnTo>
                  <a:lnTo>
                    <a:pt x="5905500" y="0"/>
                  </a:lnTo>
                  <a:lnTo>
                    <a:pt x="0" y="0"/>
                  </a:lnTo>
                  <a:close/>
                </a:path>
              </a:pathLst>
            </a:custGeom>
            <a:solidFill>
              <a:schemeClr val="accent1"/>
            </a:solidFill>
            <a:ln>
              <a:noFill/>
            </a:ln>
          </p:spPr>
        </p:sp>
        <p:sp>
          <p:nvSpPr>
            <p:cNvPr id="15" name="TextBox 15"/>
            <p:cNvSpPr txBox="1"/>
            <p:nvPr/>
          </p:nvSpPr>
          <p:spPr>
            <a:xfrm>
              <a:off x="3125996" y="4663440"/>
              <a:ext cx="2091907"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第一层 · 需求挖掘</a:t>
              </a:r>
            </a:p>
          </p:txBody>
        </p:sp>
        <p:sp>
          <p:nvSpPr>
            <p:cNvPr id="16" name="TextBox 16"/>
            <p:cNvSpPr txBox="1"/>
            <p:nvPr/>
          </p:nvSpPr>
          <p:spPr>
            <a:xfrm>
              <a:off x="2429504" y="5150168"/>
              <a:ext cx="3484893" cy="264033"/>
            </a:xfrm>
            <a:prstGeom prst="rect">
              <a:avLst/>
            </a:prstGeom>
            <a:noFill/>
            <a:ln>
              <a:noFill/>
            </a:ln>
          </p:spPr>
          <p:txBody>
            <a:bodyPr wrap="none" lIns="0" tIns="0" rIns="0" bIns="0" anchor="t" anchorCtr="0">
              <a:spAutoFit/>
            </a:bodyPr>
            <a:lstStyle/>
            <a:p>
              <a:pPr algn="ctr"/>
              <a:r>
                <a:rPr lang="zh-CN" sz="1350" dirty="0">
                  <a:solidFill>
                    <a:srgbClr val="FFFFFF"/>
                  </a:solidFill>
                  <a:latin typeface="+mn-lt"/>
                  <a:ea typeface="+mn-ea"/>
                  <a:cs typeface="+mn-cs"/>
                </a:rPr>
                <a:t>① 典型场景　② 战法/制胜机理　③ 能力特征</a:t>
              </a:r>
            </a:p>
          </p:txBody>
        </p:sp>
      </p:grpSp>
      <p:grpSp>
        <p:nvGrpSpPr>
          <p:cNvPr id="29" name="Group 29"/>
          <p:cNvGrpSpPr/>
          <p:nvPr/>
        </p:nvGrpSpPr>
        <p:grpSpPr>
          <a:xfrm>
            <a:off x="8096250" y="1828800"/>
            <a:ext cx="3486150" cy="3771900"/>
            <a:chOff x="8096250" y="1828800"/>
            <a:chExt cx="3486150" cy="3771900"/>
          </a:xfrm>
        </p:grpSpPr>
        <p:sp>
          <p:nvSpPr>
            <p:cNvPr id="18" name="Rectangle 18"/>
            <p:cNvSpPr/>
            <p:nvPr/>
          </p:nvSpPr>
          <p:spPr>
            <a:xfrm>
              <a:off x="8096250" y="1828800"/>
              <a:ext cx="3486150" cy="3771900"/>
            </a:xfrm>
            <a:prstGeom prst="rect">
              <a:avLst/>
            </a:prstGeom>
            <a:solidFill>
              <a:schemeClr val="accent5"/>
            </a:solidFill>
            <a:ln>
              <a:noFill/>
            </a:ln>
          </p:spPr>
        </p:sp>
        <p:sp>
          <p:nvSpPr>
            <p:cNvPr id="19" name="TextBox 19"/>
            <p:cNvSpPr txBox="1"/>
            <p:nvPr/>
          </p:nvSpPr>
          <p:spPr>
            <a:xfrm>
              <a:off x="8369808" y="2045970"/>
              <a:ext cx="1381354"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固定合同</a:t>
              </a:r>
            </a:p>
          </p:txBody>
        </p:sp>
        <p:sp>
          <p:nvSpPr>
            <p:cNvPr id="20" name="Line 20"/>
            <p:cNvSpPr/>
            <p:nvPr/>
          </p:nvSpPr>
          <p:spPr>
            <a:xfrm>
              <a:off x="8382000" y="2514600"/>
              <a:ext cx="2914650" cy="9525"/>
            </a:xfrm>
            <a:custGeom>
              <a:avLst/>
              <a:gdLst/>
              <a:ahLst/>
              <a:cxnLst/>
              <a:rect l="l" t="t" r="r" b="b"/>
              <a:pathLst>
                <a:path w="2914650" h="9525">
                  <a:moveTo>
                    <a:pt x="0" y="0"/>
                  </a:moveTo>
                  <a:lnTo>
                    <a:pt x="2914650" y="0"/>
                  </a:lnTo>
                </a:path>
              </a:pathLst>
            </a:custGeom>
            <a:noFill/>
            <a:ln w="19050">
              <a:solidFill>
                <a:srgbClr val="C9D5E0"/>
              </a:solidFill>
            </a:ln>
          </p:spPr>
        </p:sp>
        <p:sp>
          <p:nvSpPr>
            <p:cNvPr id="21" name="TextBox 21"/>
            <p:cNvSpPr txBox="1"/>
            <p:nvPr/>
          </p:nvSpPr>
          <p:spPr>
            <a:xfrm>
              <a:off x="8372856" y="28536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每项都有输入</a:t>
              </a:r>
            </a:p>
          </p:txBody>
        </p:sp>
        <p:sp>
          <p:nvSpPr>
            <p:cNvPr id="22" name="TextBox 22"/>
            <p:cNvSpPr txBox="1"/>
            <p:nvPr/>
          </p:nvSpPr>
          <p:spPr>
            <a:xfrm>
              <a:off x="8372856" y="33108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每项都有产物</a:t>
              </a:r>
            </a:p>
          </p:txBody>
        </p:sp>
        <p:sp>
          <p:nvSpPr>
            <p:cNvPr id="23" name="TextBox 23"/>
            <p:cNvSpPr txBox="1"/>
            <p:nvPr/>
          </p:nvSpPr>
          <p:spPr>
            <a:xfrm>
              <a:off x="8372856" y="3768090"/>
              <a:ext cx="1544879" cy="352044"/>
            </a:xfrm>
            <a:prstGeom prst="rect">
              <a:avLst/>
            </a:prstGeom>
            <a:noFill/>
            <a:ln>
              <a:noFill/>
            </a:ln>
          </p:spPr>
          <p:txBody>
            <a:bodyPr wrap="none" lIns="0" tIns="0" rIns="0" bIns="0" anchor="t" anchorCtr="0">
              <a:spAutoFit/>
            </a:bodyPr>
            <a:lstStyle/>
            <a:p>
              <a:pPr algn="l"/>
              <a:r>
                <a:rPr lang="zh-CN" sz="1800" b="1" dirty="0">
                  <a:solidFill>
                    <a:schemeClr val="accent2"/>
                  </a:solidFill>
                  <a:latin typeface="+mn-lt"/>
                  <a:ea typeface="+mn-ea"/>
                  <a:cs typeface="+mn-cs"/>
                </a:rPr>
                <a:t>每项都有验证</a:t>
              </a:r>
            </a:p>
          </p:txBody>
        </p:sp>
        <p:sp>
          <p:nvSpPr>
            <p:cNvPr id="24" name="Line 24"/>
            <p:cNvSpPr/>
            <p:nvPr/>
          </p:nvSpPr>
          <p:spPr>
            <a:xfrm>
              <a:off x="8382000" y="4305300"/>
              <a:ext cx="2914650" cy="9525"/>
            </a:xfrm>
            <a:custGeom>
              <a:avLst/>
              <a:gdLst/>
              <a:ahLst/>
              <a:cxnLst/>
              <a:rect l="l" t="t" r="r" b="b"/>
              <a:pathLst>
                <a:path w="2914650" h="9525">
                  <a:moveTo>
                    <a:pt x="0" y="0"/>
                  </a:moveTo>
                  <a:lnTo>
                    <a:pt x="2914650" y="0"/>
                  </a:lnTo>
                </a:path>
              </a:pathLst>
            </a:custGeom>
            <a:noFill/>
            <a:ln w="19050">
              <a:solidFill>
                <a:srgbClr val="C9D5E0"/>
              </a:solidFill>
            </a:ln>
          </p:spPr>
        </p:sp>
        <p:sp>
          <p:nvSpPr>
            <p:cNvPr id="25" name="TextBox 25"/>
            <p:cNvSpPr txBox="1"/>
            <p:nvPr/>
          </p:nvSpPr>
          <p:spPr>
            <a:xfrm>
              <a:off x="8370570" y="4519612"/>
              <a:ext cx="94697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S1–S6</a:t>
              </a:r>
            </a:p>
          </p:txBody>
        </p:sp>
        <p:sp>
          <p:nvSpPr>
            <p:cNvPr id="26" name="TextBox 26"/>
            <p:cNvSpPr txBox="1"/>
            <p:nvPr/>
          </p:nvSpPr>
          <p:spPr>
            <a:xfrm>
              <a:off x="9575292" y="46167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机理收敛</a:t>
              </a:r>
            </a:p>
          </p:txBody>
        </p:sp>
        <p:sp>
          <p:nvSpPr>
            <p:cNvPr id="27" name="TextBox 27"/>
            <p:cNvSpPr txBox="1"/>
            <p:nvPr/>
          </p:nvSpPr>
          <p:spPr>
            <a:xfrm>
              <a:off x="8370570" y="4995862"/>
              <a:ext cx="94697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L1–L4</a:t>
              </a:r>
            </a:p>
          </p:txBody>
        </p:sp>
        <p:sp>
          <p:nvSpPr>
            <p:cNvPr id="28" name="TextBox 28"/>
            <p:cNvSpPr txBox="1"/>
            <p:nvPr/>
          </p:nvSpPr>
          <p:spPr>
            <a:xfrm>
              <a:off x="9575292" y="509301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质量回路</a:t>
              </a:r>
            </a:p>
          </p:txBody>
        </p:sp>
      </p:grpSp>
      <p:sp>
        <p:nvSpPr>
          <p:cNvPr id="30" name="TextBox 30"/>
          <p:cNvSpPr txBox="1"/>
          <p:nvPr/>
        </p:nvSpPr>
        <p:spPr>
          <a:xfrm>
            <a:off x="602742" y="6274118"/>
            <a:ext cx="4375404"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三层结构保证发散研究最终回到可验收的装备需求成果</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7156094"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核心发散能力已形成可验收前端闭环</a:t>
              </a:r>
            </a:p>
          </p:txBody>
        </p:sp>
        <p:sp>
          <p:nvSpPr>
            <p:cNvPr id="3" name="TextBox 3"/>
            <p:cNvSpPr txBox="1"/>
            <p:nvPr/>
          </p:nvSpPr>
          <p:spPr>
            <a:xfrm>
              <a:off x="600456" y="1043940"/>
              <a:ext cx="4210355"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过程可回放 · 画像可追溯 · 报告可评审</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08</a:t>
              </a:r>
            </a:p>
          </p:txBody>
        </p:sp>
      </p:grpSp>
      <p:grpSp>
        <p:nvGrpSpPr>
          <p:cNvPr id="8" name="Group 8"/>
          <p:cNvGrpSpPr/>
          <p:nvPr/>
        </p:nvGrpSpPr>
        <p:grpSpPr>
          <a:xfrm>
            <a:off x="590550" y="1789748"/>
            <a:ext cx="1939290" cy="962025"/>
            <a:chOff x="590550" y="1789748"/>
            <a:chExt cx="1939290" cy="962025"/>
          </a:xfrm>
        </p:grpSpPr>
        <p:sp>
          <p:nvSpPr>
            <p:cNvPr id="6" name="TextBox 6"/>
            <p:cNvSpPr txBox="1"/>
            <p:nvPr/>
          </p:nvSpPr>
          <p:spPr>
            <a:xfrm>
              <a:off x="590550" y="1789748"/>
              <a:ext cx="422928"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3</a:t>
              </a:r>
            </a:p>
          </p:txBody>
        </p:sp>
        <p:sp>
          <p:nvSpPr>
            <p:cNvPr id="7" name="TextBox 7"/>
            <p:cNvSpPr txBox="1"/>
            <p:nvPr/>
          </p:nvSpPr>
          <p:spPr>
            <a:xfrm>
              <a:off x="1057656" y="2072640"/>
              <a:ext cx="1472184"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类可验收产物</a:t>
              </a:r>
            </a:p>
          </p:txBody>
        </p:sp>
      </p:grpSp>
      <p:grpSp>
        <p:nvGrpSpPr>
          <p:cNvPr id="13" name="Group 13"/>
          <p:cNvGrpSpPr/>
          <p:nvPr/>
        </p:nvGrpSpPr>
        <p:grpSpPr>
          <a:xfrm>
            <a:off x="600456" y="2762250"/>
            <a:ext cx="3361944" cy="2671001"/>
            <a:chOff x="600456" y="2762250"/>
            <a:chExt cx="3361944" cy="2671001"/>
          </a:xfrm>
        </p:grpSpPr>
        <p:sp>
          <p:nvSpPr>
            <p:cNvPr id="9" name="Rectangle 9"/>
            <p:cNvSpPr/>
            <p:nvPr/>
          </p:nvSpPr>
          <p:spPr>
            <a:xfrm>
              <a:off x="609600" y="2762250"/>
              <a:ext cx="3352800" cy="1885950"/>
            </a:xfrm>
            <a:prstGeom prst="rect">
              <a:avLst/>
            </a:prstGeom>
            <a:solidFill>
              <a:schemeClr val="accent5"/>
            </a:solidFill>
            <a:ln w="19050">
              <a:solidFill>
                <a:schemeClr val="accent2"/>
              </a:solidFill>
            </a:ln>
          </p:spPr>
        </p:sp>
        <p:pic>
          <p:nvPicPr>
            <p:cNvPr id="10" name="Image 10"/>
            <p:cNvPicPr>
              <a:picLocks noChangeAspect="1"/>
            </p:cNvPicPr>
            <p:nvPr/>
          </p:nvPicPr>
          <p:blipFill>
            <a:blip r:embed="rId2"/>
            <a:stretch>
              <a:fillRect/>
            </a:stretch>
          </p:blipFill>
          <p:spPr>
            <a:xfrm>
              <a:off x="669860" y="2819400"/>
              <a:ext cx="3232279" cy="1819275"/>
            </a:xfrm>
            <a:prstGeom prst="rect">
              <a:avLst/>
            </a:prstGeom>
          </p:spPr>
        </p:pic>
        <p:sp>
          <p:nvSpPr>
            <p:cNvPr id="11" name="TextBox 11"/>
            <p:cNvSpPr txBox="1"/>
            <p:nvPr/>
          </p:nvSpPr>
          <p:spPr>
            <a:xfrm>
              <a:off x="600456" y="481584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01 交互过程</a:t>
              </a:r>
            </a:p>
          </p:txBody>
        </p:sp>
        <p:sp>
          <p:nvSpPr>
            <p:cNvPr id="12" name="TextBox 12"/>
            <p:cNvSpPr txBox="1"/>
            <p:nvPr/>
          </p:nvSpPr>
          <p:spPr>
            <a:xfrm>
              <a:off x="602742" y="5169218"/>
              <a:ext cx="200373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426 个事件 · 9 个保存点</a:t>
              </a:r>
            </a:p>
          </p:txBody>
        </p:sp>
      </p:grpSp>
      <p:grpSp>
        <p:nvGrpSpPr>
          <p:cNvPr id="18" name="Group 18"/>
          <p:cNvGrpSpPr/>
          <p:nvPr/>
        </p:nvGrpSpPr>
        <p:grpSpPr>
          <a:xfrm>
            <a:off x="4410456" y="2381250"/>
            <a:ext cx="3361944" cy="2671001"/>
            <a:chOff x="4410456" y="2381250"/>
            <a:chExt cx="3361944" cy="2671001"/>
          </a:xfrm>
        </p:grpSpPr>
        <p:sp>
          <p:nvSpPr>
            <p:cNvPr id="14" name="Rectangle 14"/>
            <p:cNvSpPr/>
            <p:nvPr/>
          </p:nvSpPr>
          <p:spPr>
            <a:xfrm>
              <a:off x="4419600" y="2381250"/>
              <a:ext cx="3352800" cy="1885950"/>
            </a:xfrm>
            <a:prstGeom prst="rect">
              <a:avLst/>
            </a:prstGeom>
            <a:solidFill>
              <a:schemeClr val="accent5"/>
            </a:solidFill>
            <a:ln w="19050">
              <a:solidFill>
                <a:schemeClr val="accent3"/>
              </a:solidFill>
            </a:ln>
          </p:spPr>
        </p:sp>
        <p:pic>
          <p:nvPicPr>
            <p:cNvPr id="15" name="Image 15"/>
            <p:cNvPicPr>
              <a:picLocks noChangeAspect="1"/>
            </p:cNvPicPr>
            <p:nvPr/>
          </p:nvPicPr>
          <p:blipFill>
            <a:blip r:embed="rId3"/>
            <a:stretch>
              <a:fillRect/>
            </a:stretch>
          </p:blipFill>
          <p:spPr>
            <a:xfrm>
              <a:off x="4479860" y="2438400"/>
              <a:ext cx="3232279" cy="1819275"/>
            </a:xfrm>
            <a:prstGeom prst="rect">
              <a:avLst/>
            </a:prstGeom>
          </p:spPr>
        </p:pic>
        <p:sp>
          <p:nvSpPr>
            <p:cNvPr id="16" name="TextBox 16"/>
            <p:cNvSpPr txBox="1"/>
            <p:nvPr/>
          </p:nvSpPr>
          <p:spPr>
            <a:xfrm>
              <a:off x="4410456" y="443484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02 能力画像</a:t>
              </a:r>
            </a:p>
          </p:txBody>
        </p:sp>
        <p:sp>
          <p:nvSpPr>
            <p:cNvPr id="17" name="TextBox 17"/>
            <p:cNvSpPr txBox="1"/>
            <p:nvPr/>
          </p:nvSpPr>
          <p:spPr>
            <a:xfrm>
              <a:off x="4412742" y="4788218"/>
              <a:ext cx="258529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6 个装备方向 · 79% 平均置信度</a:t>
              </a:r>
            </a:p>
          </p:txBody>
        </p:sp>
      </p:grpSp>
      <p:grpSp>
        <p:nvGrpSpPr>
          <p:cNvPr id="23" name="Group 23"/>
          <p:cNvGrpSpPr/>
          <p:nvPr/>
        </p:nvGrpSpPr>
        <p:grpSpPr>
          <a:xfrm>
            <a:off x="8220456" y="2000250"/>
            <a:ext cx="3361944" cy="2671001"/>
            <a:chOff x="8220456" y="2000250"/>
            <a:chExt cx="3361944" cy="2671001"/>
          </a:xfrm>
        </p:grpSpPr>
        <p:sp>
          <p:nvSpPr>
            <p:cNvPr id="19" name="Rectangle 19"/>
            <p:cNvSpPr/>
            <p:nvPr/>
          </p:nvSpPr>
          <p:spPr>
            <a:xfrm>
              <a:off x="8229600" y="2000250"/>
              <a:ext cx="3352800" cy="1885950"/>
            </a:xfrm>
            <a:prstGeom prst="rect">
              <a:avLst/>
            </a:prstGeom>
            <a:solidFill>
              <a:schemeClr val="accent5"/>
            </a:solidFill>
            <a:ln w="19050">
              <a:solidFill>
                <a:schemeClr val="accent6"/>
              </a:solidFill>
            </a:ln>
          </p:spPr>
        </p:sp>
        <p:pic>
          <p:nvPicPr>
            <p:cNvPr id="20" name="Image 20"/>
            <p:cNvPicPr>
              <a:picLocks noChangeAspect="1"/>
            </p:cNvPicPr>
            <p:nvPr/>
          </p:nvPicPr>
          <p:blipFill>
            <a:blip r:embed="rId4"/>
            <a:stretch>
              <a:fillRect/>
            </a:stretch>
          </p:blipFill>
          <p:spPr>
            <a:xfrm>
              <a:off x="8289860" y="2057400"/>
              <a:ext cx="3232279" cy="1819275"/>
            </a:xfrm>
            <a:prstGeom prst="rect">
              <a:avLst/>
            </a:prstGeom>
          </p:spPr>
        </p:pic>
        <p:sp>
          <p:nvSpPr>
            <p:cNvPr id="21" name="TextBox 21"/>
            <p:cNvSpPr txBox="1"/>
            <p:nvPr/>
          </p:nvSpPr>
          <p:spPr>
            <a:xfrm>
              <a:off x="8220456" y="4053840"/>
              <a:ext cx="1392220"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03 研究报告</a:t>
              </a:r>
            </a:p>
          </p:txBody>
        </p:sp>
        <p:sp>
          <p:nvSpPr>
            <p:cNvPr id="22" name="TextBox 22"/>
            <p:cNvSpPr txBox="1"/>
            <p:nvPr/>
          </p:nvSpPr>
          <p:spPr>
            <a:xfrm>
              <a:off x="8222742" y="4407218"/>
              <a:ext cx="222182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三层九项正文 · 可直接评审</a:t>
              </a:r>
            </a:p>
          </p:txBody>
        </p:sp>
      </p:grpSp>
      <p:grpSp>
        <p:nvGrpSpPr>
          <p:cNvPr id="31" name="Group 31"/>
          <p:cNvGrpSpPr/>
          <p:nvPr/>
        </p:nvGrpSpPr>
        <p:grpSpPr>
          <a:xfrm>
            <a:off x="533400" y="5905500"/>
            <a:ext cx="11125200" cy="556451"/>
            <a:chOff x="533400" y="5905500"/>
            <a:chExt cx="11125200" cy="556451"/>
          </a:xfrm>
        </p:grpSpPr>
        <p:sp>
          <p:nvSpPr>
            <p:cNvPr id="24" name="Line 24"/>
            <p:cNvSpPr/>
            <p:nvPr/>
          </p:nvSpPr>
          <p:spPr>
            <a:xfrm>
              <a:off x="609600" y="5981700"/>
              <a:ext cx="10972800" cy="9525"/>
            </a:xfrm>
            <a:custGeom>
              <a:avLst/>
              <a:gdLst/>
              <a:ahLst/>
              <a:cxnLst/>
              <a:rect l="l" t="t" r="r" b="b"/>
              <a:pathLst>
                <a:path w="10972800" h="9525">
                  <a:moveTo>
                    <a:pt x="0" y="0"/>
                  </a:moveTo>
                  <a:lnTo>
                    <a:pt x="10972800" y="0"/>
                  </a:lnTo>
                </a:path>
              </a:pathLst>
            </a:custGeom>
            <a:noFill/>
            <a:ln w="19050">
              <a:solidFill>
                <a:srgbClr val="B7C7D6"/>
              </a:solidFill>
            </a:ln>
          </p:spPr>
        </p:sp>
        <p:sp>
          <p:nvSpPr>
            <p:cNvPr id="25" name="Ellipse 25"/>
            <p:cNvSpPr/>
            <p:nvPr/>
          </p:nvSpPr>
          <p:spPr>
            <a:xfrm>
              <a:off x="533400" y="5905500"/>
              <a:ext cx="152400" cy="152400"/>
            </a:xfrm>
            <a:prstGeom prst="ellipse">
              <a:avLst/>
            </a:prstGeom>
            <a:solidFill>
              <a:schemeClr val="accent2"/>
            </a:solidFill>
            <a:ln>
              <a:noFill/>
            </a:ln>
          </p:spPr>
        </p:sp>
        <p:sp>
          <p:nvSpPr>
            <p:cNvPr id="26" name="Ellipse 26"/>
            <p:cNvSpPr/>
            <p:nvPr/>
          </p:nvSpPr>
          <p:spPr>
            <a:xfrm>
              <a:off x="6019800" y="5905500"/>
              <a:ext cx="152400" cy="152400"/>
            </a:xfrm>
            <a:prstGeom prst="ellipse">
              <a:avLst/>
            </a:prstGeom>
            <a:solidFill>
              <a:schemeClr val="accent3"/>
            </a:solidFill>
            <a:ln>
              <a:noFill/>
            </a:ln>
          </p:spPr>
        </p:sp>
        <p:sp>
          <p:nvSpPr>
            <p:cNvPr id="27" name="Ellipse 27"/>
            <p:cNvSpPr/>
            <p:nvPr/>
          </p:nvSpPr>
          <p:spPr>
            <a:xfrm>
              <a:off x="11506200" y="5905500"/>
              <a:ext cx="152400" cy="152400"/>
            </a:xfrm>
            <a:prstGeom prst="ellipse">
              <a:avLst/>
            </a:prstGeom>
            <a:solidFill>
              <a:schemeClr val="accent6"/>
            </a:solidFill>
            <a:ln>
              <a:noFill/>
            </a:ln>
          </p:spPr>
        </p:sp>
        <p:sp>
          <p:nvSpPr>
            <p:cNvPr id="28" name="TextBox 28"/>
            <p:cNvSpPr txBox="1"/>
            <p:nvPr/>
          </p:nvSpPr>
          <p:spPr>
            <a:xfrm>
              <a:off x="602742" y="619791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执行记录</a:t>
              </a:r>
            </a:p>
          </p:txBody>
        </p:sp>
        <p:sp>
          <p:nvSpPr>
            <p:cNvPr id="29" name="TextBox 29"/>
            <p:cNvSpPr txBox="1"/>
            <p:nvPr/>
          </p:nvSpPr>
          <p:spPr>
            <a:xfrm>
              <a:off x="5725668" y="6197918"/>
              <a:ext cx="740664"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能力收敛</a:t>
              </a:r>
            </a:p>
          </p:txBody>
        </p:sp>
        <p:sp>
          <p:nvSpPr>
            <p:cNvPr id="30" name="TextBox 30"/>
            <p:cNvSpPr txBox="1"/>
            <p:nvPr/>
          </p:nvSpPr>
          <p:spPr>
            <a:xfrm>
              <a:off x="10848594" y="6197918"/>
              <a:ext cx="740664" cy="264033"/>
            </a:xfrm>
            <a:prstGeom prst="rect">
              <a:avLst/>
            </a:prstGeom>
            <a:noFill/>
            <a:ln>
              <a:noFill/>
            </a:ln>
          </p:spPr>
          <p:txBody>
            <a:bodyPr wrap="none" lIns="0" tIns="0" rIns="0" bIns="0" anchor="t" anchorCtr="0">
              <a:spAutoFit/>
            </a:bodyPr>
            <a:lstStyle/>
            <a:p>
              <a:pPr algn="r"/>
              <a:r>
                <a:rPr lang="zh-CN" sz="1350" dirty="0">
                  <a:solidFill>
                    <a:schemeClr val="dk1"/>
                  </a:solidFill>
                  <a:latin typeface="+mn-lt"/>
                  <a:ea typeface="+mn-ea"/>
                  <a:cs typeface="+mn-cs"/>
                </a:rPr>
                <a:t>正式交付</a:t>
              </a:r>
            </a:p>
          </p:txBody>
        </p:sp>
      </p:gr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849186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交互过程把复杂研究链变成可审计执行记录</a:t>
              </a:r>
            </a:p>
          </p:txBody>
        </p:sp>
        <p:sp>
          <p:nvSpPr>
            <p:cNvPr id="3" name="TextBox 3"/>
            <p:cNvSpPr txBox="1"/>
            <p:nvPr/>
          </p:nvSpPr>
          <p:spPr>
            <a:xfrm>
              <a:off x="600456" y="1043940"/>
              <a:ext cx="687994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架构总览、S1–S6、L1–L4 与关键事件在同一任务中连续呈现</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09</a:t>
              </a:r>
            </a:p>
          </p:txBody>
        </p:sp>
      </p:grpSp>
      <p:grpSp>
        <p:nvGrpSpPr>
          <p:cNvPr id="9" name="Group 9"/>
          <p:cNvGrpSpPr/>
          <p:nvPr/>
        </p:nvGrpSpPr>
        <p:grpSpPr>
          <a:xfrm>
            <a:off x="602742" y="1676400"/>
            <a:ext cx="7664958" cy="4728401"/>
            <a:chOff x="602742" y="1676400"/>
            <a:chExt cx="7664958" cy="4728401"/>
          </a:xfrm>
        </p:grpSpPr>
        <p:sp>
          <p:nvSpPr>
            <p:cNvPr id="6" name="Rectangle 6"/>
            <p:cNvSpPr/>
            <p:nvPr/>
          </p:nvSpPr>
          <p:spPr>
            <a:xfrm>
              <a:off x="609600" y="1676400"/>
              <a:ext cx="7658100" cy="4305300"/>
            </a:xfrm>
            <a:prstGeom prst="rect">
              <a:avLst/>
            </a:prstGeom>
            <a:solidFill>
              <a:schemeClr val="accent5"/>
            </a:solidFill>
            <a:ln w="19050">
              <a:solidFill>
                <a:schemeClr val="accent2"/>
              </a:solidFill>
            </a:ln>
          </p:spPr>
        </p:sp>
        <p:pic>
          <p:nvPicPr>
            <p:cNvPr id="7" name="Image 7"/>
            <p:cNvPicPr>
              <a:picLocks noChangeAspect="1"/>
            </p:cNvPicPr>
            <p:nvPr/>
          </p:nvPicPr>
          <p:blipFill>
            <a:blip r:embed="rId2"/>
            <a:stretch>
              <a:fillRect/>
            </a:stretch>
          </p:blipFill>
          <p:spPr>
            <a:xfrm>
              <a:off x="723900" y="1790700"/>
              <a:ext cx="7429500" cy="4181475"/>
            </a:xfrm>
            <a:prstGeom prst="rect">
              <a:avLst/>
            </a:prstGeom>
          </p:spPr>
        </p:pic>
        <p:sp>
          <p:nvSpPr>
            <p:cNvPr id="8" name="TextBox 8"/>
            <p:cNvSpPr txBox="1"/>
            <p:nvPr/>
          </p:nvSpPr>
          <p:spPr>
            <a:xfrm>
              <a:off x="602742" y="6140768"/>
              <a:ext cx="4738878"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真实任务：强干扰、弱通信条件下低信息依赖精确打击研究</a:t>
              </a:r>
            </a:p>
          </p:txBody>
        </p:sp>
      </p:grpSp>
      <p:grpSp>
        <p:nvGrpSpPr>
          <p:cNvPr id="14" name="Group 14"/>
          <p:cNvGrpSpPr/>
          <p:nvPr/>
        </p:nvGrpSpPr>
        <p:grpSpPr>
          <a:xfrm>
            <a:off x="8648700" y="1676400"/>
            <a:ext cx="2933700" cy="895350"/>
            <a:chOff x="8648700" y="1676400"/>
            <a:chExt cx="2933700" cy="895350"/>
          </a:xfrm>
        </p:grpSpPr>
        <p:sp>
          <p:nvSpPr>
            <p:cNvPr id="10" name="Rectangle 10"/>
            <p:cNvSpPr/>
            <p:nvPr/>
          </p:nvSpPr>
          <p:spPr>
            <a:xfrm>
              <a:off x="8648700" y="1676400"/>
              <a:ext cx="2933700" cy="895350"/>
            </a:xfrm>
            <a:prstGeom prst="rect">
              <a:avLst/>
            </a:prstGeom>
            <a:solidFill>
              <a:schemeClr val="accent5"/>
            </a:solidFill>
            <a:ln>
              <a:noFill/>
            </a:ln>
          </p:spPr>
        </p:sp>
        <p:sp>
          <p:nvSpPr>
            <p:cNvPr id="11" name="TextBox 11"/>
            <p:cNvSpPr txBox="1"/>
            <p:nvPr/>
          </p:nvSpPr>
          <p:spPr>
            <a:xfrm>
              <a:off x="8865870" y="1833562"/>
              <a:ext cx="54762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426</a:t>
              </a:r>
            </a:p>
          </p:txBody>
        </p:sp>
        <p:sp>
          <p:nvSpPr>
            <p:cNvPr id="12" name="TextBox 12"/>
            <p:cNvSpPr txBox="1"/>
            <p:nvPr/>
          </p:nvSpPr>
          <p:spPr>
            <a:xfrm>
              <a:off x="9611106" y="1872615"/>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全部事件</a:t>
              </a:r>
            </a:p>
          </p:txBody>
        </p:sp>
        <p:sp>
          <p:nvSpPr>
            <p:cNvPr id="13" name="TextBox 13"/>
            <p:cNvSpPr txBox="1"/>
            <p:nvPr/>
          </p:nvSpPr>
          <p:spPr>
            <a:xfrm>
              <a:off x="8870442" y="2235518"/>
              <a:ext cx="164934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完整运行轨迹可回放</a:t>
              </a:r>
            </a:p>
          </p:txBody>
        </p:sp>
      </p:grpSp>
      <p:grpSp>
        <p:nvGrpSpPr>
          <p:cNvPr id="19" name="Group 19"/>
          <p:cNvGrpSpPr/>
          <p:nvPr/>
        </p:nvGrpSpPr>
        <p:grpSpPr>
          <a:xfrm>
            <a:off x="8648700" y="2724150"/>
            <a:ext cx="2933700" cy="895350"/>
            <a:chOff x="8648700" y="2724150"/>
            <a:chExt cx="2933700" cy="895350"/>
          </a:xfrm>
        </p:grpSpPr>
        <p:sp>
          <p:nvSpPr>
            <p:cNvPr id="15" name="Rectangle 15"/>
            <p:cNvSpPr/>
            <p:nvPr/>
          </p:nvSpPr>
          <p:spPr>
            <a:xfrm>
              <a:off x="8648700" y="2724150"/>
              <a:ext cx="2933700" cy="895350"/>
            </a:xfrm>
            <a:prstGeom prst="rect">
              <a:avLst/>
            </a:prstGeom>
            <a:solidFill>
              <a:schemeClr val="accent5"/>
            </a:solidFill>
            <a:ln>
              <a:noFill/>
            </a:ln>
          </p:spPr>
        </p:sp>
        <p:sp>
          <p:nvSpPr>
            <p:cNvPr id="16" name="TextBox 16"/>
            <p:cNvSpPr txBox="1"/>
            <p:nvPr/>
          </p:nvSpPr>
          <p:spPr>
            <a:xfrm>
              <a:off x="8865870" y="288131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80</a:t>
              </a:r>
            </a:p>
          </p:txBody>
        </p:sp>
        <p:sp>
          <p:nvSpPr>
            <p:cNvPr id="17" name="TextBox 17"/>
            <p:cNvSpPr txBox="1"/>
            <p:nvPr/>
          </p:nvSpPr>
          <p:spPr>
            <a:xfrm>
              <a:off x="9458706" y="2920365"/>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关键事件</a:t>
              </a:r>
            </a:p>
          </p:txBody>
        </p:sp>
        <p:sp>
          <p:nvSpPr>
            <p:cNvPr id="18" name="TextBox 18"/>
            <p:cNvSpPr txBox="1"/>
            <p:nvPr/>
          </p:nvSpPr>
          <p:spPr>
            <a:xfrm>
              <a:off x="8870442" y="3283268"/>
              <a:ext cx="164934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快速定位高价值节点</a:t>
              </a:r>
            </a:p>
          </p:txBody>
        </p:sp>
      </p:grpSp>
      <p:grpSp>
        <p:nvGrpSpPr>
          <p:cNvPr id="24" name="Group 24"/>
          <p:cNvGrpSpPr/>
          <p:nvPr/>
        </p:nvGrpSpPr>
        <p:grpSpPr>
          <a:xfrm>
            <a:off x="8648700" y="3771900"/>
            <a:ext cx="2933700" cy="895350"/>
            <a:chOff x="8648700" y="3771900"/>
            <a:chExt cx="2933700" cy="895350"/>
          </a:xfrm>
        </p:grpSpPr>
        <p:sp>
          <p:nvSpPr>
            <p:cNvPr id="20" name="Rectangle 20"/>
            <p:cNvSpPr/>
            <p:nvPr/>
          </p:nvSpPr>
          <p:spPr>
            <a:xfrm>
              <a:off x="8648700" y="3771900"/>
              <a:ext cx="2933700" cy="895350"/>
            </a:xfrm>
            <a:prstGeom prst="rect">
              <a:avLst/>
            </a:prstGeom>
            <a:solidFill>
              <a:srgbClr val="EAF5F0"/>
            </a:solidFill>
            <a:ln>
              <a:noFill/>
            </a:ln>
          </p:spPr>
        </p:sp>
        <p:sp>
          <p:nvSpPr>
            <p:cNvPr id="21" name="TextBox 21"/>
            <p:cNvSpPr txBox="1"/>
            <p:nvPr/>
          </p:nvSpPr>
          <p:spPr>
            <a:xfrm>
              <a:off x="8865870" y="3929062"/>
              <a:ext cx="547626"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6/6</a:t>
              </a:r>
            </a:p>
          </p:txBody>
        </p:sp>
        <p:sp>
          <p:nvSpPr>
            <p:cNvPr id="22" name="TextBox 22"/>
            <p:cNvSpPr txBox="1"/>
            <p:nvPr/>
          </p:nvSpPr>
          <p:spPr>
            <a:xfrm>
              <a:off x="9592056" y="3968115"/>
              <a:ext cx="907085" cy="352044"/>
            </a:xfrm>
            <a:prstGeom prst="rect">
              <a:avLst/>
            </a:prstGeom>
            <a:noFill/>
            <a:ln>
              <a:noFill/>
            </a:ln>
          </p:spPr>
          <p:txBody>
            <a:bodyPr wrap="none" lIns="0" tIns="0" rIns="0" bIns="0" anchor="t" anchorCtr="0">
              <a:spAutoFit/>
            </a:bodyPr>
            <a:lstStyle/>
            <a:p>
              <a:pPr algn="l"/>
              <a:r>
                <a:rPr lang="en-US" sz="1800" dirty="0">
                  <a:solidFill>
                    <a:schemeClr val="dk1"/>
                  </a:solidFill>
                  <a:latin typeface="+mn-lt"/>
                  <a:ea typeface="+mn-ea"/>
                  <a:cs typeface="+mn-cs"/>
                </a:rPr>
                <a:t>S Agent</a:t>
              </a:r>
            </a:p>
          </p:txBody>
        </p:sp>
        <p:sp>
          <p:nvSpPr>
            <p:cNvPr id="23" name="TextBox 23"/>
            <p:cNvSpPr txBox="1"/>
            <p:nvPr/>
          </p:nvSpPr>
          <p:spPr>
            <a:xfrm>
              <a:off x="8870442" y="4331018"/>
              <a:ext cx="146761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专用分析全部完成</a:t>
              </a:r>
            </a:p>
          </p:txBody>
        </p:sp>
      </p:grpSp>
      <p:grpSp>
        <p:nvGrpSpPr>
          <p:cNvPr id="29" name="Group 29"/>
          <p:cNvGrpSpPr/>
          <p:nvPr/>
        </p:nvGrpSpPr>
        <p:grpSpPr>
          <a:xfrm>
            <a:off x="8648700" y="4819650"/>
            <a:ext cx="2933700" cy="895350"/>
            <a:chOff x="8648700" y="4819650"/>
            <a:chExt cx="2933700" cy="895350"/>
          </a:xfrm>
        </p:grpSpPr>
        <p:sp>
          <p:nvSpPr>
            <p:cNvPr id="25" name="Rectangle 25"/>
            <p:cNvSpPr/>
            <p:nvPr/>
          </p:nvSpPr>
          <p:spPr>
            <a:xfrm>
              <a:off x="8648700" y="4819650"/>
              <a:ext cx="2933700" cy="895350"/>
            </a:xfrm>
            <a:prstGeom prst="rect">
              <a:avLst/>
            </a:prstGeom>
            <a:solidFill>
              <a:srgbClr val="FFF4E8"/>
            </a:solidFill>
            <a:ln>
              <a:noFill/>
            </a:ln>
          </p:spPr>
        </p:sp>
        <p:sp>
          <p:nvSpPr>
            <p:cNvPr id="26" name="TextBox 26"/>
            <p:cNvSpPr txBox="1"/>
            <p:nvPr/>
          </p:nvSpPr>
          <p:spPr>
            <a:xfrm>
              <a:off x="8865870" y="4976812"/>
              <a:ext cx="197782"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9</a:t>
              </a:r>
            </a:p>
          </p:txBody>
        </p:sp>
        <p:sp>
          <p:nvSpPr>
            <p:cNvPr id="27" name="TextBox 27"/>
            <p:cNvSpPr txBox="1"/>
            <p:nvPr/>
          </p:nvSpPr>
          <p:spPr>
            <a:xfrm>
              <a:off x="9230106" y="5015865"/>
              <a:ext cx="745236"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保存点</a:t>
              </a:r>
            </a:p>
          </p:txBody>
        </p:sp>
        <p:sp>
          <p:nvSpPr>
            <p:cNvPr id="28" name="TextBox 28"/>
            <p:cNvSpPr txBox="1"/>
            <p:nvPr/>
          </p:nvSpPr>
          <p:spPr>
            <a:xfrm>
              <a:off x="8870442" y="5378768"/>
              <a:ext cx="164934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支持恢复与定向复跑</a:t>
              </a:r>
            </a:p>
          </p:txBody>
        </p:sp>
      </p:grpSp>
      <p:grpSp>
        <p:nvGrpSpPr>
          <p:cNvPr id="32" name="Group 32"/>
          <p:cNvGrpSpPr/>
          <p:nvPr/>
        </p:nvGrpSpPr>
        <p:grpSpPr>
          <a:xfrm>
            <a:off x="8639556" y="5905500"/>
            <a:ext cx="2942844" cy="519684"/>
            <a:chOff x="8639556" y="5905500"/>
            <a:chExt cx="2942844" cy="519684"/>
          </a:xfrm>
        </p:grpSpPr>
        <p:sp>
          <p:nvSpPr>
            <p:cNvPr id="30" name="Line 30"/>
            <p:cNvSpPr/>
            <p:nvPr/>
          </p:nvSpPr>
          <p:spPr>
            <a:xfrm>
              <a:off x="8648700" y="5905500"/>
              <a:ext cx="2933700" cy="9525"/>
            </a:xfrm>
            <a:custGeom>
              <a:avLst/>
              <a:gdLst/>
              <a:ahLst/>
              <a:cxnLst/>
              <a:rect l="l" t="t" r="r" b="b"/>
              <a:pathLst>
                <a:path w="2933700" h="9525">
                  <a:moveTo>
                    <a:pt x="0" y="0"/>
                  </a:moveTo>
                  <a:lnTo>
                    <a:pt x="2933700" y="0"/>
                  </a:lnTo>
                </a:path>
              </a:pathLst>
            </a:custGeom>
            <a:noFill/>
            <a:ln w="28575">
              <a:solidFill>
                <a:schemeClr val="accent1"/>
              </a:solidFill>
            </a:ln>
          </p:spPr>
        </p:sp>
        <p:sp>
          <p:nvSpPr>
            <p:cNvPr id="31" name="TextBox 31"/>
            <p:cNvSpPr txBox="1"/>
            <p:nvPr/>
          </p:nvSpPr>
          <p:spPr>
            <a:xfrm>
              <a:off x="8639556" y="6073140"/>
              <a:ext cx="289336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可观察 · 可定位 · 可恢复</a:t>
              </a:r>
            </a:p>
          </p:txBody>
        </p:sp>
      </p:gr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982762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能力画像已能给出装备方向、谱系位置与实现路径</a:t>
              </a:r>
            </a:p>
          </p:txBody>
        </p:sp>
        <p:sp>
          <p:nvSpPr>
            <p:cNvPr id="3" name="TextBox 3"/>
            <p:cNvSpPr txBox="1"/>
            <p:nvPr/>
          </p:nvSpPr>
          <p:spPr>
            <a:xfrm>
              <a:off x="600456" y="1043940"/>
              <a:ext cx="6318504"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从场景与制胜机理，收敛到可排序、可验证的装备能力方向</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10</a:t>
              </a:r>
            </a:p>
          </p:txBody>
        </p:sp>
      </p:grpSp>
      <p:grpSp>
        <p:nvGrpSpPr>
          <p:cNvPr id="13" name="Group 13"/>
          <p:cNvGrpSpPr/>
          <p:nvPr/>
        </p:nvGrpSpPr>
        <p:grpSpPr>
          <a:xfrm>
            <a:off x="590550" y="1675448"/>
            <a:ext cx="2781300" cy="1969769"/>
            <a:chOff x="590550" y="1675448"/>
            <a:chExt cx="2781300" cy="1969769"/>
          </a:xfrm>
        </p:grpSpPr>
        <p:sp>
          <p:nvSpPr>
            <p:cNvPr id="6" name="TextBox 6"/>
            <p:cNvSpPr txBox="1"/>
            <p:nvPr/>
          </p:nvSpPr>
          <p:spPr>
            <a:xfrm>
              <a:off x="590550" y="1675448"/>
              <a:ext cx="422928"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6</a:t>
              </a:r>
            </a:p>
          </p:txBody>
        </p:sp>
        <p:sp>
          <p:nvSpPr>
            <p:cNvPr id="7" name="TextBox 7"/>
            <p:cNvSpPr txBox="1"/>
            <p:nvPr/>
          </p:nvSpPr>
          <p:spPr>
            <a:xfrm>
              <a:off x="1095756" y="1958340"/>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个装备方向</a:t>
              </a:r>
            </a:p>
          </p:txBody>
        </p:sp>
        <p:sp>
          <p:nvSpPr>
            <p:cNvPr id="8" name="Line 8"/>
            <p:cNvSpPr/>
            <p:nvPr/>
          </p:nvSpPr>
          <p:spPr>
            <a:xfrm>
              <a:off x="609600" y="2476500"/>
              <a:ext cx="2762250" cy="9525"/>
            </a:xfrm>
            <a:custGeom>
              <a:avLst/>
              <a:gdLst/>
              <a:ahLst/>
              <a:cxnLst/>
              <a:rect l="l" t="t" r="r" b="b"/>
              <a:pathLst>
                <a:path w="2762250" h="9525">
                  <a:moveTo>
                    <a:pt x="0" y="0"/>
                  </a:moveTo>
                  <a:lnTo>
                    <a:pt x="2762250" y="0"/>
                  </a:lnTo>
                </a:path>
              </a:pathLst>
            </a:custGeom>
            <a:noFill/>
            <a:ln w="19050">
              <a:solidFill>
                <a:srgbClr val="B7C7D6"/>
              </a:solidFill>
            </a:ln>
          </p:spPr>
        </p:sp>
        <p:sp>
          <p:nvSpPr>
            <p:cNvPr id="9" name="TextBox 9"/>
            <p:cNvSpPr txBox="1"/>
            <p:nvPr/>
          </p:nvSpPr>
          <p:spPr>
            <a:xfrm>
              <a:off x="598170" y="2728912"/>
              <a:ext cx="197782"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1</a:t>
              </a:r>
            </a:p>
          </p:txBody>
        </p:sp>
        <p:sp>
          <p:nvSpPr>
            <p:cNvPr id="10" name="TextBox 10"/>
            <p:cNvSpPr txBox="1"/>
            <p:nvPr/>
          </p:nvSpPr>
          <p:spPr>
            <a:xfrm>
              <a:off x="962406" y="2767965"/>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个高优先级</a:t>
              </a:r>
            </a:p>
          </p:txBody>
        </p:sp>
        <p:sp>
          <p:nvSpPr>
            <p:cNvPr id="11" name="TextBox 11"/>
            <p:cNvSpPr txBox="1"/>
            <p:nvPr/>
          </p:nvSpPr>
          <p:spPr>
            <a:xfrm>
              <a:off x="598170" y="3205162"/>
              <a:ext cx="611234"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79%</a:t>
              </a:r>
            </a:p>
          </p:txBody>
        </p:sp>
        <p:sp>
          <p:nvSpPr>
            <p:cNvPr id="12" name="TextBox 12"/>
            <p:cNvSpPr txBox="1"/>
            <p:nvPr/>
          </p:nvSpPr>
          <p:spPr>
            <a:xfrm>
              <a:off x="1286256" y="3244215"/>
              <a:ext cx="12298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平均置信度</a:t>
              </a:r>
            </a:p>
          </p:txBody>
        </p:sp>
      </p:grpSp>
      <p:grpSp>
        <p:nvGrpSpPr>
          <p:cNvPr id="17" name="Group 17"/>
          <p:cNvGrpSpPr/>
          <p:nvPr/>
        </p:nvGrpSpPr>
        <p:grpSpPr>
          <a:xfrm>
            <a:off x="3955542" y="1676400"/>
            <a:ext cx="7626858" cy="4728401"/>
            <a:chOff x="3955542" y="1676400"/>
            <a:chExt cx="7626858" cy="4728401"/>
          </a:xfrm>
        </p:grpSpPr>
        <p:sp>
          <p:nvSpPr>
            <p:cNvPr id="14" name="Rectangle 14"/>
            <p:cNvSpPr/>
            <p:nvPr/>
          </p:nvSpPr>
          <p:spPr>
            <a:xfrm>
              <a:off x="3962400" y="1676400"/>
              <a:ext cx="7620000" cy="4286250"/>
            </a:xfrm>
            <a:prstGeom prst="rect">
              <a:avLst/>
            </a:prstGeom>
            <a:solidFill>
              <a:schemeClr val="accent5"/>
            </a:solidFill>
            <a:ln w="19050">
              <a:solidFill>
                <a:schemeClr val="accent2"/>
              </a:solidFill>
            </a:ln>
          </p:spPr>
        </p:sp>
        <p:pic>
          <p:nvPicPr>
            <p:cNvPr id="15" name="Image 15"/>
            <p:cNvPicPr>
              <a:picLocks noChangeAspect="1"/>
            </p:cNvPicPr>
            <p:nvPr/>
          </p:nvPicPr>
          <p:blipFill>
            <a:blip r:embed="rId2"/>
            <a:stretch>
              <a:fillRect/>
            </a:stretch>
          </p:blipFill>
          <p:spPr>
            <a:xfrm>
              <a:off x="4076700" y="1790700"/>
              <a:ext cx="7391400" cy="4162425"/>
            </a:xfrm>
            <a:prstGeom prst="rect">
              <a:avLst/>
            </a:prstGeom>
          </p:spPr>
        </p:pic>
        <p:sp>
          <p:nvSpPr>
            <p:cNvPr id="16" name="TextBox 16"/>
            <p:cNvSpPr txBox="1"/>
            <p:nvPr/>
          </p:nvSpPr>
          <p:spPr>
            <a:xfrm>
              <a:off x="3955542" y="6140768"/>
              <a:ext cx="6737985"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前端保留：方向编号、优先级、置信度、任务场景、能力描述、核心差距与演化路径</a:t>
              </a:r>
            </a:p>
          </p:txBody>
        </p:sp>
      </p:grpSp>
      <p:grpSp>
        <p:nvGrpSpPr>
          <p:cNvPr id="24" name="Group 24"/>
          <p:cNvGrpSpPr/>
          <p:nvPr/>
        </p:nvGrpSpPr>
        <p:grpSpPr>
          <a:xfrm>
            <a:off x="600456" y="4149090"/>
            <a:ext cx="3279090" cy="2046161"/>
            <a:chOff x="600456" y="4149090"/>
            <a:chExt cx="3279090" cy="2046161"/>
          </a:xfrm>
        </p:grpSpPr>
        <p:sp>
          <p:nvSpPr>
            <p:cNvPr id="18" name="TextBox 18"/>
            <p:cNvSpPr txBox="1"/>
            <p:nvPr/>
          </p:nvSpPr>
          <p:spPr>
            <a:xfrm>
              <a:off x="600456" y="414909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能力谱系示例</a:t>
              </a:r>
            </a:p>
          </p:txBody>
        </p:sp>
        <p:sp>
          <p:nvSpPr>
            <p:cNvPr id="19" name="Rectangle 19"/>
            <p:cNvSpPr/>
            <p:nvPr/>
          </p:nvSpPr>
          <p:spPr>
            <a:xfrm>
              <a:off x="609600" y="4552950"/>
              <a:ext cx="76200" cy="1219200"/>
            </a:xfrm>
            <a:prstGeom prst="rect">
              <a:avLst/>
            </a:prstGeom>
            <a:solidFill>
              <a:schemeClr val="accent2"/>
            </a:solidFill>
            <a:ln>
              <a:noFill/>
            </a:ln>
          </p:spPr>
        </p:sp>
        <p:sp>
          <p:nvSpPr>
            <p:cNvPr id="20" name="TextBox 20"/>
            <p:cNvSpPr txBox="1"/>
            <p:nvPr/>
          </p:nvSpPr>
          <p:spPr>
            <a:xfrm>
              <a:off x="831342" y="467391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现役纵深导弹火力升级</a:t>
              </a:r>
            </a:p>
          </p:txBody>
        </p:sp>
        <p:sp>
          <p:nvSpPr>
            <p:cNvPr id="21" name="TextBox 21"/>
            <p:cNvSpPr txBox="1"/>
            <p:nvPr/>
          </p:nvSpPr>
          <p:spPr>
            <a:xfrm>
              <a:off x="831342" y="5035868"/>
              <a:ext cx="183108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低信息远程精确导弹族</a:t>
              </a:r>
            </a:p>
          </p:txBody>
        </p:sp>
        <p:sp>
          <p:nvSpPr>
            <p:cNvPr id="22" name="TextBox 22"/>
            <p:cNvSpPr txBox="1"/>
            <p:nvPr/>
          </p:nvSpPr>
          <p:spPr>
            <a:xfrm>
              <a:off x="831342" y="539781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低信息侦打巡飞弹</a:t>
              </a:r>
            </a:p>
          </p:txBody>
        </p:sp>
        <p:sp>
          <p:nvSpPr>
            <p:cNvPr id="23" name="TextBox 23"/>
            <p:cNvSpPr txBox="1"/>
            <p:nvPr/>
          </p:nvSpPr>
          <p:spPr>
            <a:xfrm>
              <a:off x="602742" y="5931218"/>
              <a:ext cx="3276804"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不仅“提方向”，还给出验证与建设路径</a:t>
              </a:r>
            </a:p>
          </p:txBody>
        </p:sp>
      </p:gr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893711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三层九项已沉淀为可直接评审的深度研究报告</a:t>
              </a:r>
            </a:p>
          </p:txBody>
        </p:sp>
        <p:sp>
          <p:nvSpPr>
            <p:cNvPr id="3" name="TextBox 3"/>
            <p:cNvSpPr txBox="1"/>
            <p:nvPr/>
          </p:nvSpPr>
          <p:spPr>
            <a:xfrm>
              <a:off x="600456" y="1043940"/>
              <a:ext cx="656082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统一交付结构覆盖场景、机理、能力、技术、风险与效能贡献</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11</a:t>
              </a:r>
            </a:p>
          </p:txBody>
        </p:sp>
      </p:grpSp>
      <p:grpSp>
        <p:nvGrpSpPr>
          <p:cNvPr id="9" name="Group 9"/>
          <p:cNvGrpSpPr/>
          <p:nvPr/>
        </p:nvGrpSpPr>
        <p:grpSpPr>
          <a:xfrm>
            <a:off x="602742" y="1676400"/>
            <a:ext cx="7531608" cy="4728401"/>
            <a:chOff x="602742" y="1676400"/>
            <a:chExt cx="7531608" cy="4728401"/>
          </a:xfrm>
        </p:grpSpPr>
        <p:sp>
          <p:nvSpPr>
            <p:cNvPr id="6" name="Rectangle 6"/>
            <p:cNvSpPr/>
            <p:nvPr/>
          </p:nvSpPr>
          <p:spPr>
            <a:xfrm>
              <a:off x="609600" y="1676400"/>
              <a:ext cx="7524750" cy="4286250"/>
            </a:xfrm>
            <a:prstGeom prst="rect">
              <a:avLst/>
            </a:prstGeom>
            <a:solidFill>
              <a:schemeClr val="accent5"/>
            </a:solidFill>
            <a:ln w="19050">
              <a:solidFill>
                <a:schemeClr val="accent2"/>
              </a:solidFill>
            </a:ln>
          </p:spPr>
        </p:sp>
        <p:pic>
          <p:nvPicPr>
            <p:cNvPr id="7" name="Image 7"/>
            <p:cNvPicPr>
              <a:picLocks noChangeAspect="1"/>
            </p:cNvPicPr>
            <p:nvPr/>
          </p:nvPicPr>
          <p:blipFill>
            <a:blip r:embed="rId2"/>
            <a:stretch>
              <a:fillRect/>
            </a:stretch>
          </p:blipFill>
          <p:spPr>
            <a:xfrm>
              <a:off x="723900" y="1790700"/>
              <a:ext cx="7296150" cy="4105275"/>
            </a:xfrm>
            <a:prstGeom prst="rect">
              <a:avLst/>
            </a:prstGeom>
          </p:spPr>
        </p:pic>
        <p:sp>
          <p:nvSpPr>
            <p:cNvPr id="8" name="TextBox 8"/>
            <p:cNvSpPr txBox="1"/>
            <p:nvPr/>
          </p:nvSpPr>
          <p:spPr>
            <a:xfrm>
              <a:off x="602742" y="6140768"/>
              <a:ext cx="528408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真实报告正文：标题、三级结构、列表与表格均可连续阅读和评审</a:t>
              </a:r>
            </a:p>
          </p:txBody>
        </p:sp>
      </p:grpSp>
      <p:grpSp>
        <p:nvGrpSpPr>
          <p:cNvPr id="14" name="Group 14"/>
          <p:cNvGrpSpPr/>
          <p:nvPr/>
        </p:nvGrpSpPr>
        <p:grpSpPr>
          <a:xfrm>
            <a:off x="8515350" y="1676400"/>
            <a:ext cx="3067050" cy="1066800"/>
            <a:chOff x="8515350" y="1676400"/>
            <a:chExt cx="3067050" cy="1066800"/>
          </a:xfrm>
        </p:grpSpPr>
        <p:sp>
          <p:nvSpPr>
            <p:cNvPr id="10" name="Rectangle 10"/>
            <p:cNvSpPr/>
            <p:nvPr/>
          </p:nvSpPr>
          <p:spPr>
            <a:xfrm>
              <a:off x="8515350" y="1676400"/>
              <a:ext cx="3067050" cy="1066800"/>
            </a:xfrm>
            <a:prstGeom prst="rect">
              <a:avLst/>
            </a:prstGeom>
            <a:solidFill>
              <a:srgbClr val="EAF1F8"/>
            </a:solidFill>
            <a:ln>
              <a:noFill/>
            </a:ln>
          </p:spPr>
        </p:sp>
        <p:sp>
          <p:nvSpPr>
            <p:cNvPr id="11" name="TextBox 11"/>
            <p:cNvSpPr txBox="1"/>
            <p:nvPr/>
          </p:nvSpPr>
          <p:spPr>
            <a:xfrm>
              <a:off x="8732520" y="17954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01</a:t>
              </a:r>
            </a:p>
          </p:txBody>
        </p:sp>
        <p:sp>
          <p:nvSpPr>
            <p:cNvPr id="12" name="TextBox 12"/>
            <p:cNvSpPr txBox="1"/>
            <p:nvPr/>
          </p:nvSpPr>
          <p:spPr>
            <a:xfrm>
              <a:off x="9249156" y="18249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需求挖掘层</a:t>
              </a:r>
            </a:p>
          </p:txBody>
        </p:sp>
        <p:sp>
          <p:nvSpPr>
            <p:cNvPr id="13" name="TextBox 13"/>
            <p:cNvSpPr txBox="1"/>
            <p:nvPr/>
          </p:nvSpPr>
          <p:spPr>
            <a:xfrm>
              <a:off x="8737092" y="2254568"/>
              <a:ext cx="234903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场景 · 战法/机理 · 能力特征</a:t>
              </a:r>
            </a:p>
          </p:txBody>
        </p:sp>
      </p:grpSp>
      <p:grpSp>
        <p:nvGrpSpPr>
          <p:cNvPr id="19" name="Group 19"/>
          <p:cNvGrpSpPr/>
          <p:nvPr/>
        </p:nvGrpSpPr>
        <p:grpSpPr>
          <a:xfrm>
            <a:off x="8515350" y="2914650"/>
            <a:ext cx="3067050" cy="1066800"/>
            <a:chOff x="8515350" y="2914650"/>
            <a:chExt cx="3067050" cy="1066800"/>
          </a:xfrm>
        </p:grpSpPr>
        <p:sp>
          <p:nvSpPr>
            <p:cNvPr id="15" name="Rectangle 15"/>
            <p:cNvSpPr/>
            <p:nvPr/>
          </p:nvSpPr>
          <p:spPr>
            <a:xfrm>
              <a:off x="8515350" y="2914650"/>
              <a:ext cx="3067050" cy="1066800"/>
            </a:xfrm>
            <a:prstGeom prst="rect">
              <a:avLst/>
            </a:prstGeom>
            <a:solidFill>
              <a:srgbClr val="EAF5F0"/>
            </a:solidFill>
            <a:ln>
              <a:noFill/>
            </a:ln>
          </p:spPr>
        </p:sp>
        <p:sp>
          <p:nvSpPr>
            <p:cNvPr id="16" name="TextBox 16"/>
            <p:cNvSpPr txBox="1"/>
            <p:nvPr/>
          </p:nvSpPr>
          <p:spPr>
            <a:xfrm>
              <a:off x="8732520" y="3033712"/>
              <a:ext cx="372704"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02</a:t>
              </a:r>
            </a:p>
          </p:txBody>
        </p:sp>
        <p:sp>
          <p:nvSpPr>
            <p:cNvPr id="17" name="TextBox 17"/>
            <p:cNvSpPr txBox="1"/>
            <p:nvPr/>
          </p:nvSpPr>
          <p:spPr>
            <a:xfrm>
              <a:off x="9249156" y="306324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技术攻关层</a:t>
              </a:r>
            </a:p>
          </p:txBody>
        </p:sp>
        <p:sp>
          <p:nvSpPr>
            <p:cNvPr id="18" name="TextBox 18"/>
            <p:cNvSpPr txBox="1"/>
            <p:nvPr/>
          </p:nvSpPr>
          <p:spPr>
            <a:xfrm>
              <a:off x="8737092" y="3492818"/>
              <a:ext cx="261255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实现途径 · 核心技术 · 耦合风险</a:t>
              </a:r>
            </a:p>
          </p:txBody>
        </p:sp>
      </p:grpSp>
      <p:grpSp>
        <p:nvGrpSpPr>
          <p:cNvPr id="24" name="Group 24"/>
          <p:cNvGrpSpPr/>
          <p:nvPr/>
        </p:nvGrpSpPr>
        <p:grpSpPr>
          <a:xfrm>
            <a:off x="8515350" y="4152900"/>
            <a:ext cx="3067050" cy="1066800"/>
            <a:chOff x="8515350" y="4152900"/>
            <a:chExt cx="3067050" cy="1066800"/>
          </a:xfrm>
        </p:grpSpPr>
        <p:sp>
          <p:nvSpPr>
            <p:cNvPr id="20" name="Rectangle 20"/>
            <p:cNvSpPr/>
            <p:nvPr/>
          </p:nvSpPr>
          <p:spPr>
            <a:xfrm>
              <a:off x="8515350" y="4152900"/>
              <a:ext cx="3067050" cy="1066800"/>
            </a:xfrm>
            <a:prstGeom prst="rect">
              <a:avLst/>
            </a:prstGeom>
            <a:solidFill>
              <a:srgbClr val="FFF4E8"/>
            </a:solidFill>
            <a:ln>
              <a:noFill/>
            </a:ln>
          </p:spPr>
        </p:sp>
        <p:sp>
          <p:nvSpPr>
            <p:cNvPr id="21" name="TextBox 21"/>
            <p:cNvSpPr txBox="1"/>
            <p:nvPr/>
          </p:nvSpPr>
          <p:spPr>
            <a:xfrm>
              <a:off x="8732520" y="4271962"/>
              <a:ext cx="372704" cy="440055"/>
            </a:xfrm>
            <a:prstGeom prst="rect">
              <a:avLst/>
            </a:prstGeom>
            <a:noFill/>
            <a:ln>
              <a:noFill/>
            </a:ln>
          </p:spPr>
          <p:txBody>
            <a:bodyPr wrap="none" lIns="0" tIns="0" rIns="0" bIns="0" anchor="t" anchorCtr="0">
              <a:spAutoFit/>
            </a:bodyPr>
            <a:lstStyle/>
            <a:p>
              <a:pPr algn="l"/>
              <a:r>
                <a:rPr lang="en-US" sz="2250" b="1" dirty="0">
                  <a:solidFill>
                    <a:schemeClr val="accent6"/>
                  </a:solidFill>
                  <a:latin typeface="+mn-lt"/>
                  <a:ea typeface="+mn-ea"/>
                  <a:cs typeface="+mn-cs"/>
                </a:rPr>
                <a:t>03</a:t>
              </a:r>
            </a:p>
          </p:txBody>
        </p:sp>
        <p:sp>
          <p:nvSpPr>
            <p:cNvPr id="22" name="TextBox 22"/>
            <p:cNvSpPr txBox="1"/>
            <p:nvPr/>
          </p:nvSpPr>
          <p:spPr>
            <a:xfrm>
              <a:off x="9249156" y="4301490"/>
              <a:ext cx="1544879"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能力与效能层</a:t>
              </a:r>
            </a:p>
          </p:txBody>
        </p:sp>
        <p:sp>
          <p:nvSpPr>
            <p:cNvPr id="23" name="TextBox 23"/>
            <p:cNvSpPr txBox="1"/>
            <p:nvPr/>
          </p:nvSpPr>
          <p:spPr>
            <a:xfrm>
              <a:off x="8737092" y="4731068"/>
              <a:ext cx="279429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装备画像 · 验证评估 · 优先级抓手</a:t>
              </a:r>
            </a:p>
          </p:txBody>
        </p:sp>
      </p:grpSp>
      <p:grpSp>
        <p:nvGrpSpPr>
          <p:cNvPr id="28" name="Group 28"/>
          <p:cNvGrpSpPr/>
          <p:nvPr/>
        </p:nvGrpSpPr>
        <p:grpSpPr>
          <a:xfrm>
            <a:off x="8506206" y="5486400"/>
            <a:ext cx="3076194" cy="823151"/>
            <a:chOff x="8506206" y="5486400"/>
            <a:chExt cx="3076194" cy="823151"/>
          </a:xfrm>
        </p:grpSpPr>
        <p:sp>
          <p:nvSpPr>
            <p:cNvPr id="25" name="Line 25"/>
            <p:cNvSpPr/>
            <p:nvPr/>
          </p:nvSpPr>
          <p:spPr>
            <a:xfrm>
              <a:off x="8515350" y="5486400"/>
              <a:ext cx="3067050" cy="9525"/>
            </a:xfrm>
            <a:custGeom>
              <a:avLst/>
              <a:gdLst/>
              <a:ahLst/>
              <a:cxnLst/>
              <a:rect l="l" t="t" r="r" b="b"/>
              <a:pathLst>
                <a:path w="3067050" h="9525">
                  <a:moveTo>
                    <a:pt x="0" y="0"/>
                  </a:moveTo>
                  <a:lnTo>
                    <a:pt x="3067050" y="0"/>
                  </a:lnTo>
                </a:path>
              </a:pathLst>
            </a:custGeom>
            <a:noFill/>
            <a:ln w="28575">
              <a:solidFill>
                <a:schemeClr val="accent1"/>
              </a:solidFill>
            </a:ln>
          </p:spPr>
        </p:sp>
        <p:sp>
          <p:nvSpPr>
            <p:cNvPr id="26" name="TextBox 26"/>
            <p:cNvSpPr txBox="1"/>
            <p:nvPr/>
          </p:nvSpPr>
          <p:spPr>
            <a:xfrm>
              <a:off x="8506206" y="5654040"/>
              <a:ext cx="2384504"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事实 → 推断 → 待验证</a:t>
              </a:r>
            </a:p>
          </p:txBody>
        </p:sp>
        <p:sp>
          <p:nvSpPr>
            <p:cNvPr id="27" name="TextBox 27"/>
            <p:cNvSpPr txBox="1"/>
            <p:nvPr/>
          </p:nvSpPr>
          <p:spPr>
            <a:xfrm>
              <a:off x="8508492" y="6045518"/>
              <a:ext cx="273977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正文显式保留证据边界与失效条件</a:t>
              </a:r>
            </a:p>
          </p:txBody>
        </p:sp>
      </p:gr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4266133"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Benchmark 测试思路</a:t>
              </a:r>
            </a:p>
          </p:txBody>
        </p:sp>
        <p:sp>
          <p:nvSpPr>
            <p:cNvPr id="3" name="TextBox 3"/>
            <p:cNvSpPr txBox="1"/>
            <p:nvPr/>
          </p:nvSpPr>
          <p:spPr>
            <a:xfrm>
              <a:off x="600456" y="1024890"/>
              <a:ext cx="5049317"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真实产物复用 + 匿名 A/B 与 B/A 双顺序盲评</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12</a:t>
              </a:r>
            </a:p>
          </p:txBody>
        </p:sp>
      </p:grpSp>
      <p:grpSp>
        <p:nvGrpSpPr>
          <p:cNvPr id="18" name="Group 18"/>
          <p:cNvGrpSpPr/>
          <p:nvPr/>
        </p:nvGrpSpPr>
        <p:grpSpPr>
          <a:xfrm>
            <a:off x="600456" y="1767840"/>
            <a:ext cx="4066794" cy="3794760"/>
            <a:chOff x="600456" y="1767840"/>
            <a:chExt cx="4066794" cy="3794760"/>
          </a:xfrm>
        </p:grpSpPr>
        <p:sp>
          <p:nvSpPr>
            <p:cNvPr id="6" name="TextBox 6"/>
            <p:cNvSpPr txBox="1"/>
            <p:nvPr/>
          </p:nvSpPr>
          <p:spPr>
            <a:xfrm>
              <a:off x="600456" y="1767840"/>
              <a:ext cx="265573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同一 Query，四套系统</a:t>
              </a:r>
            </a:p>
          </p:txBody>
        </p:sp>
        <p:sp>
          <p:nvSpPr>
            <p:cNvPr id="7" name="Line 7"/>
            <p:cNvSpPr/>
            <p:nvPr/>
          </p:nvSpPr>
          <p:spPr>
            <a:xfrm>
              <a:off x="838200" y="2400300"/>
              <a:ext cx="9525" cy="2324100"/>
            </a:xfrm>
            <a:custGeom>
              <a:avLst/>
              <a:gdLst/>
              <a:ahLst/>
              <a:cxnLst/>
              <a:rect l="l" t="t" r="r" b="b"/>
              <a:pathLst>
                <a:path w="9525" h="2324100">
                  <a:moveTo>
                    <a:pt x="0" y="0"/>
                  </a:moveTo>
                  <a:lnTo>
                    <a:pt x="0" y="2324100"/>
                  </a:lnTo>
                </a:path>
              </a:pathLst>
            </a:custGeom>
            <a:noFill/>
            <a:ln w="38100">
              <a:solidFill>
                <a:srgbClr val="B7C7D6"/>
              </a:solidFill>
            </a:ln>
          </p:spPr>
        </p:sp>
        <p:sp>
          <p:nvSpPr>
            <p:cNvPr id="8" name="Ellipse 8"/>
            <p:cNvSpPr/>
            <p:nvPr/>
          </p:nvSpPr>
          <p:spPr>
            <a:xfrm>
              <a:off x="666750" y="2362200"/>
              <a:ext cx="342900" cy="342900"/>
            </a:xfrm>
            <a:prstGeom prst="ellipse">
              <a:avLst/>
            </a:prstGeom>
            <a:solidFill>
              <a:schemeClr val="accent2"/>
            </a:solidFill>
            <a:ln>
              <a:noFill/>
            </a:ln>
          </p:spPr>
        </p:sp>
        <p:sp>
          <p:nvSpPr>
            <p:cNvPr id="9" name="TextBox 9"/>
            <p:cNvSpPr txBox="1"/>
            <p:nvPr/>
          </p:nvSpPr>
          <p:spPr>
            <a:xfrm>
              <a:off x="1133856" y="2415540"/>
              <a:ext cx="987552"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完整方法</a:t>
              </a:r>
            </a:p>
          </p:txBody>
        </p:sp>
        <p:sp>
          <p:nvSpPr>
            <p:cNvPr id="10" name="Ellipse 10"/>
            <p:cNvSpPr/>
            <p:nvPr/>
          </p:nvSpPr>
          <p:spPr>
            <a:xfrm>
              <a:off x="666750" y="3009900"/>
              <a:ext cx="342900" cy="342900"/>
            </a:xfrm>
            <a:prstGeom prst="ellipse">
              <a:avLst/>
            </a:prstGeom>
            <a:solidFill>
              <a:schemeClr val="accent2"/>
            </a:solidFill>
            <a:ln>
              <a:noFill/>
            </a:ln>
          </p:spPr>
        </p:sp>
        <p:sp>
          <p:nvSpPr>
            <p:cNvPr id="11" name="TextBox 11"/>
            <p:cNvSpPr txBox="1"/>
            <p:nvPr/>
          </p:nvSpPr>
          <p:spPr>
            <a:xfrm>
              <a:off x="1133856" y="3063240"/>
              <a:ext cx="2003268"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通用 Codex Agent</a:t>
              </a:r>
            </a:p>
          </p:txBody>
        </p:sp>
        <p:sp>
          <p:nvSpPr>
            <p:cNvPr id="12" name="Ellipse 12"/>
            <p:cNvSpPr/>
            <p:nvPr/>
          </p:nvSpPr>
          <p:spPr>
            <a:xfrm>
              <a:off x="666750" y="3657600"/>
              <a:ext cx="342900" cy="342900"/>
            </a:xfrm>
            <a:prstGeom prst="ellipse">
              <a:avLst/>
            </a:prstGeom>
            <a:solidFill>
              <a:schemeClr val="accent2"/>
            </a:solidFill>
            <a:ln>
              <a:noFill/>
            </a:ln>
          </p:spPr>
        </p:sp>
        <p:sp>
          <p:nvSpPr>
            <p:cNvPr id="13" name="TextBox 13"/>
            <p:cNvSpPr txBox="1"/>
            <p:nvPr/>
          </p:nvSpPr>
          <p:spPr>
            <a:xfrm>
              <a:off x="1133856" y="3710940"/>
              <a:ext cx="824789"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纯 LLM</a:t>
              </a:r>
            </a:p>
          </p:txBody>
        </p:sp>
        <p:sp>
          <p:nvSpPr>
            <p:cNvPr id="14" name="Ellipse 14"/>
            <p:cNvSpPr/>
            <p:nvPr/>
          </p:nvSpPr>
          <p:spPr>
            <a:xfrm>
              <a:off x="666750" y="4305300"/>
              <a:ext cx="342900" cy="342900"/>
            </a:xfrm>
            <a:prstGeom prst="ellipse">
              <a:avLst/>
            </a:prstGeom>
            <a:solidFill>
              <a:schemeClr val="accent2"/>
            </a:solidFill>
            <a:ln>
              <a:noFill/>
            </a:ln>
          </p:spPr>
        </p:sp>
        <p:sp>
          <p:nvSpPr>
            <p:cNvPr id="15" name="TextBox 15"/>
            <p:cNvSpPr txBox="1"/>
            <p:nvPr/>
          </p:nvSpPr>
          <p:spPr>
            <a:xfrm>
              <a:off x="1133856" y="4358640"/>
              <a:ext cx="1080821" cy="352044"/>
            </a:xfrm>
            <a:prstGeom prst="rect">
              <a:avLst/>
            </a:prstGeom>
            <a:noFill/>
            <a:ln>
              <a:noFill/>
            </a:ln>
          </p:spPr>
          <p:txBody>
            <a:bodyPr wrap="none" lIns="0" tIns="0" rIns="0" bIns="0" anchor="t" anchorCtr="0">
              <a:spAutoFit/>
            </a:bodyPr>
            <a:lstStyle/>
            <a:p>
              <a:pPr algn="l"/>
              <a:r>
                <a:rPr lang="zh-CN" sz="1800" dirty="0">
                  <a:solidFill>
                    <a:schemeClr val="dk1"/>
                  </a:solidFill>
                  <a:latin typeface="+mn-lt"/>
                  <a:ea typeface="+mn-ea"/>
                  <a:cs typeface="+mn-cs"/>
                </a:rPr>
                <a:t>智谱 GLM</a:t>
              </a:r>
            </a:p>
          </p:txBody>
        </p:sp>
        <p:sp>
          <p:nvSpPr>
            <p:cNvPr id="16" name="Rectangle 16"/>
            <p:cNvSpPr/>
            <p:nvPr/>
          </p:nvSpPr>
          <p:spPr>
            <a:xfrm>
              <a:off x="609600" y="4895850"/>
              <a:ext cx="4057650" cy="666750"/>
            </a:xfrm>
            <a:prstGeom prst="rect">
              <a:avLst/>
            </a:prstGeom>
            <a:solidFill>
              <a:schemeClr val="accent1"/>
            </a:solidFill>
            <a:ln>
              <a:noFill/>
            </a:ln>
          </p:spPr>
        </p:sp>
        <p:sp>
          <p:nvSpPr>
            <p:cNvPr id="17" name="TextBox 17"/>
            <p:cNvSpPr txBox="1"/>
            <p:nvPr/>
          </p:nvSpPr>
          <p:spPr>
            <a:xfrm>
              <a:off x="1316989" y="5120640"/>
              <a:ext cx="2642872" cy="352044"/>
            </a:xfrm>
            <a:prstGeom prst="rect">
              <a:avLst/>
            </a:prstGeom>
            <a:noFill/>
            <a:ln>
              <a:noFill/>
            </a:ln>
          </p:spPr>
          <p:txBody>
            <a:bodyPr wrap="none" lIns="0" tIns="0" rIns="0" bIns="0" anchor="t" anchorCtr="0">
              <a:spAutoFit/>
            </a:bodyPr>
            <a:lstStyle/>
            <a:p>
              <a:pPr algn="ctr"/>
              <a:r>
                <a:rPr lang="zh-CN" sz="1800" b="1" dirty="0">
                  <a:solidFill>
                    <a:srgbClr val="FFFFFF"/>
                  </a:solidFill>
                  <a:latin typeface="+mn-lt"/>
                  <a:ea typeface="+mn-ea"/>
                  <a:cs typeface="+mn-cs"/>
                </a:rPr>
                <a:t>匿名双顺序 · 双 Judge</a:t>
              </a:r>
            </a:p>
          </p:txBody>
        </p:sp>
      </p:grpSp>
      <p:grpSp>
        <p:nvGrpSpPr>
          <p:cNvPr id="22" name="Group 22"/>
          <p:cNvGrpSpPr/>
          <p:nvPr/>
        </p:nvGrpSpPr>
        <p:grpSpPr>
          <a:xfrm>
            <a:off x="5003292" y="1657350"/>
            <a:ext cx="6579108" cy="4137851"/>
            <a:chOff x="5003292" y="1657350"/>
            <a:chExt cx="6579108" cy="4137851"/>
          </a:xfrm>
        </p:grpSpPr>
        <p:sp>
          <p:nvSpPr>
            <p:cNvPr id="19" name="Rectangle 19"/>
            <p:cNvSpPr/>
            <p:nvPr/>
          </p:nvSpPr>
          <p:spPr>
            <a:xfrm>
              <a:off x="5010150" y="1657350"/>
              <a:ext cx="6572250" cy="3695700"/>
            </a:xfrm>
            <a:prstGeom prst="rect">
              <a:avLst/>
            </a:prstGeom>
            <a:solidFill>
              <a:schemeClr val="accent5"/>
            </a:solidFill>
            <a:ln w="19050">
              <a:solidFill>
                <a:schemeClr val="accent2"/>
              </a:solidFill>
            </a:ln>
          </p:spPr>
        </p:sp>
        <p:pic>
          <p:nvPicPr>
            <p:cNvPr id="20" name="Image 20"/>
            <p:cNvPicPr>
              <a:picLocks noChangeAspect="1"/>
            </p:cNvPicPr>
            <p:nvPr/>
          </p:nvPicPr>
          <p:blipFill>
            <a:blip r:embed="rId2"/>
            <a:stretch>
              <a:fillRect/>
            </a:stretch>
          </p:blipFill>
          <p:spPr>
            <a:xfrm>
              <a:off x="5124450" y="1771650"/>
              <a:ext cx="6343650" cy="3571875"/>
            </a:xfrm>
            <a:prstGeom prst="rect">
              <a:avLst/>
            </a:prstGeom>
          </p:spPr>
        </p:pic>
        <p:sp>
          <p:nvSpPr>
            <p:cNvPr id="21" name="TextBox 21"/>
            <p:cNvSpPr txBox="1"/>
            <p:nvPr/>
          </p:nvSpPr>
          <p:spPr>
            <a:xfrm>
              <a:off x="5003292" y="5531168"/>
              <a:ext cx="5637276"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前端真实运行记录：历史 Benchmark、80/80 结果与 120 个盲化配对</a:t>
              </a:r>
            </a:p>
          </p:txBody>
        </p:sp>
      </p:grpSp>
      <p:grpSp>
        <p:nvGrpSpPr>
          <p:cNvPr id="33" name="Group 33"/>
          <p:cNvGrpSpPr/>
          <p:nvPr/>
        </p:nvGrpSpPr>
        <p:grpSpPr>
          <a:xfrm>
            <a:off x="598170" y="6062662"/>
            <a:ext cx="9650829" cy="440055"/>
            <a:chOff x="598170" y="6062662"/>
            <a:chExt cx="9650829" cy="440055"/>
          </a:xfrm>
        </p:grpSpPr>
        <p:sp>
          <p:nvSpPr>
            <p:cNvPr id="23" name="TextBox 23"/>
            <p:cNvSpPr txBox="1"/>
            <p:nvPr/>
          </p:nvSpPr>
          <p:spPr>
            <a:xfrm>
              <a:off x="598170" y="60626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20</a:t>
              </a:r>
            </a:p>
          </p:txBody>
        </p:sp>
        <p:sp>
          <p:nvSpPr>
            <p:cNvPr id="24" name="TextBox 24"/>
            <p:cNvSpPr txBox="1"/>
            <p:nvPr/>
          </p:nvSpPr>
          <p:spPr>
            <a:xfrm>
              <a:off x="1078992" y="6140768"/>
              <a:ext cx="555909"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Query</a:t>
              </a:r>
            </a:p>
          </p:txBody>
        </p:sp>
        <p:sp>
          <p:nvSpPr>
            <p:cNvPr id="25" name="TextBox 25"/>
            <p:cNvSpPr txBox="1"/>
            <p:nvPr/>
          </p:nvSpPr>
          <p:spPr>
            <a:xfrm>
              <a:off x="2312670" y="6062662"/>
              <a:ext cx="372704"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80</a:t>
              </a:r>
            </a:p>
          </p:txBody>
        </p:sp>
        <p:sp>
          <p:nvSpPr>
            <p:cNvPr id="26" name="TextBox 26"/>
            <p:cNvSpPr txBox="1"/>
            <p:nvPr/>
          </p:nvSpPr>
          <p:spPr>
            <a:xfrm>
              <a:off x="2793492" y="61407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回答</a:t>
              </a:r>
            </a:p>
          </p:txBody>
        </p:sp>
        <p:sp>
          <p:nvSpPr>
            <p:cNvPr id="27" name="TextBox 27"/>
            <p:cNvSpPr txBox="1"/>
            <p:nvPr/>
          </p:nvSpPr>
          <p:spPr>
            <a:xfrm>
              <a:off x="4027170" y="6062662"/>
              <a:ext cx="547626"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120</a:t>
              </a:r>
            </a:p>
          </p:txBody>
        </p:sp>
        <p:sp>
          <p:nvSpPr>
            <p:cNvPr id="28" name="TextBox 28"/>
            <p:cNvSpPr txBox="1"/>
            <p:nvPr/>
          </p:nvSpPr>
          <p:spPr>
            <a:xfrm>
              <a:off x="4660392" y="6140768"/>
              <a:ext cx="37311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Pair</a:t>
              </a:r>
            </a:p>
          </p:txBody>
        </p:sp>
        <p:sp>
          <p:nvSpPr>
            <p:cNvPr id="29" name="TextBox 29"/>
            <p:cNvSpPr txBox="1"/>
            <p:nvPr/>
          </p:nvSpPr>
          <p:spPr>
            <a:xfrm>
              <a:off x="6179820" y="6062662"/>
              <a:ext cx="197782" cy="440055"/>
            </a:xfrm>
            <a:prstGeom prst="rect">
              <a:avLst/>
            </a:prstGeom>
            <a:noFill/>
            <a:ln>
              <a:noFill/>
            </a:ln>
          </p:spPr>
          <p:txBody>
            <a:bodyPr wrap="none" lIns="0" tIns="0" rIns="0" bIns="0" anchor="t" anchorCtr="0">
              <a:spAutoFit/>
            </a:bodyPr>
            <a:lstStyle/>
            <a:p>
              <a:pPr algn="l"/>
              <a:r>
                <a:rPr lang="en-US" sz="2250" b="1" dirty="0">
                  <a:solidFill>
                    <a:schemeClr val="accent2"/>
                  </a:solidFill>
                  <a:latin typeface="+mn-lt"/>
                  <a:ea typeface="+mn-ea"/>
                  <a:cs typeface="+mn-cs"/>
                </a:rPr>
                <a:t>2</a:t>
              </a:r>
            </a:p>
          </p:txBody>
        </p:sp>
        <p:sp>
          <p:nvSpPr>
            <p:cNvPr id="30" name="TextBox 30"/>
            <p:cNvSpPr txBox="1"/>
            <p:nvPr/>
          </p:nvSpPr>
          <p:spPr>
            <a:xfrm>
              <a:off x="6508242" y="6140768"/>
              <a:ext cx="1303191"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GPT-5.5 Judge</a:t>
              </a:r>
            </a:p>
          </p:txBody>
        </p:sp>
        <p:sp>
          <p:nvSpPr>
            <p:cNvPr id="31" name="TextBox 31"/>
            <p:cNvSpPr txBox="1"/>
            <p:nvPr/>
          </p:nvSpPr>
          <p:spPr>
            <a:xfrm>
              <a:off x="8846820" y="6062662"/>
              <a:ext cx="197782" cy="440055"/>
            </a:xfrm>
            <a:prstGeom prst="rect">
              <a:avLst/>
            </a:prstGeom>
            <a:noFill/>
            <a:ln>
              <a:noFill/>
            </a:ln>
          </p:spPr>
          <p:txBody>
            <a:bodyPr wrap="none" lIns="0" tIns="0" rIns="0" bIns="0" anchor="t" anchorCtr="0">
              <a:spAutoFit/>
            </a:bodyPr>
            <a:lstStyle/>
            <a:p>
              <a:pPr algn="l"/>
              <a:r>
                <a:rPr lang="en-US" sz="2250" b="1" dirty="0">
                  <a:solidFill>
                    <a:schemeClr val="accent3"/>
                  </a:solidFill>
                  <a:latin typeface="+mn-lt"/>
                  <a:ea typeface="+mn-ea"/>
                  <a:cs typeface="+mn-cs"/>
                </a:rPr>
                <a:t>0</a:t>
              </a:r>
            </a:p>
          </p:txBody>
        </p:sp>
        <p:sp>
          <p:nvSpPr>
            <p:cNvPr id="32" name="TextBox 32"/>
            <p:cNvSpPr txBox="1"/>
            <p:nvPr/>
          </p:nvSpPr>
          <p:spPr>
            <a:xfrm>
              <a:off x="9175242" y="6140768"/>
              <a:ext cx="1073757"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Judge error</a:t>
              </a:r>
            </a:p>
          </p:txBody>
        </p:sp>
      </p:gr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5375072"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从五项要求到八维评测标准</a:t>
              </a:r>
            </a:p>
          </p:txBody>
        </p:sp>
        <p:sp>
          <p:nvSpPr>
            <p:cNvPr id="3" name="TextBox 3"/>
            <p:cNvSpPr txBox="1"/>
            <p:nvPr/>
          </p:nvSpPr>
          <p:spPr>
            <a:xfrm>
              <a:off x="600456" y="1043940"/>
              <a:ext cx="5106924"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不奖励篇幅、格式或术语密度，只判断成果质量</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13</a:t>
              </a:r>
            </a:p>
          </p:txBody>
        </p:sp>
      </p:grpSp>
      <p:grpSp>
        <p:nvGrpSpPr>
          <p:cNvPr id="13" name="Group 13"/>
          <p:cNvGrpSpPr/>
          <p:nvPr/>
        </p:nvGrpSpPr>
        <p:grpSpPr>
          <a:xfrm>
            <a:off x="609600" y="1657350"/>
            <a:ext cx="3905250" cy="4191000"/>
            <a:chOff x="609600" y="1657350"/>
            <a:chExt cx="3905250" cy="4191000"/>
          </a:xfrm>
        </p:grpSpPr>
        <p:sp>
          <p:nvSpPr>
            <p:cNvPr id="6" name="Rectangle 6"/>
            <p:cNvSpPr/>
            <p:nvPr/>
          </p:nvSpPr>
          <p:spPr>
            <a:xfrm>
              <a:off x="609600" y="1657350"/>
              <a:ext cx="3905250" cy="4191000"/>
            </a:xfrm>
            <a:prstGeom prst="rect">
              <a:avLst/>
            </a:prstGeom>
            <a:solidFill>
              <a:schemeClr val="accent1"/>
            </a:solidFill>
            <a:ln>
              <a:noFill/>
            </a:ln>
          </p:spPr>
        </p:sp>
        <p:sp>
          <p:nvSpPr>
            <p:cNvPr id="7" name="TextBox 7"/>
            <p:cNvSpPr txBox="1"/>
            <p:nvPr/>
          </p:nvSpPr>
          <p:spPr>
            <a:xfrm>
              <a:off x="864108" y="1836420"/>
              <a:ext cx="20598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五项业务验收</a:t>
              </a:r>
            </a:p>
          </p:txBody>
        </p:sp>
        <p:sp>
          <p:nvSpPr>
            <p:cNvPr id="8" name="TextBox 8"/>
            <p:cNvSpPr txBox="1"/>
            <p:nvPr/>
          </p:nvSpPr>
          <p:spPr>
            <a:xfrm>
              <a:off x="867156" y="2529840"/>
              <a:ext cx="222336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01　领域属性符合性</a:t>
              </a:r>
            </a:p>
          </p:txBody>
        </p:sp>
        <p:sp>
          <p:nvSpPr>
            <p:cNvPr id="9" name="TextBox 9"/>
            <p:cNvSpPr txBox="1"/>
            <p:nvPr/>
          </p:nvSpPr>
          <p:spPr>
            <a:xfrm>
              <a:off x="867156" y="3139440"/>
              <a:ext cx="1981048"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02　装备能力图像</a:t>
              </a:r>
            </a:p>
          </p:txBody>
        </p:sp>
        <p:sp>
          <p:nvSpPr>
            <p:cNvPr id="10" name="TextBox 10"/>
            <p:cNvSpPr txBox="1"/>
            <p:nvPr/>
          </p:nvSpPr>
          <p:spPr>
            <a:xfrm>
              <a:off x="867156" y="3749040"/>
              <a:ext cx="14964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03　制胜效能</a:t>
              </a:r>
            </a:p>
          </p:txBody>
        </p:sp>
        <p:sp>
          <p:nvSpPr>
            <p:cNvPr id="11" name="TextBox 11"/>
            <p:cNvSpPr txBox="1"/>
            <p:nvPr/>
          </p:nvSpPr>
          <p:spPr>
            <a:xfrm>
              <a:off x="867156" y="4358640"/>
              <a:ext cx="1254100"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04　创新性</a:t>
              </a:r>
            </a:p>
          </p:txBody>
        </p:sp>
        <p:sp>
          <p:nvSpPr>
            <p:cNvPr id="12" name="TextBox 12"/>
            <p:cNvSpPr txBox="1"/>
            <p:nvPr/>
          </p:nvSpPr>
          <p:spPr>
            <a:xfrm>
              <a:off x="867156" y="4968240"/>
              <a:ext cx="2502027"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05　可实现性 / 成熟度</a:t>
              </a:r>
            </a:p>
          </p:txBody>
        </p:sp>
      </p:grpSp>
      <p:grpSp>
        <p:nvGrpSpPr>
          <p:cNvPr id="18" name="Group 18"/>
          <p:cNvGrpSpPr/>
          <p:nvPr/>
        </p:nvGrpSpPr>
        <p:grpSpPr>
          <a:xfrm>
            <a:off x="4914900" y="3139440"/>
            <a:ext cx="1104900" cy="1207961"/>
            <a:chOff x="4914900" y="3139440"/>
            <a:chExt cx="1104900" cy="1207961"/>
          </a:xfrm>
        </p:grpSpPr>
        <p:sp>
          <p:nvSpPr>
            <p:cNvPr id="14" name="Line 14"/>
            <p:cNvSpPr/>
            <p:nvPr/>
          </p:nvSpPr>
          <p:spPr>
            <a:xfrm>
              <a:off x="4914900" y="3695700"/>
              <a:ext cx="1104900" cy="9525"/>
            </a:xfrm>
            <a:custGeom>
              <a:avLst/>
              <a:gdLst/>
              <a:ahLst/>
              <a:cxnLst/>
              <a:rect l="l" t="t" r="r" b="b"/>
              <a:pathLst>
                <a:path w="1104900" h="9525">
                  <a:moveTo>
                    <a:pt x="0" y="0"/>
                  </a:moveTo>
                  <a:lnTo>
                    <a:pt x="1104900" y="0"/>
                  </a:lnTo>
                </a:path>
              </a:pathLst>
            </a:custGeom>
            <a:noFill/>
            <a:ln w="38100">
              <a:solidFill>
                <a:schemeClr val="accent2"/>
              </a:solidFill>
            </a:ln>
          </p:spPr>
        </p:sp>
        <p:sp>
          <p:nvSpPr>
            <p:cNvPr id="15" name="Polygon 15"/>
            <p:cNvSpPr/>
            <p:nvPr/>
          </p:nvSpPr>
          <p:spPr>
            <a:xfrm>
              <a:off x="5810250" y="3562350"/>
              <a:ext cx="209550" cy="266700"/>
            </a:xfrm>
            <a:custGeom>
              <a:avLst/>
              <a:gdLst/>
              <a:ahLst/>
              <a:cxnLst/>
              <a:rect l="l" t="t" r="r" b="b"/>
              <a:pathLst>
                <a:path w="209550" h="266700">
                  <a:moveTo>
                    <a:pt x="209550" y="133350"/>
                  </a:moveTo>
                  <a:lnTo>
                    <a:pt x="0" y="0"/>
                  </a:lnTo>
                  <a:lnTo>
                    <a:pt x="0" y="266700"/>
                  </a:lnTo>
                  <a:close/>
                </a:path>
              </a:pathLst>
            </a:custGeom>
            <a:solidFill>
              <a:schemeClr val="accent2"/>
            </a:solidFill>
            <a:ln>
              <a:noFill/>
            </a:ln>
          </p:spPr>
        </p:sp>
        <p:sp>
          <p:nvSpPr>
            <p:cNvPr id="16" name="TextBox 16"/>
            <p:cNvSpPr txBox="1"/>
            <p:nvPr/>
          </p:nvSpPr>
          <p:spPr>
            <a:xfrm>
              <a:off x="5076558" y="3139440"/>
              <a:ext cx="781583" cy="352044"/>
            </a:xfrm>
            <a:prstGeom prst="rect">
              <a:avLst/>
            </a:prstGeom>
            <a:noFill/>
            <a:ln>
              <a:noFill/>
            </a:ln>
          </p:spPr>
          <p:txBody>
            <a:bodyPr wrap="none" lIns="0" tIns="0" rIns="0" bIns="0" anchor="t" anchorCtr="0">
              <a:spAutoFit/>
            </a:bodyPr>
            <a:lstStyle/>
            <a:p>
              <a:pPr algn="ctr"/>
              <a:r>
                <a:rPr lang="zh-CN" sz="1800" b="1" dirty="0">
                  <a:solidFill>
                    <a:schemeClr val="accent1"/>
                  </a:solidFill>
                  <a:latin typeface="+mn-lt"/>
                  <a:ea typeface="+mn-ea"/>
                  <a:cs typeface="+mn-cs"/>
                </a:rPr>
                <a:t>映射为</a:t>
              </a:r>
            </a:p>
          </p:txBody>
        </p:sp>
        <p:sp>
          <p:nvSpPr>
            <p:cNvPr id="17" name="TextBox 17"/>
            <p:cNvSpPr txBox="1"/>
            <p:nvPr/>
          </p:nvSpPr>
          <p:spPr>
            <a:xfrm>
              <a:off x="4915281" y="4083368"/>
              <a:ext cx="1104138" cy="264033"/>
            </a:xfrm>
            <a:prstGeom prst="rect">
              <a:avLst/>
            </a:prstGeom>
            <a:noFill/>
            <a:ln>
              <a:noFill/>
            </a:ln>
          </p:spPr>
          <p:txBody>
            <a:bodyPr wrap="none" lIns="0" tIns="0" rIns="0" bIns="0" anchor="t" anchorCtr="0">
              <a:spAutoFit/>
            </a:bodyPr>
            <a:lstStyle/>
            <a:p>
              <a:pPr algn="ctr"/>
              <a:r>
                <a:rPr lang="zh-CN" sz="1350" dirty="0">
                  <a:solidFill>
                    <a:srgbClr val="6B7785"/>
                  </a:solidFill>
                  <a:latin typeface="+mn-lt"/>
                  <a:ea typeface="+mn-ea"/>
                  <a:cs typeface="+mn-cs"/>
                </a:rPr>
                <a:t>可判、可复核</a:t>
              </a:r>
            </a:p>
          </p:txBody>
        </p:sp>
      </p:grpSp>
      <p:grpSp>
        <p:nvGrpSpPr>
          <p:cNvPr id="31" name="Group 31"/>
          <p:cNvGrpSpPr/>
          <p:nvPr/>
        </p:nvGrpSpPr>
        <p:grpSpPr>
          <a:xfrm>
            <a:off x="6419850" y="1657350"/>
            <a:ext cx="5162550" cy="4191000"/>
            <a:chOff x="6419850" y="1657350"/>
            <a:chExt cx="5162550" cy="4191000"/>
          </a:xfrm>
        </p:grpSpPr>
        <p:sp>
          <p:nvSpPr>
            <p:cNvPr id="19" name="Rectangle 19"/>
            <p:cNvSpPr/>
            <p:nvPr/>
          </p:nvSpPr>
          <p:spPr>
            <a:xfrm>
              <a:off x="6419850" y="1657350"/>
              <a:ext cx="5162550" cy="4191000"/>
            </a:xfrm>
            <a:prstGeom prst="rect">
              <a:avLst/>
            </a:prstGeom>
            <a:solidFill>
              <a:schemeClr val="accent5"/>
            </a:solidFill>
            <a:ln>
              <a:noFill/>
            </a:ln>
          </p:spPr>
        </p:sp>
        <p:sp>
          <p:nvSpPr>
            <p:cNvPr id="20" name="TextBox 20"/>
            <p:cNvSpPr txBox="1"/>
            <p:nvPr/>
          </p:nvSpPr>
          <p:spPr>
            <a:xfrm>
              <a:off x="6693408" y="1836420"/>
              <a:ext cx="2996675"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八维 Pairwise 评测</a:t>
              </a:r>
            </a:p>
          </p:txBody>
        </p:sp>
        <p:sp>
          <p:nvSpPr>
            <p:cNvPr id="21" name="TextBox 21"/>
            <p:cNvSpPr txBox="1"/>
            <p:nvPr/>
          </p:nvSpPr>
          <p:spPr>
            <a:xfrm>
              <a:off x="6698742" y="250221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01 路径与任务完成</a:t>
              </a:r>
            </a:p>
          </p:txBody>
        </p:sp>
        <p:sp>
          <p:nvSpPr>
            <p:cNvPr id="22" name="TextBox 22"/>
            <p:cNvSpPr txBox="1"/>
            <p:nvPr/>
          </p:nvSpPr>
          <p:spPr>
            <a:xfrm>
              <a:off x="9118092" y="2502218"/>
              <a:ext cx="1807460"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02 证据与事实可靠性</a:t>
              </a:r>
            </a:p>
          </p:txBody>
        </p:sp>
        <p:sp>
          <p:nvSpPr>
            <p:cNvPr id="23" name="TextBox 23"/>
            <p:cNvSpPr txBox="1"/>
            <p:nvPr/>
          </p:nvSpPr>
          <p:spPr>
            <a:xfrm>
              <a:off x="6698742" y="313086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03 因果与机理深度</a:t>
              </a:r>
            </a:p>
          </p:txBody>
        </p:sp>
        <p:sp>
          <p:nvSpPr>
            <p:cNvPr id="24" name="TextBox 24"/>
            <p:cNvSpPr txBox="1"/>
            <p:nvPr/>
          </p:nvSpPr>
          <p:spPr>
            <a:xfrm>
              <a:off x="9118092" y="3130868"/>
              <a:ext cx="1425812"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04 军事运用价值</a:t>
              </a:r>
            </a:p>
          </p:txBody>
        </p:sp>
        <p:sp>
          <p:nvSpPr>
            <p:cNvPr id="25" name="TextBox 25"/>
            <p:cNvSpPr txBox="1"/>
            <p:nvPr/>
          </p:nvSpPr>
          <p:spPr>
            <a:xfrm>
              <a:off x="6698742" y="3759518"/>
              <a:ext cx="199828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05 能力映射与需求质量</a:t>
              </a:r>
            </a:p>
          </p:txBody>
        </p:sp>
        <p:sp>
          <p:nvSpPr>
            <p:cNvPr id="26" name="TextBox 26"/>
            <p:cNvSpPr txBox="1"/>
            <p:nvPr/>
          </p:nvSpPr>
          <p:spPr>
            <a:xfrm>
              <a:off x="9118092" y="3759518"/>
              <a:ext cx="1234989"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06 前瞻创新性</a:t>
              </a:r>
            </a:p>
          </p:txBody>
        </p:sp>
        <p:sp>
          <p:nvSpPr>
            <p:cNvPr id="27" name="TextBox 27"/>
            <p:cNvSpPr txBox="1"/>
            <p:nvPr/>
          </p:nvSpPr>
          <p:spPr>
            <a:xfrm>
              <a:off x="6698742" y="4388168"/>
              <a:ext cx="1998284"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07 体系与跨场景稳健性</a:t>
              </a:r>
            </a:p>
          </p:txBody>
        </p:sp>
        <p:sp>
          <p:nvSpPr>
            <p:cNvPr id="28" name="TextBox 28"/>
            <p:cNvSpPr txBox="1"/>
            <p:nvPr/>
          </p:nvSpPr>
          <p:spPr>
            <a:xfrm>
              <a:off x="9118092" y="4388168"/>
              <a:ext cx="1616636"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08 不确定性与验证</a:t>
              </a:r>
            </a:p>
          </p:txBody>
        </p:sp>
        <p:sp>
          <p:nvSpPr>
            <p:cNvPr id="29" name="Line 29"/>
            <p:cNvSpPr/>
            <p:nvPr/>
          </p:nvSpPr>
          <p:spPr>
            <a:xfrm>
              <a:off x="6705600" y="4953000"/>
              <a:ext cx="4591050" cy="9525"/>
            </a:xfrm>
            <a:custGeom>
              <a:avLst/>
              <a:gdLst/>
              <a:ahLst/>
              <a:cxnLst/>
              <a:rect l="l" t="t" r="r" b="b"/>
              <a:pathLst>
                <a:path w="4591050" h="9525">
                  <a:moveTo>
                    <a:pt x="0" y="0"/>
                  </a:moveTo>
                  <a:lnTo>
                    <a:pt x="4591050" y="0"/>
                  </a:lnTo>
                </a:path>
              </a:pathLst>
            </a:custGeom>
            <a:noFill/>
            <a:ln w="19050">
              <a:solidFill>
                <a:srgbClr val="C9D5E0"/>
              </a:solidFill>
            </a:ln>
          </p:spPr>
        </p:sp>
        <p:sp>
          <p:nvSpPr>
            <p:cNvPr id="30" name="TextBox 30"/>
            <p:cNvSpPr txBox="1"/>
            <p:nvPr/>
          </p:nvSpPr>
          <p:spPr>
            <a:xfrm>
              <a:off x="6698742" y="5226368"/>
              <a:ext cx="292150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总体胜负基于八维加权与硬失败检查</a:t>
              </a:r>
            </a:p>
          </p:txBody>
        </p:sp>
      </p:grpSp>
      <p:sp>
        <p:nvSpPr>
          <p:cNvPr id="32" name="TextBox 32"/>
          <p:cNvSpPr txBox="1"/>
          <p:nvPr/>
        </p:nvSpPr>
        <p:spPr>
          <a:xfrm>
            <a:off x="602742" y="6274118"/>
            <a:ext cx="3121419"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来源：pairwise_prompt_v1 评审口径</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916876"/>
            <a:chOff x="593598" y="498158"/>
            <a:chExt cx="10995660" cy="916876"/>
          </a:xfrm>
        </p:grpSpPr>
        <p:sp>
          <p:nvSpPr>
            <p:cNvPr id="2" name="TextBox 2"/>
            <p:cNvSpPr txBox="1"/>
            <p:nvPr/>
          </p:nvSpPr>
          <p:spPr>
            <a:xfrm>
              <a:off x="593598" y="498158"/>
              <a:ext cx="381807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Benchmark 总结果</a:t>
              </a:r>
            </a:p>
          </p:txBody>
        </p:sp>
        <p:sp>
          <p:nvSpPr>
            <p:cNvPr id="3" name="TextBox 3"/>
            <p:cNvSpPr txBox="1"/>
            <p:nvPr/>
          </p:nvSpPr>
          <p:spPr>
            <a:xfrm>
              <a:off x="600456" y="1062990"/>
              <a:ext cx="292608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完整方法对三类基线均领先</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14</a:t>
              </a:r>
            </a:p>
          </p:txBody>
        </p:sp>
      </p:grpSp>
      <p:grpSp>
        <p:nvGrpSpPr>
          <p:cNvPr id="22" name="Group 22"/>
          <p:cNvGrpSpPr/>
          <p:nvPr/>
        </p:nvGrpSpPr>
        <p:grpSpPr>
          <a:xfrm>
            <a:off x="609600" y="1676400"/>
            <a:ext cx="5048250" cy="4095750"/>
            <a:chOff x="609600" y="1676400"/>
            <a:chExt cx="5048250" cy="4095750"/>
          </a:xfrm>
        </p:grpSpPr>
        <p:sp>
          <p:nvSpPr>
            <p:cNvPr id="6" name="Rectangle 6"/>
            <p:cNvSpPr/>
            <p:nvPr/>
          </p:nvSpPr>
          <p:spPr>
            <a:xfrm>
              <a:off x="609600" y="1676400"/>
              <a:ext cx="5048250" cy="4095750"/>
            </a:xfrm>
            <a:prstGeom prst="rect">
              <a:avLst/>
            </a:prstGeom>
            <a:solidFill>
              <a:schemeClr val="accent5"/>
            </a:solidFill>
            <a:ln>
              <a:noFill/>
            </a:ln>
          </p:spPr>
        </p:sp>
        <p:sp>
          <p:nvSpPr>
            <p:cNvPr id="7" name="TextBox 7"/>
            <p:cNvSpPr txBox="1"/>
            <p:nvPr/>
          </p:nvSpPr>
          <p:spPr>
            <a:xfrm>
              <a:off x="867156" y="1882140"/>
              <a:ext cx="1799311"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完整方法得分率</a:t>
              </a:r>
            </a:p>
          </p:txBody>
        </p:sp>
        <p:grpSp>
          <p:nvGrpSpPr>
            <p:cNvPr id="21" name="Group 21"/>
            <p:cNvGrpSpPr/>
            <p:nvPr/>
          </p:nvGrpSpPr>
          <p:grpSpPr>
            <a:xfrm>
              <a:off x="1009650" y="2166938"/>
              <a:ext cx="4305300" cy="3228213"/>
              <a:chOff x="1009650" y="2166938"/>
              <a:chExt cx="4305300" cy="3228213"/>
            </a:xfrm>
          </p:grpSpPr>
          <p:sp>
            <p:nvSpPr>
              <p:cNvPr id="8" name="Line 8"/>
              <p:cNvSpPr/>
              <p:nvPr/>
            </p:nvSpPr>
            <p:spPr>
              <a:xfrm>
                <a:off x="1009650" y="4953000"/>
                <a:ext cx="4305300" cy="9525"/>
              </a:xfrm>
              <a:custGeom>
                <a:avLst/>
                <a:gdLst/>
                <a:ahLst/>
                <a:cxnLst/>
                <a:rect l="l" t="t" r="r" b="b"/>
                <a:pathLst>
                  <a:path w="4305300" h="9525">
                    <a:moveTo>
                      <a:pt x="0" y="0"/>
                    </a:moveTo>
                    <a:lnTo>
                      <a:pt x="4305300" y="0"/>
                    </a:lnTo>
                  </a:path>
                </a:pathLst>
              </a:custGeom>
              <a:noFill/>
              <a:ln w="19050">
                <a:solidFill>
                  <a:srgbClr val="94A3B8"/>
                </a:solidFill>
              </a:ln>
            </p:spPr>
          </p:sp>
          <p:sp>
            <p:nvSpPr>
              <p:cNvPr id="9" name="Line 9"/>
              <p:cNvSpPr/>
              <p:nvPr/>
            </p:nvSpPr>
            <p:spPr>
              <a:xfrm>
                <a:off x="1009650" y="2476500"/>
                <a:ext cx="9525" cy="2476500"/>
              </a:xfrm>
              <a:custGeom>
                <a:avLst/>
                <a:gdLst/>
                <a:ahLst/>
                <a:cxnLst/>
                <a:rect l="l" t="t" r="r" b="b"/>
                <a:pathLst>
                  <a:path w="9525" h="2476500">
                    <a:moveTo>
                      <a:pt x="0" y="0"/>
                    </a:moveTo>
                    <a:lnTo>
                      <a:pt x="0" y="2476500"/>
                    </a:lnTo>
                  </a:path>
                </a:pathLst>
              </a:custGeom>
              <a:noFill/>
              <a:ln w="19050">
                <a:solidFill>
                  <a:srgbClr val="94A3B8"/>
                </a:solidFill>
              </a:ln>
            </p:spPr>
          </p:sp>
          <p:sp>
            <p:nvSpPr>
              <p:cNvPr id="10" name="Line 10"/>
              <p:cNvSpPr/>
              <p:nvPr/>
            </p:nvSpPr>
            <p:spPr>
              <a:xfrm>
                <a:off x="1009650" y="3714750"/>
                <a:ext cx="4305300" cy="9525"/>
              </a:xfrm>
              <a:custGeom>
                <a:avLst/>
                <a:gdLst/>
                <a:ahLst/>
                <a:cxnLst/>
                <a:rect l="l" t="t" r="r" b="b"/>
                <a:pathLst>
                  <a:path w="4305300" h="9525">
                    <a:moveTo>
                      <a:pt x="0" y="0"/>
                    </a:moveTo>
                    <a:lnTo>
                      <a:pt x="4305300" y="0"/>
                    </a:lnTo>
                  </a:path>
                </a:pathLst>
              </a:custGeom>
              <a:noFill/>
              <a:ln w="19050">
                <a:solidFill>
                  <a:srgbClr val="D8E1EA"/>
                </a:solidFill>
                <a:custDash>
                  <a:ds d="300000" sp="300000"/>
                </a:custDash>
              </a:ln>
            </p:spPr>
          </p:sp>
          <p:sp>
            <p:nvSpPr>
              <p:cNvPr id="11" name="Line 11"/>
              <p:cNvSpPr/>
              <p:nvPr/>
            </p:nvSpPr>
            <p:spPr>
              <a:xfrm>
                <a:off x="1009650" y="2476500"/>
                <a:ext cx="4305300" cy="9525"/>
              </a:xfrm>
              <a:custGeom>
                <a:avLst/>
                <a:gdLst/>
                <a:ahLst/>
                <a:cxnLst/>
                <a:rect l="l" t="t" r="r" b="b"/>
                <a:pathLst>
                  <a:path w="4305300" h="9525">
                    <a:moveTo>
                      <a:pt x="0" y="0"/>
                    </a:moveTo>
                    <a:lnTo>
                      <a:pt x="4305300" y="0"/>
                    </a:lnTo>
                  </a:path>
                </a:pathLst>
              </a:custGeom>
              <a:noFill/>
              <a:ln w="19050">
                <a:solidFill>
                  <a:srgbClr val="D8E1EA"/>
                </a:solidFill>
                <a:custDash>
                  <a:ds d="300000" sp="300000"/>
                </a:custDash>
              </a:ln>
            </p:spPr>
          </p:sp>
          <p:sp>
            <p:nvSpPr>
              <p:cNvPr id="12" name="Rectangle 12"/>
              <p:cNvSpPr/>
              <p:nvPr/>
            </p:nvSpPr>
            <p:spPr>
              <a:xfrm>
                <a:off x="1584960" y="2909888"/>
                <a:ext cx="876300" cy="2043112"/>
              </a:xfrm>
              <a:prstGeom prst="rect">
                <a:avLst/>
              </a:prstGeom>
              <a:solidFill>
                <a:schemeClr val="accent2"/>
              </a:solidFill>
              <a:ln>
                <a:noFill/>
              </a:ln>
            </p:spPr>
          </p:sp>
          <p:sp>
            <p:nvSpPr>
              <p:cNvPr id="13" name="Rectangle 13"/>
              <p:cNvSpPr/>
              <p:nvPr/>
            </p:nvSpPr>
            <p:spPr>
              <a:xfrm>
                <a:off x="2724150" y="2538412"/>
                <a:ext cx="876300" cy="2414588"/>
              </a:xfrm>
              <a:prstGeom prst="rect">
                <a:avLst/>
              </a:prstGeom>
              <a:solidFill>
                <a:schemeClr val="accent3"/>
              </a:solidFill>
              <a:ln>
                <a:noFill/>
              </a:ln>
            </p:spPr>
          </p:sp>
          <p:sp>
            <p:nvSpPr>
              <p:cNvPr id="14" name="Rectangle 14"/>
              <p:cNvSpPr/>
              <p:nvPr/>
            </p:nvSpPr>
            <p:spPr>
              <a:xfrm>
                <a:off x="3863340" y="2538412"/>
                <a:ext cx="876300" cy="2414588"/>
              </a:xfrm>
              <a:prstGeom prst="rect">
                <a:avLst/>
              </a:prstGeom>
              <a:solidFill>
                <a:schemeClr val="accent3"/>
              </a:solidFill>
              <a:ln>
                <a:noFill/>
              </a:ln>
            </p:spPr>
          </p:sp>
          <p:sp>
            <p:nvSpPr>
              <p:cNvPr id="15" name="TextBox 15"/>
              <p:cNvSpPr txBox="1"/>
              <p:nvPr/>
            </p:nvSpPr>
            <p:spPr>
              <a:xfrm>
                <a:off x="1542571" y="2538412"/>
                <a:ext cx="961077"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82.5%</a:t>
                </a:r>
              </a:p>
            </p:txBody>
          </p:sp>
          <p:sp>
            <p:nvSpPr>
              <p:cNvPr id="16" name="TextBox 16"/>
              <p:cNvSpPr txBox="1"/>
              <p:nvPr/>
            </p:nvSpPr>
            <p:spPr>
              <a:xfrm>
                <a:off x="2681761" y="2166938"/>
                <a:ext cx="961077"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97.5%</a:t>
                </a:r>
              </a:p>
            </p:txBody>
          </p:sp>
          <p:sp>
            <p:nvSpPr>
              <p:cNvPr id="17" name="TextBox 17"/>
              <p:cNvSpPr txBox="1"/>
              <p:nvPr/>
            </p:nvSpPr>
            <p:spPr>
              <a:xfrm>
                <a:off x="3820951" y="2166938"/>
                <a:ext cx="961077"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97.5%</a:t>
                </a:r>
              </a:p>
            </p:txBody>
          </p:sp>
          <p:sp>
            <p:nvSpPr>
              <p:cNvPr id="18" name="TextBox 18"/>
              <p:cNvSpPr txBox="1"/>
              <p:nvPr/>
            </p:nvSpPr>
            <p:spPr>
              <a:xfrm>
                <a:off x="1552171" y="5131118"/>
                <a:ext cx="94187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通用 Agent</a:t>
                </a:r>
              </a:p>
            </p:txBody>
          </p:sp>
          <p:sp>
            <p:nvSpPr>
              <p:cNvPr id="19" name="TextBox 19"/>
              <p:cNvSpPr txBox="1"/>
              <p:nvPr/>
            </p:nvSpPr>
            <p:spPr>
              <a:xfrm>
                <a:off x="2853004" y="5131118"/>
                <a:ext cx="618592"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纯 LLM</a:t>
                </a:r>
              </a:p>
            </p:txBody>
          </p:sp>
          <p:sp>
            <p:nvSpPr>
              <p:cNvPr id="20" name="TextBox 20"/>
              <p:cNvSpPr txBox="1"/>
              <p:nvPr/>
            </p:nvSpPr>
            <p:spPr>
              <a:xfrm>
                <a:off x="3896182" y="5131118"/>
                <a:ext cx="810616"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智谱 GLM</a:t>
                </a:r>
              </a:p>
            </p:txBody>
          </p:sp>
        </p:grpSp>
      </p:grpSp>
      <p:grpSp>
        <p:nvGrpSpPr>
          <p:cNvPr id="26" name="Group 26"/>
          <p:cNvGrpSpPr/>
          <p:nvPr/>
        </p:nvGrpSpPr>
        <p:grpSpPr>
          <a:xfrm>
            <a:off x="5955792" y="1676400"/>
            <a:ext cx="5626608" cy="3699701"/>
            <a:chOff x="5955792" y="1676400"/>
            <a:chExt cx="5626608" cy="3699701"/>
          </a:xfrm>
        </p:grpSpPr>
        <p:sp>
          <p:nvSpPr>
            <p:cNvPr id="23" name="Rectangle 23"/>
            <p:cNvSpPr/>
            <p:nvPr/>
          </p:nvSpPr>
          <p:spPr>
            <a:xfrm>
              <a:off x="5962650" y="1676400"/>
              <a:ext cx="5619750" cy="3295650"/>
            </a:xfrm>
            <a:prstGeom prst="rect">
              <a:avLst/>
            </a:prstGeom>
            <a:solidFill>
              <a:schemeClr val="lt1"/>
            </a:solidFill>
            <a:ln w="19050">
              <a:solidFill>
                <a:schemeClr val="accent2"/>
              </a:solidFill>
            </a:ln>
          </p:spPr>
        </p:sp>
        <p:pic>
          <p:nvPicPr>
            <p:cNvPr id="24" name="Image 24"/>
            <p:cNvPicPr>
              <a:picLocks noChangeAspect="1"/>
            </p:cNvPicPr>
            <p:nvPr/>
          </p:nvPicPr>
          <p:blipFill>
            <a:blip r:embed="rId2"/>
            <a:stretch>
              <a:fillRect/>
            </a:stretch>
          </p:blipFill>
          <p:spPr>
            <a:xfrm>
              <a:off x="6057900" y="1771650"/>
              <a:ext cx="5429250" cy="3057525"/>
            </a:xfrm>
            <a:prstGeom prst="rect">
              <a:avLst/>
            </a:prstGeom>
          </p:spPr>
        </p:pic>
        <p:sp>
          <p:nvSpPr>
            <p:cNvPr id="25" name="TextBox 25"/>
            <p:cNvSpPr txBox="1"/>
            <p:nvPr/>
          </p:nvSpPr>
          <p:spPr>
            <a:xfrm>
              <a:off x="5955792" y="5112068"/>
              <a:ext cx="3790691"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前端结果证据：15胜3平2负及八维 Judge 票型</a:t>
              </a:r>
            </a:p>
          </p:txBody>
        </p:sp>
      </p:grpSp>
      <p:grpSp>
        <p:nvGrpSpPr>
          <p:cNvPr id="29" name="Group 29"/>
          <p:cNvGrpSpPr/>
          <p:nvPr/>
        </p:nvGrpSpPr>
        <p:grpSpPr>
          <a:xfrm>
            <a:off x="602742" y="6121718"/>
            <a:ext cx="8449772" cy="264033"/>
            <a:chOff x="602742" y="6121718"/>
            <a:chExt cx="8449772" cy="264033"/>
          </a:xfrm>
        </p:grpSpPr>
        <p:sp>
          <p:nvSpPr>
            <p:cNvPr id="27" name="TextBox 27"/>
            <p:cNvSpPr txBox="1"/>
            <p:nvPr/>
          </p:nvSpPr>
          <p:spPr>
            <a:xfrm>
              <a:off x="602742" y="6121718"/>
              <a:ext cx="393923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vs 通用 Agent：15胜3平2负，95% CI 65%–95%</a:t>
              </a:r>
            </a:p>
          </p:txBody>
        </p:sp>
        <p:sp>
          <p:nvSpPr>
            <p:cNvPr id="28" name="TextBox 28"/>
            <p:cNvSpPr txBox="1"/>
            <p:nvPr/>
          </p:nvSpPr>
          <p:spPr>
            <a:xfrm>
              <a:off x="6051042" y="6121718"/>
              <a:ext cx="300147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vs 纯 LLM / 智谱：均为19胜1平0负</a:t>
              </a:r>
            </a:p>
          </p:txBody>
        </p:sp>
      </p:gr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5142867"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对通用 Agent 的八维票型</a:t>
              </a:r>
            </a:p>
          </p:txBody>
        </p:sp>
        <p:sp>
          <p:nvSpPr>
            <p:cNvPr id="3" name="TextBox 3"/>
            <p:cNvSpPr txBox="1"/>
            <p:nvPr/>
          </p:nvSpPr>
          <p:spPr>
            <a:xfrm>
              <a:off x="600456" y="1024890"/>
              <a:ext cx="316839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七维领先，一维证据明显落后</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15</a:t>
              </a:r>
            </a:p>
          </p:txBody>
        </p:sp>
      </p:grpSp>
      <p:grpSp>
        <p:nvGrpSpPr>
          <p:cNvPr id="46" name="Group 46"/>
          <p:cNvGrpSpPr/>
          <p:nvPr/>
        </p:nvGrpSpPr>
        <p:grpSpPr>
          <a:xfrm>
            <a:off x="602742" y="1866900"/>
            <a:ext cx="8987691" cy="3775901"/>
            <a:chOff x="602742" y="1866900"/>
            <a:chExt cx="8987691" cy="3775901"/>
          </a:xfrm>
        </p:grpSpPr>
        <p:grpSp>
          <p:nvGrpSpPr>
            <p:cNvPr id="45" name="Group 45"/>
            <p:cNvGrpSpPr/>
            <p:nvPr/>
          </p:nvGrpSpPr>
          <p:grpSpPr>
            <a:xfrm>
              <a:off x="602742" y="1866900"/>
              <a:ext cx="8987691" cy="3775901"/>
              <a:chOff x="602742" y="1866900"/>
              <a:chExt cx="8987691" cy="3775901"/>
            </a:xfrm>
          </p:grpSpPr>
          <p:sp>
            <p:nvSpPr>
              <p:cNvPr id="6" name="Line 6"/>
              <p:cNvSpPr/>
              <p:nvPr/>
            </p:nvSpPr>
            <p:spPr>
              <a:xfrm>
                <a:off x="2857500" y="1866900"/>
                <a:ext cx="5715000" cy="9525"/>
              </a:xfrm>
              <a:custGeom>
                <a:avLst/>
                <a:gdLst/>
                <a:ahLst/>
                <a:cxnLst/>
                <a:rect l="l" t="t" r="r" b="b"/>
                <a:pathLst>
                  <a:path w="5715000" h="9525">
                    <a:moveTo>
                      <a:pt x="0" y="0"/>
                    </a:moveTo>
                    <a:lnTo>
                      <a:pt x="5715000" y="0"/>
                    </a:lnTo>
                  </a:path>
                </a:pathLst>
              </a:custGeom>
              <a:noFill/>
              <a:ln w="19050">
                <a:solidFill>
                  <a:srgbClr val="94A3B8"/>
                </a:solidFill>
              </a:ln>
            </p:spPr>
          </p:sp>
          <p:sp>
            <p:nvSpPr>
              <p:cNvPr id="7" name="TextBox 7"/>
              <p:cNvSpPr txBox="1"/>
              <p:nvPr/>
            </p:nvSpPr>
            <p:spPr>
              <a:xfrm>
                <a:off x="602742" y="2045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任务与路径完成</a:t>
                </a:r>
              </a:p>
            </p:txBody>
          </p:sp>
          <p:sp>
            <p:nvSpPr>
              <p:cNvPr id="8" name="Rectangle 8"/>
              <p:cNvSpPr/>
              <p:nvPr/>
            </p:nvSpPr>
            <p:spPr>
              <a:xfrm>
                <a:off x="2857500" y="1981200"/>
                <a:ext cx="3678555" cy="228600"/>
              </a:xfrm>
              <a:prstGeom prst="rect">
                <a:avLst/>
              </a:prstGeom>
              <a:solidFill>
                <a:schemeClr val="accent2"/>
              </a:solidFill>
              <a:ln>
                <a:noFill/>
              </a:ln>
            </p:spPr>
          </p:sp>
          <p:sp>
            <p:nvSpPr>
              <p:cNvPr id="9" name="Rectangle 9"/>
              <p:cNvSpPr/>
              <p:nvPr/>
            </p:nvSpPr>
            <p:spPr>
              <a:xfrm>
                <a:off x="6536055" y="1981200"/>
                <a:ext cx="618172" cy="228600"/>
              </a:xfrm>
              <a:prstGeom prst="rect">
                <a:avLst/>
              </a:prstGeom>
              <a:solidFill>
                <a:srgbClr val="B7C7D6"/>
              </a:solidFill>
              <a:ln>
                <a:noFill/>
              </a:ln>
            </p:spPr>
          </p:sp>
          <p:sp>
            <p:nvSpPr>
              <p:cNvPr id="10" name="Rectangle 10"/>
              <p:cNvSpPr/>
              <p:nvPr/>
            </p:nvSpPr>
            <p:spPr>
              <a:xfrm>
                <a:off x="7154228" y="1981200"/>
                <a:ext cx="1418272" cy="228600"/>
              </a:xfrm>
              <a:prstGeom prst="rect">
                <a:avLst/>
              </a:prstGeom>
              <a:solidFill>
                <a:schemeClr val="accent6"/>
              </a:solidFill>
              <a:ln>
                <a:noFill/>
              </a:ln>
            </p:spPr>
          </p:sp>
          <p:sp>
            <p:nvSpPr>
              <p:cNvPr id="11" name="TextBox 11"/>
              <p:cNvSpPr txBox="1"/>
              <p:nvPr/>
            </p:nvSpPr>
            <p:spPr>
              <a:xfrm>
                <a:off x="8737092" y="202596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65:2:13</a:t>
                </a:r>
              </a:p>
            </p:txBody>
          </p:sp>
          <p:sp>
            <p:nvSpPr>
              <p:cNvPr id="12" name="TextBox 12"/>
              <p:cNvSpPr txBox="1"/>
              <p:nvPr/>
            </p:nvSpPr>
            <p:spPr>
              <a:xfrm>
                <a:off x="602742" y="2521268"/>
                <a:ext cx="1540307"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证据与事实可靠性</a:t>
                </a:r>
              </a:p>
            </p:txBody>
          </p:sp>
          <p:sp>
            <p:nvSpPr>
              <p:cNvPr id="13" name="Rectangle 13"/>
              <p:cNvSpPr/>
              <p:nvPr/>
            </p:nvSpPr>
            <p:spPr>
              <a:xfrm>
                <a:off x="2857500" y="2457450"/>
                <a:ext cx="1815465" cy="228600"/>
              </a:xfrm>
              <a:prstGeom prst="rect">
                <a:avLst/>
              </a:prstGeom>
              <a:solidFill>
                <a:schemeClr val="accent2"/>
              </a:solidFill>
              <a:ln>
                <a:noFill/>
              </a:ln>
            </p:spPr>
          </p:sp>
          <p:sp>
            <p:nvSpPr>
              <p:cNvPr id="14" name="Rectangle 14"/>
              <p:cNvSpPr/>
              <p:nvPr/>
            </p:nvSpPr>
            <p:spPr>
              <a:xfrm>
                <a:off x="4672965" y="2457450"/>
                <a:ext cx="1443990" cy="228600"/>
              </a:xfrm>
              <a:prstGeom prst="rect">
                <a:avLst/>
              </a:prstGeom>
              <a:solidFill>
                <a:srgbClr val="B7C7D6"/>
              </a:solidFill>
              <a:ln>
                <a:noFill/>
              </a:ln>
            </p:spPr>
          </p:sp>
          <p:sp>
            <p:nvSpPr>
              <p:cNvPr id="15" name="Rectangle 15"/>
              <p:cNvSpPr/>
              <p:nvPr/>
            </p:nvSpPr>
            <p:spPr>
              <a:xfrm>
                <a:off x="6116955" y="2457450"/>
                <a:ext cx="2455545" cy="228600"/>
              </a:xfrm>
              <a:prstGeom prst="rect">
                <a:avLst/>
              </a:prstGeom>
              <a:solidFill>
                <a:schemeClr val="accent6"/>
              </a:solidFill>
              <a:ln>
                <a:noFill/>
              </a:ln>
            </p:spPr>
          </p:sp>
          <p:sp>
            <p:nvSpPr>
              <p:cNvPr id="16" name="TextBox 16"/>
              <p:cNvSpPr txBox="1"/>
              <p:nvPr/>
            </p:nvSpPr>
            <p:spPr>
              <a:xfrm>
                <a:off x="8737092" y="2502218"/>
                <a:ext cx="853341" cy="264033"/>
              </a:xfrm>
              <a:prstGeom prst="rect">
                <a:avLst/>
              </a:prstGeom>
              <a:noFill/>
              <a:ln>
                <a:noFill/>
              </a:ln>
            </p:spPr>
            <p:txBody>
              <a:bodyPr wrap="none" lIns="0" tIns="0" rIns="0" bIns="0" anchor="t" anchorCtr="0">
                <a:spAutoFit/>
              </a:bodyPr>
              <a:lstStyle/>
              <a:p>
                <a:pPr algn="l"/>
                <a:r>
                  <a:rPr lang="en-US" sz="1350" b="1" dirty="0">
                    <a:solidFill>
                      <a:schemeClr val="accent6"/>
                    </a:solidFill>
                    <a:latin typeface="+mn-lt"/>
                    <a:ea typeface="+mn-ea"/>
                    <a:cs typeface="+mn-cs"/>
                  </a:rPr>
                  <a:t>16:14:50</a:t>
                </a:r>
              </a:p>
            </p:txBody>
          </p:sp>
          <p:sp>
            <p:nvSpPr>
              <p:cNvPr id="17" name="TextBox 17"/>
              <p:cNvSpPr txBox="1"/>
              <p:nvPr/>
            </p:nvSpPr>
            <p:spPr>
              <a:xfrm>
                <a:off x="602742" y="2997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因果与机理深度</a:t>
                </a:r>
              </a:p>
            </p:txBody>
          </p:sp>
          <p:sp>
            <p:nvSpPr>
              <p:cNvPr id="18" name="Rectangle 18"/>
              <p:cNvSpPr/>
              <p:nvPr/>
            </p:nvSpPr>
            <p:spPr>
              <a:xfrm>
                <a:off x="2857500" y="2933700"/>
                <a:ext cx="4192905" cy="228600"/>
              </a:xfrm>
              <a:prstGeom prst="rect">
                <a:avLst/>
              </a:prstGeom>
              <a:solidFill>
                <a:schemeClr val="accent2"/>
              </a:solidFill>
              <a:ln>
                <a:noFill/>
              </a:ln>
            </p:spPr>
          </p:sp>
          <p:sp>
            <p:nvSpPr>
              <p:cNvPr id="19" name="Rectangle 19"/>
              <p:cNvSpPr/>
              <p:nvPr/>
            </p:nvSpPr>
            <p:spPr>
              <a:xfrm>
                <a:off x="7050405" y="2933700"/>
                <a:ext cx="1522095" cy="228600"/>
              </a:xfrm>
              <a:prstGeom prst="rect">
                <a:avLst/>
              </a:prstGeom>
              <a:solidFill>
                <a:schemeClr val="accent6"/>
              </a:solidFill>
              <a:ln>
                <a:noFill/>
              </a:ln>
            </p:spPr>
          </p:sp>
          <p:sp>
            <p:nvSpPr>
              <p:cNvPr id="20" name="TextBox 20"/>
              <p:cNvSpPr txBox="1"/>
              <p:nvPr/>
            </p:nvSpPr>
            <p:spPr>
              <a:xfrm>
                <a:off x="8737092" y="297846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68:0:12</a:t>
                </a:r>
              </a:p>
            </p:txBody>
          </p:sp>
          <p:sp>
            <p:nvSpPr>
              <p:cNvPr id="21" name="TextBox 21"/>
              <p:cNvSpPr txBox="1"/>
              <p:nvPr/>
            </p:nvSpPr>
            <p:spPr>
              <a:xfrm>
                <a:off x="602742" y="34737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能力映射与需求质量</a:t>
                </a:r>
              </a:p>
            </p:txBody>
          </p:sp>
          <p:sp>
            <p:nvSpPr>
              <p:cNvPr id="22" name="Rectangle 22"/>
              <p:cNvSpPr/>
              <p:nvPr/>
            </p:nvSpPr>
            <p:spPr>
              <a:xfrm>
                <a:off x="2857500" y="3409950"/>
                <a:ext cx="3951922" cy="228600"/>
              </a:xfrm>
              <a:prstGeom prst="rect">
                <a:avLst/>
              </a:prstGeom>
              <a:solidFill>
                <a:schemeClr val="accent2"/>
              </a:solidFill>
              <a:ln>
                <a:noFill/>
              </a:ln>
            </p:spPr>
          </p:sp>
          <p:sp>
            <p:nvSpPr>
              <p:cNvPr id="23" name="Rectangle 23"/>
              <p:cNvSpPr/>
              <p:nvPr/>
            </p:nvSpPr>
            <p:spPr>
              <a:xfrm>
                <a:off x="6809422" y="3409950"/>
                <a:ext cx="458152" cy="228600"/>
              </a:xfrm>
              <a:prstGeom prst="rect">
                <a:avLst/>
              </a:prstGeom>
              <a:solidFill>
                <a:srgbClr val="B7C7D6"/>
              </a:solidFill>
              <a:ln>
                <a:noFill/>
              </a:ln>
            </p:spPr>
          </p:sp>
          <p:sp>
            <p:nvSpPr>
              <p:cNvPr id="24" name="Rectangle 24"/>
              <p:cNvSpPr/>
              <p:nvPr/>
            </p:nvSpPr>
            <p:spPr>
              <a:xfrm>
                <a:off x="7267575" y="3409950"/>
                <a:ext cx="1304925" cy="228600"/>
              </a:xfrm>
              <a:prstGeom prst="rect">
                <a:avLst/>
              </a:prstGeom>
              <a:solidFill>
                <a:schemeClr val="accent6"/>
              </a:solidFill>
              <a:ln>
                <a:noFill/>
              </a:ln>
            </p:spPr>
          </p:sp>
          <p:sp>
            <p:nvSpPr>
              <p:cNvPr id="25" name="TextBox 25"/>
              <p:cNvSpPr txBox="1"/>
              <p:nvPr/>
            </p:nvSpPr>
            <p:spPr>
              <a:xfrm>
                <a:off x="8737092" y="345471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69:1:10</a:t>
                </a:r>
              </a:p>
            </p:txBody>
          </p:sp>
          <p:sp>
            <p:nvSpPr>
              <p:cNvPr id="26" name="TextBox 26"/>
              <p:cNvSpPr txBox="1"/>
              <p:nvPr/>
            </p:nvSpPr>
            <p:spPr>
              <a:xfrm>
                <a:off x="602742" y="3950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不确定性与验证</a:t>
                </a:r>
              </a:p>
            </p:txBody>
          </p:sp>
          <p:sp>
            <p:nvSpPr>
              <p:cNvPr id="27" name="Rectangle 27"/>
              <p:cNvSpPr/>
              <p:nvPr/>
            </p:nvSpPr>
            <p:spPr>
              <a:xfrm>
                <a:off x="2857500" y="3886200"/>
                <a:ext cx="3387090" cy="228600"/>
              </a:xfrm>
              <a:prstGeom prst="rect">
                <a:avLst/>
              </a:prstGeom>
              <a:solidFill>
                <a:schemeClr val="accent2"/>
              </a:solidFill>
              <a:ln>
                <a:noFill/>
              </a:ln>
            </p:spPr>
          </p:sp>
          <p:sp>
            <p:nvSpPr>
              <p:cNvPr id="28" name="Rectangle 28"/>
              <p:cNvSpPr/>
              <p:nvPr/>
            </p:nvSpPr>
            <p:spPr>
              <a:xfrm>
                <a:off x="6244590" y="3886200"/>
                <a:ext cx="831532" cy="228600"/>
              </a:xfrm>
              <a:prstGeom prst="rect">
                <a:avLst/>
              </a:prstGeom>
              <a:solidFill>
                <a:srgbClr val="B7C7D6"/>
              </a:solidFill>
              <a:ln>
                <a:noFill/>
              </a:ln>
            </p:spPr>
          </p:sp>
          <p:sp>
            <p:nvSpPr>
              <p:cNvPr id="29" name="Rectangle 29"/>
              <p:cNvSpPr/>
              <p:nvPr/>
            </p:nvSpPr>
            <p:spPr>
              <a:xfrm>
                <a:off x="7076122" y="3886200"/>
                <a:ext cx="1496378" cy="228600"/>
              </a:xfrm>
              <a:prstGeom prst="rect">
                <a:avLst/>
              </a:prstGeom>
              <a:solidFill>
                <a:schemeClr val="accent6"/>
              </a:solidFill>
              <a:ln>
                <a:noFill/>
              </a:ln>
            </p:spPr>
          </p:sp>
          <p:sp>
            <p:nvSpPr>
              <p:cNvPr id="30" name="TextBox 30"/>
              <p:cNvSpPr txBox="1"/>
              <p:nvPr/>
            </p:nvSpPr>
            <p:spPr>
              <a:xfrm>
                <a:off x="8737092" y="393096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60:4:16</a:t>
                </a:r>
              </a:p>
            </p:txBody>
          </p:sp>
          <p:sp>
            <p:nvSpPr>
              <p:cNvPr id="31" name="TextBox 31"/>
              <p:cNvSpPr txBox="1"/>
              <p:nvPr/>
            </p:nvSpPr>
            <p:spPr>
              <a:xfrm>
                <a:off x="602742" y="44262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军事运用价值</a:t>
                </a:r>
              </a:p>
            </p:txBody>
          </p:sp>
          <p:sp>
            <p:nvSpPr>
              <p:cNvPr id="32" name="Rectangle 32"/>
              <p:cNvSpPr/>
              <p:nvPr/>
            </p:nvSpPr>
            <p:spPr>
              <a:xfrm>
                <a:off x="2857500" y="4362450"/>
                <a:ext cx="4247198" cy="228600"/>
              </a:xfrm>
              <a:prstGeom prst="rect">
                <a:avLst/>
              </a:prstGeom>
              <a:solidFill>
                <a:schemeClr val="accent2"/>
              </a:solidFill>
              <a:ln>
                <a:noFill/>
              </a:ln>
            </p:spPr>
          </p:sp>
          <p:sp>
            <p:nvSpPr>
              <p:cNvPr id="33" name="Rectangle 33"/>
              <p:cNvSpPr/>
              <p:nvPr/>
            </p:nvSpPr>
            <p:spPr>
              <a:xfrm>
                <a:off x="7104698" y="4362450"/>
                <a:ext cx="1467802" cy="228600"/>
              </a:xfrm>
              <a:prstGeom prst="rect">
                <a:avLst/>
              </a:prstGeom>
              <a:solidFill>
                <a:schemeClr val="accent6"/>
              </a:solidFill>
              <a:ln>
                <a:noFill/>
              </a:ln>
            </p:spPr>
          </p:sp>
          <p:sp>
            <p:nvSpPr>
              <p:cNvPr id="34" name="TextBox 34"/>
              <p:cNvSpPr txBox="1"/>
              <p:nvPr/>
            </p:nvSpPr>
            <p:spPr>
              <a:xfrm>
                <a:off x="8737092" y="440721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69:0:11</a:t>
                </a:r>
              </a:p>
            </p:txBody>
          </p:sp>
          <p:sp>
            <p:nvSpPr>
              <p:cNvPr id="35" name="TextBox 35"/>
              <p:cNvSpPr txBox="1"/>
              <p:nvPr/>
            </p:nvSpPr>
            <p:spPr>
              <a:xfrm>
                <a:off x="602742" y="490251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前瞻创新性</a:t>
                </a:r>
              </a:p>
            </p:txBody>
          </p:sp>
          <p:sp>
            <p:nvSpPr>
              <p:cNvPr id="36" name="Rectangle 36"/>
              <p:cNvSpPr/>
              <p:nvPr/>
            </p:nvSpPr>
            <p:spPr>
              <a:xfrm>
                <a:off x="2857500" y="4838700"/>
                <a:ext cx="3892868" cy="228600"/>
              </a:xfrm>
              <a:prstGeom prst="rect">
                <a:avLst/>
              </a:prstGeom>
              <a:solidFill>
                <a:schemeClr val="accent2"/>
              </a:solidFill>
              <a:ln>
                <a:noFill/>
              </a:ln>
            </p:spPr>
          </p:sp>
          <p:sp>
            <p:nvSpPr>
              <p:cNvPr id="37" name="Rectangle 37"/>
              <p:cNvSpPr/>
              <p:nvPr/>
            </p:nvSpPr>
            <p:spPr>
              <a:xfrm>
                <a:off x="6750368" y="4838700"/>
                <a:ext cx="1009650" cy="228600"/>
              </a:xfrm>
              <a:prstGeom prst="rect">
                <a:avLst/>
              </a:prstGeom>
              <a:solidFill>
                <a:srgbClr val="B7C7D6"/>
              </a:solidFill>
              <a:ln>
                <a:noFill/>
              </a:ln>
            </p:spPr>
          </p:sp>
          <p:sp>
            <p:nvSpPr>
              <p:cNvPr id="38" name="Rectangle 38"/>
              <p:cNvSpPr/>
              <p:nvPr/>
            </p:nvSpPr>
            <p:spPr>
              <a:xfrm>
                <a:off x="7760018" y="4838700"/>
                <a:ext cx="812482" cy="228600"/>
              </a:xfrm>
              <a:prstGeom prst="rect">
                <a:avLst/>
              </a:prstGeom>
              <a:solidFill>
                <a:schemeClr val="accent6"/>
              </a:solidFill>
              <a:ln>
                <a:noFill/>
              </a:ln>
            </p:spPr>
          </p:sp>
          <p:sp>
            <p:nvSpPr>
              <p:cNvPr id="39" name="TextBox 39"/>
              <p:cNvSpPr txBox="1"/>
              <p:nvPr/>
            </p:nvSpPr>
            <p:spPr>
              <a:xfrm>
                <a:off x="8737092" y="4883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71:5:4</a:t>
                </a:r>
              </a:p>
            </p:txBody>
          </p:sp>
          <p:sp>
            <p:nvSpPr>
              <p:cNvPr id="40" name="TextBox 40"/>
              <p:cNvSpPr txBox="1"/>
              <p:nvPr/>
            </p:nvSpPr>
            <p:spPr>
              <a:xfrm>
                <a:off x="602742" y="537876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体系与跨场景稳健</a:t>
                </a:r>
              </a:p>
            </p:txBody>
          </p:sp>
          <p:sp>
            <p:nvSpPr>
              <p:cNvPr id="41" name="Rectangle 41"/>
              <p:cNvSpPr/>
              <p:nvPr/>
            </p:nvSpPr>
            <p:spPr>
              <a:xfrm>
                <a:off x="2857500" y="5314950"/>
                <a:ext cx="3722370" cy="228600"/>
              </a:xfrm>
              <a:prstGeom prst="rect">
                <a:avLst/>
              </a:prstGeom>
              <a:solidFill>
                <a:schemeClr val="accent2"/>
              </a:solidFill>
              <a:ln>
                <a:noFill/>
              </a:ln>
            </p:spPr>
          </p:sp>
          <p:sp>
            <p:nvSpPr>
              <p:cNvPr id="42" name="Rectangle 42"/>
              <p:cNvSpPr/>
              <p:nvPr/>
            </p:nvSpPr>
            <p:spPr>
              <a:xfrm>
                <a:off x="6579870" y="5314950"/>
                <a:ext cx="621982" cy="228600"/>
              </a:xfrm>
              <a:prstGeom prst="rect">
                <a:avLst/>
              </a:prstGeom>
              <a:solidFill>
                <a:srgbClr val="B7C7D6"/>
              </a:solidFill>
              <a:ln>
                <a:noFill/>
              </a:ln>
            </p:spPr>
          </p:sp>
          <p:sp>
            <p:nvSpPr>
              <p:cNvPr id="43" name="Rectangle 43"/>
              <p:cNvSpPr/>
              <p:nvPr/>
            </p:nvSpPr>
            <p:spPr>
              <a:xfrm>
                <a:off x="7201852" y="5314950"/>
                <a:ext cx="1370648" cy="228600"/>
              </a:xfrm>
              <a:prstGeom prst="rect">
                <a:avLst/>
              </a:prstGeom>
              <a:solidFill>
                <a:schemeClr val="accent6"/>
              </a:solidFill>
              <a:ln>
                <a:noFill/>
              </a:ln>
            </p:spPr>
          </p:sp>
          <p:sp>
            <p:nvSpPr>
              <p:cNvPr id="44" name="TextBox 44"/>
              <p:cNvSpPr txBox="1"/>
              <p:nvPr/>
            </p:nvSpPr>
            <p:spPr>
              <a:xfrm>
                <a:off x="8737092" y="5359718"/>
                <a:ext cx="713403"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66:2:12</a:t>
                </a:r>
              </a:p>
            </p:txBody>
          </p:sp>
        </p:grpSp>
      </p:grpSp>
      <p:grpSp>
        <p:nvGrpSpPr>
          <p:cNvPr id="56" name="Group 56"/>
          <p:cNvGrpSpPr/>
          <p:nvPr/>
        </p:nvGrpSpPr>
        <p:grpSpPr>
          <a:xfrm>
            <a:off x="9277350" y="1657350"/>
            <a:ext cx="2305050" cy="3886200"/>
            <a:chOff x="9277350" y="1657350"/>
            <a:chExt cx="2305050" cy="3886200"/>
          </a:xfrm>
        </p:grpSpPr>
        <p:sp>
          <p:nvSpPr>
            <p:cNvPr id="47" name="Rectangle 47"/>
            <p:cNvSpPr/>
            <p:nvPr/>
          </p:nvSpPr>
          <p:spPr>
            <a:xfrm>
              <a:off x="9277350" y="1657350"/>
              <a:ext cx="2305050" cy="3886200"/>
            </a:xfrm>
            <a:prstGeom prst="rect">
              <a:avLst/>
            </a:prstGeom>
            <a:solidFill>
              <a:schemeClr val="accent1"/>
            </a:solidFill>
            <a:ln>
              <a:noFill/>
            </a:ln>
          </p:spPr>
        </p:sp>
        <p:sp>
          <p:nvSpPr>
            <p:cNvPr id="48" name="TextBox 48"/>
            <p:cNvSpPr txBox="1"/>
            <p:nvPr/>
          </p:nvSpPr>
          <p:spPr>
            <a:xfrm>
              <a:off x="9496806" y="192024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最大短板</a:t>
              </a:r>
            </a:p>
          </p:txBody>
        </p:sp>
        <p:sp>
          <p:nvSpPr>
            <p:cNvPr id="49" name="TextBox 49"/>
            <p:cNvSpPr txBox="1"/>
            <p:nvPr/>
          </p:nvSpPr>
          <p:spPr>
            <a:xfrm>
              <a:off x="9486900" y="22659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50</a:t>
              </a:r>
            </a:p>
          </p:txBody>
        </p:sp>
        <p:sp>
          <p:nvSpPr>
            <p:cNvPr id="50" name="TextBox 50"/>
            <p:cNvSpPr txBox="1"/>
            <p:nvPr/>
          </p:nvSpPr>
          <p:spPr>
            <a:xfrm>
              <a:off x="9499092" y="3035618"/>
              <a:ext cx="1140485"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baseline 胜票</a:t>
              </a:r>
            </a:p>
          </p:txBody>
        </p:sp>
        <p:sp>
          <p:nvSpPr>
            <p:cNvPr id="51" name="Line 51"/>
            <p:cNvSpPr/>
            <p:nvPr/>
          </p:nvSpPr>
          <p:spPr>
            <a:xfrm>
              <a:off x="9505950" y="3524250"/>
              <a:ext cx="1847850" cy="9525"/>
            </a:xfrm>
            <a:custGeom>
              <a:avLst/>
              <a:gdLst/>
              <a:ahLst/>
              <a:cxnLst/>
              <a:rect l="l" t="t" r="r" b="b"/>
              <a:pathLst>
                <a:path w="1847850" h="9525">
                  <a:moveTo>
                    <a:pt x="0" y="0"/>
                  </a:moveTo>
                  <a:lnTo>
                    <a:pt x="1847850" y="0"/>
                  </a:lnTo>
                </a:path>
              </a:pathLst>
            </a:custGeom>
            <a:noFill/>
            <a:ln w="19050">
              <a:solidFill>
                <a:srgbClr val="6D89A3"/>
              </a:solidFill>
            </a:ln>
          </p:spPr>
        </p:sp>
        <p:sp>
          <p:nvSpPr>
            <p:cNvPr id="52" name="TextBox 52"/>
            <p:cNvSpPr txBox="1"/>
            <p:nvPr/>
          </p:nvSpPr>
          <p:spPr>
            <a:xfrm>
              <a:off x="9496806" y="374904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证据事实维度</a:t>
              </a:r>
            </a:p>
          </p:txBody>
        </p:sp>
        <p:sp>
          <p:nvSpPr>
            <p:cNvPr id="53" name="TextBox 53"/>
            <p:cNvSpPr txBox="1"/>
            <p:nvPr/>
          </p:nvSpPr>
          <p:spPr>
            <a:xfrm>
              <a:off x="9499092" y="4197668"/>
              <a:ext cx="1204093"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正文—证据绑定</a:t>
              </a:r>
            </a:p>
          </p:txBody>
        </p:sp>
        <p:sp>
          <p:nvSpPr>
            <p:cNvPr id="54" name="TextBox 54"/>
            <p:cNvSpPr txBox="1"/>
            <p:nvPr/>
          </p:nvSpPr>
          <p:spPr>
            <a:xfrm>
              <a:off x="9499092" y="4502468"/>
              <a:ext cx="110413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关键数字核验</a:t>
              </a:r>
            </a:p>
          </p:txBody>
        </p:sp>
        <p:sp>
          <p:nvSpPr>
            <p:cNvPr id="55" name="TextBox 55"/>
            <p:cNvSpPr txBox="1"/>
            <p:nvPr/>
          </p:nvSpPr>
          <p:spPr>
            <a:xfrm>
              <a:off x="9499092" y="4807268"/>
              <a:ext cx="1104138"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来源质量分级</a:t>
              </a:r>
            </a:p>
          </p:txBody>
        </p:sp>
      </p:grpSp>
      <p:grpSp>
        <p:nvGrpSpPr>
          <p:cNvPr id="64" name="Group 64"/>
          <p:cNvGrpSpPr/>
          <p:nvPr/>
        </p:nvGrpSpPr>
        <p:grpSpPr>
          <a:xfrm>
            <a:off x="609600" y="6172200"/>
            <a:ext cx="8371332" cy="270701"/>
            <a:chOff x="609600" y="6172200"/>
            <a:chExt cx="8371332" cy="270701"/>
          </a:xfrm>
        </p:grpSpPr>
        <p:sp>
          <p:nvSpPr>
            <p:cNvPr id="57" name="Rectangle 57"/>
            <p:cNvSpPr/>
            <p:nvPr/>
          </p:nvSpPr>
          <p:spPr>
            <a:xfrm>
              <a:off x="609600" y="6172200"/>
              <a:ext cx="171450" cy="171450"/>
            </a:xfrm>
            <a:prstGeom prst="rect">
              <a:avLst/>
            </a:prstGeom>
            <a:solidFill>
              <a:schemeClr val="accent2"/>
            </a:solidFill>
            <a:ln>
              <a:noFill/>
            </a:ln>
          </p:spPr>
        </p:sp>
        <p:sp>
          <p:nvSpPr>
            <p:cNvPr id="58" name="TextBox 58"/>
            <p:cNvSpPr txBox="1"/>
            <p:nvPr/>
          </p:nvSpPr>
          <p:spPr>
            <a:xfrm>
              <a:off x="869442" y="61788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完整方法</a:t>
              </a:r>
            </a:p>
          </p:txBody>
        </p:sp>
        <p:sp>
          <p:nvSpPr>
            <p:cNvPr id="59" name="Rectangle 59"/>
            <p:cNvSpPr/>
            <p:nvPr/>
          </p:nvSpPr>
          <p:spPr>
            <a:xfrm>
              <a:off x="2190750" y="6172200"/>
              <a:ext cx="171450" cy="171450"/>
            </a:xfrm>
            <a:prstGeom prst="rect">
              <a:avLst/>
            </a:prstGeom>
            <a:solidFill>
              <a:srgbClr val="B7C7D6"/>
            </a:solidFill>
            <a:ln>
              <a:noFill/>
            </a:ln>
          </p:spPr>
        </p:sp>
        <p:sp>
          <p:nvSpPr>
            <p:cNvPr id="60" name="TextBox 60"/>
            <p:cNvSpPr txBox="1"/>
            <p:nvPr/>
          </p:nvSpPr>
          <p:spPr>
            <a:xfrm>
              <a:off x="2450592" y="61788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平票</a:t>
              </a:r>
            </a:p>
          </p:txBody>
        </p:sp>
        <p:sp>
          <p:nvSpPr>
            <p:cNvPr id="61" name="Rectangle 61"/>
            <p:cNvSpPr/>
            <p:nvPr/>
          </p:nvSpPr>
          <p:spPr>
            <a:xfrm>
              <a:off x="3429000" y="6172200"/>
              <a:ext cx="171450" cy="171450"/>
            </a:xfrm>
            <a:prstGeom prst="rect">
              <a:avLst/>
            </a:prstGeom>
            <a:solidFill>
              <a:schemeClr val="accent6"/>
            </a:solidFill>
            <a:ln>
              <a:noFill/>
            </a:ln>
          </p:spPr>
        </p:sp>
        <p:sp>
          <p:nvSpPr>
            <p:cNvPr id="62" name="TextBox 62"/>
            <p:cNvSpPr txBox="1"/>
            <p:nvPr/>
          </p:nvSpPr>
          <p:spPr>
            <a:xfrm>
              <a:off x="3688842" y="6178868"/>
              <a:ext cx="94187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通用 Agent</a:t>
              </a:r>
            </a:p>
          </p:txBody>
        </p:sp>
        <p:sp>
          <p:nvSpPr>
            <p:cNvPr id="63" name="TextBox 63"/>
            <p:cNvSpPr txBox="1"/>
            <p:nvPr/>
          </p:nvSpPr>
          <p:spPr>
            <a:xfrm>
              <a:off x="5899404" y="6195060"/>
              <a:ext cx="3081528" cy="234696"/>
            </a:xfrm>
            <a:prstGeom prst="rect">
              <a:avLst/>
            </a:prstGeom>
            <a:noFill/>
            <a:ln>
              <a:noFill/>
            </a:ln>
          </p:spPr>
          <p:txBody>
            <a:bodyPr wrap="none" lIns="0" tIns="0" rIns="0" bIns="0" anchor="t" anchorCtr="0">
              <a:spAutoFit/>
            </a:bodyPr>
            <a:lstStyle/>
            <a:p>
              <a:pPr algn="l"/>
              <a:r>
                <a:rPr lang="zh-CN" sz="1200" dirty="0">
                  <a:solidFill>
                    <a:srgbClr val="6B7785"/>
                  </a:solidFill>
                  <a:latin typeface="+mn-lt"/>
                  <a:ea typeface="+mn-ea"/>
                  <a:cs typeface="+mn-cs"/>
                </a:rPr>
                <a:t>条长为压缩示意；准确票数以右侧数字为准</a:t>
              </a:r>
            </a:p>
          </p:txBody>
        </p:sp>
      </p:gr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4477840"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对纯 LLM 的八维票型</a:t>
              </a:r>
            </a:p>
          </p:txBody>
        </p:sp>
        <p:sp>
          <p:nvSpPr>
            <p:cNvPr id="3" name="TextBox 3"/>
            <p:cNvSpPr txBox="1"/>
            <p:nvPr/>
          </p:nvSpPr>
          <p:spPr>
            <a:xfrm>
              <a:off x="600456" y="1024890"/>
              <a:ext cx="459806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八维全部领先，三个维度获得 80:0:0 全票</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16</a:t>
              </a:r>
            </a:p>
          </p:txBody>
        </p:sp>
      </p:grpSp>
      <p:grpSp>
        <p:nvGrpSpPr>
          <p:cNvPr id="38" name="Group 38"/>
          <p:cNvGrpSpPr/>
          <p:nvPr/>
        </p:nvGrpSpPr>
        <p:grpSpPr>
          <a:xfrm>
            <a:off x="602742" y="1866900"/>
            <a:ext cx="8777785" cy="3775901"/>
            <a:chOff x="602742" y="1866900"/>
            <a:chExt cx="8777785" cy="3775901"/>
          </a:xfrm>
        </p:grpSpPr>
        <p:grpSp>
          <p:nvGrpSpPr>
            <p:cNvPr id="37" name="Group 37"/>
            <p:cNvGrpSpPr/>
            <p:nvPr/>
          </p:nvGrpSpPr>
          <p:grpSpPr>
            <a:xfrm>
              <a:off x="602742" y="1866900"/>
              <a:ext cx="8777785" cy="3775901"/>
              <a:chOff x="602742" y="1866900"/>
              <a:chExt cx="8777785" cy="3775901"/>
            </a:xfrm>
          </p:grpSpPr>
          <p:sp>
            <p:nvSpPr>
              <p:cNvPr id="6" name="Line 6"/>
              <p:cNvSpPr/>
              <p:nvPr/>
            </p:nvSpPr>
            <p:spPr>
              <a:xfrm>
                <a:off x="2857500" y="1866900"/>
                <a:ext cx="5715000" cy="9525"/>
              </a:xfrm>
              <a:custGeom>
                <a:avLst/>
                <a:gdLst/>
                <a:ahLst/>
                <a:cxnLst/>
                <a:rect l="l" t="t" r="r" b="b"/>
                <a:pathLst>
                  <a:path w="5715000" h="9525">
                    <a:moveTo>
                      <a:pt x="0" y="0"/>
                    </a:moveTo>
                    <a:lnTo>
                      <a:pt x="5715000" y="0"/>
                    </a:lnTo>
                  </a:path>
                </a:pathLst>
              </a:custGeom>
              <a:noFill/>
              <a:ln w="19050">
                <a:solidFill>
                  <a:srgbClr val="94A3B8"/>
                </a:solidFill>
              </a:ln>
            </p:spPr>
          </p:sp>
          <p:sp>
            <p:nvSpPr>
              <p:cNvPr id="7" name="TextBox 7"/>
              <p:cNvSpPr txBox="1"/>
              <p:nvPr/>
            </p:nvSpPr>
            <p:spPr>
              <a:xfrm>
                <a:off x="602742" y="2045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任务与路径完成</a:t>
                </a:r>
              </a:p>
            </p:txBody>
          </p:sp>
          <p:sp>
            <p:nvSpPr>
              <p:cNvPr id="8" name="Rectangle 8"/>
              <p:cNvSpPr/>
              <p:nvPr/>
            </p:nvSpPr>
            <p:spPr>
              <a:xfrm>
                <a:off x="2857500" y="1981200"/>
                <a:ext cx="4448175" cy="228600"/>
              </a:xfrm>
              <a:prstGeom prst="rect">
                <a:avLst/>
              </a:prstGeom>
              <a:solidFill>
                <a:schemeClr val="accent2"/>
              </a:solidFill>
              <a:ln>
                <a:noFill/>
              </a:ln>
            </p:spPr>
          </p:sp>
          <p:sp>
            <p:nvSpPr>
              <p:cNvPr id="9" name="Rectangle 9"/>
              <p:cNvSpPr/>
              <p:nvPr/>
            </p:nvSpPr>
            <p:spPr>
              <a:xfrm>
                <a:off x="7305675" y="1981200"/>
                <a:ext cx="1266825" cy="228600"/>
              </a:xfrm>
              <a:prstGeom prst="rect">
                <a:avLst/>
              </a:prstGeom>
              <a:solidFill>
                <a:schemeClr val="accent6"/>
              </a:solidFill>
              <a:ln>
                <a:noFill/>
              </a:ln>
            </p:spPr>
          </p:sp>
          <p:sp>
            <p:nvSpPr>
              <p:cNvPr id="10" name="TextBox 10"/>
              <p:cNvSpPr txBox="1"/>
              <p:nvPr/>
            </p:nvSpPr>
            <p:spPr>
              <a:xfrm>
                <a:off x="8737092" y="20259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74:0:6</a:t>
                </a:r>
              </a:p>
            </p:txBody>
          </p:sp>
          <p:sp>
            <p:nvSpPr>
              <p:cNvPr id="11" name="TextBox 11"/>
              <p:cNvSpPr txBox="1"/>
              <p:nvPr/>
            </p:nvSpPr>
            <p:spPr>
              <a:xfrm>
                <a:off x="602742" y="2521268"/>
                <a:ext cx="154030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证据与事实可靠性</a:t>
                </a:r>
              </a:p>
            </p:txBody>
          </p:sp>
          <p:sp>
            <p:nvSpPr>
              <p:cNvPr id="12" name="Rectangle 12"/>
              <p:cNvSpPr/>
              <p:nvPr/>
            </p:nvSpPr>
            <p:spPr>
              <a:xfrm>
                <a:off x="2857500" y="2457450"/>
                <a:ext cx="5715000" cy="228600"/>
              </a:xfrm>
              <a:prstGeom prst="rect">
                <a:avLst/>
              </a:prstGeom>
              <a:solidFill>
                <a:schemeClr val="accent2"/>
              </a:solidFill>
              <a:ln>
                <a:noFill/>
              </a:ln>
            </p:spPr>
          </p:sp>
          <p:sp>
            <p:nvSpPr>
              <p:cNvPr id="13" name="TextBox 13"/>
              <p:cNvSpPr txBox="1"/>
              <p:nvPr/>
            </p:nvSpPr>
            <p:spPr>
              <a:xfrm>
                <a:off x="8737092" y="250221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14" name="TextBox 14"/>
              <p:cNvSpPr txBox="1"/>
              <p:nvPr/>
            </p:nvSpPr>
            <p:spPr>
              <a:xfrm>
                <a:off x="602742" y="2997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因果与机理深度</a:t>
                </a:r>
              </a:p>
            </p:txBody>
          </p:sp>
          <p:sp>
            <p:nvSpPr>
              <p:cNvPr id="15" name="Rectangle 15"/>
              <p:cNvSpPr/>
              <p:nvPr/>
            </p:nvSpPr>
            <p:spPr>
              <a:xfrm>
                <a:off x="2857500" y="2933700"/>
                <a:ext cx="4648200" cy="228600"/>
              </a:xfrm>
              <a:prstGeom prst="rect">
                <a:avLst/>
              </a:prstGeom>
              <a:solidFill>
                <a:schemeClr val="accent2"/>
              </a:solidFill>
              <a:ln>
                <a:noFill/>
              </a:ln>
            </p:spPr>
          </p:sp>
          <p:sp>
            <p:nvSpPr>
              <p:cNvPr id="16" name="Rectangle 16"/>
              <p:cNvSpPr/>
              <p:nvPr/>
            </p:nvSpPr>
            <p:spPr>
              <a:xfrm>
                <a:off x="7505700" y="2933700"/>
                <a:ext cx="1066800" cy="228600"/>
              </a:xfrm>
              <a:prstGeom prst="rect">
                <a:avLst/>
              </a:prstGeom>
              <a:solidFill>
                <a:schemeClr val="accent6"/>
              </a:solidFill>
              <a:ln>
                <a:noFill/>
              </a:ln>
            </p:spPr>
          </p:sp>
          <p:sp>
            <p:nvSpPr>
              <p:cNvPr id="17" name="TextBox 17"/>
              <p:cNvSpPr txBox="1"/>
              <p:nvPr/>
            </p:nvSpPr>
            <p:spPr>
              <a:xfrm>
                <a:off x="8737092" y="2978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76:0:4</a:t>
                </a:r>
              </a:p>
            </p:txBody>
          </p:sp>
          <p:sp>
            <p:nvSpPr>
              <p:cNvPr id="18" name="TextBox 18"/>
              <p:cNvSpPr txBox="1"/>
              <p:nvPr/>
            </p:nvSpPr>
            <p:spPr>
              <a:xfrm>
                <a:off x="602742" y="34737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能力映射与需求质量</a:t>
                </a:r>
              </a:p>
            </p:txBody>
          </p:sp>
          <p:sp>
            <p:nvSpPr>
              <p:cNvPr id="19" name="Rectangle 19"/>
              <p:cNvSpPr/>
              <p:nvPr/>
            </p:nvSpPr>
            <p:spPr>
              <a:xfrm>
                <a:off x="2857500" y="3409950"/>
                <a:ext cx="4542472" cy="228600"/>
              </a:xfrm>
              <a:prstGeom prst="rect">
                <a:avLst/>
              </a:prstGeom>
              <a:solidFill>
                <a:schemeClr val="accent2"/>
              </a:solidFill>
              <a:ln>
                <a:noFill/>
              </a:ln>
            </p:spPr>
          </p:sp>
          <p:sp>
            <p:nvSpPr>
              <p:cNvPr id="20" name="Rectangle 20"/>
              <p:cNvSpPr/>
              <p:nvPr/>
            </p:nvSpPr>
            <p:spPr>
              <a:xfrm>
                <a:off x="7399972" y="3409950"/>
                <a:ext cx="1172528" cy="228600"/>
              </a:xfrm>
              <a:prstGeom prst="rect">
                <a:avLst/>
              </a:prstGeom>
              <a:solidFill>
                <a:schemeClr val="accent6"/>
              </a:solidFill>
              <a:ln>
                <a:noFill/>
              </a:ln>
            </p:spPr>
          </p:sp>
          <p:sp>
            <p:nvSpPr>
              <p:cNvPr id="21" name="TextBox 21"/>
              <p:cNvSpPr txBox="1"/>
              <p:nvPr/>
            </p:nvSpPr>
            <p:spPr>
              <a:xfrm>
                <a:off x="8737092" y="3454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75:0:5</a:t>
                </a:r>
              </a:p>
            </p:txBody>
          </p:sp>
          <p:sp>
            <p:nvSpPr>
              <p:cNvPr id="22" name="TextBox 22"/>
              <p:cNvSpPr txBox="1"/>
              <p:nvPr/>
            </p:nvSpPr>
            <p:spPr>
              <a:xfrm>
                <a:off x="602742" y="3950018"/>
                <a:ext cx="1349483"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不确定性与验证</a:t>
                </a:r>
              </a:p>
            </p:txBody>
          </p:sp>
          <p:sp>
            <p:nvSpPr>
              <p:cNvPr id="23" name="Rectangle 23"/>
              <p:cNvSpPr/>
              <p:nvPr/>
            </p:nvSpPr>
            <p:spPr>
              <a:xfrm>
                <a:off x="2857500" y="3886200"/>
                <a:ext cx="5715000" cy="228600"/>
              </a:xfrm>
              <a:prstGeom prst="rect">
                <a:avLst/>
              </a:prstGeom>
              <a:solidFill>
                <a:schemeClr val="accent2"/>
              </a:solidFill>
              <a:ln>
                <a:noFill/>
              </a:ln>
            </p:spPr>
          </p:sp>
          <p:sp>
            <p:nvSpPr>
              <p:cNvPr id="24" name="TextBox 24"/>
              <p:cNvSpPr txBox="1"/>
              <p:nvPr/>
            </p:nvSpPr>
            <p:spPr>
              <a:xfrm>
                <a:off x="8737092" y="393096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25" name="TextBox 25"/>
              <p:cNvSpPr txBox="1"/>
              <p:nvPr/>
            </p:nvSpPr>
            <p:spPr>
              <a:xfrm>
                <a:off x="602742" y="44262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军事运用价值</a:t>
                </a:r>
              </a:p>
            </p:txBody>
          </p:sp>
          <p:sp>
            <p:nvSpPr>
              <p:cNvPr id="26" name="Rectangle 26"/>
              <p:cNvSpPr/>
              <p:nvPr/>
            </p:nvSpPr>
            <p:spPr>
              <a:xfrm>
                <a:off x="2857500" y="4362450"/>
                <a:ext cx="4926330" cy="228600"/>
              </a:xfrm>
              <a:prstGeom prst="rect">
                <a:avLst/>
              </a:prstGeom>
              <a:solidFill>
                <a:schemeClr val="accent2"/>
              </a:solidFill>
              <a:ln>
                <a:noFill/>
              </a:ln>
            </p:spPr>
          </p:sp>
          <p:sp>
            <p:nvSpPr>
              <p:cNvPr id="27" name="Rectangle 27"/>
              <p:cNvSpPr/>
              <p:nvPr/>
            </p:nvSpPr>
            <p:spPr>
              <a:xfrm>
                <a:off x="7783830" y="4362450"/>
                <a:ext cx="788670" cy="228600"/>
              </a:xfrm>
              <a:prstGeom prst="rect">
                <a:avLst/>
              </a:prstGeom>
              <a:solidFill>
                <a:schemeClr val="accent6"/>
              </a:solidFill>
              <a:ln>
                <a:noFill/>
              </a:ln>
            </p:spPr>
          </p:sp>
          <p:sp>
            <p:nvSpPr>
              <p:cNvPr id="28" name="TextBox 28"/>
              <p:cNvSpPr txBox="1"/>
              <p:nvPr/>
            </p:nvSpPr>
            <p:spPr>
              <a:xfrm>
                <a:off x="8737092" y="44072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29" name="TextBox 29"/>
              <p:cNvSpPr txBox="1"/>
              <p:nvPr/>
            </p:nvSpPr>
            <p:spPr>
              <a:xfrm>
                <a:off x="602742" y="4902518"/>
                <a:ext cx="967835"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前瞻创新性</a:t>
                </a:r>
              </a:p>
            </p:txBody>
          </p:sp>
          <p:sp>
            <p:nvSpPr>
              <p:cNvPr id="30" name="Rectangle 30"/>
              <p:cNvSpPr/>
              <p:nvPr/>
            </p:nvSpPr>
            <p:spPr>
              <a:xfrm>
                <a:off x="2857500" y="4838700"/>
                <a:ext cx="5715000" cy="228600"/>
              </a:xfrm>
              <a:prstGeom prst="rect">
                <a:avLst/>
              </a:prstGeom>
              <a:solidFill>
                <a:schemeClr val="accent2"/>
              </a:solidFill>
              <a:ln>
                <a:noFill/>
              </a:ln>
            </p:spPr>
          </p:sp>
          <p:sp>
            <p:nvSpPr>
              <p:cNvPr id="31" name="TextBox 31"/>
              <p:cNvSpPr txBox="1"/>
              <p:nvPr/>
            </p:nvSpPr>
            <p:spPr>
              <a:xfrm>
                <a:off x="8737092" y="488346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32" name="TextBox 32"/>
              <p:cNvSpPr txBox="1"/>
              <p:nvPr/>
            </p:nvSpPr>
            <p:spPr>
              <a:xfrm>
                <a:off x="602742" y="5378768"/>
                <a:ext cx="146761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体系与跨场景稳健</a:t>
                </a:r>
              </a:p>
            </p:txBody>
          </p:sp>
          <p:sp>
            <p:nvSpPr>
              <p:cNvPr id="33" name="Rectangle 33"/>
              <p:cNvSpPr/>
              <p:nvPr/>
            </p:nvSpPr>
            <p:spPr>
              <a:xfrm>
                <a:off x="2857500" y="5314950"/>
                <a:ext cx="3856672" cy="228600"/>
              </a:xfrm>
              <a:prstGeom prst="rect">
                <a:avLst/>
              </a:prstGeom>
              <a:solidFill>
                <a:schemeClr val="accent2"/>
              </a:solidFill>
              <a:ln>
                <a:noFill/>
              </a:ln>
            </p:spPr>
          </p:sp>
          <p:sp>
            <p:nvSpPr>
              <p:cNvPr id="34" name="Rectangle 34"/>
              <p:cNvSpPr/>
              <p:nvPr/>
            </p:nvSpPr>
            <p:spPr>
              <a:xfrm>
                <a:off x="6714172" y="5314950"/>
                <a:ext cx="647700" cy="228600"/>
              </a:xfrm>
              <a:prstGeom prst="rect">
                <a:avLst/>
              </a:prstGeom>
              <a:solidFill>
                <a:srgbClr val="B7C7D6"/>
              </a:solidFill>
              <a:ln>
                <a:noFill/>
              </a:ln>
            </p:spPr>
          </p:sp>
          <p:sp>
            <p:nvSpPr>
              <p:cNvPr id="35" name="Rectangle 35"/>
              <p:cNvSpPr/>
              <p:nvPr/>
            </p:nvSpPr>
            <p:spPr>
              <a:xfrm>
                <a:off x="7361872" y="5314950"/>
                <a:ext cx="1210628" cy="228600"/>
              </a:xfrm>
              <a:prstGeom prst="rect">
                <a:avLst/>
              </a:prstGeom>
              <a:solidFill>
                <a:schemeClr val="accent6"/>
              </a:solidFill>
              <a:ln>
                <a:noFill/>
              </a:ln>
            </p:spPr>
          </p:sp>
          <p:sp>
            <p:nvSpPr>
              <p:cNvPr id="36" name="TextBox 36"/>
              <p:cNvSpPr txBox="1"/>
              <p:nvPr/>
            </p:nvSpPr>
            <p:spPr>
              <a:xfrm>
                <a:off x="8737092" y="5359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71:2:7</a:t>
                </a:r>
              </a:p>
            </p:txBody>
          </p:sp>
        </p:grpSp>
      </p:grpSp>
      <p:grpSp>
        <p:nvGrpSpPr>
          <p:cNvPr id="48" name="Group 48"/>
          <p:cNvGrpSpPr/>
          <p:nvPr/>
        </p:nvGrpSpPr>
        <p:grpSpPr>
          <a:xfrm>
            <a:off x="9277350" y="1657350"/>
            <a:ext cx="2305050" cy="3886200"/>
            <a:chOff x="9277350" y="1657350"/>
            <a:chExt cx="2305050" cy="3886200"/>
          </a:xfrm>
        </p:grpSpPr>
        <p:sp>
          <p:nvSpPr>
            <p:cNvPr id="39" name="Rectangle 39"/>
            <p:cNvSpPr/>
            <p:nvPr/>
          </p:nvSpPr>
          <p:spPr>
            <a:xfrm>
              <a:off x="9277350" y="1657350"/>
              <a:ext cx="2305050" cy="3886200"/>
            </a:xfrm>
            <a:prstGeom prst="rect">
              <a:avLst/>
            </a:prstGeom>
            <a:solidFill>
              <a:schemeClr val="accent1"/>
            </a:solidFill>
            <a:ln>
              <a:noFill/>
            </a:ln>
          </p:spPr>
        </p:sp>
        <p:sp>
          <p:nvSpPr>
            <p:cNvPr id="40" name="TextBox 40"/>
            <p:cNvSpPr txBox="1"/>
            <p:nvPr/>
          </p:nvSpPr>
          <p:spPr>
            <a:xfrm>
              <a:off x="9496806" y="192024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全票领先维度</a:t>
              </a:r>
            </a:p>
          </p:txBody>
        </p:sp>
        <p:sp>
          <p:nvSpPr>
            <p:cNvPr id="41" name="TextBox 41"/>
            <p:cNvSpPr txBox="1"/>
            <p:nvPr/>
          </p:nvSpPr>
          <p:spPr>
            <a:xfrm>
              <a:off x="9486900" y="2323148"/>
              <a:ext cx="422928" cy="962025"/>
            </a:xfrm>
            <a:prstGeom prst="rect">
              <a:avLst/>
            </a:prstGeom>
            <a:noFill/>
            <a:ln>
              <a:noFill/>
            </a:ln>
          </p:spPr>
          <p:txBody>
            <a:bodyPr wrap="none" lIns="0" tIns="0" rIns="0" bIns="0" anchor="t" anchorCtr="0">
              <a:spAutoFit/>
            </a:bodyPr>
            <a:lstStyle/>
            <a:p>
              <a:pPr algn="l"/>
              <a:r>
                <a:rPr lang="en-US" sz="4950" b="1" dirty="0">
                  <a:solidFill>
                    <a:srgbClr val="7CC5A5"/>
                  </a:solidFill>
                  <a:latin typeface="+mn-lt"/>
                  <a:ea typeface="+mn-ea"/>
                  <a:cs typeface="+mn-cs"/>
                </a:rPr>
                <a:t>3</a:t>
              </a:r>
            </a:p>
          </p:txBody>
        </p:sp>
        <p:sp>
          <p:nvSpPr>
            <p:cNvPr id="42" name="TextBox 42"/>
            <p:cNvSpPr txBox="1"/>
            <p:nvPr/>
          </p:nvSpPr>
          <p:spPr>
            <a:xfrm>
              <a:off x="9899142" y="2654618"/>
              <a:ext cx="849706"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个 80:0:0</a:t>
              </a:r>
            </a:p>
          </p:txBody>
        </p:sp>
        <p:sp>
          <p:nvSpPr>
            <p:cNvPr id="43" name="Line 43"/>
            <p:cNvSpPr/>
            <p:nvPr/>
          </p:nvSpPr>
          <p:spPr>
            <a:xfrm>
              <a:off x="9505950" y="3238500"/>
              <a:ext cx="1847850" cy="9525"/>
            </a:xfrm>
            <a:custGeom>
              <a:avLst/>
              <a:gdLst/>
              <a:ahLst/>
              <a:cxnLst/>
              <a:rect l="l" t="t" r="r" b="b"/>
              <a:pathLst>
                <a:path w="1847850" h="9525">
                  <a:moveTo>
                    <a:pt x="0" y="0"/>
                  </a:moveTo>
                  <a:lnTo>
                    <a:pt x="1847850" y="0"/>
                  </a:lnTo>
                </a:path>
              </a:pathLst>
            </a:custGeom>
            <a:noFill/>
            <a:ln w="19050">
              <a:solidFill>
                <a:srgbClr val="6D89A3"/>
              </a:solidFill>
            </a:ln>
          </p:spPr>
        </p:sp>
        <p:sp>
          <p:nvSpPr>
            <p:cNvPr id="44" name="TextBox 44"/>
            <p:cNvSpPr txBox="1"/>
            <p:nvPr/>
          </p:nvSpPr>
          <p:spPr>
            <a:xfrm>
              <a:off x="9497568" y="35366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事实证据</a:t>
              </a:r>
            </a:p>
          </p:txBody>
        </p:sp>
        <p:sp>
          <p:nvSpPr>
            <p:cNvPr id="45" name="TextBox 45"/>
            <p:cNvSpPr txBox="1"/>
            <p:nvPr/>
          </p:nvSpPr>
          <p:spPr>
            <a:xfrm>
              <a:off x="9497568" y="3993832"/>
              <a:ext cx="1416139"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不确定性验证</a:t>
              </a:r>
            </a:p>
          </p:txBody>
        </p:sp>
        <p:sp>
          <p:nvSpPr>
            <p:cNvPr id="46" name="TextBox 46"/>
            <p:cNvSpPr txBox="1"/>
            <p:nvPr/>
          </p:nvSpPr>
          <p:spPr>
            <a:xfrm>
              <a:off x="9497568" y="44510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前瞻创新</a:t>
              </a:r>
            </a:p>
          </p:txBody>
        </p:sp>
        <p:sp>
          <p:nvSpPr>
            <p:cNvPr id="47" name="TextBox 47"/>
            <p:cNvSpPr txBox="1"/>
            <p:nvPr/>
          </p:nvSpPr>
          <p:spPr>
            <a:xfrm>
              <a:off x="9499854" y="5013960"/>
              <a:ext cx="1950720" cy="234696"/>
            </a:xfrm>
            <a:prstGeom prst="rect">
              <a:avLst/>
            </a:prstGeom>
            <a:noFill/>
            <a:ln>
              <a:noFill/>
            </a:ln>
          </p:spPr>
          <p:txBody>
            <a:bodyPr wrap="none" lIns="0" tIns="0" rIns="0" bIns="0" anchor="t" anchorCtr="0">
              <a:spAutoFit/>
            </a:bodyPr>
            <a:lstStyle/>
            <a:p>
              <a:pPr algn="l"/>
              <a:r>
                <a:rPr lang="zh-CN" sz="1200" dirty="0">
                  <a:solidFill>
                    <a:srgbClr val="C8D5E2"/>
                  </a:solidFill>
                  <a:latin typeface="+mn-lt"/>
                  <a:ea typeface="+mn-ea"/>
                  <a:cs typeface="+mn-cs"/>
                </a:rPr>
                <a:t>优势覆盖质量、边界与创新</a:t>
              </a:r>
            </a:p>
          </p:txBody>
        </p:sp>
      </p:grpSp>
      <p:grpSp>
        <p:nvGrpSpPr>
          <p:cNvPr id="56" name="Group 56"/>
          <p:cNvGrpSpPr/>
          <p:nvPr/>
        </p:nvGrpSpPr>
        <p:grpSpPr>
          <a:xfrm>
            <a:off x="609600" y="6172200"/>
            <a:ext cx="8993276" cy="270701"/>
            <a:chOff x="609600" y="6172200"/>
            <a:chExt cx="8993276" cy="270701"/>
          </a:xfrm>
        </p:grpSpPr>
        <p:sp>
          <p:nvSpPr>
            <p:cNvPr id="49" name="Rectangle 49"/>
            <p:cNvSpPr/>
            <p:nvPr/>
          </p:nvSpPr>
          <p:spPr>
            <a:xfrm>
              <a:off x="609600" y="6172200"/>
              <a:ext cx="171450" cy="171450"/>
            </a:xfrm>
            <a:prstGeom prst="rect">
              <a:avLst/>
            </a:prstGeom>
            <a:solidFill>
              <a:schemeClr val="accent2"/>
            </a:solidFill>
            <a:ln>
              <a:noFill/>
            </a:ln>
          </p:spPr>
        </p:sp>
        <p:sp>
          <p:nvSpPr>
            <p:cNvPr id="50" name="TextBox 50"/>
            <p:cNvSpPr txBox="1"/>
            <p:nvPr/>
          </p:nvSpPr>
          <p:spPr>
            <a:xfrm>
              <a:off x="869442" y="61788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完整方法</a:t>
              </a:r>
            </a:p>
          </p:txBody>
        </p:sp>
        <p:sp>
          <p:nvSpPr>
            <p:cNvPr id="51" name="Rectangle 51"/>
            <p:cNvSpPr/>
            <p:nvPr/>
          </p:nvSpPr>
          <p:spPr>
            <a:xfrm>
              <a:off x="2190750" y="6172200"/>
              <a:ext cx="171450" cy="171450"/>
            </a:xfrm>
            <a:prstGeom prst="rect">
              <a:avLst/>
            </a:prstGeom>
            <a:solidFill>
              <a:srgbClr val="B7C7D6"/>
            </a:solidFill>
            <a:ln>
              <a:noFill/>
            </a:ln>
          </p:spPr>
        </p:sp>
        <p:sp>
          <p:nvSpPr>
            <p:cNvPr id="52" name="TextBox 52"/>
            <p:cNvSpPr txBox="1"/>
            <p:nvPr/>
          </p:nvSpPr>
          <p:spPr>
            <a:xfrm>
              <a:off x="2450592" y="61788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平票</a:t>
              </a:r>
            </a:p>
          </p:txBody>
        </p:sp>
        <p:sp>
          <p:nvSpPr>
            <p:cNvPr id="53" name="Rectangle 53"/>
            <p:cNvSpPr/>
            <p:nvPr/>
          </p:nvSpPr>
          <p:spPr>
            <a:xfrm>
              <a:off x="3429000" y="6172200"/>
              <a:ext cx="171450" cy="171450"/>
            </a:xfrm>
            <a:prstGeom prst="rect">
              <a:avLst/>
            </a:prstGeom>
            <a:solidFill>
              <a:schemeClr val="accent6"/>
            </a:solidFill>
            <a:ln>
              <a:noFill/>
            </a:ln>
          </p:spPr>
        </p:sp>
        <p:sp>
          <p:nvSpPr>
            <p:cNvPr id="54" name="TextBox 54"/>
            <p:cNvSpPr txBox="1"/>
            <p:nvPr/>
          </p:nvSpPr>
          <p:spPr>
            <a:xfrm>
              <a:off x="3688842" y="6178868"/>
              <a:ext cx="618592"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纯 LLM</a:t>
              </a:r>
            </a:p>
          </p:txBody>
        </p:sp>
        <p:sp>
          <p:nvSpPr>
            <p:cNvPr id="55" name="TextBox 55"/>
            <p:cNvSpPr txBox="1"/>
            <p:nvPr/>
          </p:nvSpPr>
          <p:spPr>
            <a:xfrm>
              <a:off x="5899404" y="6195060"/>
              <a:ext cx="3703472" cy="234696"/>
            </a:xfrm>
            <a:prstGeom prst="rect">
              <a:avLst/>
            </a:prstGeom>
            <a:noFill/>
            <a:ln>
              <a:noFill/>
            </a:ln>
          </p:spPr>
          <p:txBody>
            <a:bodyPr wrap="none" lIns="0" tIns="0" rIns="0" bIns="0" anchor="t" anchorCtr="0">
              <a:spAutoFit/>
            </a:bodyPr>
            <a:lstStyle/>
            <a:p>
              <a:pPr algn="l"/>
              <a:r>
                <a:rPr lang="zh-CN" sz="1200" dirty="0">
                  <a:solidFill>
                    <a:srgbClr val="6B7785"/>
                  </a:solidFill>
                  <a:latin typeface="+mn-lt"/>
                  <a:ea typeface="+mn-ea"/>
                  <a:cs typeface="+mn-cs"/>
                </a:rPr>
                <a:t>条长采用 √票数压缩显示；准确票数以右侧数字为准</a:t>
              </a:r>
            </a:p>
          </p:txBody>
        </p:sp>
      </p:gr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494829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对智谱 GLM 的八维票型</a:t>
              </a:r>
            </a:p>
          </p:txBody>
        </p:sp>
        <p:sp>
          <p:nvSpPr>
            <p:cNvPr id="3" name="TextBox 3"/>
            <p:cNvSpPr txBox="1"/>
            <p:nvPr/>
          </p:nvSpPr>
          <p:spPr>
            <a:xfrm>
              <a:off x="600456" y="1024890"/>
              <a:ext cx="4598060"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八维优势稳定，三项维度获得 80:0:0 全票</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17</a:t>
              </a:r>
            </a:p>
          </p:txBody>
        </p:sp>
      </p:grpSp>
      <p:grpSp>
        <p:nvGrpSpPr>
          <p:cNvPr id="38" name="Group 38"/>
          <p:cNvGrpSpPr/>
          <p:nvPr/>
        </p:nvGrpSpPr>
        <p:grpSpPr>
          <a:xfrm>
            <a:off x="602742" y="1866900"/>
            <a:ext cx="8777785" cy="3775901"/>
            <a:chOff x="602742" y="1866900"/>
            <a:chExt cx="8777785" cy="3775901"/>
          </a:xfrm>
        </p:grpSpPr>
        <p:grpSp>
          <p:nvGrpSpPr>
            <p:cNvPr id="37" name="Group 37"/>
            <p:cNvGrpSpPr/>
            <p:nvPr/>
          </p:nvGrpSpPr>
          <p:grpSpPr>
            <a:xfrm>
              <a:off x="602742" y="1866900"/>
              <a:ext cx="8777785" cy="3775901"/>
              <a:chOff x="602742" y="1866900"/>
              <a:chExt cx="8777785" cy="3775901"/>
            </a:xfrm>
          </p:grpSpPr>
          <p:sp>
            <p:nvSpPr>
              <p:cNvPr id="6" name="Line 6"/>
              <p:cNvSpPr/>
              <p:nvPr/>
            </p:nvSpPr>
            <p:spPr>
              <a:xfrm>
                <a:off x="2857500" y="1866900"/>
                <a:ext cx="5715000" cy="9525"/>
              </a:xfrm>
              <a:custGeom>
                <a:avLst/>
                <a:gdLst/>
                <a:ahLst/>
                <a:cxnLst/>
                <a:rect l="l" t="t" r="r" b="b"/>
                <a:pathLst>
                  <a:path w="5715000" h="9525">
                    <a:moveTo>
                      <a:pt x="0" y="0"/>
                    </a:moveTo>
                    <a:lnTo>
                      <a:pt x="5715000" y="0"/>
                    </a:lnTo>
                  </a:path>
                </a:pathLst>
              </a:custGeom>
              <a:noFill/>
              <a:ln w="19050">
                <a:solidFill>
                  <a:srgbClr val="94A3B8"/>
                </a:solidFill>
              </a:ln>
            </p:spPr>
          </p:sp>
          <p:sp>
            <p:nvSpPr>
              <p:cNvPr id="7" name="TextBox 7"/>
              <p:cNvSpPr txBox="1"/>
              <p:nvPr/>
            </p:nvSpPr>
            <p:spPr>
              <a:xfrm>
                <a:off x="602742" y="20450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任务与路径完成</a:t>
                </a:r>
              </a:p>
            </p:txBody>
          </p:sp>
          <p:sp>
            <p:nvSpPr>
              <p:cNvPr id="8" name="Rectangle 8"/>
              <p:cNvSpPr/>
              <p:nvPr/>
            </p:nvSpPr>
            <p:spPr>
              <a:xfrm>
                <a:off x="2857500" y="1981200"/>
                <a:ext cx="4926330" cy="228600"/>
              </a:xfrm>
              <a:prstGeom prst="rect">
                <a:avLst/>
              </a:prstGeom>
              <a:solidFill>
                <a:schemeClr val="accent2"/>
              </a:solidFill>
              <a:ln>
                <a:noFill/>
              </a:ln>
            </p:spPr>
          </p:sp>
          <p:sp>
            <p:nvSpPr>
              <p:cNvPr id="9" name="Rectangle 9"/>
              <p:cNvSpPr/>
              <p:nvPr/>
            </p:nvSpPr>
            <p:spPr>
              <a:xfrm>
                <a:off x="7783830" y="1981200"/>
                <a:ext cx="788670" cy="228600"/>
              </a:xfrm>
              <a:prstGeom prst="rect">
                <a:avLst/>
              </a:prstGeom>
              <a:solidFill>
                <a:schemeClr val="accent6"/>
              </a:solidFill>
              <a:ln>
                <a:noFill/>
              </a:ln>
            </p:spPr>
          </p:sp>
          <p:sp>
            <p:nvSpPr>
              <p:cNvPr id="10" name="TextBox 10"/>
              <p:cNvSpPr txBox="1"/>
              <p:nvPr/>
            </p:nvSpPr>
            <p:spPr>
              <a:xfrm>
                <a:off x="8737092" y="20259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11" name="TextBox 11"/>
              <p:cNvSpPr txBox="1"/>
              <p:nvPr/>
            </p:nvSpPr>
            <p:spPr>
              <a:xfrm>
                <a:off x="602742" y="2521268"/>
                <a:ext cx="154030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证据与事实可靠性</a:t>
                </a:r>
              </a:p>
            </p:txBody>
          </p:sp>
          <p:sp>
            <p:nvSpPr>
              <p:cNvPr id="12" name="Rectangle 12"/>
              <p:cNvSpPr/>
              <p:nvPr/>
            </p:nvSpPr>
            <p:spPr>
              <a:xfrm>
                <a:off x="2857500" y="2457450"/>
                <a:ext cx="5715000" cy="228600"/>
              </a:xfrm>
              <a:prstGeom prst="rect">
                <a:avLst/>
              </a:prstGeom>
              <a:solidFill>
                <a:schemeClr val="accent2"/>
              </a:solidFill>
              <a:ln>
                <a:noFill/>
              </a:ln>
            </p:spPr>
          </p:sp>
          <p:sp>
            <p:nvSpPr>
              <p:cNvPr id="13" name="TextBox 13"/>
              <p:cNvSpPr txBox="1"/>
              <p:nvPr/>
            </p:nvSpPr>
            <p:spPr>
              <a:xfrm>
                <a:off x="8737092" y="250221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14" name="TextBox 14"/>
              <p:cNvSpPr txBox="1"/>
              <p:nvPr/>
            </p:nvSpPr>
            <p:spPr>
              <a:xfrm>
                <a:off x="602742" y="2997518"/>
                <a:ext cx="1285875"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因果与机理深度</a:t>
                </a:r>
              </a:p>
            </p:txBody>
          </p:sp>
          <p:sp>
            <p:nvSpPr>
              <p:cNvPr id="15" name="Rectangle 15"/>
              <p:cNvSpPr/>
              <p:nvPr/>
            </p:nvSpPr>
            <p:spPr>
              <a:xfrm>
                <a:off x="2857500" y="2933700"/>
                <a:ext cx="4926330" cy="228600"/>
              </a:xfrm>
              <a:prstGeom prst="rect">
                <a:avLst/>
              </a:prstGeom>
              <a:solidFill>
                <a:schemeClr val="accent2"/>
              </a:solidFill>
              <a:ln>
                <a:noFill/>
              </a:ln>
            </p:spPr>
          </p:sp>
          <p:sp>
            <p:nvSpPr>
              <p:cNvPr id="16" name="Rectangle 16"/>
              <p:cNvSpPr/>
              <p:nvPr/>
            </p:nvSpPr>
            <p:spPr>
              <a:xfrm>
                <a:off x="7783830" y="2933700"/>
                <a:ext cx="788670" cy="228600"/>
              </a:xfrm>
              <a:prstGeom prst="rect">
                <a:avLst/>
              </a:prstGeom>
              <a:solidFill>
                <a:schemeClr val="accent6"/>
              </a:solidFill>
              <a:ln>
                <a:noFill/>
              </a:ln>
            </p:spPr>
          </p:sp>
          <p:sp>
            <p:nvSpPr>
              <p:cNvPr id="17" name="TextBox 17"/>
              <p:cNvSpPr txBox="1"/>
              <p:nvPr/>
            </p:nvSpPr>
            <p:spPr>
              <a:xfrm>
                <a:off x="8737092" y="2978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18" name="TextBox 18"/>
              <p:cNvSpPr txBox="1"/>
              <p:nvPr/>
            </p:nvSpPr>
            <p:spPr>
              <a:xfrm>
                <a:off x="602742" y="3473768"/>
                <a:ext cx="1649349"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能力映射与需求质量</a:t>
                </a:r>
              </a:p>
            </p:txBody>
          </p:sp>
          <p:sp>
            <p:nvSpPr>
              <p:cNvPr id="19" name="Rectangle 19"/>
              <p:cNvSpPr/>
              <p:nvPr/>
            </p:nvSpPr>
            <p:spPr>
              <a:xfrm>
                <a:off x="2857500" y="3409950"/>
                <a:ext cx="4926330" cy="228600"/>
              </a:xfrm>
              <a:prstGeom prst="rect">
                <a:avLst/>
              </a:prstGeom>
              <a:solidFill>
                <a:schemeClr val="accent2"/>
              </a:solidFill>
              <a:ln>
                <a:noFill/>
              </a:ln>
            </p:spPr>
          </p:sp>
          <p:sp>
            <p:nvSpPr>
              <p:cNvPr id="20" name="Rectangle 20"/>
              <p:cNvSpPr/>
              <p:nvPr/>
            </p:nvSpPr>
            <p:spPr>
              <a:xfrm>
                <a:off x="7783830" y="3409950"/>
                <a:ext cx="788670" cy="228600"/>
              </a:xfrm>
              <a:prstGeom prst="rect">
                <a:avLst/>
              </a:prstGeom>
              <a:solidFill>
                <a:schemeClr val="accent6"/>
              </a:solidFill>
              <a:ln>
                <a:noFill/>
              </a:ln>
            </p:spPr>
          </p:sp>
          <p:sp>
            <p:nvSpPr>
              <p:cNvPr id="21" name="TextBox 21"/>
              <p:cNvSpPr txBox="1"/>
              <p:nvPr/>
            </p:nvSpPr>
            <p:spPr>
              <a:xfrm>
                <a:off x="8737092" y="34547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22" name="TextBox 22"/>
              <p:cNvSpPr txBox="1"/>
              <p:nvPr/>
            </p:nvSpPr>
            <p:spPr>
              <a:xfrm>
                <a:off x="602742" y="3950018"/>
                <a:ext cx="1349483"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不确定性与验证</a:t>
                </a:r>
              </a:p>
            </p:txBody>
          </p:sp>
          <p:sp>
            <p:nvSpPr>
              <p:cNvPr id="23" name="Rectangle 23"/>
              <p:cNvSpPr/>
              <p:nvPr/>
            </p:nvSpPr>
            <p:spPr>
              <a:xfrm>
                <a:off x="2857500" y="3886200"/>
                <a:ext cx="5715000" cy="228600"/>
              </a:xfrm>
              <a:prstGeom prst="rect">
                <a:avLst/>
              </a:prstGeom>
              <a:solidFill>
                <a:schemeClr val="accent2"/>
              </a:solidFill>
              <a:ln>
                <a:noFill/>
              </a:ln>
            </p:spPr>
          </p:sp>
          <p:sp>
            <p:nvSpPr>
              <p:cNvPr id="24" name="TextBox 24"/>
              <p:cNvSpPr txBox="1"/>
              <p:nvPr/>
            </p:nvSpPr>
            <p:spPr>
              <a:xfrm>
                <a:off x="8737092" y="393096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sp>
            <p:nvSpPr>
              <p:cNvPr id="25" name="TextBox 25"/>
              <p:cNvSpPr txBox="1"/>
              <p:nvPr/>
            </p:nvSpPr>
            <p:spPr>
              <a:xfrm>
                <a:off x="602742" y="44262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军事运用价值</a:t>
                </a:r>
              </a:p>
            </p:txBody>
          </p:sp>
          <p:sp>
            <p:nvSpPr>
              <p:cNvPr id="26" name="Rectangle 26"/>
              <p:cNvSpPr/>
              <p:nvPr/>
            </p:nvSpPr>
            <p:spPr>
              <a:xfrm>
                <a:off x="2857500" y="4362450"/>
                <a:ext cx="4926330" cy="228600"/>
              </a:xfrm>
              <a:prstGeom prst="rect">
                <a:avLst/>
              </a:prstGeom>
              <a:solidFill>
                <a:schemeClr val="accent2"/>
              </a:solidFill>
              <a:ln>
                <a:noFill/>
              </a:ln>
            </p:spPr>
          </p:sp>
          <p:sp>
            <p:nvSpPr>
              <p:cNvPr id="27" name="Rectangle 27"/>
              <p:cNvSpPr/>
              <p:nvPr/>
            </p:nvSpPr>
            <p:spPr>
              <a:xfrm>
                <a:off x="7783830" y="4362450"/>
                <a:ext cx="788670" cy="228600"/>
              </a:xfrm>
              <a:prstGeom prst="rect">
                <a:avLst/>
              </a:prstGeom>
              <a:solidFill>
                <a:schemeClr val="accent6"/>
              </a:solidFill>
              <a:ln>
                <a:noFill/>
              </a:ln>
            </p:spPr>
          </p:sp>
          <p:sp>
            <p:nvSpPr>
              <p:cNvPr id="28" name="TextBox 28"/>
              <p:cNvSpPr txBox="1"/>
              <p:nvPr/>
            </p:nvSpPr>
            <p:spPr>
              <a:xfrm>
                <a:off x="8737092" y="440721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78:0:2</a:t>
                </a:r>
              </a:p>
            </p:txBody>
          </p:sp>
          <p:sp>
            <p:nvSpPr>
              <p:cNvPr id="29" name="TextBox 29"/>
              <p:cNvSpPr txBox="1"/>
              <p:nvPr/>
            </p:nvSpPr>
            <p:spPr>
              <a:xfrm>
                <a:off x="602742" y="4902518"/>
                <a:ext cx="92240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前瞻创新性</a:t>
                </a:r>
              </a:p>
            </p:txBody>
          </p:sp>
          <p:sp>
            <p:nvSpPr>
              <p:cNvPr id="30" name="Rectangle 30"/>
              <p:cNvSpPr/>
              <p:nvPr/>
            </p:nvSpPr>
            <p:spPr>
              <a:xfrm>
                <a:off x="2857500" y="4838700"/>
                <a:ext cx="4351020" cy="228600"/>
              </a:xfrm>
              <a:prstGeom prst="rect">
                <a:avLst/>
              </a:prstGeom>
              <a:solidFill>
                <a:schemeClr val="accent2"/>
              </a:solidFill>
              <a:ln>
                <a:noFill/>
              </a:ln>
            </p:spPr>
          </p:sp>
          <p:sp>
            <p:nvSpPr>
              <p:cNvPr id="31" name="Rectangle 31"/>
              <p:cNvSpPr/>
              <p:nvPr/>
            </p:nvSpPr>
            <p:spPr>
              <a:xfrm>
                <a:off x="7208520" y="4838700"/>
                <a:ext cx="499110" cy="228600"/>
              </a:xfrm>
              <a:prstGeom prst="rect">
                <a:avLst/>
              </a:prstGeom>
              <a:solidFill>
                <a:srgbClr val="B7C7D6"/>
              </a:solidFill>
              <a:ln>
                <a:noFill/>
              </a:ln>
            </p:spPr>
          </p:sp>
          <p:sp>
            <p:nvSpPr>
              <p:cNvPr id="32" name="Rectangle 32"/>
              <p:cNvSpPr/>
              <p:nvPr/>
            </p:nvSpPr>
            <p:spPr>
              <a:xfrm>
                <a:off x="7707630" y="4838700"/>
                <a:ext cx="864870" cy="228600"/>
              </a:xfrm>
              <a:prstGeom prst="rect">
                <a:avLst/>
              </a:prstGeom>
              <a:solidFill>
                <a:schemeClr val="accent6"/>
              </a:solidFill>
              <a:ln>
                <a:noFill/>
              </a:ln>
            </p:spPr>
          </p:sp>
          <p:sp>
            <p:nvSpPr>
              <p:cNvPr id="33" name="TextBox 33"/>
              <p:cNvSpPr txBox="1"/>
              <p:nvPr/>
            </p:nvSpPr>
            <p:spPr>
              <a:xfrm>
                <a:off x="8737092" y="4883468"/>
                <a:ext cx="613448" cy="264033"/>
              </a:xfrm>
              <a:prstGeom prst="rect">
                <a:avLst/>
              </a:prstGeom>
              <a:noFill/>
              <a:ln>
                <a:noFill/>
              </a:ln>
            </p:spPr>
            <p:txBody>
              <a:bodyPr wrap="none" lIns="0" tIns="0" rIns="0" bIns="0" anchor="t" anchorCtr="0">
                <a:spAutoFit/>
              </a:bodyPr>
              <a:lstStyle/>
              <a:p>
                <a:pPr algn="l"/>
                <a:r>
                  <a:rPr lang="en-US" sz="1350" dirty="0">
                    <a:solidFill>
                      <a:schemeClr val="dk1"/>
                    </a:solidFill>
                    <a:latin typeface="+mn-lt"/>
                    <a:ea typeface="+mn-ea"/>
                    <a:cs typeface="+mn-cs"/>
                  </a:rPr>
                  <a:t>76:1:3</a:t>
                </a:r>
              </a:p>
            </p:txBody>
          </p:sp>
          <p:sp>
            <p:nvSpPr>
              <p:cNvPr id="34" name="TextBox 34"/>
              <p:cNvSpPr txBox="1"/>
              <p:nvPr/>
            </p:nvSpPr>
            <p:spPr>
              <a:xfrm>
                <a:off x="602742" y="5378768"/>
                <a:ext cx="1540307"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体系与跨场景稳健</a:t>
                </a:r>
              </a:p>
            </p:txBody>
          </p:sp>
          <p:sp>
            <p:nvSpPr>
              <p:cNvPr id="35" name="Rectangle 35"/>
              <p:cNvSpPr/>
              <p:nvPr/>
            </p:nvSpPr>
            <p:spPr>
              <a:xfrm>
                <a:off x="2857500" y="5314950"/>
                <a:ext cx="5715000" cy="228600"/>
              </a:xfrm>
              <a:prstGeom prst="rect">
                <a:avLst/>
              </a:prstGeom>
              <a:solidFill>
                <a:schemeClr val="accent2"/>
              </a:solidFill>
              <a:ln>
                <a:noFill/>
              </a:ln>
            </p:spPr>
          </p:sp>
          <p:sp>
            <p:nvSpPr>
              <p:cNvPr id="36" name="TextBox 36"/>
              <p:cNvSpPr txBox="1"/>
              <p:nvPr/>
            </p:nvSpPr>
            <p:spPr>
              <a:xfrm>
                <a:off x="8737092" y="5359718"/>
                <a:ext cx="643435" cy="264033"/>
              </a:xfrm>
              <a:prstGeom prst="rect">
                <a:avLst/>
              </a:prstGeom>
              <a:noFill/>
              <a:ln>
                <a:noFill/>
              </a:ln>
            </p:spPr>
            <p:txBody>
              <a:bodyPr wrap="none" lIns="0" tIns="0" rIns="0" bIns="0" anchor="t" anchorCtr="0">
                <a:spAutoFit/>
              </a:bodyPr>
              <a:lstStyle/>
              <a:p>
                <a:pPr algn="l"/>
                <a:r>
                  <a:rPr lang="en-US" sz="1350" b="1" dirty="0">
                    <a:solidFill>
                      <a:schemeClr val="accent3"/>
                    </a:solidFill>
                    <a:latin typeface="+mn-lt"/>
                    <a:ea typeface="+mn-ea"/>
                    <a:cs typeface="+mn-cs"/>
                  </a:rPr>
                  <a:t>80:0:0</a:t>
                </a:r>
              </a:p>
            </p:txBody>
          </p:sp>
        </p:grpSp>
      </p:grpSp>
      <p:grpSp>
        <p:nvGrpSpPr>
          <p:cNvPr id="48" name="Group 48"/>
          <p:cNvGrpSpPr/>
          <p:nvPr/>
        </p:nvGrpSpPr>
        <p:grpSpPr>
          <a:xfrm>
            <a:off x="9277350" y="1657350"/>
            <a:ext cx="2305050" cy="3886200"/>
            <a:chOff x="9277350" y="1657350"/>
            <a:chExt cx="2305050" cy="3886200"/>
          </a:xfrm>
        </p:grpSpPr>
        <p:sp>
          <p:nvSpPr>
            <p:cNvPr id="39" name="Rectangle 39"/>
            <p:cNvSpPr/>
            <p:nvPr/>
          </p:nvSpPr>
          <p:spPr>
            <a:xfrm>
              <a:off x="9277350" y="1657350"/>
              <a:ext cx="2305050" cy="3886200"/>
            </a:xfrm>
            <a:prstGeom prst="rect">
              <a:avLst/>
            </a:prstGeom>
            <a:solidFill>
              <a:schemeClr val="accent1"/>
            </a:solidFill>
            <a:ln>
              <a:noFill/>
            </a:ln>
          </p:spPr>
        </p:sp>
        <p:sp>
          <p:nvSpPr>
            <p:cNvPr id="40" name="TextBox 40"/>
            <p:cNvSpPr txBox="1"/>
            <p:nvPr/>
          </p:nvSpPr>
          <p:spPr>
            <a:xfrm>
              <a:off x="9496806" y="1920240"/>
              <a:ext cx="1544879"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全票领先维度</a:t>
              </a:r>
            </a:p>
          </p:txBody>
        </p:sp>
        <p:sp>
          <p:nvSpPr>
            <p:cNvPr id="41" name="TextBox 41"/>
            <p:cNvSpPr txBox="1"/>
            <p:nvPr/>
          </p:nvSpPr>
          <p:spPr>
            <a:xfrm>
              <a:off x="9486900" y="2323148"/>
              <a:ext cx="422928" cy="962025"/>
            </a:xfrm>
            <a:prstGeom prst="rect">
              <a:avLst/>
            </a:prstGeom>
            <a:noFill/>
            <a:ln>
              <a:noFill/>
            </a:ln>
          </p:spPr>
          <p:txBody>
            <a:bodyPr wrap="none" lIns="0" tIns="0" rIns="0" bIns="0" anchor="t" anchorCtr="0">
              <a:spAutoFit/>
            </a:bodyPr>
            <a:lstStyle/>
            <a:p>
              <a:pPr algn="l"/>
              <a:r>
                <a:rPr lang="en-US" sz="4950" b="1" dirty="0">
                  <a:solidFill>
                    <a:srgbClr val="7CC5A5"/>
                  </a:solidFill>
                  <a:latin typeface="+mn-lt"/>
                  <a:ea typeface="+mn-ea"/>
                  <a:cs typeface="+mn-cs"/>
                </a:rPr>
                <a:t>3</a:t>
              </a:r>
            </a:p>
          </p:txBody>
        </p:sp>
        <p:sp>
          <p:nvSpPr>
            <p:cNvPr id="42" name="TextBox 42"/>
            <p:cNvSpPr txBox="1"/>
            <p:nvPr/>
          </p:nvSpPr>
          <p:spPr>
            <a:xfrm>
              <a:off x="9899142" y="2654618"/>
              <a:ext cx="849706"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个 80:0:0</a:t>
              </a:r>
            </a:p>
          </p:txBody>
        </p:sp>
        <p:sp>
          <p:nvSpPr>
            <p:cNvPr id="43" name="Line 43"/>
            <p:cNvSpPr/>
            <p:nvPr/>
          </p:nvSpPr>
          <p:spPr>
            <a:xfrm>
              <a:off x="9505950" y="3238500"/>
              <a:ext cx="1847850" cy="9525"/>
            </a:xfrm>
            <a:custGeom>
              <a:avLst/>
              <a:gdLst/>
              <a:ahLst/>
              <a:cxnLst/>
              <a:rect l="l" t="t" r="r" b="b"/>
              <a:pathLst>
                <a:path w="1847850" h="9525">
                  <a:moveTo>
                    <a:pt x="0" y="0"/>
                  </a:moveTo>
                  <a:lnTo>
                    <a:pt x="1847850" y="0"/>
                  </a:lnTo>
                </a:path>
              </a:pathLst>
            </a:custGeom>
            <a:noFill/>
            <a:ln w="19050">
              <a:solidFill>
                <a:srgbClr val="6D89A3"/>
              </a:solidFill>
            </a:ln>
          </p:spPr>
        </p:sp>
        <p:sp>
          <p:nvSpPr>
            <p:cNvPr id="44" name="TextBox 44"/>
            <p:cNvSpPr txBox="1"/>
            <p:nvPr/>
          </p:nvSpPr>
          <p:spPr>
            <a:xfrm>
              <a:off x="9497568" y="35366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事实证据</a:t>
              </a:r>
            </a:p>
          </p:txBody>
        </p:sp>
        <p:sp>
          <p:nvSpPr>
            <p:cNvPr id="45" name="TextBox 45"/>
            <p:cNvSpPr txBox="1"/>
            <p:nvPr/>
          </p:nvSpPr>
          <p:spPr>
            <a:xfrm>
              <a:off x="9497568" y="3993832"/>
              <a:ext cx="1416139"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不确定性验证</a:t>
              </a:r>
            </a:p>
          </p:txBody>
        </p:sp>
        <p:sp>
          <p:nvSpPr>
            <p:cNvPr id="46" name="TextBox 46"/>
            <p:cNvSpPr txBox="1"/>
            <p:nvPr/>
          </p:nvSpPr>
          <p:spPr>
            <a:xfrm>
              <a:off x="9497568" y="4451032"/>
              <a:ext cx="949681" cy="322707"/>
            </a:xfrm>
            <a:prstGeom prst="rect">
              <a:avLst/>
            </a:prstGeom>
            <a:noFill/>
            <a:ln>
              <a:noFill/>
            </a:ln>
          </p:spPr>
          <p:txBody>
            <a:bodyPr wrap="none" lIns="0" tIns="0" rIns="0" bIns="0" anchor="t" anchorCtr="0">
              <a:spAutoFit/>
            </a:bodyPr>
            <a:lstStyle/>
            <a:p>
              <a:pPr algn="l"/>
              <a:r>
                <a:rPr lang="zh-CN" sz="1650" b="1" dirty="0">
                  <a:solidFill>
                    <a:srgbClr val="FFFFFF"/>
                  </a:solidFill>
                  <a:latin typeface="+mn-lt"/>
                  <a:ea typeface="+mn-ea"/>
                  <a:cs typeface="+mn-cs"/>
                </a:rPr>
                <a:t>体系稳健</a:t>
              </a:r>
            </a:p>
          </p:txBody>
        </p:sp>
        <p:sp>
          <p:nvSpPr>
            <p:cNvPr id="47" name="TextBox 47"/>
            <p:cNvSpPr txBox="1"/>
            <p:nvPr/>
          </p:nvSpPr>
          <p:spPr>
            <a:xfrm>
              <a:off x="9499854" y="5013960"/>
              <a:ext cx="1950720" cy="234696"/>
            </a:xfrm>
            <a:prstGeom prst="rect">
              <a:avLst/>
            </a:prstGeom>
            <a:noFill/>
            <a:ln>
              <a:noFill/>
            </a:ln>
          </p:spPr>
          <p:txBody>
            <a:bodyPr wrap="none" lIns="0" tIns="0" rIns="0" bIns="0" anchor="t" anchorCtr="0">
              <a:spAutoFit/>
            </a:bodyPr>
            <a:lstStyle/>
            <a:p>
              <a:pPr algn="l"/>
              <a:r>
                <a:rPr lang="zh-CN" sz="1200" dirty="0">
                  <a:solidFill>
                    <a:srgbClr val="C8D5E2"/>
                  </a:solidFill>
                  <a:latin typeface="+mn-lt"/>
                  <a:ea typeface="+mn-ea"/>
                  <a:cs typeface="+mn-cs"/>
                </a:rPr>
                <a:t>跨模型基线仍保持稳定优势</a:t>
              </a:r>
            </a:p>
          </p:txBody>
        </p:sp>
      </p:grpSp>
      <p:grpSp>
        <p:nvGrpSpPr>
          <p:cNvPr id="56" name="Group 56"/>
          <p:cNvGrpSpPr/>
          <p:nvPr/>
        </p:nvGrpSpPr>
        <p:grpSpPr>
          <a:xfrm>
            <a:off x="609600" y="6172200"/>
            <a:ext cx="8993276" cy="270701"/>
            <a:chOff x="609600" y="6172200"/>
            <a:chExt cx="8993276" cy="270701"/>
          </a:xfrm>
        </p:grpSpPr>
        <p:sp>
          <p:nvSpPr>
            <p:cNvPr id="49" name="Rectangle 49"/>
            <p:cNvSpPr/>
            <p:nvPr/>
          </p:nvSpPr>
          <p:spPr>
            <a:xfrm>
              <a:off x="609600" y="6172200"/>
              <a:ext cx="171450" cy="171450"/>
            </a:xfrm>
            <a:prstGeom prst="rect">
              <a:avLst/>
            </a:prstGeom>
            <a:solidFill>
              <a:schemeClr val="accent2"/>
            </a:solidFill>
            <a:ln>
              <a:noFill/>
            </a:ln>
          </p:spPr>
        </p:sp>
        <p:sp>
          <p:nvSpPr>
            <p:cNvPr id="50" name="TextBox 50"/>
            <p:cNvSpPr txBox="1"/>
            <p:nvPr/>
          </p:nvSpPr>
          <p:spPr>
            <a:xfrm>
              <a:off x="869442" y="6178868"/>
              <a:ext cx="740664"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完整方法</a:t>
              </a:r>
            </a:p>
          </p:txBody>
        </p:sp>
        <p:sp>
          <p:nvSpPr>
            <p:cNvPr id="51" name="Rectangle 51"/>
            <p:cNvSpPr/>
            <p:nvPr/>
          </p:nvSpPr>
          <p:spPr>
            <a:xfrm>
              <a:off x="2190750" y="6172200"/>
              <a:ext cx="171450" cy="171450"/>
            </a:xfrm>
            <a:prstGeom prst="rect">
              <a:avLst/>
            </a:prstGeom>
            <a:solidFill>
              <a:srgbClr val="B7C7D6"/>
            </a:solidFill>
            <a:ln>
              <a:noFill/>
            </a:ln>
          </p:spPr>
        </p:sp>
        <p:sp>
          <p:nvSpPr>
            <p:cNvPr id="52" name="TextBox 52"/>
            <p:cNvSpPr txBox="1"/>
            <p:nvPr/>
          </p:nvSpPr>
          <p:spPr>
            <a:xfrm>
              <a:off x="2450592" y="6178868"/>
              <a:ext cx="37719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平票</a:t>
              </a:r>
            </a:p>
          </p:txBody>
        </p:sp>
        <p:sp>
          <p:nvSpPr>
            <p:cNvPr id="53" name="Rectangle 53"/>
            <p:cNvSpPr/>
            <p:nvPr/>
          </p:nvSpPr>
          <p:spPr>
            <a:xfrm>
              <a:off x="3429000" y="6172200"/>
              <a:ext cx="171450" cy="171450"/>
            </a:xfrm>
            <a:prstGeom prst="rect">
              <a:avLst/>
            </a:prstGeom>
            <a:solidFill>
              <a:schemeClr val="accent6"/>
            </a:solidFill>
            <a:ln>
              <a:noFill/>
            </a:ln>
          </p:spPr>
        </p:sp>
        <p:sp>
          <p:nvSpPr>
            <p:cNvPr id="54" name="TextBox 54"/>
            <p:cNvSpPr txBox="1"/>
            <p:nvPr/>
          </p:nvSpPr>
          <p:spPr>
            <a:xfrm>
              <a:off x="3688842" y="6178868"/>
              <a:ext cx="810616"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智谱 GLM</a:t>
              </a:r>
            </a:p>
          </p:txBody>
        </p:sp>
        <p:sp>
          <p:nvSpPr>
            <p:cNvPr id="55" name="TextBox 55"/>
            <p:cNvSpPr txBox="1"/>
            <p:nvPr/>
          </p:nvSpPr>
          <p:spPr>
            <a:xfrm>
              <a:off x="5899404" y="6195060"/>
              <a:ext cx="3703472" cy="234696"/>
            </a:xfrm>
            <a:prstGeom prst="rect">
              <a:avLst/>
            </a:prstGeom>
            <a:noFill/>
            <a:ln>
              <a:noFill/>
            </a:ln>
          </p:spPr>
          <p:txBody>
            <a:bodyPr wrap="none" lIns="0" tIns="0" rIns="0" bIns="0" anchor="t" anchorCtr="0">
              <a:spAutoFit/>
            </a:bodyPr>
            <a:lstStyle/>
            <a:p>
              <a:pPr algn="l"/>
              <a:r>
                <a:rPr lang="zh-CN" sz="1200" dirty="0">
                  <a:solidFill>
                    <a:srgbClr val="6B7785"/>
                  </a:solidFill>
                  <a:latin typeface="+mn-lt"/>
                  <a:ea typeface="+mn-ea"/>
                  <a:cs typeface="+mn-cs"/>
                </a:rPr>
                <a:t>条长采用 √票数压缩显示；准确票数以右侧数字为准</a:t>
              </a:r>
            </a:p>
          </p:txBody>
        </p:sp>
      </p:gr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78776"/>
            <a:chOff x="593598" y="498158"/>
            <a:chExt cx="10995660" cy="878776"/>
          </a:xfrm>
        </p:grpSpPr>
        <p:sp>
          <p:nvSpPr>
            <p:cNvPr id="2" name="TextBox 2"/>
            <p:cNvSpPr txBox="1"/>
            <p:nvPr/>
          </p:nvSpPr>
          <p:spPr>
            <a:xfrm>
              <a:off x="593598" y="498158"/>
              <a:ext cx="2703538"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消融实验设计</a:t>
              </a:r>
            </a:p>
          </p:txBody>
        </p:sp>
        <p:sp>
          <p:nvSpPr>
            <p:cNvPr id="3" name="TextBox 3"/>
            <p:cNvSpPr txBox="1"/>
            <p:nvPr/>
          </p:nvSpPr>
          <p:spPr>
            <a:xfrm>
              <a:off x="600456" y="1024890"/>
              <a:ext cx="4379976"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分别验证多源基线与制胜机理的边际贡献</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18</a:t>
              </a:r>
            </a:p>
          </p:txBody>
        </p:sp>
      </p:grpSp>
      <p:grpSp>
        <p:nvGrpSpPr>
          <p:cNvPr id="11" name="Group 11"/>
          <p:cNvGrpSpPr/>
          <p:nvPr/>
        </p:nvGrpSpPr>
        <p:grpSpPr>
          <a:xfrm>
            <a:off x="609600" y="1581150"/>
            <a:ext cx="3429000" cy="1657350"/>
            <a:chOff x="609600" y="1581150"/>
            <a:chExt cx="3429000" cy="1657350"/>
          </a:xfrm>
        </p:grpSpPr>
        <p:sp>
          <p:nvSpPr>
            <p:cNvPr id="6" name="Rectangle 6"/>
            <p:cNvSpPr/>
            <p:nvPr/>
          </p:nvSpPr>
          <p:spPr>
            <a:xfrm>
              <a:off x="609600" y="1581150"/>
              <a:ext cx="3429000" cy="1657350"/>
            </a:xfrm>
            <a:prstGeom prst="rect">
              <a:avLst/>
            </a:prstGeom>
            <a:solidFill>
              <a:schemeClr val="accent1"/>
            </a:solidFill>
            <a:ln>
              <a:noFill/>
            </a:ln>
          </p:spPr>
        </p:sp>
        <p:sp>
          <p:nvSpPr>
            <p:cNvPr id="7" name="TextBox 7"/>
            <p:cNvSpPr txBox="1"/>
            <p:nvPr/>
          </p:nvSpPr>
          <p:spPr>
            <a:xfrm>
              <a:off x="829056" y="1786890"/>
              <a:ext cx="1036015" cy="352044"/>
            </a:xfrm>
            <a:prstGeom prst="rect">
              <a:avLst/>
            </a:prstGeom>
            <a:noFill/>
            <a:ln>
              <a:noFill/>
            </a:ln>
          </p:spPr>
          <p:txBody>
            <a:bodyPr wrap="none" lIns="0" tIns="0" rIns="0" bIns="0" anchor="t" anchorCtr="0">
              <a:spAutoFit/>
            </a:bodyPr>
            <a:lstStyle/>
            <a:p>
              <a:pPr algn="l"/>
              <a:r>
                <a:rPr lang="zh-CN" sz="1800" b="1" dirty="0">
                  <a:solidFill>
                    <a:srgbClr val="FFFFFF"/>
                  </a:solidFill>
                  <a:latin typeface="+mn-lt"/>
                  <a:ea typeface="+mn-ea"/>
                  <a:cs typeface="+mn-cs"/>
                </a:rPr>
                <a:t>完整方法</a:t>
              </a:r>
            </a:p>
          </p:txBody>
        </p:sp>
        <p:sp>
          <p:nvSpPr>
            <p:cNvPr id="8" name="TextBox 8"/>
            <p:cNvSpPr txBox="1"/>
            <p:nvPr/>
          </p:nvSpPr>
          <p:spPr>
            <a:xfrm>
              <a:off x="831342" y="2254568"/>
              <a:ext cx="1285875" cy="264033"/>
            </a:xfrm>
            <a:prstGeom prst="rect">
              <a:avLst/>
            </a:prstGeom>
            <a:noFill/>
            <a:ln>
              <a:noFill/>
            </a:ln>
          </p:spPr>
          <p:txBody>
            <a:bodyPr wrap="none" lIns="0" tIns="0" rIns="0" bIns="0" anchor="t" anchorCtr="0">
              <a:spAutoFit/>
            </a:bodyPr>
            <a:lstStyle/>
            <a:p>
              <a:pPr algn="l"/>
              <a:r>
                <a:rPr lang="zh-CN" sz="1350" dirty="0">
                  <a:solidFill>
                    <a:srgbClr val="FFFFFF"/>
                  </a:solidFill>
                  <a:latin typeface="+mn-lt"/>
                  <a:ea typeface="+mn-ea"/>
                  <a:cs typeface="+mn-cs"/>
                </a:rPr>
                <a:t>多角色、多通道</a:t>
              </a:r>
            </a:p>
          </p:txBody>
        </p:sp>
        <p:sp>
          <p:nvSpPr>
            <p:cNvPr id="9" name="TextBox 9"/>
            <p:cNvSpPr txBox="1"/>
            <p:nvPr/>
          </p:nvSpPr>
          <p:spPr>
            <a:xfrm>
              <a:off x="831342" y="2559368"/>
              <a:ext cx="1290676" cy="264033"/>
            </a:xfrm>
            <a:prstGeom prst="rect">
              <a:avLst/>
            </a:prstGeom>
            <a:noFill/>
            <a:ln>
              <a:noFill/>
            </a:ln>
          </p:spPr>
          <p:txBody>
            <a:bodyPr wrap="none" lIns="0" tIns="0" rIns="0" bIns="0" anchor="t" anchorCtr="0">
              <a:spAutoFit/>
            </a:bodyPr>
            <a:lstStyle/>
            <a:p>
              <a:pPr algn="l"/>
              <a:r>
                <a:rPr lang="en-US" sz="1350" dirty="0">
                  <a:solidFill>
                    <a:srgbClr val="FFFFFF"/>
                  </a:solidFill>
                  <a:latin typeface="+mn-lt"/>
                  <a:ea typeface="+mn-ea"/>
                  <a:cs typeface="+mn-cs"/>
                </a:rPr>
                <a:t>S1–S6 + L1–L4</a:t>
              </a:r>
            </a:p>
          </p:txBody>
        </p:sp>
        <p:sp>
          <p:nvSpPr>
            <p:cNvPr id="10" name="TextBox 10"/>
            <p:cNvSpPr txBox="1"/>
            <p:nvPr/>
          </p:nvSpPr>
          <p:spPr>
            <a:xfrm>
              <a:off x="831342" y="2883218"/>
              <a:ext cx="586188" cy="264033"/>
            </a:xfrm>
            <a:prstGeom prst="rect">
              <a:avLst/>
            </a:prstGeom>
            <a:noFill/>
            <a:ln>
              <a:noFill/>
            </a:ln>
          </p:spPr>
          <p:txBody>
            <a:bodyPr wrap="none" lIns="0" tIns="0" rIns="0" bIns="0" anchor="t" anchorCtr="0">
              <a:spAutoFit/>
            </a:bodyPr>
            <a:lstStyle/>
            <a:p>
              <a:pPr algn="l"/>
              <a:r>
                <a:rPr lang="zh-CN" sz="1350" b="1" dirty="0">
                  <a:solidFill>
                    <a:schemeClr val="accent3"/>
                  </a:solidFill>
                  <a:latin typeface="+mn-lt"/>
                  <a:ea typeface="+mn-ea"/>
                  <a:cs typeface="+mn-cs"/>
                </a:rPr>
                <a:t>控制组</a:t>
              </a:r>
            </a:p>
          </p:txBody>
        </p:sp>
      </p:grpSp>
      <p:grpSp>
        <p:nvGrpSpPr>
          <p:cNvPr id="18" name="Group 18"/>
          <p:cNvGrpSpPr/>
          <p:nvPr/>
        </p:nvGrpSpPr>
        <p:grpSpPr>
          <a:xfrm>
            <a:off x="4381500" y="1581150"/>
            <a:ext cx="3429000" cy="1657350"/>
            <a:chOff x="4381500" y="1581150"/>
            <a:chExt cx="3429000" cy="1657350"/>
          </a:xfrm>
        </p:grpSpPr>
        <p:sp>
          <p:nvSpPr>
            <p:cNvPr id="12" name="Rectangle 12"/>
            <p:cNvSpPr/>
            <p:nvPr/>
          </p:nvSpPr>
          <p:spPr>
            <a:xfrm>
              <a:off x="4381500" y="1581150"/>
              <a:ext cx="3429000" cy="1657350"/>
            </a:xfrm>
            <a:prstGeom prst="rect">
              <a:avLst/>
            </a:prstGeom>
            <a:solidFill>
              <a:schemeClr val="accent5"/>
            </a:solidFill>
            <a:ln>
              <a:noFill/>
            </a:ln>
          </p:spPr>
        </p:sp>
        <p:sp>
          <p:nvSpPr>
            <p:cNvPr id="13" name="Rectangle 13"/>
            <p:cNvSpPr/>
            <p:nvPr/>
          </p:nvSpPr>
          <p:spPr>
            <a:xfrm>
              <a:off x="4381500" y="1581150"/>
              <a:ext cx="3429000" cy="66675"/>
            </a:xfrm>
            <a:prstGeom prst="rect">
              <a:avLst/>
            </a:prstGeom>
            <a:solidFill>
              <a:schemeClr val="accent2"/>
            </a:solidFill>
            <a:ln>
              <a:noFill/>
            </a:ln>
          </p:spPr>
        </p:sp>
        <p:sp>
          <p:nvSpPr>
            <p:cNvPr id="14" name="TextBox 14"/>
            <p:cNvSpPr txBox="1"/>
            <p:nvPr/>
          </p:nvSpPr>
          <p:spPr>
            <a:xfrm>
              <a:off x="4600956" y="17868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去多源基线</a:t>
              </a:r>
            </a:p>
          </p:txBody>
        </p:sp>
        <p:sp>
          <p:nvSpPr>
            <p:cNvPr id="15" name="TextBox 15"/>
            <p:cNvSpPr txBox="1"/>
            <p:nvPr/>
          </p:nvSpPr>
          <p:spPr>
            <a:xfrm>
              <a:off x="4603242" y="2254568"/>
              <a:ext cx="1860850"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单受限通用检索 Agent</a:t>
              </a:r>
            </a:p>
          </p:txBody>
        </p:sp>
        <p:sp>
          <p:nvSpPr>
            <p:cNvPr id="16" name="TextBox 16"/>
            <p:cNvSpPr txBox="1"/>
            <p:nvPr/>
          </p:nvSpPr>
          <p:spPr>
            <a:xfrm>
              <a:off x="4603242" y="2559368"/>
              <a:ext cx="1732331"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保留 S1–S6 + L1–L4</a:t>
              </a:r>
            </a:p>
          </p:txBody>
        </p:sp>
        <p:sp>
          <p:nvSpPr>
            <p:cNvPr id="17" name="TextBox 17"/>
            <p:cNvSpPr txBox="1"/>
            <p:nvPr/>
          </p:nvSpPr>
          <p:spPr>
            <a:xfrm>
              <a:off x="4603242" y="2883218"/>
              <a:ext cx="1158659" cy="264033"/>
            </a:xfrm>
            <a:prstGeom prst="rect">
              <a:avLst/>
            </a:prstGeom>
            <a:noFill/>
            <a:ln>
              <a:noFill/>
            </a:ln>
          </p:spPr>
          <p:txBody>
            <a:bodyPr wrap="none" lIns="0" tIns="0" rIns="0" bIns="0" anchor="t" anchorCtr="0">
              <a:spAutoFit/>
            </a:bodyPr>
            <a:lstStyle/>
            <a:p>
              <a:pPr algn="l"/>
              <a:r>
                <a:rPr lang="zh-CN" sz="1350" b="1" dirty="0">
                  <a:solidFill>
                    <a:schemeClr val="accent2"/>
                  </a:solidFill>
                  <a:latin typeface="+mn-lt"/>
                  <a:ea typeface="+mn-ea"/>
                  <a:cs typeface="+mn-cs"/>
                </a:rPr>
                <a:t>验证多源贡献</a:t>
              </a:r>
            </a:p>
          </p:txBody>
        </p:sp>
      </p:grpSp>
      <p:grpSp>
        <p:nvGrpSpPr>
          <p:cNvPr id="25" name="Group 25"/>
          <p:cNvGrpSpPr/>
          <p:nvPr/>
        </p:nvGrpSpPr>
        <p:grpSpPr>
          <a:xfrm>
            <a:off x="8153400" y="1581150"/>
            <a:ext cx="3429000" cy="1657350"/>
            <a:chOff x="8153400" y="1581150"/>
            <a:chExt cx="3429000" cy="1657350"/>
          </a:xfrm>
        </p:grpSpPr>
        <p:sp>
          <p:nvSpPr>
            <p:cNvPr id="19" name="Rectangle 19"/>
            <p:cNvSpPr/>
            <p:nvPr/>
          </p:nvSpPr>
          <p:spPr>
            <a:xfrm>
              <a:off x="8153400" y="1581150"/>
              <a:ext cx="3429000" cy="1657350"/>
            </a:xfrm>
            <a:prstGeom prst="rect">
              <a:avLst/>
            </a:prstGeom>
            <a:solidFill>
              <a:schemeClr val="accent5"/>
            </a:solidFill>
            <a:ln>
              <a:noFill/>
            </a:ln>
          </p:spPr>
        </p:sp>
        <p:sp>
          <p:nvSpPr>
            <p:cNvPr id="20" name="Rectangle 20"/>
            <p:cNvSpPr/>
            <p:nvPr/>
          </p:nvSpPr>
          <p:spPr>
            <a:xfrm>
              <a:off x="8153400" y="1581150"/>
              <a:ext cx="3429000" cy="66675"/>
            </a:xfrm>
            <a:prstGeom prst="rect">
              <a:avLst/>
            </a:prstGeom>
            <a:solidFill>
              <a:schemeClr val="accent6"/>
            </a:solidFill>
            <a:ln>
              <a:noFill/>
            </a:ln>
          </p:spPr>
        </p:sp>
        <p:sp>
          <p:nvSpPr>
            <p:cNvPr id="21" name="TextBox 21"/>
            <p:cNvSpPr txBox="1"/>
            <p:nvPr/>
          </p:nvSpPr>
          <p:spPr>
            <a:xfrm>
              <a:off x="8372856" y="1786890"/>
              <a:ext cx="1290447"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去制胜机理</a:t>
              </a:r>
            </a:p>
          </p:txBody>
        </p:sp>
        <p:sp>
          <p:nvSpPr>
            <p:cNvPr id="22" name="TextBox 22"/>
            <p:cNvSpPr txBox="1"/>
            <p:nvPr/>
          </p:nvSpPr>
          <p:spPr>
            <a:xfrm>
              <a:off x="8375142" y="2254568"/>
              <a:ext cx="110413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保留多源基线</a:t>
              </a:r>
            </a:p>
          </p:txBody>
        </p:sp>
        <p:sp>
          <p:nvSpPr>
            <p:cNvPr id="23" name="TextBox 23"/>
            <p:cNvSpPr txBox="1"/>
            <p:nvPr/>
          </p:nvSpPr>
          <p:spPr>
            <a:xfrm>
              <a:off x="8375142" y="2559368"/>
              <a:ext cx="1943557"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跳过 S1–S6，循环关闭</a:t>
              </a:r>
            </a:p>
          </p:txBody>
        </p:sp>
        <p:sp>
          <p:nvSpPr>
            <p:cNvPr id="24" name="TextBox 24"/>
            <p:cNvSpPr txBox="1"/>
            <p:nvPr/>
          </p:nvSpPr>
          <p:spPr>
            <a:xfrm>
              <a:off x="8375142" y="2883218"/>
              <a:ext cx="1158659" cy="264033"/>
            </a:xfrm>
            <a:prstGeom prst="rect">
              <a:avLst/>
            </a:prstGeom>
            <a:noFill/>
            <a:ln>
              <a:noFill/>
            </a:ln>
          </p:spPr>
          <p:txBody>
            <a:bodyPr wrap="none" lIns="0" tIns="0" rIns="0" bIns="0" anchor="t" anchorCtr="0">
              <a:spAutoFit/>
            </a:bodyPr>
            <a:lstStyle/>
            <a:p>
              <a:pPr algn="l"/>
              <a:r>
                <a:rPr lang="zh-CN" sz="1350" b="1" dirty="0">
                  <a:solidFill>
                    <a:schemeClr val="accent6"/>
                  </a:solidFill>
                  <a:latin typeface="+mn-lt"/>
                  <a:ea typeface="+mn-ea"/>
                  <a:cs typeface="+mn-cs"/>
                </a:rPr>
                <a:t>验证机理贡献</a:t>
              </a:r>
            </a:p>
          </p:txBody>
        </p:sp>
      </p:grpSp>
      <p:grpSp>
        <p:nvGrpSpPr>
          <p:cNvPr id="33" name="Group 33"/>
          <p:cNvGrpSpPr/>
          <p:nvPr/>
        </p:nvGrpSpPr>
        <p:grpSpPr>
          <a:xfrm>
            <a:off x="609600" y="3390900"/>
            <a:ext cx="4953000" cy="3105150"/>
            <a:chOff x="609600" y="3390900"/>
            <a:chExt cx="4953000" cy="3105150"/>
          </a:xfrm>
        </p:grpSpPr>
        <p:sp>
          <p:nvSpPr>
            <p:cNvPr id="26" name="Rectangle 26"/>
            <p:cNvSpPr/>
            <p:nvPr/>
          </p:nvSpPr>
          <p:spPr>
            <a:xfrm>
              <a:off x="609600" y="3390900"/>
              <a:ext cx="4953000" cy="3105150"/>
            </a:xfrm>
            <a:prstGeom prst="rect">
              <a:avLst/>
            </a:prstGeom>
            <a:solidFill>
              <a:schemeClr val="accent1"/>
            </a:solidFill>
            <a:ln>
              <a:noFill/>
            </a:ln>
          </p:spPr>
        </p:sp>
        <p:sp>
          <p:nvSpPr>
            <p:cNvPr id="27" name="TextBox 27"/>
            <p:cNvSpPr txBox="1"/>
            <p:nvPr/>
          </p:nvSpPr>
          <p:spPr>
            <a:xfrm>
              <a:off x="864108" y="3627120"/>
              <a:ext cx="1381354"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实验口径</a:t>
              </a:r>
            </a:p>
          </p:txBody>
        </p:sp>
        <p:sp>
          <p:nvSpPr>
            <p:cNvPr id="28" name="TextBox 28"/>
            <p:cNvSpPr txBox="1"/>
            <p:nvPr/>
          </p:nvSpPr>
          <p:spPr>
            <a:xfrm>
              <a:off x="857250" y="4094798"/>
              <a:ext cx="3116197"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10 Query</a:t>
              </a:r>
            </a:p>
          </p:txBody>
        </p:sp>
        <p:sp>
          <p:nvSpPr>
            <p:cNvPr id="29" name="TextBox 29"/>
            <p:cNvSpPr txBox="1"/>
            <p:nvPr/>
          </p:nvSpPr>
          <p:spPr>
            <a:xfrm>
              <a:off x="867156" y="4911090"/>
              <a:ext cx="251789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匿名正反序 · 双 Judge</a:t>
              </a:r>
            </a:p>
          </p:txBody>
        </p:sp>
        <p:sp>
          <p:nvSpPr>
            <p:cNvPr id="30" name="Line 30"/>
            <p:cNvSpPr/>
            <p:nvPr/>
          </p:nvSpPr>
          <p:spPr>
            <a:xfrm>
              <a:off x="876300" y="5429250"/>
              <a:ext cx="4419600" cy="9525"/>
            </a:xfrm>
            <a:custGeom>
              <a:avLst/>
              <a:gdLst/>
              <a:ahLst/>
              <a:cxnLst/>
              <a:rect l="l" t="t" r="r" b="b"/>
              <a:pathLst>
                <a:path w="4419600" h="9525">
                  <a:moveTo>
                    <a:pt x="0" y="0"/>
                  </a:moveTo>
                  <a:lnTo>
                    <a:pt x="4419600" y="0"/>
                  </a:lnTo>
                </a:path>
              </a:pathLst>
            </a:custGeom>
            <a:noFill/>
            <a:ln w="19050">
              <a:solidFill>
                <a:srgbClr val="6D89A3"/>
              </a:solidFill>
            </a:ln>
          </p:spPr>
        </p:sp>
        <p:sp>
          <p:nvSpPr>
            <p:cNvPr id="31" name="TextBox 31"/>
            <p:cNvSpPr txBox="1"/>
            <p:nvPr/>
          </p:nvSpPr>
          <p:spPr>
            <a:xfrm>
              <a:off x="869442" y="5702618"/>
              <a:ext cx="2558034"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探索性结果，不作最终因果结论</a:t>
              </a:r>
            </a:p>
          </p:txBody>
        </p:sp>
        <p:sp>
          <p:nvSpPr>
            <p:cNvPr id="32" name="TextBox 32"/>
            <p:cNvSpPr txBox="1"/>
            <p:nvPr/>
          </p:nvSpPr>
          <p:spPr>
            <a:xfrm>
              <a:off x="869442" y="6045518"/>
              <a:ext cx="2012823" cy="264033"/>
            </a:xfrm>
            <a:prstGeom prst="rect">
              <a:avLst/>
            </a:prstGeom>
            <a:noFill/>
            <a:ln>
              <a:noFill/>
            </a:ln>
          </p:spPr>
          <p:txBody>
            <a:bodyPr wrap="none" lIns="0" tIns="0" rIns="0" bIns="0" anchor="t" anchorCtr="0">
              <a:spAutoFit/>
            </a:bodyPr>
            <a:lstStyle/>
            <a:p>
              <a:pPr algn="l"/>
              <a:r>
                <a:rPr lang="zh-CN" sz="1350" dirty="0">
                  <a:solidFill>
                    <a:srgbClr val="C8D5E2"/>
                  </a:solidFill>
                  <a:latin typeface="+mn-lt"/>
                  <a:ea typeface="+mn-ea"/>
                  <a:cs typeface="+mn-cs"/>
                </a:rPr>
                <a:t>观察：质量、票型、耗时</a:t>
              </a:r>
            </a:p>
          </p:txBody>
        </p:sp>
      </p:grpSp>
      <p:grpSp>
        <p:nvGrpSpPr>
          <p:cNvPr id="36" name="Group 36"/>
          <p:cNvGrpSpPr/>
          <p:nvPr/>
        </p:nvGrpSpPr>
        <p:grpSpPr>
          <a:xfrm>
            <a:off x="5962650" y="3390900"/>
            <a:ext cx="5619750" cy="3162300"/>
            <a:chOff x="5962650" y="3390900"/>
            <a:chExt cx="5619750" cy="3162300"/>
          </a:xfrm>
        </p:grpSpPr>
        <p:sp>
          <p:nvSpPr>
            <p:cNvPr id="34" name="Rectangle 34"/>
            <p:cNvSpPr/>
            <p:nvPr/>
          </p:nvSpPr>
          <p:spPr>
            <a:xfrm>
              <a:off x="5962650" y="3390900"/>
              <a:ext cx="5619750" cy="3162300"/>
            </a:xfrm>
            <a:prstGeom prst="rect">
              <a:avLst/>
            </a:prstGeom>
            <a:solidFill>
              <a:schemeClr val="accent5"/>
            </a:solidFill>
            <a:ln w="19050">
              <a:solidFill>
                <a:schemeClr val="accent2"/>
              </a:solidFill>
            </a:ln>
          </p:spPr>
        </p:sp>
        <p:pic>
          <p:nvPicPr>
            <p:cNvPr id="35" name="Image 35"/>
            <p:cNvPicPr>
              <a:picLocks noChangeAspect="1"/>
            </p:cNvPicPr>
            <p:nvPr/>
          </p:nvPicPr>
          <p:blipFill>
            <a:blip r:embed="rId2"/>
            <a:stretch>
              <a:fillRect/>
            </a:stretch>
          </p:blipFill>
          <p:spPr>
            <a:xfrm>
              <a:off x="6057900" y="3486150"/>
              <a:ext cx="5429250" cy="3057525"/>
            </a:xfrm>
            <a:prstGeom prst="rect">
              <a:avLst/>
            </a:prstGeom>
          </p:spPr>
        </p:pic>
      </p:gr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498158"/>
            <a:ext cx="10995660" cy="897826"/>
            <a:chOff x="593598" y="498158"/>
            <a:chExt cx="10995660" cy="897826"/>
          </a:xfrm>
        </p:grpSpPr>
        <p:sp>
          <p:nvSpPr>
            <p:cNvPr id="2" name="TextBox 2"/>
            <p:cNvSpPr txBox="1"/>
            <p:nvPr/>
          </p:nvSpPr>
          <p:spPr>
            <a:xfrm>
              <a:off x="593598" y="498158"/>
              <a:ext cx="8491861" cy="616077"/>
            </a:xfrm>
            <a:prstGeom prst="rect">
              <a:avLst/>
            </a:prstGeom>
            <a:noFill/>
            <a:ln>
              <a:noFill/>
            </a:ln>
          </p:spPr>
          <p:txBody>
            <a:bodyPr wrap="none" lIns="0" tIns="0" rIns="0" bIns="0" anchor="t" anchorCtr="0">
              <a:spAutoFit/>
            </a:bodyPr>
            <a:lstStyle/>
            <a:p>
              <a:pPr algn="l"/>
              <a:r>
                <a:rPr lang="zh-CN" sz="3150" b="1" dirty="0">
                  <a:solidFill>
                    <a:schemeClr val="accent1"/>
                  </a:solidFill>
                  <a:latin typeface="+mn-lt"/>
                  <a:ea typeface="+mn-ea"/>
                  <a:cs typeface="+mn-cs"/>
                </a:rPr>
                <a:t>初步消融实验表明：制胜机理贡献仍最突出</a:t>
              </a:r>
            </a:p>
          </p:txBody>
        </p:sp>
        <p:sp>
          <p:nvSpPr>
            <p:cNvPr id="3" name="TextBox 3"/>
            <p:cNvSpPr txBox="1"/>
            <p:nvPr/>
          </p:nvSpPr>
          <p:spPr>
            <a:xfrm>
              <a:off x="600456" y="1043940"/>
              <a:ext cx="7457389" cy="352044"/>
            </a:xfrm>
            <a:prstGeom prst="rect">
              <a:avLst/>
            </a:prstGeom>
            <a:noFill/>
            <a:ln>
              <a:noFill/>
            </a:ln>
          </p:spPr>
          <p:txBody>
            <a:bodyPr wrap="none" lIns="0" tIns="0" rIns="0" bIns="0" anchor="t" anchorCtr="0">
              <a:spAutoFit/>
            </a:bodyPr>
            <a:lstStyle/>
            <a:p>
              <a:pPr algn="l"/>
              <a:r>
                <a:rPr lang="zh-CN" sz="1800" dirty="0">
                  <a:solidFill>
                    <a:srgbClr val="6B7785"/>
                  </a:solidFill>
                  <a:latin typeface="+mn-lt"/>
                  <a:ea typeface="+mn-ea"/>
                  <a:cs typeface="+mn-cs"/>
                </a:rPr>
                <a:t>多源基线仅呈 20 个百分点方向性增益；当前结果仍按探索性证据解读</a:t>
              </a:r>
            </a:p>
          </p:txBody>
        </p:sp>
        <p:sp>
          <p:nvSpPr>
            <p:cNvPr id="4" name="TextBox 4"/>
            <p:cNvSpPr txBox="1"/>
            <p:nvPr/>
          </p:nvSpPr>
          <p:spPr>
            <a:xfrm>
              <a:off x="11375631" y="654368"/>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19</a:t>
              </a:r>
            </a:p>
          </p:txBody>
        </p:sp>
      </p:grpSp>
      <p:grpSp>
        <p:nvGrpSpPr>
          <p:cNvPr id="27" name="Group 27"/>
          <p:cNvGrpSpPr/>
          <p:nvPr/>
        </p:nvGrpSpPr>
        <p:grpSpPr>
          <a:xfrm>
            <a:off x="609600" y="1676400"/>
            <a:ext cx="5143500" cy="4024884"/>
            <a:chOff x="609600" y="1676400"/>
            <a:chExt cx="5143500" cy="4024884"/>
          </a:xfrm>
        </p:grpSpPr>
        <p:sp>
          <p:nvSpPr>
            <p:cNvPr id="6" name="Rectangle 6"/>
            <p:cNvSpPr/>
            <p:nvPr/>
          </p:nvSpPr>
          <p:spPr>
            <a:xfrm>
              <a:off x="609600" y="1676400"/>
              <a:ext cx="5143500" cy="4000500"/>
            </a:xfrm>
            <a:prstGeom prst="rect">
              <a:avLst/>
            </a:prstGeom>
            <a:solidFill>
              <a:schemeClr val="accent5"/>
            </a:solidFill>
            <a:ln>
              <a:noFill/>
            </a:ln>
          </p:spPr>
        </p:sp>
        <p:sp>
          <p:nvSpPr>
            <p:cNvPr id="7" name="TextBox 7"/>
            <p:cNvSpPr txBox="1"/>
            <p:nvPr/>
          </p:nvSpPr>
          <p:spPr>
            <a:xfrm>
              <a:off x="829056" y="1863090"/>
              <a:ext cx="2817038" cy="352044"/>
            </a:xfrm>
            <a:prstGeom prst="rect">
              <a:avLst/>
            </a:prstGeom>
            <a:noFill/>
            <a:ln>
              <a:noFill/>
            </a:ln>
          </p:spPr>
          <p:txBody>
            <a:bodyPr wrap="none" lIns="0" tIns="0" rIns="0" bIns="0" anchor="t" anchorCtr="0">
              <a:spAutoFit/>
            </a:bodyPr>
            <a:lstStyle/>
            <a:p>
              <a:pPr algn="l"/>
              <a:r>
                <a:rPr lang="zh-CN" sz="1800" b="1" dirty="0">
                  <a:solidFill>
                    <a:schemeClr val="accent1"/>
                  </a:solidFill>
                  <a:latin typeface="+mn-lt"/>
                  <a:ea typeface="+mn-ea"/>
                  <a:cs typeface="+mn-cs"/>
                </a:rPr>
                <a:t>完整方法与消融臂得分率</a:t>
              </a:r>
            </a:p>
          </p:txBody>
        </p:sp>
        <p:grpSp>
          <p:nvGrpSpPr>
            <p:cNvPr id="22" name="Group 22"/>
            <p:cNvGrpSpPr/>
            <p:nvPr/>
          </p:nvGrpSpPr>
          <p:grpSpPr>
            <a:xfrm>
              <a:off x="645776" y="2081212"/>
              <a:ext cx="4745374" cy="3009139"/>
              <a:chOff x="645776" y="2081212"/>
              <a:chExt cx="4745374" cy="3009139"/>
            </a:xfrm>
          </p:grpSpPr>
          <p:sp>
            <p:nvSpPr>
              <p:cNvPr id="8" name="Line 8"/>
              <p:cNvSpPr/>
              <p:nvPr/>
            </p:nvSpPr>
            <p:spPr>
              <a:xfrm>
                <a:off x="1066800" y="4914900"/>
                <a:ext cx="4324350" cy="9525"/>
              </a:xfrm>
              <a:custGeom>
                <a:avLst/>
                <a:gdLst/>
                <a:ahLst/>
                <a:cxnLst/>
                <a:rect l="l" t="t" r="r" b="b"/>
                <a:pathLst>
                  <a:path w="4324350" h="9525">
                    <a:moveTo>
                      <a:pt x="0" y="0"/>
                    </a:moveTo>
                    <a:lnTo>
                      <a:pt x="4324350" y="0"/>
                    </a:lnTo>
                  </a:path>
                </a:pathLst>
              </a:custGeom>
              <a:noFill/>
              <a:ln w="19050">
                <a:solidFill>
                  <a:srgbClr val="94A3B8"/>
                </a:solidFill>
              </a:ln>
            </p:spPr>
          </p:sp>
          <p:sp>
            <p:nvSpPr>
              <p:cNvPr id="9" name="Line 9"/>
              <p:cNvSpPr/>
              <p:nvPr/>
            </p:nvSpPr>
            <p:spPr>
              <a:xfrm>
                <a:off x="1066800" y="2343150"/>
                <a:ext cx="9525" cy="2571750"/>
              </a:xfrm>
              <a:custGeom>
                <a:avLst/>
                <a:gdLst/>
                <a:ahLst/>
                <a:cxnLst/>
                <a:rect l="l" t="t" r="r" b="b"/>
                <a:pathLst>
                  <a:path w="9525" h="2571750">
                    <a:moveTo>
                      <a:pt x="0" y="0"/>
                    </a:moveTo>
                    <a:lnTo>
                      <a:pt x="0" y="2571750"/>
                    </a:lnTo>
                  </a:path>
                </a:pathLst>
              </a:custGeom>
              <a:noFill/>
              <a:ln w="19050">
                <a:solidFill>
                  <a:srgbClr val="94A3B8"/>
                </a:solidFill>
              </a:ln>
            </p:spPr>
          </p:sp>
          <p:sp>
            <p:nvSpPr>
              <p:cNvPr id="10" name="Line 10"/>
              <p:cNvSpPr/>
              <p:nvPr/>
            </p:nvSpPr>
            <p:spPr>
              <a:xfrm>
                <a:off x="1066800" y="3629025"/>
                <a:ext cx="4324350" cy="9525"/>
              </a:xfrm>
              <a:custGeom>
                <a:avLst/>
                <a:gdLst/>
                <a:ahLst/>
                <a:cxnLst/>
                <a:rect l="l" t="t" r="r" b="b"/>
                <a:pathLst>
                  <a:path w="4324350" h="9525">
                    <a:moveTo>
                      <a:pt x="0" y="0"/>
                    </a:moveTo>
                    <a:lnTo>
                      <a:pt x="4324350" y="0"/>
                    </a:lnTo>
                  </a:path>
                </a:pathLst>
              </a:custGeom>
              <a:noFill/>
              <a:ln w="19050">
                <a:solidFill>
                  <a:srgbClr val="D8E1EA"/>
                </a:solidFill>
                <a:custDash>
                  <a:ds d="300000" sp="300000"/>
                </a:custDash>
              </a:ln>
            </p:spPr>
          </p:sp>
          <p:sp>
            <p:nvSpPr>
              <p:cNvPr id="11" name="TextBox 11"/>
              <p:cNvSpPr txBox="1"/>
              <p:nvPr/>
            </p:nvSpPr>
            <p:spPr>
              <a:xfrm>
                <a:off x="845687" y="4826318"/>
                <a:ext cx="113671"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0</a:t>
                </a:r>
              </a:p>
            </p:txBody>
          </p:sp>
          <p:sp>
            <p:nvSpPr>
              <p:cNvPr id="12" name="TextBox 12"/>
              <p:cNvSpPr txBox="1"/>
              <p:nvPr/>
            </p:nvSpPr>
            <p:spPr>
              <a:xfrm>
                <a:off x="745731" y="3540442"/>
                <a:ext cx="213627"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50</a:t>
                </a:r>
              </a:p>
            </p:txBody>
          </p:sp>
          <p:sp>
            <p:nvSpPr>
              <p:cNvPr id="13" name="TextBox 13"/>
              <p:cNvSpPr txBox="1"/>
              <p:nvPr/>
            </p:nvSpPr>
            <p:spPr>
              <a:xfrm>
                <a:off x="645776" y="2254568"/>
                <a:ext cx="313582" cy="264033"/>
              </a:xfrm>
              <a:prstGeom prst="rect">
                <a:avLst/>
              </a:prstGeom>
              <a:noFill/>
              <a:ln>
                <a:noFill/>
              </a:ln>
            </p:spPr>
            <p:txBody>
              <a:bodyPr wrap="none" lIns="0" tIns="0" rIns="0" bIns="0" anchor="t" anchorCtr="0">
                <a:spAutoFit/>
              </a:bodyPr>
              <a:lstStyle/>
              <a:p>
                <a:pPr algn="r"/>
                <a:r>
                  <a:rPr lang="en-US" sz="1350" dirty="0">
                    <a:solidFill>
                      <a:srgbClr val="6B7785"/>
                    </a:solidFill>
                    <a:latin typeface="+mn-lt"/>
                    <a:ea typeface="+mn-ea"/>
                    <a:cs typeface="+mn-cs"/>
                  </a:rPr>
                  <a:t>100</a:t>
                </a:r>
              </a:p>
            </p:txBody>
          </p:sp>
          <p:sp>
            <p:nvSpPr>
              <p:cNvPr id="14" name="Rectangle 14"/>
              <p:cNvSpPr/>
              <p:nvPr/>
            </p:nvSpPr>
            <p:spPr>
              <a:xfrm>
                <a:off x="1428750" y="3371850"/>
                <a:ext cx="685800" cy="1543050"/>
              </a:xfrm>
              <a:prstGeom prst="rect">
                <a:avLst/>
              </a:prstGeom>
              <a:solidFill>
                <a:schemeClr val="accent2"/>
              </a:solidFill>
              <a:ln>
                <a:noFill/>
              </a:ln>
            </p:spPr>
          </p:sp>
          <p:sp>
            <p:nvSpPr>
              <p:cNvPr id="15" name="Rectangle 15"/>
              <p:cNvSpPr/>
              <p:nvPr/>
            </p:nvSpPr>
            <p:spPr>
              <a:xfrm>
                <a:off x="2190750" y="3886200"/>
                <a:ext cx="685800" cy="1028700"/>
              </a:xfrm>
              <a:prstGeom prst="rect">
                <a:avLst/>
              </a:prstGeom>
              <a:solidFill>
                <a:schemeClr val="accent6"/>
              </a:solidFill>
              <a:ln>
                <a:noFill/>
              </a:ln>
            </p:spPr>
          </p:sp>
          <p:sp>
            <p:nvSpPr>
              <p:cNvPr id="16" name="Rectangle 16"/>
              <p:cNvSpPr/>
              <p:nvPr/>
            </p:nvSpPr>
            <p:spPr>
              <a:xfrm>
                <a:off x="3581400" y="2471738"/>
                <a:ext cx="685800" cy="2443162"/>
              </a:xfrm>
              <a:prstGeom prst="rect">
                <a:avLst/>
              </a:prstGeom>
              <a:solidFill>
                <a:schemeClr val="accent3"/>
              </a:solidFill>
              <a:ln>
                <a:noFill/>
              </a:ln>
            </p:spPr>
          </p:sp>
          <p:sp>
            <p:nvSpPr>
              <p:cNvPr id="17" name="Rectangle 17"/>
              <p:cNvSpPr/>
              <p:nvPr/>
            </p:nvSpPr>
            <p:spPr>
              <a:xfrm>
                <a:off x="4343400" y="4786312"/>
                <a:ext cx="685800" cy="128588"/>
              </a:xfrm>
              <a:prstGeom prst="rect">
                <a:avLst/>
              </a:prstGeom>
              <a:solidFill>
                <a:schemeClr val="accent6"/>
              </a:solidFill>
              <a:ln>
                <a:noFill/>
              </a:ln>
            </p:spPr>
          </p:sp>
          <p:sp>
            <p:nvSpPr>
              <p:cNvPr id="18" name="TextBox 18"/>
              <p:cNvSpPr txBox="1"/>
              <p:nvPr/>
            </p:nvSpPr>
            <p:spPr>
              <a:xfrm>
                <a:off x="1466033" y="2976562"/>
                <a:ext cx="611234" cy="440055"/>
              </a:xfrm>
              <a:prstGeom prst="rect">
                <a:avLst/>
              </a:prstGeom>
              <a:noFill/>
              <a:ln>
                <a:noFill/>
              </a:ln>
            </p:spPr>
            <p:txBody>
              <a:bodyPr wrap="none" lIns="0" tIns="0" rIns="0" bIns="0" anchor="t" anchorCtr="0">
                <a:spAutoFit/>
              </a:bodyPr>
              <a:lstStyle/>
              <a:p>
                <a:pPr algn="ctr"/>
                <a:r>
                  <a:rPr lang="en-US" sz="2250" b="1" dirty="0">
                    <a:solidFill>
                      <a:schemeClr val="accent2"/>
                    </a:solidFill>
                    <a:latin typeface="+mn-lt"/>
                    <a:ea typeface="+mn-ea"/>
                    <a:cs typeface="+mn-cs"/>
                  </a:rPr>
                  <a:t>60%</a:t>
                </a:r>
              </a:p>
            </p:txBody>
          </p:sp>
          <p:sp>
            <p:nvSpPr>
              <p:cNvPr id="19" name="TextBox 19"/>
              <p:cNvSpPr txBox="1"/>
              <p:nvPr/>
            </p:nvSpPr>
            <p:spPr>
              <a:xfrm>
                <a:off x="2228033" y="3490912"/>
                <a:ext cx="611234" cy="440055"/>
              </a:xfrm>
              <a:prstGeom prst="rect">
                <a:avLst/>
              </a:prstGeom>
              <a:noFill/>
              <a:ln>
                <a:noFill/>
              </a:ln>
            </p:spPr>
            <p:txBody>
              <a:bodyPr wrap="none" lIns="0" tIns="0" rIns="0" bIns="0" anchor="t" anchorCtr="0">
                <a:spAutoFit/>
              </a:bodyPr>
              <a:lstStyle/>
              <a:p>
                <a:pPr algn="ctr"/>
                <a:r>
                  <a:rPr lang="en-US" sz="2250" b="1" dirty="0">
                    <a:solidFill>
                      <a:schemeClr val="accent6"/>
                    </a:solidFill>
                    <a:latin typeface="+mn-lt"/>
                    <a:ea typeface="+mn-ea"/>
                    <a:cs typeface="+mn-cs"/>
                  </a:rPr>
                  <a:t>40%</a:t>
                </a:r>
              </a:p>
            </p:txBody>
          </p:sp>
          <p:sp>
            <p:nvSpPr>
              <p:cNvPr id="20" name="TextBox 20"/>
              <p:cNvSpPr txBox="1"/>
              <p:nvPr/>
            </p:nvSpPr>
            <p:spPr>
              <a:xfrm>
                <a:off x="3618683" y="2081212"/>
                <a:ext cx="611234" cy="440055"/>
              </a:xfrm>
              <a:prstGeom prst="rect">
                <a:avLst/>
              </a:prstGeom>
              <a:noFill/>
              <a:ln>
                <a:noFill/>
              </a:ln>
            </p:spPr>
            <p:txBody>
              <a:bodyPr wrap="none" lIns="0" tIns="0" rIns="0" bIns="0" anchor="t" anchorCtr="0">
                <a:spAutoFit/>
              </a:bodyPr>
              <a:lstStyle/>
              <a:p>
                <a:pPr algn="ctr"/>
                <a:r>
                  <a:rPr lang="en-US" sz="2250" b="1" dirty="0">
                    <a:solidFill>
                      <a:schemeClr val="accent3"/>
                    </a:solidFill>
                    <a:latin typeface="+mn-lt"/>
                    <a:ea typeface="+mn-ea"/>
                    <a:cs typeface="+mn-cs"/>
                  </a:rPr>
                  <a:t>95%</a:t>
                </a:r>
              </a:p>
            </p:txBody>
          </p:sp>
          <p:sp>
            <p:nvSpPr>
              <p:cNvPr id="21" name="TextBox 21"/>
              <p:cNvSpPr txBox="1"/>
              <p:nvPr/>
            </p:nvSpPr>
            <p:spPr>
              <a:xfrm>
                <a:off x="4468144" y="4386262"/>
                <a:ext cx="436312" cy="440055"/>
              </a:xfrm>
              <a:prstGeom prst="rect">
                <a:avLst/>
              </a:prstGeom>
              <a:noFill/>
              <a:ln>
                <a:noFill/>
              </a:ln>
            </p:spPr>
            <p:txBody>
              <a:bodyPr wrap="none" lIns="0" tIns="0" rIns="0" bIns="0" anchor="t" anchorCtr="0">
                <a:spAutoFit/>
              </a:bodyPr>
              <a:lstStyle/>
              <a:p>
                <a:pPr algn="ctr"/>
                <a:r>
                  <a:rPr lang="en-US" sz="2250" b="1" dirty="0">
                    <a:solidFill>
                      <a:schemeClr val="accent6"/>
                    </a:solidFill>
                    <a:latin typeface="+mn-lt"/>
                    <a:ea typeface="+mn-ea"/>
                    <a:cs typeface="+mn-cs"/>
                  </a:rPr>
                  <a:t>5%</a:t>
                </a:r>
              </a:p>
            </p:txBody>
          </p:sp>
        </p:grpSp>
        <p:sp>
          <p:nvSpPr>
            <p:cNvPr id="23" name="TextBox 23"/>
            <p:cNvSpPr txBox="1"/>
            <p:nvPr/>
          </p:nvSpPr>
          <p:spPr>
            <a:xfrm>
              <a:off x="1355236" y="5112068"/>
              <a:ext cx="159482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完整方法 vs 去多源</a:t>
              </a:r>
            </a:p>
          </p:txBody>
        </p:sp>
        <p:sp>
          <p:nvSpPr>
            <p:cNvPr id="24" name="TextBox 24"/>
            <p:cNvSpPr txBox="1"/>
            <p:nvPr/>
          </p:nvSpPr>
          <p:spPr>
            <a:xfrm>
              <a:off x="3507886" y="5112068"/>
              <a:ext cx="1594828" cy="264033"/>
            </a:xfrm>
            <a:prstGeom prst="rect">
              <a:avLst/>
            </a:prstGeom>
            <a:noFill/>
            <a:ln>
              <a:noFill/>
            </a:ln>
          </p:spPr>
          <p:txBody>
            <a:bodyPr wrap="none" lIns="0" tIns="0" rIns="0" bIns="0" anchor="t" anchorCtr="0">
              <a:spAutoFit/>
            </a:bodyPr>
            <a:lstStyle/>
            <a:p>
              <a:pPr algn="ctr"/>
              <a:r>
                <a:rPr lang="zh-CN" sz="1350" dirty="0">
                  <a:solidFill>
                    <a:schemeClr val="dk1"/>
                  </a:solidFill>
                  <a:latin typeface="+mn-lt"/>
                  <a:ea typeface="+mn-ea"/>
                  <a:cs typeface="+mn-cs"/>
                </a:rPr>
                <a:t>完整方法 vs 去机理</a:t>
              </a:r>
            </a:p>
          </p:txBody>
        </p:sp>
        <p:sp>
          <p:nvSpPr>
            <p:cNvPr id="25" name="TextBox 25"/>
            <p:cNvSpPr txBox="1"/>
            <p:nvPr/>
          </p:nvSpPr>
          <p:spPr>
            <a:xfrm>
              <a:off x="1780581" y="5349240"/>
              <a:ext cx="744139" cy="352044"/>
            </a:xfrm>
            <a:prstGeom prst="rect">
              <a:avLst/>
            </a:prstGeom>
            <a:noFill/>
            <a:ln>
              <a:noFill/>
            </a:ln>
          </p:spPr>
          <p:txBody>
            <a:bodyPr wrap="none" lIns="0" tIns="0" rIns="0" bIns="0" anchor="t" anchorCtr="0">
              <a:spAutoFit/>
            </a:bodyPr>
            <a:lstStyle/>
            <a:p>
              <a:pPr algn="ctr"/>
              <a:r>
                <a:rPr lang="en-US" sz="1800" b="1" dirty="0">
                  <a:solidFill>
                    <a:schemeClr val="accent2"/>
                  </a:solidFill>
                  <a:latin typeface="+mn-lt"/>
                  <a:ea typeface="+mn-ea"/>
                  <a:cs typeface="+mn-cs"/>
                </a:rPr>
                <a:t>Δ 20%</a:t>
              </a:r>
            </a:p>
          </p:txBody>
        </p:sp>
        <p:sp>
          <p:nvSpPr>
            <p:cNvPr id="26" name="TextBox 26"/>
            <p:cNvSpPr txBox="1"/>
            <p:nvPr/>
          </p:nvSpPr>
          <p:spPr>
            <a:xfrm>
              <a:off x="3933231" y="5349240"/>
              <a:ext cx="744139" cy="352044"/>
            </a:xfrm>
            <a:prstGeom prst="rect">
              <a:avLst/>
            </a:prstGeom>
            <a:noFill/>
            <a:ln>
              <a:noFill/>
            </a:ln>
          </p:spPr>
          <p:txBody>
            <a:bodyPr wrap="none" lIns="0" tIns="0" rIns="0" bIns="0" anchor="t" anchorCtr="0">
              <a:spAutoFit/>
            </a:bodyPr>
            <a:lstStyle/>
            <a:p>
              <a:pPr algn="ctr"/>
              <a:r>
                <a:rPr lang="en-US" sz="1800" b="1" dirty="0">
                  <a:solidFill>
                    <a:schemeClr val="accent3"/>
                  </a:solidFill>
                  <a:latin typeface="+mn-lt"/>
                  <a:ea typeface="+mn-ea"/>
                  <a:cs typeface="+mn-cs"/>
                </a:rPr>
                <a:t>Δ 90%</a:t>
              </a:r>
            </a:p>
          </p:txBody>
        </p:sp>
      </p:grpSp>
      <p:grpSp>
        <p:nvGrpSpPr>
          <p:cNvPr id="31" name="Group 31"/>
          <p:cNvGrpSpPr/>
          <p:nvPr/>
        </p:nvGrpSpPr>
        <p:grpSpPr>
          <a:xfrm>
            <a:off x="6051042" y="1676400"/>
            <a:ext cx="5531358" cy="3452051"/>
            <a:chOff x="6051042" y="1676400"/>
            <a:chExt cx="5531358" cy="3452051"/>
          </a:xfrm>
        </p:grpSpPr>
        <p:sp>
          <p:nvSpPr>
            <p:cNvPr id="28" name="Rectangle 28"/>
            <p:cNvSpPr/>
            <p:nvPr/>
          </p:nvSpPr>
          <p:spPr>
            <a:xfrm>
              <a:off x="6057900" y="1676400"/>
              <a:ext cx="5524500" cy="3105150"/>
            </a:xfrm>
            <a:prstGeom prst="rect">
              <a:avLst/>
            </a:prstGeom>
            <a:solidFill>
              <a:schemeClr val="lt1"/>
            </a:solidFill>
            <a:ln w="19050">
              <a:solidFill>
                <a:schemeClr val="accent2"/>
              </a:solidFill>
            </a:ln>
          </p:spPr>
        </p:sp>
        <p:pic>
          <p:nvPicPr>
            <p:cNvPr id="29" name="Image 29"/>
            <p:cNvPicPr>
              <a:picLocks noChangeAspect="1"/>
            </p:cNvPicPr>
            <p:nvPr/>
          </p:nvPicPr>
          <p:blipFill>
            <a:blip r:embed="rId2"/>
            <a:stretch>
              <a:fillRect/>
            </a:stretch>
          </p:blipFill>
          <p:spPr>
            <a:xfrm>
              <a:off x="6153150" y="1771650"/>
              <a:ext cx="5334000" cy="3000375"/>
            </a:xfrm>
            <a:prstGeom prst="rect">
              <a:avLst/>
            </a:prstGeom>
          </p:spPr>
        </p:pic>
        <p:sp>
          <p:nvSpPr>
            <p:cNvPr id="30" name="TextBox 30"/>
            <p:cNvSpPr txBox="1"/>
            <p:nvPr/>
          </p:nvSpPr>
          <p:spPr>
            <a:xfrm>
              <a:off x="6051042" y="4864418"/>
              <a:ext cx="5272332" cy="264033"/>
            </a:xfrm>
            <a:prstGeom prst="rect">
              <a:avLst/>
            </a:prstGeom>
            <a:noFill/>
            <a:ln>
              <a:noFill/>
            </a:ln>
          </p:spPr>
          <p:txBody>
            <a:bodyPr wrap="none" lIns="0" tIns="0" rIns="0" bIns="0" anchor="t" anchorCtr="0">
              <a:spAutoFit/>
            </a:bodyPr>
            <a:lstStyle/>
            <a:p>
              <a:pPr algn="l"/>
              <a:r>
                <a:rPr lang="zh-CN" sz="1350" dirty="0">
                  <a:solidFill>
                    <a:srgbClr val="6B7785"/>
                  </a:solidFill>
                  <a:latin typeface="+mn-lt"/>
                  <a:ea typeface="+mn-ea"/>
                  <a:cs typeface="+mn-cs"/>
                </a:rPr>
                <a:t>前端记录：合并后 Q-0001 至 Q-0010 · 匿名正反序 · 双 Judge</a:t>
              </a:r>
            </a:p>
          </p:txBody>
        </p:sp>
      </p:grpSp>
      <p:grpSp>
        <p:nvGrpSpPr>
          <p:cNvPr id="35" name="Group 35"/>
          <p:cNvGrpSpPr/>
          <p:nvPr/>
        </p:nvGrpSpPr>
        <p:grpSpPr>
          <a:xfrm>
            <a:off x="6057900" y="5448300"/>
            <a:ext cx="5524500" cy="933450"/>
            <a:chOff x="6057900" y="5448300"/>
            <a:chExt cx="5524500" cy="933450"/>
          </a:xfrm>
        </p:grpSpPr>
        <p:sp>
          <p:nvSpPr>
            <p:cNvPr id="32" name="Rectangle 32"/>
            <p:cNvSpPr/>
            <p:nvPr/>
          </p:nvSpPr>
          <p:spPr>
            <a:xfrm>
              <a:off x="6057900" y="5448300"/>
              <a:ext cx="5524500" cy="933450"/>
            </a:xfrm>
            <a:prstGeom prst="rect">
              <a:avLst/>
            </a:prstGeom>
            <a:solidFill>
              <a:srgbClr val="FFF4E8"/>
            </a:solidFill>
            <a:ln>
              <a:noFill/>
            </a:ln>
          </p:spPr>
        </p:sp>
        <p:sp>
          <p:nvSpPr>
            <p:cNvPr id="33" name="TextBox 33"/>
            <p:cNvSpPr txBox="1"/>
            <p:nvPr/>
          </p:nvSpPr>
          <p:spPr>
            <a:xfrm>
              <a:off x="6277356" y="5615940"/>
              <a:ext cx="1036015" cy="352044"/>
            </a:xfrm>
            <a:prstGeom prst="rect">
              <a:avLst/>
            </a:prstGeom>
            <a:noFill/>
            <a:ln>
              <a:noFill/>
            </a:ln>
          </p:spPr>
          <p:txBody>
            <a:bodyPr wrap="none" lIns="0" tIns="0" rIns="0" bIns="0" anchor="t" anchorCtr="0">
              <a:spAutoFit/>
            </a:bodyPr>
            <a:lstStyle/>
            <a:p>
              <a:pPr algn="l"/>
              <a:r>
                <a:rPr lang="zh-CN" sz="1800" b="1" dirty="0">
                  <a:solidFill>
                    <a:schemeClr val="accent6"/>
                  </a:solidFill>
                  <a:latin typeface="+mn-lt"/>
                  <a:ea typeface="+mn-ea"/>
                  <a:cs typeface="+mn-cs"/>
                </a:rPr>
                <a:t>解读边界</a:t>
              </a:r>
            </a:p>
          </p:txBody>
        </p:sp>
        <p:sp>
          <p:nvSpPr>
            <p:cNvPr id="34" name="TextBox 34"/>
            <p:cNvSpPr txBox="1"/>
            <p:nvPr/>
          </p:nvSpPr>
          <p:spPr>
            <a:xfrm>
              <a:off x="6279642" y="6007418"/>
              <a:ext cx="4738878" cy="264033"/>
            </a:xfrm>
            <a:prstGeom prst="rect">
              <a:avLst/>
            </a:prstGeom>
            <a:noFill/>
            <a:ln>
              <a:noFill/>
            </a:ln>
          </p:spPr>
          <p:txBody>
            <a:bodyPr wrap="none" lIns="0" tIns="0" rIns="0" bIns="0" anchor="t" anchorCtr="0">
              <a:spAutoFit/>
            </a:bodyPr>
            <a:lstStyle/>
            <a:p>
              <a:pPr algn="l"/>
              <a:r>
                <a:rPr lang="zh-CN" sz="1350" dirty="0">
                  <a:solidFill>
                    <a:schemeClr val="dk1"/>
                  </a:solidFill>
                  <a:latin typeface="+mn-lt"/>
                  <a:ea typeface="+mn-ea"/>
                  <a:cs typeface="+mn-cs"/>
                </a:rPr>
                <a:t>控制组版本和样本仍有限，不将差值解释为严格因果效应。</a:t>
              </a:r>
            </a:p>
          </p:txBody>
        </p:sp>
      </p:gr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grpSp>
        <p:nvGrpSpPr>
          <p:cNvPr id="5" name="Group 5"/>
          <p:cNvGrpSpPr/>
          <p:nvPr/>
        </p:nvGrpSpPr>
        <p:grpSpPr>
          <a:xfrm>
            <a:off x="593598" y="555308"/>
            <a:ext cx="10995660" cy="916876"/>
            <a:chOff x="593598" y="555308"/>
            <a:chExt cx="10995660" cy="916876"/>
          </a:xfrm>
        </p:grpSpPr>
        <p:sp>
          <p:nvSpPr>
            <p:cNvPr id="2" name="TextBox 2"/>
            <p:cNvSpPr txBox="1"/>
            <p:nvPr/>
          </p:nvSpPr>
          <p:spPr>
            <a:xfrm>
              <a:off x="593598" y="555308"/>
              <a:ext cx="7156094" cy="616077"/>
            </a:xfrm>
            <a:prstGeom prst="rect">
              <a:avLst/>
            </a:prstGeom>
            <a:noFill/>
            <a:ln>
              <a:noFill/>
            </a:ln>
          </p:spPr>
          <p:txBody>
            <a:bodyPr wrap="none" lIns="0" tIns="0" rIns="0" bIns="0" anchor="t" anchorCtr="0">
              <a:spAutoFit/>
            </a:bodyPr>
            <a:lstStyle/>
            <a:p>
              <a:pPr algn="l"/>
              <a:r>
                <a:rPr lang="zh-CN" sz="3150" b="1" dirty="0">
                  <a:solidFill>
                    <a:srgbClr val="FFFFFF"/>
                  </a:solidFill>
                  <a:latin typeface="+mn-lt"/>
                  <a:ea typeface="+mn-ea"/>
                  <a:cs typeface="+mn-cs"/>
                </a:rPr>
                <a:t>下一阶段：补优化、扩样本、降时延</a:t>
              </a:r>
            </a:p>
          </p:txBody>
        </p:sp>
        <p:sp>
          <p:nvSpPr>
            <p:cNvPr id="3" name="TextBox 3"/>
            <p:cNvSpPr txBox="1"/>
            <p:nvPr/>
          </p:nvSpPr>
          <p:spPr>
            <a:xfrm>
              <a:off x="600456" y="1120140"/>
              <a:ext cx="5591556" cy="352044"/>
            </a:xfrm>
            <a:prstGeom prst="rect">
              <a:avLst/>
            </a:prstGeom>
            <a:noFill/>
            <a:ln>
              <a:noFill/>
            </a:ln>
          </p:spPr>
          <p:txBody>
            <a:bodyPr wrap="none" lIns="0" tIns="0" rIns="0" bIns="0" anchor="t" anchorCtr="0">
              <a:spAutoFit/>
            </a:bodyPr>
            <a:lstStyle/>
            <a:p>
              <a:pPr algn="l"/>
              <a:r>
                <a:rPr lang="zh-CN" sz="1800" dirty="0">
                  <a:solidFill>
                    <a:srgbClr val="C8D5E2"/>
                  </a:solidFill>
                  <a:latin typeface="+mn-lt"/>
                  <a:ea typeface="+mn-ea"/>
                  <a:cs typeface="+mn-cs"/>
                </a:rPr>
                <a:t>不再扩大方法复杂度，先把可信度与规模化能力做实</a:t>
              </a:r>
            </a:p>
          </p:txBody>
        </p:sp>
        <p:sp>
          <p:nvSpPr>
            <p:cNvPr id="4" name="TextBox 4"/>
            <p:cNvSpPr txBox="1"/>
            <p:nvPr/>
          </p:nvSpPr>
          <p:spPr>
            <a:xfrm>
              <a:off x="11375631" y="711518"/>
              <a:ext cx="213627" cy="264033"/>
            </a:xfrm>
            <a:prstGeom prst="rect">
              <a:avLst/>
            </a:prstGeom>
            <a:noFill/>
            <a:ln>
              <a:noFill/>
            </a:ln>
          </p:spPr>
          <p:txBody>
            <a:bodyPr wrap="none" lIns="0" tIns="0" rIns="0" bIns="0" anchor="t" anchorCtr="0">
              <a:spAutoFit/>
            </a:bodyPr>
            <a:lstStyle/>
            <a:p>
              <a:pPr algn="r"/>
              <a:r>
                <a:rPr lang="en-US" sz="1350" dirty="0">
                  <a:solidFill>
                    <a:srgbClr val="C8D5E2"/>
                  </a:solidFill>
                  <a:latin typeface="+mn-lt"/>
                  <a:ea typeface="+mn-ea"/>
                  <a:cs typeface="+mn-cs"/>
                </a:rPr>
                <a:t>20</a:t>
              </a:r>
            </a:p>
          </p:txBody>
        </p:sp>
      </p:grpSp>
      <p:grpSp>
        <p:nvGrpSpPr>
          <p:cNvPr id="12" name="Group 12"/>
          <p:cNvGrpSpPr/>
          <p:nvPr/>
        </p:nvGrpSpPr>
        <p:grpSpPr>
          <a:xfrm>
            <a:off x="590550" y="2037398"/>
            <a:ext cx="3028950" cy="2635186"/>
            <a:chOff x="590550" y="2037398"/>
            <a:chExt cx="3028950" cy="2635186"/>
          </a:xfrm>
        </p:grpSpPr>
        <p:sp>
          <p:nvSpPr>
            <p:cNvPr id="6" name="TextBox 6"/>
            <p:cNvSpPr txBox="1"/>
            <p:nvPr/>
          </p:nvSpPr>
          <p:spPr>
            <a:xfrm>
              <a:off x="59055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3"/>
                  </a:solidFill>
                  <a:latin typeface="+mn-lt"/>
                  <a:ea typeface="+mn-ea"/>
                  <a:cs typeface="+mn-cs"/>
                </a:rPr>
                <a:t>01</a:t>
              </a:r>
            </a:p>
          </p:txBody>
        </p:sp>
        <p:sp>
          <p:nvSpPr>
            <p:cNvPr id="7" name="TextBox 7"/>
            <p:cNvSpPr txBox="1"/>
            <p:nvPr/>
          </p:nvSpPr>
          <p:spPr>
            <a:xfrm>
              <a:off x="597408" y="2807970"/>
              <a:ext cx="2399081"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优化智能体设计</a:t>
              </a:r>
            </a:p>
          </p:txBody>
        </p:sp>
        <p:sp>
          <p:nvSpPr>
            <p:cNvPr id="8" name="Line 8"/>
            <p:cNvSpPr/>
            <p:nvPr/>
          </p:nvSpPr>
          <p:spPr>
            <a:xfrm>
              <a:off x="60960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9" name="TextBox 9"/>
            <p:cNvSpPr txBox="1"/>
            <p:nvPr/>
          </p:nvSpPr>
          <p:spPr>
            <a:xfrm>
              <a:off x="600456" y="3520440"/>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严格落实相关要求</a:t>
              </a:r>
            </a:p>
          </p:txBody>
        </p:sp>
        <p:sp>
          <p:nvSpPr>
            <p:cNvPr id="10" name="TextBox 10"/>
            <p:cNvSpPr txBox="1"/>
            <p:nvPr/>
          </p:nvSpPr>
          <p:spPr>
            <a:xfrm>
              <a:off x="600456" y="3920490"/>
              <a:ext cx="224416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压缩 Prompt 上下文</a:t>
              </a:r>
            </a:p>
          </p:txBody>
        </p:sp>
        <p:sp>
          <p:nvSpPr>
            <p:cNvPr id="11" name="TextBox 11"/>
            <p:cNvSpPr txBox="1"/>
            <p:nvPr/>
          </p:nvSpPr>
          <p:spPr>
            <a:xfrm>
              <a:off x="600456" y="4320540"/>
              <a:ext cx="2441448"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强化质量门与装备约束</a:t>
              </a:r>
            </a:p>
          </p:txBody>
        </p:sp>
      </p:grpSp>
      <p:grpSp>
        <p:nvGrpSpPr>
          <p:cNvPr id="19" name="Group 19"/>
          <p:cNvGrpSpPr/>
          <p:nvPr/>
        </p:nvGrpSpPr>
        <p:grpSpPr>
          <a:xfrm>
            <a:off x="4457700" y="2037398"/>
            <a:ext cx="3393796" cy="2635186"/>
            <a:chOff x="4457700" y="2037398"/>
            <a:chExt cx="3393796" cy="2635186"/>
          </a:xfrm>
        </p:grpSpPr>
        <p:sp>
          <p:nvSpPr>
            <p:cNvPr id="13" name="TextBox 13"/>
            <p:cNvSpPr txBox="1"/>
            <p:nvPr/>
          </p:nvSpPr>
          <p:spPr>
            <a:xfrm>
              <a:off x="445770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2"/>
                  </a:solidFill>
                  <a:latin typeface="+mn-lt"/>
                  <a:ea typeface="+mn-ea"/>
                  <a:cs typeface="+mn-cs"/>
                </a:rPr>
                <a:t>02</a:t>
              </a:r>
            </a:p>
          </p:txBody>
        </p:sp>
        <p:sp>
          <p:nvSpPr>
            <p:cNvPr id="14" name="TextBox 14"/>
            <p:cNvSpPr txBox="1"/>
            <p:nvPr/>
          </p:nvSpPr>
          <p:spPr>
            <a:xfrm>
              <a:off x="4464558" y="2807970"/>
              <a:ext cx="3386938"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50 条全量 Benchmark</a:t>
              </a:r>
            </a:p>
          </p:txBody>
        </p:sp>
        <p:sp>
          <p:nvSpPr>
            <p:cNvPr id="15" name="Line 15"/>
            <p:cNvSpPr/>
            <p:nvPr/>
          </p:nvSpPr>
          <p:spPr>
            <a:xfrm>
              <a:off x="447675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16" name="TextBox 16"/>
            <p:cNvSpPr txBox="1"/>
            <p:nvPr/>
          </p:nvSpPr>
          <p:spPr>
            <a:xfrm>
              <a:off x="4467606" y="3520440"/>
              <a:ext cx="2199132"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固定代码与模型版本</a:t>
              </a:r>
            </a:p>
          </p:txBody>
        </p:sp>
        <p:sp>
          <p:nvSpPr>
            <p:cNvPr id="17" name="TextBox 17"/>
            <p:cNvSpPr txBox="1"/>
            <p:nvPr/>
          </p:nvSpPr>
          <p:spPr>
            <a:xfrm>
              <a:off x="4467606" y="3920490"/>
              <a:ext cx="1714500"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预注册评测口径</a:t>
              </a:r>
            </a:p>
          </p:txBody>
        </p:sp>
        <p:sp>
          <p:nvSpPr>
            <p:cNvPr id="18" name="TextBox 18"/>
            <p:cNvSpPr txBox="1"/>
            <p:nvPr/>
          </p:nvSpPr>
          <p:spPr>
            <a:xfrm>
              <a:off x="4467606" y="4320540"/>
              <a:ext cx="1472184"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报告置信区间</a:t>
              </a:r>
            </a:p>
          </p:txBody>
        </p:sp>
      </p:grpSp>
      <p:grpSp>
        <p:nvGrpSpPr>
          <p:cNvPr id="26" name="Group 26"/>
          <p:cNvGrpSpPr/>
          <p:nvPr/>
        </p:nvGrpSpPr>
        <p:grpSpPr>
          <a:xfrm>
            <a:off x="8324850" y="2037398"/>
            <a:ext cx="3028950" cy="2635186"/>
            <a:chOff x="8324850" y="2037398"/>
            <a:chExt cx="3028950" cy="2635186"/>
          </a:xfrm>
        </p:grpSpPr>
        <p:sp>
          <p:nvSpPr>
            <p:cNvPr id="20" name="TextBox 20"/>
            <p:cNvSpPr txBox="1"/>
            <p:nvPr/>
          </p:nvSpPr>
          <p:spPr>
            <a:xfrm>
              <a:off x="8324850" y="2037398"/>
              <a:ext cx="807756" cy="962025"/>
            </a:xfrm>
            <a:prstGeom prst="rect">
              <a:avLst/>
            </a:prstGeom>
            <a:noFill/>
            <a:ln>
              <a:noFill/>
            </a:ln>
          </p:spPr>
          <p:txBody>
            <a:bodyPr wrap="none" lIns="0" tIns="0" rIns="0" bIns="0" anchor="t" anchorCtr="0">
              <a:spAutoFit/>
            </a:bodyPr>
            <a:lstStyle/>
            <a:p>
              <a:pPr algn="l"/>
              <a:r>
                <a:rPr lang="en-US" sz="4950" b="1" dirty="0">
                  <a:solidFill>
                    <a:schemeClr val="accent6"/>
                  </a:solidFill>
                  <a:latin typeface="+mn-lt"/>
                  <a:ea typeface="+mn-ea"/>
                  <a:cs typeface="+mn-cs"/>
                </a:rPr>
                <a:t>03</a:t>
              </a:r>
            </a:p>
          </p:txBody>
        </p:sp>
        <p:sp>
          <p:nvSpPr>
            <p:cNvPr id="21" name="TextBox 21"/>
            <p:cNvSpPr txBox="1"/>
            <p:nvPr/>
          </p:nvSpPr>
          <p:spPr>
            <a:xfrm>
              <a:off x="8331708" y="2807970"/>
              <a:ext cx="2399081" cy="469392"/>
            </a:xfrm>
            <a:prstGeom prst="rect">
              <a:avLst/>
            </a:prstGeom>
            <a:noFill/>
            <a:ln>
              <a:noFill/>
            </a:ln>
          </p:spPr>
          <p:txBody>
            <a:bodyPr wrap="none" lIns="0" tIns="0" rIns="0" bIns="0" anchor="t" anchorCtr="0">
              <a:spAutoFit/>
            </a:bodyPr>
            <a:lstStyle/>
            <a:p>
              <a:pPr algn="l"/>
              <a:r>
                <a:rPr lang="zh-CN" sz="2400" b="1" dirty="0">
                  <a:solidFill>
                    <a:srgbClr val="FFFFFF"/>
                  </a:solidFill>
                  <a:latin typeface="+mn-lt"/>
                  <a:ea typeface="+mn-ea"/>
                  <a:cs typeface="+mn-cs"/>
                </a:rPr>
                <a:t>同版本消融复测</a:t>
              </a:r>
            </a:p>
          </p:txBody>
        </p:sp>
        <p:sp>
          <p:nvSpPr>
            <p:cNvPr id="22" name="Line 22"/>
            <p:cNvSpPr/>
            <p:nvPr/>
          </p:nvSpPr>
          <p:spPr>
            <a:xfrm>
              <a:off x="8343900" y="3276600"/>
              <a:ext cx="3009900" cy="9525"/>
            </a:xfrm>
            <a:custGeom>
              <a:avLst/>
              <a:gdLst/>
              <a:ahLst/>
              <a:cxnLst/>
              <a:rect l="l" t="t" r="r" b="b"/>
              <a:pathLst>
                <a:path w="3009900" h="9525">
                  <a:moveTo>
                    <a:pt x="0" y="0"/>
                  </a:moveTo>
                  <a:lnTo>
                    <a:pt x="3009900" y="0"/>
                  </a:lnTo>
                </a:path>
              </a:pathLst>
            </a:custGeom>
            <a:noFill/>
            <a:ln w="19050">
              <a:solidFill>
                <a:srgbClr val="6D89A3"/>
              </a:solidFill>
            </a:ln>
          </p:spPr>
        </p:sp>
        <p:sp>
          <p:nvSpPr>
            <p:cNvPr id="23" name="TextBox 23"/>
            <p:cNvSpPr txBox="1"/>
            <p:nvPr/>
          </p:nvSpPr>
          <p:spPr>
            <a:xfrm>
              <a:off x="8334756" y="3520440"/>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完整方法同批运行</a:t>
              </a:r>
            </a:p>
          </p:txBody>
        </p:sp>
        <p:sp>
          <p:nvSpPr>
            <p:cNvPr id="24" name="TextBox 24"/>
            <p:cNvSpPr txBox="1"/>
            <p:nvPr/>
          </p:nvSpPr>
          <p:spPr>
            <a:xfrm>
              <a:off x="8334756" y="3920490"/>
              <a:ext cx="2514143"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记录质量 / 时延 / 成本</a:t>
              </a:r>
            </a:p>
          </p:txBody>
        </p:sp>
        <p:sp>
          <p:nvSpPr>
            <p:cNvPr id="25" name="TextBox 25"/>
            <p:cNvSpPr txBox="1"/>
            <p:nvPr/>
          </p:nvSpPr>
          <p:spPr>
            <a:xfrm>
              <a:off x="8334756" y="4320540"/>
              <a:ext cx="1956816" cy="352044"/>
            </a:xfrm>
            <a:prstGeom prst="rect">
              <a:avLst/>
            </a:prstGeom>
            <a:noFill/>
            <a:ln>
              <a:noFill/>
            </a:ln>
          </p:spPr>
          <p:txBody>
            <a:bodyPr wrap="none" lIns="0" tIns="0" rIns="0" bIns="0" anchor="t" anchorCtr="0">
              <a:spAutoFit/>
            </a:bodyPr>
            <a:lstStyle/>
            <a:p>
              <a:pPr algn="l"/>
              <a:r>
                <a:rPr lang="zh-CN" sz="1800" dirty="0">
                  <a:solidFill>
                    <a:srgbClr val="FFFFFF"/>
                  </a:solidFill>
                  <a:latin typeface="+mn-lt"/>
                  <a:ea typeface="+mn-ea"/>
                  <a:cs typeface="+mn-cs"/>
                </a:rPr>
                <a:t>形成稳定因果证据</a:t>
              </a:r>
            </a:p>
          </p:txBody>
        </p:sp>
      </p:grpSp>
      <p:grpSp>
        <p:nvGrpSpPr>
          <p:cNvPr id="30" name="Group 30"/>
          <p:cNvGrpSpPr/>
          <p:nvPr/>
        </p:nvGrpSpPr>
        <p:grpSpPr>
          <a:xfrm>
            <a:off x="609600" y="5372100"/>
            <a:ext cx="10972800" cy="914400"/>
            <a:chOff x="609600" y="5372100"/>
            <a:chExt cx="10972800" cy="914400"/>
          </a:xfrm>
        </p:grpSpPr>
        <p:sp>
          <p:nvSpPr>
            <p:cNvPr id="27" name="Rectangle 27"/>
            <p:cNvSpPr/>
            <p:nvPr/>
          </p:nvSpPr>
          <p:spPr>
            <a:xfrm>
              <a:off x="609600" y="5372100"/>
              <a:ext cx="10972800" cy="914400"/>
            </a:xfrm>
            <a:prstGeom prst="rect">
              <a:avLst/>
            </a:prstGeom>
            <a:solidFill>
              <a:schemeClr val="lt1"/>
            </a:solidFill>
            <a:ln>
              <a:noFill/>
            </a:ln>
          </p:spPr>
        </p:sp>
        <p:sp>
          <p:nvSpPr>
            <p:cNvPr id="28" name="TextBox 28"/>
            <p:cNvSpPr txBox="1"/>
            <p:nvPr/>
          </p:nvSpPr>
          <p:spPr>
            <a:xfrm>
              <a:off x="864108" y="5684520"/>
              <a:ext cx="6130747" cy="469392"/>
            </a:xfrm>
            <a:prstGeom prst="rect">
              <a:avLst/>
            </a:prstGeom>
            <a:noFill/>
            <a:ln>
              <a:noFill/>
            </a:ln>
          </p:spPr>
          <p:txBody>
            <a:bodyPr wrap="none" lIns="0" tIns="0" rIns="0" bIns="0" anchor="t" anchorCtr="0">
              <a:spAutoFit/>
            </a:bodyPr>
            <a:lstStyle/>
            <a:p>
              <a:pPr algn="l"/>
              <a:r>
                <a:rPr lang="zh-CN" sz="2400" b="1" dirty="0">
                  <a:solidFill>
                    <a:schemeClr val="accent1"/>
                  </a:solidFill>
                  <a:latin typeface="+mn-lt"/>
                  <a:ea typeface="+mn-ea"/>
                  <a:cs typeface="+mn-cs"/>
                </a:rPr>
                <a:t>建议决策：批准三项工作包进入下一阶段</a:t>
              </a:r>
            </a:p>
          </p:txBody>
        </p:sp>
        <p:sp>
          <p:nvSpPr>
            <p:cNvPr id="29" name="TextBox 29"/>
            <p:cNvSpPr txBox="1"/>
            <p:nvPr/>
          </p:nvSpPr>
          <p:spPr>
            <a:xfrm>
              <a:off x="10867415" y="5700712"/>
              <a:ext cx="459715" cy="440055"/>
            </a:xfrm>
            <a:prstGeom prst="rect">
              <a:avLst/>
            </a:prstGeom>
            <a:noFill/>
            <a:ln>
              <a:noFill/>
            </a:ln>
          </p:spPr>
          <p:txBody>
            <a:bodyPr wrap="none" lIns="0" tIns="0" rIns="0" bIns="0" anchor="t" anchorCtr="0">
              <a:spAutoFit/>
            </a:bodyPr>
            <a:lstStyle/>
            <a:p>
              <a:pPr algn="r"/>
              <a:r>
                <a:rPr lang="en-US" sz="2250" b="1" dirty="0">
                  <a:solidFill>
                    <a:schemeClr val="accent3"/>
                  </a:solidFill>
                  <a:latin typeface="+mn-lt"/>
                  <a:ea typeface="+mn-ea"/>
                  <a:cs typeface="+mn-cs"/>
                </a:rPr>
                <a:t>GO</a:t>
              </a:r>
            </a:p>
          </p:txBody>
        </p:sp>
      </p:gr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market_demand_eval_report_20260729">
  <a:themeElements>
    <a:clrScheme name="market_demand_eval_report_20260729">
      <a:dk1>
        <a:srgbClr val="1D2733"/>
      </a:dk1>
      <a:lt1>
        <a:srgbClr val="FFFFFF"/>
      </a:lt1>
      <a:dk2>
        <a:srgbClr val="1F497D"/>
      </a:dk2>
      <a:lt2>
        <a:srgbClr val="FFFFFF"/>
      </a:lt2>
      <a:accent1>
        <a:srgbClr val="173B5E"/>
      </a:accent1>
      <a:accent2>
        <a:srgbClr val="2F6FAE"/>
      </a:accent2>
      <a:accent3>
        <a:srgbClr val="2E8B66"/>
      </a:accent3>
      <a:accent4>
        <a:srgbClr val="173B5E"/>
      </a:accent4>
      <a:accent5>
        <a:srgbClr val="F3F6F9"/>
      </a:accent5>
      <a:accent6>
        <a:srgbClr val="C97A32"/>
      </a:accent6>
      <a:hlink>
        <a:srgbClr val="2F6FAE"/>
      </a:hlink>
      <a:folHlink>
        <a:srgbClr val="2E8B66"/>
      </a:folHlink>
    </a:clrScheme>
    <a:fontScheme name="market_demand_eval_report_20260729">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rket_demand_eval_report_2026072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market_demand_eval_report_20260729">
  <a:themeElements>
    <a:clrScheme name="market_demand_eval_report_20260729">
      <a:dk1>
        <a:srgbClr val="1D2733"/>
      </a:dk1>
      <a:lt1>
        <a:srgbClr val="FFFFFF"/>
      </a:lt1>
      <a:dk2>
        <a:srgbClr val="1F497D"/>
      </a:dk2>
      <a:lt2>
        <a:srgbClr val="FFFFFF"/>
      </a:lt2>
      <a:accent1>
        <a:srgbClr val="173B5E"/>
      </a:accent1>
      <a:accent2>
        <a:srgbClr val="2F6FAE"/>
      </a:accent2>
      <a:accent3>
        <a:srgbClr val="2E8B66"/>
      </a:accent3>
      <a:accent4>
        <a:srgbClr val="173B5E"/>
      </a:accent4>
      <a:accent5>
        <a:srgbClr val="F3F6F9"/>
      </a:accent5>
      <a:accent6>
        <a:srgbClr val="C97A32"/>
      </a:accent6>
      <a:hlink>
        <a:srgbClr val="2F6FAE"/>
      </a:hlink>
      <a:folHlink>
        <a:srgbClr val="2E8B66"/>
      </a:folHlink>
    </a:clrScheme>
    <a:fontScheme name="market_demand_eval_report_20260729">
      <a:majorFont>
        <a:latin typeface="Arial"/>
        <a:ea typeface="Microsoft YaHei"/>
        <a:cs typeface="Arial"/>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Microsoft YaHei"/>
        <a:cs typeface="Arial"/>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market_demand_eval_report_20260729">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
  <cp:lastModifiedBy/>
  <cp:revision>1</cp:revision>
  <dcterms:created xsi:type="dcterms:W3CDTF">2026-07-29T17:44:29Z</dcterms:created>
  <dcterms:modified xsi:type="dcterms:W3CDTF">2026-07-29T17:44:29Z</dcterms:modified>
  <cp:category/>
  <cp:contentStatus/>
</cp:coreProperties>
</file>