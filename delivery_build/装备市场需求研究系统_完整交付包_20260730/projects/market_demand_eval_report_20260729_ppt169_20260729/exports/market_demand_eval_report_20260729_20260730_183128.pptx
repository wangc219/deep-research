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L4，以及审计恢复能力已经具备；第二，对通用 Codex Agent 的最新结果为十七胜两平一负，得分率百分之九十；第三，事实证据仍是对通用 Agent 差距最小的维度，二十二点九分钟的平均耗时也仍是规模化验证的主要约束。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文档中的发散问题没有被整段复制进每个 Agent 的 Prompt，而是压缩成四层运行机制。十二类分类提问先进入唯一责任分支或专业 Agent，每个角色只获得最多三个专属镜头；六类颠覆逻辑则被整理为十二张反事实种子卡，运行时通常只确定性选择两到三张。S1 先形成竞争性对手体系和反适应假设，S2 再形成机制不同的作战路径，随后 S3 到 S6 逐步转化为突破机制、能力映射、差距成熟度和五到七项具体装备，最后通过五项质量门。整个选卡过程在本地完成，不增加模型调用，而且种子始终被标记为假设镜头而不是事实或必选目录。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分类提问的主要价值，是先确定唯一主责，避免所有 Agent 重复回答同一批问题。十二类问题被映射到 A到G的主分支或 international_situation 专业 Agent，例如局部战争经验归 C 分支，体系对抗问题归 F 分支，空天、深海、电磁和网络问题归 G 分支。主分支负责主研究路径，前置专业 Agent 只获得最多三个职责专属镜头，其他 Agent 不再重复展开。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这十二张卡不是固定答案，而是把原始颠覆问题压缩为可控的反事实发散镜头。每张卡只保留传统关系、新关系、装备牵引和风险检查等短信息，运行时根据 Query、主分支和 Agent 职责选择少量相关卡。A1 到 F2 只是有界起始集合，智能体仍可在因果约束和质量门下提出 OTHER 新方向，但不能为了覆盖六个维度机械增加无关概念。</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八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Codex Agent 是十七胜两平一负，得分率百分之九十，百分之九十五区间为百分之七十八到百分之一百；对纯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更新后的通用 Codex Agent 对比中，完整方法为十七胜两平一负，得分率百分之九十，百分之九十五置信区间为百分之七十八到百分之一百。八个评测维度现在全部领先，能力映射为七十三比零比七，因果机理为六十八比零比十二。证据与事实可靠性为三十八比十六比二十六，虽然已经由反向转为领先，但仍是差距最小、需要继续加强的维度。条形延续使用平方根压缩示意，准确数据以右侧票数为准。</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在这三项上全部支持完整方法。条形采用平方根压缩，使六到七张 Baseline 胜票仍能清晰辨认，但准确大小仍由右侧票数表达。</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 Baseline 胜票最多的维度；条形经过平方根压缩后更容易看清这些少数票，但不改变票数结论。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三类对比共同说明，深度调研的优势不只来自换一个更强基模。纯 LLM 和智谱 GLM 生成快、成本低、通用表达能力强，但缺少多源研究、过程状态、证据审计、机制推演和稳定交付合同；通用 Codex Agent 已具备工具调用和一般任务执行能力，因此与完整方法的差距明显缩小，但仍缺少 A 到 H 领域路由、S1 到 S6、三层九项、能力画像和 L1 到 L4 质量循环。基模提供认知能力，通用 Agent 提供执行框架，专业 Agent 系统负责把复杂研究组织成可追溯、可验证、可正式交付的成果。</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初步消融实验形成三点结论。第一，去除 S1 到 S6 后，完整方法与控制组差值达到九十个百分点，制胜机理是当前最强的核心贡献信号；第二，完整方法对去多源基线领先二十个百分点，说明多源研究提供方向性增益；第三，控制组版本和样本仍有限，应固定代码、模型、Query 与 Judge 后扩样复测，再把当前信号解释为稳定因果证据。</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建议下一阶段批准三个工作包。第一，继续优化智能体设计，严格落实分类分支、专属镜头、种子边界和装备质量门；第二，完成五十条全量 Benchmark，并固定代码与模型版本、预注册评测口径；第三，开展同版本消融复测，同时记录质量、时延和成本。完成这三项后，项目才能从初步有效走向稳定可信和可规模化。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1332522"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90%</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17 胜 · 2 平 · 1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事实证据差距最小</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95300"/>
            <a:ext cx="10994898" cy="862584"/>
            <a:chOff x="594360" y="495300"/>
            <a:chExt cx="10994898" cy="862584"/>
          </a:xfrm>
        </p:grpSpPr>
        <p:sp>
          <p:nvSpPr>
            <p:cNvPr id="2" name="TextBox 2"/>
            <p:cNvSpPr txBox="1"/>
            <p:nvPr/>
          </p:nvSpPr>
          <p:spPr>
            <a:xfrm>
              <a:off x="594360" y="495300"/>
              <a:ext cx="106462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发散问题没有整段复制进 Prompt，而是压缩为四层机制</a:t>
              </a:r>
            </a:p>
          </p:txBody>
        </p:sp>
        <p:sp>
          <p:nvSpPr>
            <p:cNvPr id="3" name="TextBox 3"/>
            <p:cNvSpPr txBox="1"/>
            <p:nvPr/>
          </p:nvSpPr>
          <p:spPr>
            <a:xfrm>
              <a:off x="600456" y="10058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保留发散能力，同时控制上下文规模与概念漂移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grpSp>
      <p:grpSp>
        <p:nvGrpSpPr>
          <p:cNvPr id="30" name="Group 30"/>
          <p:cNvGrpSpPr/>
          <p:nvPr/>
        </p:nvGrpSpPr>
        <p:grpSpPr>
          <a:xfrm>
            <a:off x="609600" y="1504950"/>
            <a:ext cx="10972800" cy="1809750"/>
            <a:chOff x="609600" y="1504950"/>
            <a:chExt cx="10972800" cy="1809750"/>
          </a:xfrm>
        </p:grpSpPr>
        <p:sp>
          <p:nvSpPr>
            <p:cNvPr id="6" name="Rectangle 6"/>
            <p:cNvSpPr/>
            <p:nvPr/>
          </p:nvSpPr>
          <p:spPr>
            <a:xfrm>
              <a:off x="609600" y="1504950"/>
              <a:ext cx="2628900" cy="1809750"/>
            </a:xfrm>
            <a:prstGeom prst="rect">
              <a:avLst/>
            </a:prstGeom>
            <a:solidFill>
              <a:schemeClr val="accent5"/>
            </a:solidFill>
            <a:ln>
              <a:noFill/>
            </a:ln>
          </p:spPr>
        </p:sp>
        <p:sp>
          <p:nvSpPr>
            <p:cNvPr id="7" name="Rectangle 7"/>
            <p:cNvSpPr/>
            <p:nvPr/>
          </p:nvSpPr>
          <p:spPr>
            <a:xfrm>
              <a:off x="609600" y="1504950"/>
              <a:ext cx="2628900" cy="76200"/>
            </a:xfrm>
            <a:prstGeom prst="rect">
              <a:avLst/>
            </a:prstGeom>
            <a:solidFill>
              <a:schemeClr val="accent1"/>
            </a:solidFill>
            <a:ln>
              <a:noFill/>
            </a:ln>
          </p:spPr>
        </p:sp>
        <p:sp>
          <p:nvSpPr>
            <p:cNvPr id="8" name="TextBox 8"/>
            <p:cNvSpPr txBox="1"/>
            <p:nvPr/>
          </p:nvSpPr>
          <p:spPr>
            <a:xfrm>
              <a:off x="7886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9" name="TextBox 9"/>
            <p:cNvSpPr txBox="1"/>
            <p:nvPr/>
          </p:nvSpPr>
          <p:spPr>
            <a:xfrm>
              <a:off x="1248156" y="1767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分支内核</a:t>
              </a:r>
            </a:p>
          </p:txBody>
        </p:sp>
        <p:sp>
          <p:nvSpPr>
            <p:cNvPr id="10" name="TextBox 10"/>
            <p:cNvSpPr txBox="1"/>
            <p:nvPr/>
          </p:nvSpPr>
          <p:spPr>
            <a:xfrm>
              <a:off x="793242" y="2235518"/>
              <a:ext cx="22425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12 类问题 → 唯一责任分支每个分支只保留一句任务内核</a:t>
              </a:r>
            </a:p>
          </p:txBody>
        </p:sp>
        <p:sp>
          <p:nvSpPr>
            <p:cNvPr id="11" name="TextBox 11"/>
            <p:cNvSpPr txBox="1"/>
            <p:nvPr/>
          </p:nvSpPr>
          <p:spPr>
            <a:xfrm>
              <a:off x="793242" y="2902268"/>
              <a:ext cx="1474960"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A–H / 专业 Agent</a:t>
              </a:r>
            </a:p>
          </p:txBody>
        </p:sp>
        <p:sp>
          <p:nvSpPr>
            <p:cNvPr id="12" name="Rectangle 12"/>
            <p:cNvSpPr/>
            <p:nvPr/>
          </p:nvSpPr>
          <p:spPr>
            <a:xfrm>
              <a:off x="3390900" y="1504950"/>
              <a:ext cx="2628900" cy="1809750"/>
            </a:xfrm>
            <a:prstGeom prst="rect">
              <a:avLst/>
            </a:prstGeom>
            <a:solidFill>
              <a:schemeClr val="accent5"/>
            </a:solidFill>
            <a:ln>
              <a:noFill/>
            </a:ln>
          </p:spPr>
        </p:sp>
        <p:sp>
          <p:nvSpPr>
            <p:cNvPr id="13" name="Rectangle 13"/>
            <p:cNvSpPr/>
            <p:nvPr/>
          </p:nvSpPr>
          <p:spPr>
            <a:xfrm>
              <a:off x="3390900" y="1504950"/>
              <a:ext cx="2628900" cy="76200"/>
            </a:xfrm>
            <a:prstGeom prst="rect">
              <a:avLst/>
            </a:prstGeom>
            <a:solidFill>
              <a:schemeClr val="accent2"/>
            </a:solidFill>
            <a:ln>
              <a:noFill/>
            </a:ln>
          </p:spPr>
        </p:sp>
        <p:sp>
          <p:nvSpPr>
            <p:cNvPr id="14" name="TextBox 14"/>
            <p:cNvSpPr txBox="1"/>
            <p:nvPr/>
          </p:nvSpPr>
          <p:spPr>
            <a:xfrm>
              <a:off x="35699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02</a:t>
              </a:r>
            </a:p>
          </p:txBody>
        </p:sp>
        <p:sp>
          <p:nvSpPr>
            <p:cNvPr id="15" name="TextBox 15"/>
            <p:cNvSpPr txBox="1"/>
            <p:nvPr/>
          </p:nvSpPr>
          <p:spPr>
            <a:xfrm>
              <a:off x="4029456" y="1767840"/>
              <a:ext cx="1832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Agent 专属镜头</a:t>
              </a:r>
            </a:p>
          </p:txBody>
        </p:sp>
        <p:sp>
          <p:nvSpPr>
            <p:cNvPr id="16" name="TextBox 16"/>
            <p:cNvSpPr txBox="1"/>
            <p:nvPr/>
          </p:nvSpPr>
          <p:spPr>
            <a:xfrm>
              <a:off x="3574542" y="2235518"/>
              <a:ext cx="25854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按职责配置，不重复分析全量问题每个前置 Agent 最多 3 个镜头</a:t>
              </a:r>
            </a:p>
          </p:txBody>
        </p:sp>
        <p:sp>
          <p:nvSpPr>
            <p:cNvPr id="17" name="TextBox 17"/>
            <p:cNvSpPr txBox="1"/>
            <p:nvPr/>
          </p:nvSpPr>
          <p:spPr>
            <a:xfrm>
              <a:off x="3574542" y="2902268"/>
              <a:ext cx="209460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场景 / 装备 / 体系 / 技术</a:t>
              </a:r>
            </a:p>
          </p:txBody>
        </p:sp>
        <p:sp>
          <p:nvSpPr>
            <p:cNvPr id="18" name="Rectangle 18"/>
            <p:cNvSpPr/>
            <p:nvPr/>
          </p:nvSpPr>
          <p:spPr>
            <a:xfrm>
              <a:off x="6172200" y="1504950"/>
              <a:ext cx="2628900" cy="1809750"/>
            </a:xfrm>
            <a:prstGeom prst="rect">
              <a:avLst/>
            </a:prstGeom>
            <a:solidFill>
              <a:schemeClr val="accent5"/>
            </a:solidFill>
            <a:ln>
              <a:noFill/>
            </a:ln>
          </p:spPr>
        </p:sp>
        <p:sp>
          <p:nvSpPr>
            <p:cNvPr id="19" name="Rectangle 19"/>
            <p:cNvSpPr/>
            <p:nvPr/>
          </p:nvSpPr>
          <p:spPr>
            <a:xfrm>
              <a:off x="6172200" y="1504950"/>
              <a:ext cx="2628900" cy="76200"/>
            </a:xfrm>
            <a:prstGeom prst="rect">
              <a:avLst/>
            </a:prstGeom>
            <a:solidFill>
              <a:schemeClr val="accent3"/>
            </a:solidFill>
            <a:ln>
              <a:noFill/>
            </a:ln>
          </p:spPr>
        </p:sp>
        <p:sp>
          <p:nvSpPr>
            <p:cNvPr id="20" name="TextBox 20"/>
            <p:cNvSpPr txBox="1"/>
            <p:nvPr/>
          </p:nvSpPr>
          <p:spPr>
            <a:xfrm>
              <a:off x="63512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03</a:t>
              </a:r>
            </a:p>
          </p:txBody>
        </p:sp>
        <p:sp>
          <p:nvSpPr>
            <p:cNvPr id="21" name="TextBox 21"/>
            <p:cNvSpPr txBox="1"/>
            <p:nvPr/>
          </p:nvSpPr>
          <p:spPr>
            <a:xfrm>
              <a:off x="6810756" y="1767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颠覆性种子卡</a:t>
              </a:r>
            </a:p>
          </p:txBody>
        </p:sp>
        <p:sp>
          <p:nvSpPr>
            <p:cNvPr id="22" name="TextBox 22"/>
            <p:cNvSpPr txBox="1"/>
            <p:nvPr/>
          </p:nvSpPr>
          <p:spPr>
            <a:xfrm>
              <a:off x="6355842" y="2235518"/>
              <a:ext cx="227685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六类逻辑 → A1–F2 十二张短卡根据 Query 通常只选 2–3 张</a:t>
              </a:r>
            </a:p>
          </p:txBody>
        </p:sp>
        <p:sp>
          <p:nvSpPr>
            <p:cNvPr id="23" name="TextBox 23"/>
            <p:cNvSpPr txBox="1"/>
            <p:nvPr/>
          </p:nvSpPr>
          <p:spPr>
            <a:xfrm>
              <a:off x="6355842" y="2902268"/>
              <a:ext cx="224908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关系变化 / 装备牵引 / 风险</a:t>
              </a:r>
            </a:p>
          </p:txBody>
        </p:sp>
        <p:sp>
          <p:nvSpPr>
            <p:cNvPr id="24" name="Rectangle 24"/>
            <p:cNvSpPr/>
            <p:nvPr/>
          </p:nvSpPr>
          <p:spPr>
            <a:xfrm>
              <a:off x="8953500" y="1504950"/>
              <a:ext cx="2628900" cy="1809750"/>
            </a:xfrm>
            <a:prstGeom prst="rect">
              <a:avLst/>
            </a:prstGeom>
            <a:solidFill>
              <a:schemeClr val="accent5"/>
            </a:solidFill>
            <a:ln>
              <a:noFill/>
            </a:ln>
          </p:spPr>
        </p:sp>
        <p:sp>
          <p:nvSpPr>
            <p:cNvPr id="25" name="Rectangle 25"/>
            <p:cNvSpPr/>
            <p:nvPr/>
          </p:nvSpPr>
          <p:spPr>
            <a:xfrm>
              <a:off x="8953500" y="1504950"/>
              <a:ext cx="2628900" cy="76200"/>
            </a:xfrm>
            <a:prstGeom prst="rect">
              <a:avLst/>
            </a:prstGeom>
            <a:solidFill>
              <a:schemeClr val="accent6"/>
            </a:solidFill>
            <a:ln>
              <a:noFill/>
            </a:ln>
          </p:spPr>
        </p:sp>
        <p:sp>
          <p:nvSpPr>
            <p:cNvPr id="26" name="TextBox 26"/>
            <p:cNvSpPr txBox="1"/>
            <p:nvPr/>
          </p:nvSpPr>
          <p:spPr>
            <a:xfrm>
              <a:off x="91325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04</a:t>
              </a:r>
            </a:p>
          </p:txBody>
        </p:sp>
        <p:sp>
          <p:nvSpPr>
            <p:cNvPr id="27" name="TextBox 27"/>
            <p:cNvSpPr txBox="1"/>
            <p:nvPr/>
          </p:nvSpPr>
          <p:spPr>
            <a:xfrm>
              <a:off x="9592056" y="17678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质量门</a:t>
              </a:r>
            </a:p>
          </p:txBody>
        </p:sp>
        <p:sp>
          <p:nvSpPr>
            <p:cNvPr id="28" name="TextBox 28"/>
            <p:cNvSpPr txBox="1"/>
            <p:nvPr/>
          </p:nvSpPr>
          <p:spPr>
            <a:xfrm>
              <a:off x="9137142" y="2235518"/>
              <a:ext cx="207111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S1–S6 逐步发散并收敛最终通过五项业务验收标准</a:t>
              </a:r>
            </a:p>
          </p:txBody>
        </p:sp>
        <p:sp>
          <p:nvSpPr>
            <p:cNvPr id="29" name="TextBox 29"/>
            <p:cNvSpPr txBox="1"/>
            <p:nvPr/>
          </p:nvSpPr>
          <p:spPr>
            <a:xfrm>
              <a:off x="9137142" y="2902268"/>
              <a:ext cx="205825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5–7 项 · 可验证 · 有边界</a:t>
              </a:r>
            </a:p>
          </p:txBody>
        </p:sp>
      </p:grpSp>
      <p:grpSp>
        <p:nvGrpSpPr>
          <p:cNvPr id="75" name="Group 75"/>
          <p:cNvGrpSpPr/>
          <p:nvPr/>
        </p:nvGrpSpPr>
        <p:grpSpPr>
          <a:xfrm>
            <a:off x="602742" y="3607118"/>
            <a:ext cx="10979658" cy="1565338"/>
            <a:chOff x="602742" y="3607118"/>
            <a:chExt cx="10979658" cy="1565338"/>
          </a:xfrm>
        </p:grpSpPr>
        <p:sp>
          <p:nvSpPr>
            <p:cNvPr id="31" name="TextBox 31"/>
            <p:cNvSpPr txBox="1"/>
            <p:nvPr/>
          </p:nvSpPr>
          <p:spPr>
            <a:xfrm>
              <a:off x="602742" y="3607118"/>
              <a:ext cx="247354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运行落点 · S1–S6 完整链路</a:t>
              </a:r>
            </a:p>
          </p:txBody>
        </p:sp>
        <p:sp>
          <p:nvSpPr>
            <p:cNvPr id="32" name="Rectangle 32"/>
            <p:cNvSpPr/>
            <p:nvPr/>
          </p:nvSpPr>
          <p:spPr>
            <a:xfrm>
              <a:off x="609600" y="3867150"/>
              <a:ext cx="1638300" cy="533400"/>
            </a:xfrm>
            <a:prstGeom prst="rect">
              <a:avLst/>
            </a:prstGeom>
            <a:solidFill>
              <a:schemeClr val="accent1"/>
            </a:solidFill>
            <a:ln>
              <a:noFill/>
            </a:ln>
          </p:spPr>
        </p:sp>
        <p:sp>
          <p:nvSpPr>
            <p:cNvPr id="33" name="TextBox 33"/>
            <p:cNvSpPr txBox="1"/>
            <p:nvPr/>
          </p:nvSpPr>
          <p:spPr>
            <a:xfrm>
              <a:off x="915309" y="3950018"/>
              <a:ext cx="102688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原始 Query</a:t>
              </a:r>
            </a:p>
          </p:txBody>
        </p:sp>
        <p:sp>
          <p:nvSpPr>
            <p:cNvPr id="34" name="TextBox 34"/>
            <p:cNvSpPr txBox="1"/>
            <p:nvPr/>
          </p:nvSpPr>
          <p:spPr>
            <a:xfrm>
              <a:off x="1099566" y="4175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任务输入</a:t>
              </a:r>
            </a:p>
          </p:txBody>
        </p:sp>
        <p:sp>
          <p:nvSpPr>
            <p:cNvPr id="35" name="Freeform 35"/>
            <p:cNvSpPr/>
            <p:nvPr/>
          </p:nvSpPr>
          <p:spPr>
            <a:xfrm>
              <a:off x="22860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36" name="Rectangle 36"/>
            <p:cNvSpPr/>
            <p:nvPr/>
          </p:nvSpPr>
          <p:spPr>
            <a:xfrm>
              <a:off x="2476500" y="3867150"/>
              <a:ext cx="1638300" cy="533400"/>
            </a:xfrm>
            <a:prstGeom prst="rect">
              <a:avLst/>
            </a:prstGeom>
            <a:solidFill>
              <a:srgbClr val="DCE9F5"/>
            </a:solidFill>
            <a:ln>
              <a:noFill/>
            </a:ln>
          </p:spPr>
        </p:sp>
        <p:sp>
          <p:nvSpPr>
            <p:cNvPr id="37" name="TextBox 37"/>
            <p:cNvSpPr txBox="1"/>
            <p:nvPr/>
          </p:nvSpPr>
          <p:spPr>
            <a:xfrm>
              <a:off x="3122451" y="3950018"/>
              <a:ext cx="346398"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A–H</a:t>
              </a:r>
            </a:p>
          </p:txBody>
        </p:sp>
        <p:sp>
          <p:nvSpPr>
            <p:cNvPr id="38" name="TextBox 38"/>
            <p:cNvSpPr txBox="1"/>
            <p:nvPr/>
          </p:nvSpPr>
          <p:spPr>
            <a:xfrm>
              <a:off x="2966466" y="4175760"/>
              <a:ext cx="658368"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路径识别</a:t>
              </a:r>
            </a:p>
          </p:txBody>
        </p:sp>
        <p:sp>
          <p:nvSpPr>
            <p:cNvPr id="39" name="Freeform 39"/>
            <p:cNvSpPr/>
            <p:nvPr/>
          </p:nvSpPr>
          <p:spPr>
            <a:xfrm>
              <a:off x="41529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0" name="Rectangle 40"/>
            <p:cNvSpPr/>
            <p:nvPr/>
          </p:nvSpPr>
          <p:spPr>
            <a:xfrm>
              <a:off x="4343400" y="3867150"/>
              <a:ext cx="1638300" cy="533400"/>
            </a:xfrm>
            <a:prstGeom prst="rect">
              <a:avLst/>
            </a:prstGeom>
            <a:solidFill>
              <a:srgbClr val="DCE9F5"/>
            </a:solidFill>
            <a:ln>
              <a:noFill/>
            </a:ln>
          </p:spPr>
        </p:sp>
        <p:sp>
          <p:nvSpPr>
            <p:cNvPr id="41" name="TextBox 41"/>
            <p:cNvSpPr txBox="1"/>
            <p:nvPr/>
          </p:nvSpPr>
          <p:spPr>
            <a:xfrm>
              <a:off x="4475423" y="3950018"/>
              <a:ext cx="137425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前置专业 Agent</a:t>
              </a:r>
            </a:p>
          </p:txBody>
        </p:sp>
        <p:sp>
          <p:nvSpPr>
            <p:cNvPr id="42" name="TextBox 42"/>
            <p:cNvSpPr txBox="1"/>
            <p:nvPr/>
          </p:nvSpPr>
          <p:spPr>
            <a:xfrm>
              <a:off x="4671822" y="4175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专属发散镜头</a:t>
              </a:r>
            </a:p>
          </p:txBody>
        </p:sp>
        <p:sp>
          <p:nvSpPr>
            <p:cNvPr id="43" name="Freeform 43"/>
            <p:cNvSpPr/>
            <p:nvPr/>
          </p:nvSpPr>
          <p:spPr>
            <a:xfrm>
              <a:off x="60198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4" name="Rectangle 44"/>
            <p:cNvSpPr/>
            <p:nvPr/>
          </p:nvSpPr>
          <p:spPr>
            <a:xfrm>
              <a:off x="6210300" y="3867150"/>
              <a:ext cx="1638300" cy="533400"/>
            </a:xfrm>
            <a:prstGeom prst="rect">
              <a:avLst/>
            </a:prstGeom>
            <a:solidFill>
              <a:schemeClr val="accent2"/>
            </a:solidFill>
            <a:ln>
              <a:noFill/>
            </a:ln>
          </p:spPr>
        </p:sp>
        <p:sp>
          <p:nvSpPr>
            <p:cNvPr id="45" name="TextBox 45"/>
            <p:cNvSpPr txBox="1"/>
            <p:nvPr/>
          </p:nvSpPr>
          <p:spPr>
            <a:xfrm>
              <a:off x="69116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S1</a:t>
              </a:r>
            </a:p>
          </p:txBody>
        </p:sp>
        <p:sp>
          <p:nvSpPr>
            <p:cNvPr id="46" name="TextBox 46"/>
            <p:cNvSpPr txBox="1"/>
            <p:nvPr/>
          </p:nvSpPr>
          <p:spPr>
            <a:xfrm>
              <a:off x="63771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对手体系与反适应</a:t>
              </a:r>
            </a:p>
          </p:txBody>
        </p:sp>
        <p:sp>
          <p:nvSpPr>
            <p:cNvPr id="47" name="Freeform 47"/>
            <p:cNvSpPr/>
            <p:nvPr/>
          </p:nvSpPr>
          <p:spPr>
            <a:xfrm>
              <a:off x="78867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8" name="Rectangle 48"/>
            <p:cNvSpPr/>
            <p:nvPr/>
          </p:nvSpPr>
          <p:spPr>
            <a:xfrm>
              <a:off x="8077200" y="3867150"/>
              <a:ext cx="1638300" cy="533400"/>
            </a:xfrm>
            <a:prstGeom prst="rect">
              <a:avLst/>
            </a:prstGeom>
            <a:solidFill>
              <a:schemeClr val="accent2"/>
            </a:solidFill>
            <a:ln>
              <a:noFill/>
            </a:ln>
          </p:spPr>
        </p:sp>
        <p:sp>
          <p:nvSpPr>
            <p:cNvPr id="49" name="TextBox 49"/>
            <p:cNvSpPr txBox="1"/>
            <p:nvPr/>
          </p:nvSpPr>
          <p:spPr>
            <a:xfrm>
              <a:off x="87785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S2</a:t>
              </a:r>
            </a:p>
          </p:txBody>
        </p:sp>
        <p:sp>
          <p:nvSpPr>
            <p:cNvPr id="50" name="TextBox 50"/>
            <p:cNvSpPr txBox="1"/>
            <p:nvPr/>
          </p:nvSpPr>
          <p:spPr>
            <a:xfrm>
              <a:off x="8324850" y="4175760"/>
              <a:ext cx="1143000"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竞争性作战路径</a:t>
              </a:r>
            </a:p>
          </p:txBody>
        </p:sp>
        <p:sp>
          <p:nvSpPr>
            <p:cNvPr id="51" name="Freeform 51"/>
            <p:cNvSpPr/>
            <p:nvPr/>
          </p:nvSpPr>
          <p:spPr>
            <a:xfrm>
              <a:off x="97536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52" name="Rectangle 52"/>
            <p:cNvSpPr/>
            <p:nvPr/>
          </p:nvSpPr>
          <p:spPr>
            <a:xfrm>
              <a:off x="9944100" y="3867150"/>
              <a:ext cx="1638300" cy="533400"/>
            </a:xfrm>
            <a:prstGeom prst="rect">
              <a:avLst/>
            </a:prstGeom>
            <a:solidFill>
              <a:schemeClr val="accent2"/>
            </a:solidFill>
            <a:ln>
              <a:noFill/>
            </a:ln>
          </p:spPr>
        </p:sp>
        <p:sp>
          <p:nvSpPr>
            <p:cNvPr id="53" name="TextBox 53"/>
            <p:cNvSpPr txBox="1"/>
            <p:nvPr/>
          </p:nvSpPr>
          <p:spPr>
            <a:xfrm>
              <a:off x="106454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S3</a:t>
              </a:r>
            </a:p>
          </p:txBody>
        </p:sp>
        <p:sp>
          <p:nvSpPr>
            <p:cNvPr id="54" name="TextBox 54"/>
            <p:cNvSpPr txBox="1"/>
            <p:nvPr/>
          </p:nvSpPr>
          <p:spPr>
            <a:xfrm>
              <a:off x="101109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突破机制与效果链</a:t>
              </a:r>
            </a:p>
          </p:txBody>
        </p:sp>
        <p:sp>
          <p:nvSpPr>
            <p:cNvPr id="55" name="Freeform 55"/>
            <p:cNvSpPr/>
            <p:nvPr/>
          </p:nvSpPr>
          <p:spPr>
            <a:xfrm>
              <a:off x="10687050" y="4438650"/>
              <a:ext cx="152400" cy="152400"/>
            </a:xfrm>
            <a:custGeom>
              <a:avLst/>
              <a:gdLst/>
              <a:ahLst/>
              <a:cxnLst/>
              <a:rect l="l" t="t" r="r" b="b"/>
              <a:pathLst>
                <a:path w="152400" h="152400">
                  <a:moveTo>
                    <a:pt x="76200" y="0"/>
                  </a:moveTo>
                  <a:lnTo>
                    <a:pt x="76200" y="76200"/>
                  </a:lnTo>
                  <a:lnTo>
                    <a:pt x="0" y="76200"/>
                  </a:lnTo>
                  <a:lnTo>
                    <a:pt x="76200" y="152400"/>
                  </a:lnTo>
                  <a:lnTo>
                    <a:pt x="152400" y="76200"/>
                  </a:lnTo>
                  <a:lnTo>
                    <a:pt x="76200" y="76200"/>
                  </a:lnTo>
                </a:path>
              </a:pathLst>
            </a:custGeom>
            <a:solidFill>
              <a:srgbClr val="94A3B8"/>
            </a:solidFill>
            <a:ln>
              <a:noFill/>
            </a:ln>
          </p:spPr>
        </p:sp>
        <p:sp>
          <p:nvSpPr>
            <p:cNvPr id="56" name="Rectangle 56"/>
            <p:cNvSpPr/>
            <p:nvPr/>
          </p:nvSpPr>
          <p:spPr>
            <a:xfrm>
              <a:off x="9925050" y="4629150"/>
              <a:ext cx="1657350" cy="533400"/>
            </a:xfrm>
            <a:prstGeom prst="rect">
              <a:avLst/>
            </a:prstGeom>
            <a:solidFill>
              <a:schemeClr val="accent2"/>
            </a:solidFill>
            <a:ln>
              <a:noFill/>
            </a:ln>
          </p:spPr>
        </p:sp>
        <p:sp>
          <p:nvSpPr>
            <p:cNvPr id="57" name="TextBox 57"/>
            <p:cNvSpPr txBox="1"/>
            <p:nvPr/>
          </p:nvSpPr>
          <p:spPr>
            <a:xfrm>
              <a:off x="10635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S4</a:t>
              </a:r>
            </a:p>
          </p:txBody>
        </p:sp>
        <p:sp>
          <p:nvSpPr>
            <p:cNvPr id="58" name="TextBox 58"/>
            <p:cNvSpPr txBox="1"/>
            <p:nvPr/>
          </p:nvSpPr>
          <p:spPr>
            <a:xfrm>
              <a:off x="10424541" y="4937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能力映射</a:t>
              </a:r>
            </a:p>
          </p:txBody>
        </p:sp>
        <p:sp>
          <p:nvSpPr>
            <p:cNvPr id="59" name="Freeform 59"/>
            <p:cNvSpPr/>
            <p:nvPr/>
          </p:nvSpPr>
          <p:spPr>
            <a:xfrm>
              <a:off x="9734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0" name="Rectangle 60"/>
            <p:cNvSpPr/>
            <p:nvPr/>
          </p:nvSpPr>
          <p:spPr>
            <a:xfrm>
              <a:off x="7829550" y="4629150"/>
              <a:ext cx="1657350" cy="533400"/>
            </a:xfrm>
            <a:prstGeom prst="rect">
              <a:avLst/>
            </a:prstGeom>
            <a:solidFill>
              <a:schemeClr val="accent2"/>
            </a:solidFill>
            <a:ln>
              <a:noFill/>
            </a:ln>
          </p:spPr>
        </p:sp>
        <p:sp>
          <p:nvSpPr>
            <p:cNvPr id="61" name="TextBox 61"/>
            <p:cNvSpPr txBox="1"/>
            <p:nvPr/>
          </p:nvSpPr>
          <p:spPr>
            <a:xfrm>
              <a:off x="85404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S5</a:t>
              </a:r>
            </a:p>
          </p:txBody>
        </p:sp>
        <p:sp>
          <p:nvSpPr>
            <p:cNvPr id="62" name="TextBox 62"/>
            <p:cNvSpPr txBox="1"/>
            <p:nvPr/>
          </p:nvSpPr>
          <p:spPr>
            <a:xfrm>
              <a:off x="8167497" y="4937760"/>
              <a:ext cx="98145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差距与成熟度</a:t>
              </a:r>
            </a:p>
          </p:txBody>
        </p:sp>
        <p:sp>
          <p:nvSpPr>
            <p:cNvPr id="63" name="Freeform 63"/>
            <p:cNvSpPr/>
            <p:nvPr/>
          </p:nvSpPr>
          <p:spPr>
            <a:xfrm>
              <a:off x="7639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4" name="Rectangle 64"/>
            <p:cNvSpPr/>
            <p:nvPr/>
          </p:nvSpPr>
          <p:spPr>
            <a:xfrm>
              <a:off x="5734050" y="4629150"/>
              <a:ext cx="1657350" cy="533400"/>
            </a:xfrm>
            <a:prstGeom prst="rect">
              <a:avLst/>
            </a:prstGeom>
            <a:solidFill>
              <a:schemeClr val="accent3"/>
            </a:solidFill>
            <a:ln>
              <a:noFill/>
            </a:ln>
          </p:spPr>
        </p:sp>
        <p:sp>
          <p:nvSpPr>
            <p:cNvPr id="65" name="TextBox 65"/>
            <p:cNvSpPr txBox="1"/>
            <p:nvPr/>
          </p:nvSpPr>
          <p:spPr>
            <a:xfrm>
              <a:off x="6444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S6</a:t>
              </a:r>
            </a:p>
          </p:txBody>
        </p:sp>
        <p:sp>
          <p:nvSpPr>
            <p:cNvPr id="66" name="TextBox 66"/>
            <p:cNvSpPr txBox="1"/>
            <p:nvPr/>
          </p:nvSpPr>
          <p:spPr>
            <a:xfrm>
              <a:off x="5971032" y="4937760"/>
              <a:ext cx="118338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形成 5–7 项装备</a:t>
              </a:r>
            </a:p>
          </p:txBody>
        </p:sp>
        <p:sp>
          <p:nvSpPr>
            <p:cNvPr id="67" name="Freeform 67"/>
            <p:cNvSpPr/>
            <p:nvPr/>
          </p:nvSpPr>
          <p:spPr>
            <a:xfrm>
              <a:off x="5543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8" name="Rectangle 68"/>
            <p:cNvSpPr/>
            <p:nvPr/>
          </p:nvSpPr>
          <p:spPr>
            <a:xfrm>
              <a:off x="3638550" y="4629150"/>
              <a:ext cx="1657350" cy="533400"/>
            </a:xfrm>
            <a:prstGeom prst="rect">
              <a:avLst/>
            </a:prstGeom>
            <a:solidFill>
              <a:srgbClr val="DDEDE7"/>
            </a:solidFill>
            <a:ln>
              <a:noFill/>
            </a:ln>
          </p:spPr>
        </p:sp>
        <p:sp>
          <p:nvSpPr>
            <p:cNvPr id="69" name="TextBox 69"/>
            <p:cNvSpPr txBox="1"/>
            <p:nvPr/>
          </p:nvSpPr>
          <p:spPr>
            <a:xfrm>
              <a:off x="4037584" y="4712018"/>
              <a:ext cx="8592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Reporter</a:t>
              </a:r>
            </a:p>
          </p:txBody>
        </p:sp>
        <p:sp>
          <p:nvSpPr>
            <p:cNvPr id="70" name="TextBox 70"/>
            <p:cNvSpPr txBox="1"/>
            <p:nvPr/>
          </p:nvSpPr>
          <p:spPr>
            <a:xfrm>
              <a:off x="3976497" y="4937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三层九项报告</a:t>
              </a:r>
            </a:p>
          </p:txBody>
        </p:sp>
        <p:sp>
          <p:nvSpPr>
            <p:cNvPr id="71" name="Freeform 71"/>
            <p:cNvSpPr/>
            <p:nvPr/>
          </p:nvSpPr>
          <p:spPr>
            <a:xfrm>
              <a:off x="3448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72" name="Rectangle 72"/>
            <p:cNvSpPr/>
            <p:nvPr/>
          </p:nvSpPr>
          <p:spPr>
            <a:xfrm>
              <a:off x="1543050" y="4629150"/>
              <a:ext cx="1657350" cy="533400"/>
            </a:xfrm>
            <a:prstGeom prst="rect">
              <a:avLst/>
            </a:prstGeom>
            <a:solidFill>
              <a:schemeClr val="accent1"/>
            </a:solidFill>
            <a:ln>
              <a:noFill/>
            </a:ln>
          </p:spPr>
        </p:sp>
        <p:sp>
          <p:nvSpPr>
            <p:cNvPr id="73" name="TextBox 73"/>
            <p:cNvSpPr txBox="1"/>
            <p:nvPr/>
          </p:nvSpPr>
          <p:spPr>
            <a:xfrm>
              <a:off x="1887807" y="4712018"/>
              <a:ext cx="96783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五项质量门</a:t>
              </a:r>
            </a:p>
          </p:txBody>
        </p:sp>
        <p:sp>
          <p:nvSpPr>
            <p:cNvPr id="74" name="TextBox 74"/>
            <p:cNvSpPr txBox="1"/>
            <p:nvPr/>
          </p:nvSpPr>
          <p:spPr>
            <a:xfrm>
              <a:off x="1961769" y="4937760"/>
              <a:ext cx="819912"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收敛与验收</a:t>
              </a:r>
            </a:p>
          </p:txBody>
        </p:sp>
      </p:grpSp>
      <p:grpSp>
        <p:nvGrpSpPr>
          <p:cNvPr id="81" name="Group 81"/>
          <p:cNvGrpSpPr/>
          <p:nvPr/>
        </p:nvGrpSpPr>
        <p:grpSpPr>
          <a:xfrm>
            <a:off x="609600" y="5467350"/>
            <a:ext cx="10972800" cy="895350"/>
            <a:chOff x="609600" y="5467350"/>
            <a:chExt cx="10972800" cy="895350"/>
          </a:xfrm>
        </p:grpSpPr>
        <p:sp>
          <p:nvSpPr>
            <p:cNvPr id="76" name="Rectangle 76"/>
            <p:cNvSpPr/>
            <p:nvPr/>
          </p:nvSpPr>
          <p:spPr>
            <a:xfrm>
              <a:off x="609600" y="5467350"/>
              <a:ext cx="10972800" cy="895350"/>
            </a:xfrm>
            <a:prstGeom prst="rect">
              <a:avLst/>
            </a:prstGeom>
            <a:solidFill>
              <a:schemeClr val="accent5"/>
            </a:solidFill>
            <a:ln>
              <a:noFill/>
            </a:ln>
          </p:spPr>
        </p:sp>
        <p:sp>
          <p:nvSpPr>
            <p:cNvPr id="77" name="TextBox 77"/>
            <p:cNvSpPr txBox="1"/>
            <p:nvPr/>
          </p:nvSpPr>
          <p:spPr>
            <a:xfrm>
              <a:off x="831342" y="56264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三条运行边界</a:t>
              </a:r>
            </a:p>
          </p:txBody>
        </p:sp>
        <p:sp>
          <p:nvSpPr>
            <p:cNvPr id="78" name="TextBox 78"/>
            <p:cNvSpPr txBox="1"/>
            <p:nvPr/>
          </p:nvSpPr>
          <p:spPr>
            <a:xfrm>
              <a:off x="831342" y="5969318"/>
              <a:ext cx="28942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本地确定性选卡，不增加模型调用</a:t>
              </a:r>
            </a:p>
          </p:txBody>
        </p:sp>
        <p:sp>
          <p:nvSpPr>
            <p:cNvPr id="79" name="TextBox 79"/>
            <p:cNvSpPr txBox="1"/>
            <p:nvPr/>
          </p:nvSpPr>
          <p:spPr>
            <a:xfrm>
              <a:off x="4279392" y="5969318"/>
              <a:ext cx="38483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bounded_exploration 最多挑战一个既有前提</a:t>
              </a:r>
            </a:p>
          </p:txBody>
        </p:sp>
        <p:sp>
          <p:nvSpPr>
            <p:cNvPr id="80" name="TextBox 80"/>
            <p:cNvSpPr txBox="1"/>
            <p:nvPr/>
          </p:nvSpPr>
          <p:spPr>
            <a:xfrm>
              <a:off x="8356092" y="596931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种子不是事实、指标或必选目录</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60058"/>
            <a:ext cx="10995660" cy="884681"/>
            <a:chOff x="593598" y="460058"/>
            <a:chExt cx="10995660" cy="884681"/>
          </a:xfrm>
        </p:grpSpPr>
        <p:sp>
          <p:nvSpPr>
            <p:cNvPr id="2" name="TextBox 2"/>
            <p:cNvSpPr txBox="1"/>
            <p:nvPr/>
          </p:nvSpPr>
          <p:spPr>
            <a:xfrm>
              <a:off x="593598" y="460058"/>
              <a:ext cx="89707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分类提问落实为 A–H 分支和专业 Agent 路由</a:t>
              </a:r>
            </a:p>
          </p:txBody>
        </p:sp>
        <p:sp>
          <p:nvSpPr>
            <p:cNvPr id="3" name="TextBox 3"/>
            <p:cNvSpPr txBox="1"/>
            <p:nvPr/>
          </p:nvSpPr>
          <p:spPr>
            <a:xfrm>
              <a:off x="601218" y="1022032"/>
              <a:ext cx="6183066"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核心是确定“唯一主责”，防止所有 Agent 重复回答同一批问题</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42" name="Group 42"/>
          <p:cNvGrpSpPr/>
          <p:nvPr/>
        </p:nvGrpSpPr>
        <p:grpSpPr>
          <a:xfrm>
            <a:off x="609600" y="1504950"/>
            <a:ext cx="10972800" cy="3816953"/>
            <a:chOff x="609600" y="1504950"/>
            <a:chExt cx="10972800" cy="3816953"/>
          </a:xfrm>
        </p:grpSpPr>
        <p:sp>
          <p:nvSpPr>
            <p:cNvPr id="6" name="Rectangle 6"/>
            <p:cNvSpPr/>
            <p:nvPr/>
          </p:nvSpPr>
          <p:spPr>
            <a:xfrm>
              <a:off x="609600" y="1504950"/>
              <a:ext cx="10972800" cy="381000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7770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分类提问</a:t>
              </a:r>
            </a:p>
          </p:txBody>
        </p:sp>
        <p:sp>
          <p:nvSpPr>
            <p:cNvPr id="9" name="TextBox 9"/>
            <p:cNvSpPr txBox="1"/>
            <p:nvPr/>
          </p:nvSpPr>
          <p:spPr>
            <a:xfrm>
              <a:off x="784174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项目主落点</a:t>
              </a:r>
            </a:p>
          </p:txBody>
        </p:sp>
        <p:sp>
          <p:nvSpPr>
            <p:cNvPr id="10" name="Line 10"/>
            <p:cNvSpPr/>
            <p:nvPr/>
          </p:nvSpPr>
          <p:spPr>
            <a:xfrm>
              <a:off x="7620000" y="1504950"/>
              <a:ext cx="9525" cy="3810000"/>
            </a:xfrm>
            <a:custGeom>
              <a:avLst/>
              <a:gdLst/>
              <a:ahLst/>
              <a:cxnLst/>
              <a:rect l="l" t="t" r="r" b="b"/>
              <a:pathLst>
                <a:path w="9525" h="3810000">
                  <a:moveTo>
                    <a:pt x="0" y="0"/>
                  </a:moveTo>
                  <a:lnTo>
                    <a:pt x="0" y="3810000"/>
                  </a:lnTo>
                </a:path>
              </a:pathLst>
            </a:custGeom>
            <a:noFill/>
            <a:ln w="19050">
              <a:solidFill>
                <a:srgbClr val="C9D5E0"/>
              </a:solidFill>
            </a:ln>
          </p:spPr>
        </p:sp>
        <p:sp>
          <p:nvSpPr>
            <p:cNvPr id="11" name="Rectangle 11"/>
            <p:cNvSpPr/>
            <p:nvPr/>
          </p:nvSpPr>
          <p:spPr>
            <a:xfrm>
              <a:off x="609600" y="1866900"/>
              <a:ext cx="10972800" cy="285750"/>
            </a:xfrm>
            <a:prstGeom prst="rect">
              <a:avLst/>
            </a:prstGeom>
            <a:solidFill>
              <a:schemeClr val="accent5"/>
            </a:solidFill>
            <a:ln>
              <a:noFill/>
            </a:ln>
          </p:spPr>
        </p:sp>
        <p:sp>
          <p:nvSpPr>
            <p:cNvPr id="12" name="TextBox 12"/>
            <p:cNvSpPr txBox="1"/>
            <p:nvPr/>
          </p:nvSpPr>
          <p:spPr>
            <a:xfrm>
              <a:off x="774573" y="1929289"/>
              <a:ext cx="2149643"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 局部战争经验与装备启示</a:t>
              </a:r>
            </a:p>
          </p:txBody>
        </p:sp>
        <p:sp>
          <p:nvSpPr>
            <p:cNvPr id="13" name="TextBox 13"/>
            <p:cNvSpPr txBox="1"/>
            <p:nvPr/>
          </p:nvSpPr>
          <p:spPr>
            <a:xfrm>
              <a:off x="7842123" y="1929289"/>
              <a:ext cx="1838633"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C：局部战争案例经验</a:t>
              </a:r>
            </a:p>
          </p:txBody>
        </p:sp>
        <p:sp>
          <p:nvSpPr>
            <p:cNvPr id="14" name="Rectangle 14"/>
            <p:cNvSpPr/>
            <p:nvPr/>
          </p:nvSpPr>
          <p:spPr>
            <a:xfrm>
              <a:off x="7620000" y="2152650"/>
              <a:ext cx="57150" cy="285750"/>
            </a:xfrm>
            <a:prstGeom prst="rect">
              <a:avLst/>
            </a:prstGeom>
            <a:solidFill>
              <a:schemeClr val="accent6"/>
            </a:solidFill>
            <a:ln>
              <a:noFill/>
            </a:ln>
          </p:spPr>
        </p:sp>
        <p:sp>
          <p:nvSpPr>
            <p:cNvPr id="15" name="TextBox 15"/>
            <p:cNvSpPr txBox="1"/>
            <p:nvPr/>
          </p:nvSpPr>
          <p:spPr>
            <a:xfrm>
              <a:off x="774573" y="2215039"/>
              <a:ext cx="163270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2. 国际战略形势变化</a:t>
              </a:r>
            </a:p>
          </p:txBody>
        </p:sp>
        <p:sp>
          <p:nvSpPr>
            <p:cNvPr id="16" name="TextBox 16"/>
            <p:cNvSpPr txBox="1"/>
            <p:nvPr/>
          </p:nvSpPr>
          <p:spPr>
            <a:xfrm>
              <a:off x="7842123" y="2215039"/>
              <a:ext cx="2632863"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international_situation Agent</a:t>
              </a:r>
            </a:p>
          </p:txBody>
        </p:sp>
        <p:sp>
          <p:nvSpPr>
            <p:cNvPr id="17" name="Rectangle 17"/>
            <p:cNvSpPr/>
            <p:nvPr/>
          </p:nvSpPr>
          <p:spPr>
            <a:xfrm>
              <a:off x="609600" y="2438400"/>
              <a:ext cx="10972800" cy="285750"/>
            </a:xfrm>
            <a:prstGeom prst="rect">
              <a:avLst/>
            </a:prstGeom>
            <a:solidFill>
              <a:schemeClr val="accent5"/>
            </a:solidFill>
            <a:ln>
              <a:noFill/>
            </a:ln>
          </p:spPr>
        </p:sp>
        <p:sp>
          <p:nvSpPr>
            <p:cNvPr id="18" name="TextBox 18"/>
            <p:cNvSpPr txBox="1"/>
            <p:nvPr/>
          </p:nvSpPr>
          <p:spPr>
            <a:xfrm>
              <a:off x="774573" y="2500789"/>
              <a:ext cx="269243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3. 穿透性制空、反介入 / 区域拒止</a:t>
              </a:r>
            </a:p>
          </p:txBody>
        </p:sp>
        <p:sp>
          <p:nvSpPr>
            <p:cNvPr id="19" name="TextBox 19"/>
            <p:cNvSpPr txBox="1"/>
            <p:nvPr/>
          </p:nvSpPr>
          <p:spPr>
            <a:xfrm>
              <a:off x="7842123" y="25007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F：体系对抗</a:t>
              </a:r>
            </a:p>
          </p:txBody>
        </p:sp>
        <p:sp>
          <p:nvSpPr>
            <p:cNvPr id="20" name="TextBox 20"/>
            <p:cNvSpPr txBox="1"/>
            <p:nvPr/>
          </p:nvSpPr>
          <p:spPr>
            <a:xfrm>
              <a:off x="774573" y="2786539"/>
              <a:ext cx="249427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4. 人工智能、新材料等颠覆技术</a:t>
              </a:r>
            </a:p>
          </p:txBody>
        </p:sp>
        <p:sp>
          <p:nvSpPr>
            <p:cNvPr id="21" name="TextBox 21"/>
            <p:cNvSpPr txBox="1"/>
            <p:nvPr/>
          </p:nvSpPr>
          <p:spPr>
            <a:xfrm>
              <a:off x="7842123" y="2786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D：技术驱动</a:t>
              </a:r>
            </a:p>
          </p:txBody>
        </p:sp>
        <p:sp>
          <p:nvSpPr>
            <p:cNvPr id="22" name="Rectangle 22"/>
            <p:cNvSpPr/>
            <p:nvPr/>
          </p:nvSpPr>
          <p:spPr>
            <a:xfrm>
              <a:off x="609600" y="3009900"/>
              <a:ext cx="10972800" cy="285750"/>
            </a:xfrm>
            <a:prstGeom prst="rect">
              <a:avLst/>
            </a:prstGeom>
            <a:solidFill>
              <a:schemeClr val="accent5"/>
            </a:solidFill>
            <a:ln>
              <a:noFill/>
            </a:ln>
          </p:spPr>
        </p:sp>
        <p:sp>
          <p:nvSpPr>
            <p:cNvPr id="23" name="TextBox 23"/>
            <p:cNvSpPr txBox="1"/>
            <p:nvPr/>
          </p:nvSpPr>
          <p:spPr>
            <a:xfrm>
              <a:off x="774573" y="3072289"/>
              <a:ext cx="3355838"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5. 全球部署、马赛克、多层防御等对手建设</a:t>
              </a:r>
            </a:p>
          </p:txBody>
        </p:sp>
        <p:sp>
          <p:nvSpPr>
            <p:cNvPr id="24" name="TextBox 24"/>
            <p:cNvSpPr txBox="1"/>
            <p:nvPr/>
          </p:nvSpPr>
          <p:spPr>
            <a:xfrm>
              <a:off x="7842123" y="30722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E：对手动向</a:t>
              </a:r>
            </a:p>
          </p:txBody>
        </p:sp>
        <p:sp>
          <p:nvSpPr>
            <p:cNvPr id="25" name="TextBox 25"/>
            <p:cNvSpPr txBox="1"/>
            <p:nvPr/>
          </p:nvSpPr>
          <p:spPr>
            <a:xfrm>
              <a:off x="774573" y="3358039"/>
              <a:ext cx="3011211"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6. 马赛克战、决策中心战、分布式杀伤</a:t>
              </a:r>
            </a:p>
          </p:txBody>
        </p:sp>
        <p:sp>
          <p:nvSpPr>
            <p:cNvPr id="26" name="TextBox 26"/>
            <p:cNvSpPr txBox="1"/>
            <p:nvPr/>
          </p:nvSpPr>
          <p:spPr>
            <a:xfrm>
              <a:off x="7842123" y="335803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F：体系对抗</a:t>
              </a:r>
            </a:p>
          </p:txBody>
        </p:sp>
        <p:sp>
          <p:nvSpPr>
            <p:cNvPr id="27" name="Rectangle 27"/>
            <p:cNvSpPr/>
            <p:nvPr/>
          </p:nvSpPr>
          <p:spPr>
            <a:xfrm>
              <a:off x="609600" y="3581400"/>
              <a:ext cx="10972800" cy="285750"/>
            </a:xfrm>
            <a:prstGeom prst="rect">
              <a:avLst/>
            </a:prstGeom>
            <a:solidFill>
              <a:schemeClr val="accent5"/>
            </a:solidFill>
            <a:ln>
              <a:noFill/>
            </a:ln>
          </p:spPr>
        </p:sp>
        <p:sp>
          <p:nvSpPr>
            <p:cNvPr id="28" name="TextBox 28"/>
            <p:cNvSpPr txBox="1"/>
            <p:nvPr/>
          </p:nvSpPr>
          <p:spPr>
            <a:xfrm>
              <a:off x="774573" y="3643789"/>
              <a:ext cx="1977329"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7. 空天、深海等新作战域</a:t>
              </a:r>
            </a:p>
          </p:txBody>
        </p:sp>
        <p:sp>
          <p:nvSpPr>
            <p:cNvPr id="29" name="TextBox 29"/>
            <p:cNvSpPr txBox="1"/>
            <p:nvPr/>
          </p:nvSpPr>
          <p:spPr>
            <a:xfrm>
              <a:off x="7842123" y="364378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G：跨域融合</a:t>
              </a:r>
            </a:p>
          </p:txBody>
        </p:sp>
        <p:sp>
          <p:nvSpPr>
            <p:cNvPr id="30" name="TextBox 30"/>
            <p:cNvSpPr txBox="1"/>
            <p:nvPr/>
          </p:nvSpPr>
          <p:spPr>
            <a:xfrm>
              <a:off x="774573" y="3929539"/>
              <a:ext cx="1805015"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8. 电磁、网络空间作战</a:t>
              </a:r>
            </a:p>
          </p:txBody>
        </p:sp>
        <p:sp>
          <p:nvSpPr>
            <p:cNvPr id="31" name="TextBox 31"/>
            <p:cNvSpPr txBox="1"/>
            <p:nvPr/>
          </p:nvSpPr>
          <p:spPr>
            <a:xfrm>
              <a:off x="7842123" y="3929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G：跨域融合</a:t>
              </a:r>
            </a:p>
          </p:txBody>
        </p:sp>
        <p:sp>
          <p:nvSpPr>
            <p:cNvPr id="32" name="Rectangle 32"/>
            <p:cNvSpPr/>
            <p:nvPr/>
          </p:nvSpPr>
          <p:spPr>
            <a:xfrm>
              <a:off x="609600" y="4152900"/>
              <a:ext cx="10972800" cy="285750"/>
            </a:xfrm>
            <a:prstGeom prst="rect">
              <a:avLst/>
            </a:prstGeom>
            <a:solidFill>
              <a:schemeClr val="accent5"/>
            </a:solidFill>
            <a:ln>
              <a:noFill/>
            </a:ln>
          </p:spPr>
        </p:sp>
        <p:sp>
          <p:nvSpPr>
            <p:cNvPr id="33" name="TextBox 33"/>
            <p:cNvSpPr txBox="1"/>
            <p:nvPr/>
          </p:nvSpPr>
          <p:spPr>
            <a:xfrm>
              <a:off x="774573" y="4215289"/>
              <a:ext cx="199456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9. “金穹”等多层拦截体系</a:t>
              </a:r>
            </a:p>
          </p:txBody>
        </p:sp>
        <p:sp>
          <p:nvSpPr>
            <p:cNvPr id="34" name="TextBox 34"/>
            <p:cNvSpPr txBox="1"/>
            <p:nvPr/>
          </p:nvSpPr>
          <p:spPr>
            <a:xfrm>
              <a:off x="7842123" y="42152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E：对手动向</a:t>
              </a:r>
            </a:p>
          </p:txBody>
        </p:sp>
        <p:sp>
          <p:nvSpPr>
            <p:cNvPr id="35" name="TextBox 35"/>
            <p:cNvSpPr txBox="1"/>
            <p:nvPr/>
          </p:nvSpPr>
          <p:spPr>
            <a:xfrm>
              <a:off x="774573" y="4501039"/>
              <a:ext cx="258904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10. 智能化、无人化未来战争形态</a:t>
              </a:r>
            </a:p>
          </p:txBody>
        </p:sp>
        <p:sp>
          <p:nvSpPr>
            <p:cNvPr id="36" name="TextBox 36"/>
            <p:cNvSpPr txBox="1"/>
            <p:nvPr/>
          </p:nvSpPr>
          <p:spPr>
            <a:xfrm>
              <a:off x="7842123" y="4501039"/>
              <a:ext cx="882780"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A：新战法</a:t>
              </a:r>
            </a:p>
          </p:txBody>
        </p:sp>
        <p:sp>
          <p:nvSpPr>
            <p:cNvPr id="37" name="Rectangle 37"/>
            <p:cNvSpPr/>
            <p:nvPr/>
          </p:nvSpPr>
          <p:spPr>
            <a:xfrm>
              <a:off x="609600" y="4724400"/>
              <a:ext cx="10972800" cy="285750"/>
            </a:xfrm>
            <a:prstGeom prst="rect">
              <a:avLst/>
            </a:prstGeom>
            <a:solidFill>
              <a:schemeClr val="accent5"/>
            </a:solidFill>
            <a:ln>
              <a:noFill/>
            </a:ln>
          </p:spPr>
        </p:sp>
        <p:sp>
          <p:nvSpPr>
            <p:cNvPr id="38" name="TextBox 38"/>
            <p:cNvSpPr txBox="1"/>
            <p:nvPr/>
          </p:nvSpPr>
          <p:spPr>
            <a:xfrm>
              <a:off x="774573" y="4786789"/>
              <a:ext cx="3622924"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11. 周边控制、远海前出、远程快打等传统缺口</a:t>
              </a:r>
            </a:p>
          </p:txBody>
        </p:sp>
        <p:sp>
          <p:nvSpPr>
            <p:cNvPr id="39" name="TextBox 39"/>
            <p:cNvSpPr txBox="1"/>
            <p:nvPr/>
          </p:nvSpPr>
          <p:spPr>
            <a:xfrm>
              <a:off x="7842123" y="4786789"/>
              <a:ext cx="1456292"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B：传统能力缺口</a:t>
              </a:r>
            </a:p>
          </p:txBody>
        </p:sp>
        <p:sp>
          <p:nvSpPr>
            <p:cNvPr id="40" name="TextBox 40"/>
            <p:cNvSpPr txBox="1"/>
            <p:nvPr/>
          </p:nvSpPr>
          <p:spPr>
            <a:xfrm>
              <a:off x="774573" y="5072539"/>
              <a:ext cx="207210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12. 新质毁伤与新效应机理</a:t>
              </a:r>
            </a:p>
          </p:txBody>
        </p:sp>
        <p:sp>
          <p:nvSpPr>
            <p:cNvPr id="41" name="TextBox 41"/>
            <p:cNvSpPr txBox="1"/>
            <p:nvPr/>
          </p:nvSpPr>
          <p:spPr>
            <a:xfrm>
              <a:off x="7842123" y="5072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D：技术驱动</a:t>
              </a:r>
            </a:p>
          </p:txBody>
        </p:sp>
      </p:grpSp>
      <p:grpSp>
        <p:nvGrpSpPr>
          <p:cNvPr id="50" name="Group 50"/>
          <p:cNvGrpSpPr/>
          <p:nvPr/>
        </p:nvGrpSpPr>
        <p:grpSpPr>
          <a:xfrm>
            <a:off x="609600" y="5524500"/>
            <a:ext cx="10972800" cy="933450"/>
            <a:chOff x="609600" y="5524500"/>
            <a:chExt cx="10972800" cy="933450"/>
          </a:xfrm>
        </p:grpSpPr>
        <p:sp>
          <p:nvSpPr>
            <p:cNvPr id="43" name="Rectangle 43"/>
            <p:cNvSpPr/>
            <p:nvPr/>
          </p:nvSpPr>
          <p:spPr>
            <a:xfrm>
              <a:off x="609600" y="5524500"/>
              <a:ext cx="10972800" cy="933450"/>
            </a:xfrm>
            <a:prstGeom prst="rect">
              <a:avLst/>
            </a:prstGeom>
            <a:solidFill>
              <a:schemeClr val="accent1"/>
            </a:solidFill>
            <a:ln>
              <a:noFill/>
            </a:ln>
          </p:spPr>
        </p:sp>
        <p:sp>
          <p:nvSpPr>
            <p:cNvPr id="44" name="Rectangle 44"/>
            <p:cNvSpPr/>
            <p:nvPr/>
          </p:nvSpPr>
          <p:spPr>
            <a:xfrm>
              <a:off x="609600" y="5524500"/>
              <a:ext cx="95250" cy="933450"/>
            </a:xfrm>
            <a:prstGeom prst="rect">
              <a:avLst/>
            </a:prstGeom>
            <a:solidFill>
              <a:schemeClr val="accent3"/>
            </a:solidFill>
            <a:ln>
              <a:noFill/>
            </a:ln>
          </p:spPr>
        </p:sp>
        <p:sp>
          <p:nvSpPr>
            <p:cNvPr id="45" name="TextBox 45"/>
            <p:cNvSpPr txBox="1"/>
            <p:nvPr/>
          </p:nvSpPr>
          <p:spPr>
            <a:xfrm>
              <a:off x="869442" y="5702618"/>
              <a:ext cx="211277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主分支：负责主研究路径</a:t>
              </a:r>
            </a:p>
          </p:txBody>
        </p:sp>
        <p:sp>
          <p:nvSpPr>
            <p:cNvPr id="46" name="TextBox 46"/>
            <p:cNvSpPr txBox="1"/>
            <p:nvPr/>
          </p:nvSpPr>
          <p:spPr>
            <a:xfrm>
              <a:off x="4165092" y="5702618"/>
              <a:ext cx="31400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前置 Agent：最多 3 个职责专属镜头</a:t>
              </a:r>
            </a:p>
          </p:txBody>
        </p:sp>
        <p:sp>
          <p:nvSpPr>
            <p:cNvPr id="47" name="TextBox 47"/>
            <p:cNvSpPr txBox="1"/>
            <p:nvPr/>
          </p:nvSpPr>
          <p:spPr>
            <a:xfrm>
              <a:off x="8546592" y="5702618"/>
              <a:ext cx="214619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其他 Agent：不重复展开</a:t>
              </a:r>
            </a:p>
          </p:txBody>
        </p:sp>
        <p:sp>
          <p:nvSpPr>
            <p:cNvPr id="48" name="Line 48"/>
            <p:cNvSpPr/>
            <p:nvPr/>
          </p:nvSpPr>
          <p:spPr>
            <a:xfrm>
              <a:off x="876300" y="6057900"/>
              <a:ext cx="10439400" cy="9525"/>
            </a:xfrm>
            <a:custGeom>
              <a:avLst/>
              <a:gdLst/>
              <a:ahLst/>
              <a:cxnLst/>
              <a:rect l="l" t="t" r="r" b="b"/>
              <a:pathLst>
                <a:path w="10439400" h="9525">
                  <a:moveTo>
                    <a:pt x="0" y="0"/>
                  </a:moveTo>
                  <a:lnTo>
                    <a:pt x="10439400" y="0"/>
                  </a:lnTo>
                </a:path>
              </a:pathLst>
            </a:custGeom>
            <a:noFill/>
            <a:ln w="19050">
              <a:solidFill>
                <a:srgbClr val="6D89A3"/>
              </a:solidFill>
            </a:ln>
          </p:spPr>
        </p:sp>
        <p:sp>
          <p:nvSpPr>
            <p:cNvPr id="49" name="TextBox 49"/>
            <p:cNvSpPr txBox="1"/>
            <p:nvPr/>
          </p:nvSpPr>
          <p:spPr>
            <a:xfrm>
              <a:off x="869442" y="6178868"/>
              <a:ext cx="7022249"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路由结果再与 Query 关键词、Agent 职责和 A–H 主分支联合，选择少量相关发散镜头</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76250"/>
            <a:ext cx="10994898" cy="868489"/>
            <a:chOff x="594360" y="476250"/>
            <a:chExt cx="10994898" cy="868489"/>
          </a:xfrm>
        </p:grpSpPr>
        <p:sp>
          <p:nvSpPr>
            <p:cNvPr id="2" name="TextBox 2"/>
            <p:cNvSpPr txBox="1"/>
            <p:nvPr/>
          </p:nvSpPr>
          <p:spPr>
            <a:xfrm>
              <a:off x="594360" y="476250"/>
              <a:ext cx="880837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颠覆型提问落实为 12 张有界反常规发散种子卡</a:t>
              </a:r>
            </a:p>
          </p:txBody>
        </p:sp>
        <p:sp>
          <p:nvSpPr>
            <p:cNvPr id="3" name="TextBox 3"/>
            <p:cNvSpPr txBox="1"/>
            <p:nvPr/>
          </p:nvSpPr>
          <p:spPr>
            <a:xfrm>
              <a:off x="601218" y="1022032"/>
              <a:ext cx="8078069"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不是固定目录：智能体可在 Query 因果约束与质量门下自主提出 OTHER 新方向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grpSp>
      <p:grpSp>
        <p:nvGrpSpPr>
          <p:cNvPr id="67" name="Group 67"/>
          <p:cNvGrpSpPr/>
          <p:nvPr/>
        </p:nvGrpSpPr>
        <p:grpSpPr>
          <a:xfrm>
            <a:off x="609600" y="1504950"/>
            <a:ext cx="10972800" cy="3981450"/>
            <a:chOff x="609600" y="1504950"/>
            <a:chExt cx="10972800" cy="3981450"/>
          </a:xfrm>
        </p:grpSpPr>
        <p:sp>
          <p:nvSpPr>
            <p:cNvPr id="6" name="Rectangle 6"/>
            <p:cNvSpPr/>
            <p:nvPr/>
          </p:nvSpPr>
          <p:spPr>
            <a:xfrm>
              <a:off x="609600" y="1504950"/>
              <a:ext cx="10972800" cy="398145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原始颠覆维度</a:t>
              </a:r>
            </a:p>
          </p:txBody>
        </p:sp>
        <p:sp>
          <p:nvSpPr>
            <p:cNvPr id="9" name="TextBox 9"/>
            <p:cNvSpPr txBox="1"/>
            <p:nvPr/>
          </p:nvSpPr>
          <p:spPr>
            <a:xfrm>
              <a:off x="351739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项目种子卡</a:t>
              </a:r>
            </a:p>
          </p:txBody>
        </p:sp>
        <p:sp>
          <p:nvSpPr>
            <p:cNvPr id="10" name="TextBox 10"/>
            <p:cNvSpPr txBox="1"/>
            <p:nvPr/>
          </p:nvSpPr>
          <p:spPr>
            <a:xfrm>
              <a:off x="567004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重点研究关系</a:t>
              </a:r>
            </a:p>
          </p:txBody>
        </p:sp>
        <p:sp>
          <p:nvSpPr>
            <p:cNvPr id="11" name="Line 11"/>
            <p:cNvSpPr/>
            <p:nvPr/>
          </p:nvSpPr>
          <p:spPr>
            <a:xfrm>
              <a:off x="33337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2" name="Line 12"/>
            <p:cNvSpPr/>
            <p:nvPr/>
          </p:nvSpPr>
          <p:spPr>
            <a:xfrm>
              <a:off x="54673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3" name="Rectangle 13"/>
            <p:cNvSpPr/>
            <p:nvPr/>
          </p:nvSpPr>
          <p:spPr>
            <a:xfrm>
              <a:off x="609600" y="1866900"/>
              <a:ext cx="10972800" cy="295275"/>
            </a:xfrm>
            <a:prstGeom prst="rect">
              <a:avLst/>
            </a:prstGeom>
            <a:solidFill>
              <a:schemeClr val="accent5"/>
            </a:solidFill>
            <a:ln>
              <a:noFill/>
            </a:ln>
          </p:spPr>
        </p:sp>
        <p:sp>
          <p:nvSpPr>
            <p:cNvPr id="14" name="Rectangle 14"/>
            <p:cNvSpPr/>
            <p:nvPr/>
          </p:nvSpPr>
          <p:spPr>
            <a:xfrm>
              <a:off x="609600" y="1866900"/>
              <a:ext cx="57150" cy="295275"/>
            </a:xfrm>
            <a:prstGeom prst="rect">
              <a:avLst/>
            </a:prstGeom>
            <a:solidFill>
              <a:schemeClr val="accent2"/>
            </a:solidFill>
            <a:ln>
              <a:noFill/>
            </a:ln>
          </p:spPr>
        </p:sp>
        <p:sp>
          <p:nvSpPr>
            <p:cNvPr id="15" name="TextBox 15"/>
            <p:cNvSpPr txBox="1"/>
            <p:nvPr/>
          </p:nvSpPr>
          <p:spPr>
            <a:xfrm>
              <a:off x="774954" y="194691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拦截经济学反转</a:t>
              </a:r>
            </a:p>
          </p:txBody>
        </p:sp>
        <p:sp>
          <p:nvSpPr>
            <p:cNvPr id="16" name="TextBox 16"/>
            <p:cNvSpPr txBox="1"/>
            <p:nvPr/>
          </p:nvSpPr>
          <p:spPr>
            <a:xfrm>
              <a:off x="3518154" y="194691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A1 成本强加</a:t>
              </a:r>
            </a:p>
          </p:txBody>
        </p:sp>
        <p:sp>
          <p:nvSpPr>
            <p:cNvPr id="17" name="TextBox 17"/>
            <p:cNvSpPr txBox="1"/>
            <p:nvPr/>
          </p:nvSpPr>
          <p:spPr>
            <a:xfrm>
              <a:off x="5670804" y="19469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单件性能竞争 → 体系交换比竞争</a:t>
              </a:r>
            </a:p>
          </p:txBody>
        </p:sp>
        <p:sp>
          <p:nvSpPr>
            <p:cNvPr id="18" name="Rectangle 18"/>
            <p:cNvSpPr/>
            <p:nvPr/>
          </p:nvSpPr>
          <p:spPr>
            <a:xfrm>
              <a:off x="609600" y="2162175"/>
              <a:ext cx="57150" cy="295275"/>
            </a:xfrm>
            <a:prstGeom prst="rect">
              <a:avLst/>
            </a:prstGeom>
            <a:solidFill>
              <a:schemeClr val="accent2"/>
            </a:solidFill>
            <a:ln>
              <a:noFill/>
            </a:ln>
          </p:spPr>
        </p:sp>
        <p:sp>
          <p:nvSpPr>
            <p:cNvPr id="19" name="TextBox 19"/>
            <p:cNvSpPr txBox="1"/>
            <p:nvPr/>
          </p:nvSpPr>
          <p:spPr>
            <a:xfrm>
              <a:off x="774954" y="22421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前线弹药工厂</a:t>
              </a:r>
            </a:p>
          </p:txBody>
        </p:sp>
        <p:sp>
          <p:nvSpPr>
            <p:cNvPr id="20" name="TextBox 20"/>
            <p:cNvSpPr txBox="1"/>
            <p:nvPr/>
          </p:nvSpPr>
          <p:spPr>
            <a:xfrm>
              <a:off x="3518154" y="2242185"/>
              <a:ext cx="1159215"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A2 制造即战力</a:t>
              </a:r>
            </a:p>
          </p:txBody>
        </p:sp>
        <p:sp>
          <p:nvSpPr>
            <p:cNvPr id="21" name="TextBox 21"/>
            <p:cNvSpPr txBox="1"/>
            <p:nvPr/>
          </p:nvSpPr>
          <p:spPr>
            <a:xfrm>
              <a:off x="5670804" y="22421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后方库存 → 分布式按需制造</a:t>
              </a:r>
            </a:p>
          </p:txBody>
        </p:sp>
        <p:sp>
          <p:nvSpPr>
            <p:cNvPr id="22" name="Rectangle 22"/>
            <p:cNvSpPr/>
            <p:nvPr/>
          </p:nvSpPr>
          <p:spPr>
            <a:xfrm>
              <a:off x="609600" y="2457450"/>
              <a:ext cx="10972800" cy="295275"/>
            </a:xfrm>
            <a:prstGeom prst="rect">
              <a:avLst/>
            </a:prstGeom>
            <a:solidFill>
              <a:schemeClr val="accent5"/>
            </a:solidFill>
            <a:ln>
              <a:noFill/>
            </a:ln>
          </p:spPr>
        </p:sp>
        <p:sp>
          <p:nvSpPr>
            <p:cNvPr id="23" name="Rectangle 23"/>
            <p:cNvSpPr/>
            <p:nvPr/>
          </p:nvSpPr>
          <p:spPr>
            <a:xfrm>
              <a:off x="609600" y="2457450"/>
              <a:ext cx="57150" cy="295275"/>
            </a:xfrm>
            <a:prstGeom prst="rect">
              <a:avLst/>
            </a:prstGeom>
            <a:solidFill>
              <a:schemeClr val="accent3"/>
            </a:solidFill>
            <a:ln>
              <a:noFill/>
            </a:ln>
          </p:spPr>
        </p:sp>
        <p:sp>
          <p:nvSpPr>
            <p:cNvPr id="24" name="TextBox 24"/>
            <p:cNvSpPr txBox="1"/>
            <p:nvPr/>
          </p:nvSpPr>
          <p:spPr>
            <a:xfrm>
              <a:off x="774954" y="2537460"/>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徘徊火力云</a:t>
              </a:r>
            </a:p>
          </p:txBody>
        </p:sp>
        <p:sp>
          <p:nvSpPr>
            <p:cNvPr id="25" name="TextBox 25"/>
            <p:cNvSpPr txBox="1"/>
            <p:nvPr/>
          </p:nvSpPr>
          <p:spPr>
            <a:xfrm>
              <a:off x="3518154" y="253746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B1 持续火力场</a:t>
              </a:r>
            </a:p>
          </p:txBody>
        </p:sp>
        <p:sp>
          <p:nvSpPr>
            <p:cNvPr id="26" name="TextBox 26"/>
            <p:cNvSpPr txBox="1"/>
            <p:nvPr/>
          </p:nvSpPr>
          <p:spPr>
            <a:xfrm>
              <a:off x="5670804" y="25374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临时发射 → 战区持续存在</a:t>
              </a:r>
            </a:p>
          </p:txBody>
        </p:sp>
        <p:sp>
          <p:nvSpPr>
            <p:cNvPr id="27" name="Rectangle 27"/>
            <p:cNvSpPr/>
            <p:nvPr/>
          </p:nvSpPr>
          <p:spPr>
            <a:xfrm>
              <a:off x="609600" y="2752725"/>
              <a:ext cx="57150" cy="295275"/>
            </a:xfrm>
            <a:prstGeom prst="rect">
              <a:avLst/>
            </a:prstGeom>
            <a:solidFill>
              <a:schemeClr val="accent3"/>
            </a:solidFill>
            <a:ln>
              <a:noFill/>
            </a:ln>
          </p:spPr>
        </p:sp>
        <p:sp>
          <p:nvSpPr>
            <p:cNvPr id="28" name="TextBox 28"/>
            <p:cNvSpPr txBox="1"/>
            <p:nvPr/>
          </p:nvSpPr>
          <p:spPr>
            <a:xfrm>
              <a:off x="774954" y="2832735"/>
              <a:ext cx="146608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和平预置、战时激活</a:t>
              </a:r>
            </a:p>
          </p:txBody>
        </p:sp>
        <p:sp>
          <p:nvSpPr>
            <p:cNvPr id="29" name="TextBox 29"/>
            <p:cNvSpPr txBox="1"/>
            <p:nvPr/>
          </p:nvSpPr>
          <p:spPr>
            <a:xfrm>
              <a:off x="3518154" y="283273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B2 预置任务节点</a:t>
              </a:r>
            </a:p>
          </p:txBody>
        </p:sp>
        <p:sp>
          <p:nvSpPr>
            <p:cNvPr id="30" name="TextBox 30"/>
            <p:cNvSpPr txBox="1"/>
            <p:nvPr/>
          </p:nvSpPr>
          <p:spPr>
            <a:xfrm>
              <a:off x="5670804" y="28327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战时部署 → 预先部署和可信激活</a:t>
              </a:r>
            </a:p>
          </p:txBody>
        </p:sp>
        <p:sp>
          <p:nvSpPr>
            <p:cNvPr id="31" name="Rectangle 31"/>
            <p:cNvSpPr/>
            <p:nvPr/>
          </p:nvSpPr>
          <p:spPr>
            <a:xfrm>
              <a:off x="609600" y="3048000"/>
              <a:ext cx="10972800" cy="295275"/>
            </a:xfrm>
            <a:prstGeom prst="rect">
              <a:avLst/>
            </a:prstGeom>
            <a:solidFill>
              <a:schemeClr val="accent5"/>
            </a:solidFill>
            <a:ln>
              <a:noFill/>
            </a:ln>
          </p:spPr>
        </p:sp>
        <p:sp>
          <p:nvSpPr>
            <p:cNvPr id="32" name="Rectangle 32"/>
            <p:cNvSpPr/>
            <p:nvPr/>
          </p:nvSpPr>
          <p:spPr>
            <a:xfrm>
              <a:off x="609600" y="3048000"/>
              <a:ext cx="57150" cy="295275"/>
            </a:xfrm>
            <a:prstGeom prst="rect">
              <a:avLst/>
            </a:prstGeom>
            <a:solidFill>
              <a:schemeClr val="accent6"/>
            </a:solidFill>
            <a:ln>
              <a:noFill/>
            </a:ln>
          </p:spPr>
        </p:sp>
        <p:sp>
          <p:nvSpPr>
            <p:cNvPr id="33" name="TextBox 33"/>
            <p:cNvSpPr txBox="1"/>
            <p:nvPr/>
          </p:nvSpPr>
          <p:spPr>
            <a:xfrm>
              <a:off x="774954" y="3128010"/>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毁平台转向毁节奏</a:t>
              </a:r>
            </a:p>
          </p:txBody>
        </p:sp>
        <p:sp>
          <p:nvSpPr>
            <p:cNvPr id="34" name="TextBox 34"/>
            <p:cNvSpPr txBox="1"/>
            <p:nvPr/>
          </p:nvSpPr>
          <p:spPr>
            <a:xfrm>
              <a:off x="3518154" y="3128010"/>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C1 决策节奏对抗</a:t>
              </a:r>
            </a:p>
          </p:txBody>
        </p:sp>
        <p:sp>
          <p:nvSpPr>
            <p:cNvPr id="35" name="TextBox 35"/>
            <p:cNvSpPr txBox="1"/>
            <p:nvPr/>
          </p:nvSpPr>
          <p:spPr>
            <a:xfrm>
              <a:off x="5670804" y="31280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物理摧毁 → 压缩或扰乱决策周期</a:t>
              </a:r>
            </a:p>
          </p:txBody>
        </p:sp>
        <p:sp>
          <p:nvSpPr>
            <p:cNvPr id="36" name="Rectangle 36"/>
            <p:cNvSpPr/>
            <p:nvPr/>
          </p:nvSpPr>
          <p:spPr>
            <a:xfrm>
              <a:off x="609600" y="3343275"/>
              <a:ext cx="57150" cy="295275"/>
            </a:xfrm>
            <a:prstGeom prst="rect">
              <a:avLst/>
            </a:prstGeom>
            <a:solidFill>
              <a:schemeClr val="accent6"/>
            </a:solidFill>
            <a:ln>
              <a:noFill/>
            </a:ln>
          </p:spPr>
        </p:sp>
        <p:sp>
          <p:nvSpPr>
            <p:cNvPr id="37" name="TextBox 37"/>
            <p:cNvSpPr txBox="1"/>
            <p:nvPr/>
          </p:nvSpPr>
          <p:spPr>
            <a:xfrm>
              <a:off x="774954" y="34232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越打越聪明</a:t>
              </a:r>
            </a:p>
          </p:txBody>
        </p:sp>
        <p:sp>
          <p:nvSpPr>
            <p:cNvPr id="38" name="TextBox 38"/>
            <p:cNvSpPr txBox="1"/>
            <p:nvPr/>
          </p:nvSpPr>
          <p:spPr>
            <a:xfrm>
              <a:off x="3518154" y="3423285"/>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C2 战役内学习</a:t>
              </a:r>
            </a:p>
          </p:txBody>
        </p:sp>
        <p:sp>
          <p:nvSpPr>
            <p:cNvPr id="39" name="TextBox 39"/>
            <p:cNvSpPr txBox="1"/>
            <p:nvPr/>
          </p:nvSpPr>
          <p:spPr>
            <a:xfrm>
              <a:off x="5670804" y="34232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固定策略 → 批次间快速学习</a:t>
              </a:r>
            </a:p>
          </p:txBody>
        </p:sp>
        <p:sp>
          <p:nvSpPr>
            <p:cNvPr id="40" name="Rectangle 40"/>
            <p:cNvSpPr/>
            <p:nvPr/>
          </p:nvSpPr>
          <p:spPr>
            <a:xfrm>
              <a:off x="609600" y="3638550"/>
              <a:ext cx="10972800" cy="295275"/>
            </a:xfrm>
            <a:prstGeom prst="rect">
              <a:avLst/>
            </a:prstGeom>
            <a:solidFill>
              <a:schemeClr val="accent5"/>
            </a:solidFill>
            <a:ln>
              <a:noFill/>
            </a:ln>
          </p:spPr>
        </p:sp>
        <p:sp>
          <p:nvSpPr>
            <p:cNvPr id="41" name="Rectangle 41"/>
            <p:cNvSpPr/>
            <p:nvPr/>
          </p:nvSpPr>
          <p:spPr>
            <a:xfrm>
              <a:off x="609600" y="3638550"/>
              <a:ext cx="57150" cy="295275"/>
            </a:xfrm>
            <a:prstGeom prst="rect">
              <a:avLst/>
            </a:prstGeom>
            <a:solidFill>
              <a:schemeClr val="accent2"/>
            </a:solidFill>
            <a:ln>
              <a:noFill/>
            </a:ln>
          </p:spPr>
        </p:sp>
        <p:sp>
          <p:nvSpPr>
            <p:cNvPr id="42" name="TextBox 42"/>
            <p:cNvSpPr txBox="1"/>
            <p:nvPr/>
          </p:nvSpPr>
          <p:spPr>
            <a:xfrm>
              <a:off x="774954" y="371856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非动能点穴瘫痪</a:t>
              </a:r>
            </a:p>
          </p:txBody>
        </p:sp>
        <p:sp>
          <p:nvSpPr>
            <p:cNvPr id="43" name="TextBox 43"/>
            <p:cNvSpPr txBox="1"/>
            <p:nvPr/>
          </p:nvSpPr>
          <p:spPr>
            <a:xfrm>
              <a:off x="3518154" y="371856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D1 功能压制</a:t>
              </a:r>
            </a:p>
          </p:txBody>
        </p:sp>
        <p:sp>
          <p:nvSpPr>
            <p:cNvPr id="44" name="TextBox 44"/>
            <p:cNvSpPr txBox="1"/>
            <p:nvPr/>
          </p:nvSpPr>
          <p:spPr>
            <a:xfrm>
              <a:off x="5670804" y="37185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结构毁伤 → 关键功能失效</a:t>
              </a:r>
            </a:p>
          </p:txBody>
        </p:sp>
        <p:sp>
          <p:nvSpPr>
            <p:cNvPr id="45" name="Rectangle 45"/>
            <p:cNvSpPr/>
            <p:nvPr/>
          </p:nvSpPr>
          <p:spPr>
            <a:xfrm>
              <a:off x="609600" y="3933825"/>
              <a:ext cx="57150" cy="295275"/>
            </a:xfrm>
            <a:prstGeom prst="rect">
              <a:avLst/>
            </a:prstGeom>
            <a:solidFill>
              <a:schemeClr val="accent2"/>
            </a:solidFill>
            <a:ln>
              <a:noFill/>
            </a:ln>
          </p:spPr>
        </p:sp>
        <p:sp>
          <p:nvSpPr>
            <p:cNvPr id="46" name="TextBox 46"/>
            <p:cNvSpPr txBox="1"/>
            <p:nvPr/>
          </p:nvSpPr>
          <p:spPr>
            <a:xfrm>
              <a:off x="774954" y="4013835"/>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打击作为战略信号</a:t>
              </a:r>
            </a:p>
          </p:txBody>
        </p:sp>
        <p:sp>
          <p:nvSpPr>
            <p:cNvPr id="47" name="TextBox 47"/>
            <p:cNvSpPr txBox="1"/>
            <p:nvPr/>
          </p:nvSpPr>
          <p:spPr>
            <a:xfrm>
              <a:off x="3518154" y="4013835"/>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D2 战略信号</a:t>
              </a:r>
            </a:p>
          </p:txBody>
        </p:sp>
        <p:sp>
          <p:nvSpPr>
            <p:cNvPr id="48" name="TextBox 48"/>
            <p:cNvSpPr txBox="1"/>
            <p:nvPr/>
          </p:nvSpPr>
          <p:spPr>
            <a:xfrm>
              <a:off x="5670804" y="40138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单纯毁伤 → 打击与认知效应结合</a:t>
              </a:r>
            </a:p>
          </p:txBody>
        </p:sp>
        <p:sp>
          <p:nvSpPr>
            <p:cNvPr id="49" name="Rectangle 49"/>
            <p:cNvSpPr/>
            <p:nvPr/>
          </p:nvSpPr>
          <p:spPr>
            <a:xfrm>
              <a:off x="609600" y="4229100"/>
              <a:ext cx="10972800" cy="295275"/>
            </a:xfrm>
            <a:prstGeom prst="rect">
              <a:avLst/>
            </a:prstGeom>
            <a:solidFill>
              <a:schemeClr val="accent5"/>
            </a:solidFill>
            <a:ln>
              <a:noFill/>
            </a:ln>
          </p:spPr>
        </p:sp>
        <p:sp>
          <p:nvSpPr>
            <p:cNvPr id="50" name="Rectangle 50"/>
            <p:cNvSpPr/>
            <p:nvPr/>
          </p:nvSpPr>
          <p:spPr>
            <a:xfrm>
              <a:off x="609600" y="4229100"/>
              <a:ext cx="57150" cy="295275"/>
            </a:xfrm>
            <a:prstGeom prst="rect">
              <a:avLst/>
            </a:prstGeom>
            <a:solidFill>
              <a:schemeClr val="accent3"/>
            </a:solidFill>
            <a:ln>
              <a:noFill/>
            </a:ln>
          </p:spPr>
        </p:sp>
        <p:sp>
          <p:nvSpPr>
            <p:cNvPr id="51" name="TextBox 51"/>
            <p:cNvSpPr txBox="1"/>
            <p:nvPr/>
          </p:nvSpPr>
          <p:spPr>
            <a:xfrm>
              <a:off x="774954" y="4309110"/>
              <a:ext cx="178917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任意传感器匹配最优射手</a:t>
              </a:r>
            </a:p>
          </p:txBody>
        </p:sp>
        <p:sp>
          <p:nvSpPr>
            <p:cNvPr id="52" name="TextBox 52"/>
            <p:cNvSpPr txBox="1"/>
            <p:nvPr/>
          </p:nvSpPr>
          <p:spPr>
            <a:xfrm>
              <a:off x="3518154" y="430911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E1 火力即服务</a:t>
              </a:r>
            </a:p>
          </p:txBody>
        </p:sp>
        <p:sp>
          <p:nvSpPr>
            <p:cNvPr id="53" name="TextBox 53"/>
            <p:cNvSpPr txBox="1"/>
            <p:nvPr/>
          </p:nvSpPr>
          <p:spPr>
            <a:xfrm>
              <a:off x="5670804" y="4309110"/>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平台绑定 → 传感器与射手解耦</a:t>
              </a:r>
            </a:p>
          </p:txBody>
        </p:sp>
        <p:sp>
          <p:nvSpPr>
            <p:cNvPr id="54" name="Rectangle 54"/>
            <p:cNvSpPr/>
            <p:nvPr/>
          </p:nvSpPr>
          <p:spPr>
            <a:xfrm>
              <a:off x="609600" y="4524375"/>
              <a:ext cx="57150" cy="295275"/>
            </a:xfrm>
            <a:prstGeom prst="rect">
              <a:avLst/>
            </a:prstGeom>
            <a:solidFill>
              <a:schemeClr val="accent3"/>
            </a:solidFill>
            <a:ln>
              <a:noFill/>
            </a:ln>
          </p:spPr>
        </p:sp>
        <p:sp>
          <p:nvSpPr>
            <p:cNvPr id="55" name="TextBox 55"/>
            <p:cNvSpPr txBox="1"/>
            <p:nvPr/>
          </p:nvSpPr>
          <p:spPr>
            <a:xfrm>
              <a:off x="774954" y="46043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蜂群对蜂群</a:t>
              </a:r>
            </a:p>
          </p:txBody>
        </p:sp>
        <p:sp>
          <p:nvSpPr>
            <p:cNvPr id="56" name="TextBox 56"/>
            <p:cNvSpPr txBox="1"/>
            <p:nvPr/>
          </p:nvSpPr>
          <p:spPr>
            <a:xfrm>
              <a:off x="3518154" y="460438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E2 集群对抗生态</a:t>
              </a:r>
            </a:p>
          </p:txBody>
        </p:sp>
        <p:sp>
          <p:nvSpPr>
            <p:cNvPr id="57" name="TextBox 57"/>
            <p:cNvSpPr txBox="1"/>
            <p:nvPr/>
          </p:nvSpPr>
          <p:spPr>
            <a:xfrm>
              <a:off x="5670804" y="4604385"/>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单平台对抗 → 算法和种群对抗</a:t>
              </a:r>
            </a:p>
          </p:txBody>
        </p:sp>
        <p:sp>
          <p:nvSpPr>
            <p:cNvPr id="58" name="Rectangle 58"/>
            <p:cNvSpPr/>
            <p:nvPr/>
          </p:nvSpPr>
          <p:spPr>
            <a:xfrm>
              <a:off x="609600" y="4819650"/>
              <a:ext cx="10972800" cy="295275"/>
            </a:xfrm>
            <a:prstGeom prst="rect">
              <a:avLst/>
            </a:prstGeom>
            <a:solidFill>
              <a:schemeClr val="accent5"/>
            </a:solidFill>
            <a:ln>
              <a:noFill/>
            </a:ln>
          </p:spPr>
        </p:sp>
        <p:sp>
          <p:nvSpPr>
            <p:cNvPr id="59" name="Rectangle 59"/>
            <p:cNvSpPr/>
            <p:nvPr/>
          </p:nvSpPr>
          <p:spPr>
            <a:xfrm>
              <a:off x="609600" y="4819650"/>
              <a:ext cx="57150" cy="295275"/>
            </a:xfrm>
            <a:prstGeom prst="rect">
              <a:avLst/>
            </a:prstGeom>
            <a:solidFill>
              <a:schemeClr val="accent6"/>
            </a:solidFill>
            <a:ln>
              <a:noFill/>
            </a:ln>
          </p:spPr>
        </p:sp>
        <p:sp>
          <p:nvSpPr>
            <p:cNvPr id="60" name="TextBox 60"/>
            <p:cNvSpPr txBox="1"/>
            <p:nvPr/>
          </p:nvSpPr>
          <p:spPr>
            <a:xfrm>
              <a:off x="774954" y="4899660"/>
              <a:ext cx="162763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算法威慑、选择性透明</a:t>
              </a:r>
            </a:p>
          </p:txBody>
        </p:sp>
        <p:sp>
          <p:nvSpPr>
            <p:cNvPr id="61" name="TextBox 61"/>
            <p:cNvSpPr txBox="1"/>
            <p:nvPr/>
          </p:nvSpPr>
          <p:spPr>
            <a:xfrm>
              <a:off x="3518154" y="4899660"/>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F1 可验证自主</a:t>
              </a:r>
            </a:p>
          </p:txBody>
        </p:sp>
        <p:sp>
          <p:nvSpPr>
            <p:cNvPr id="62" name="TextBox 62"/>
            <p:cNvSpPr txBox="1"/>
            <p:nvPr/>
          </p:nvSpPr>
          <p:spPr>
            <a:xfrm>
              <a:off x="5670804" y="489966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黑箱自主 → 可约束、可验证自主</a:t>
              </a:r>
            </a:p>
          </p:txBody>
        </p:sp>
        <p:sp>
          <p:nvSpPr>
            <p:cNvPr id="63" name="Rectangle 63"/>
            <p:cNvSpPr/>
            <p:nvPr/>
          </p:nvSpPr>
          <p:spPr>
            <a:xfrm>
              <a:off x="609600" y="5114925"/>
              <a:ext cx="57150" cy="371475"/>
            </a:xfrm>
            <a:prstGeom prst="rect">
              <a:avLst/>
            </a:prstGeom>
            <a:solidFill>
              <a:schemeClr val="accent6"/>
            </a:solidFill>
            <a:ln>
              <a:noFill/>
            </a:ln>
          </p:spPr>
        </p:sp>
        <p:sp>
          <p:nvSpPr>
            <p:cNvPr id="64" name="TextBox 64"/>
            <p:cNvSpPr txBox="1"/>
            <p:nvPr/>
          </p:nvSpPr>
          <p:spPr>
            <a:xfrm>
              <a:off x="774954" y="52139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越降级越自主</a:t>
              </a:r>
            </a:p>
          </p:txBody>
        </p:sp>
        <p:sp>
          <p:nvSpPr>
            <p:cNvPr id="65" name="TextBox 65"/>
            <p:cNvSpPr txBox="1"/>
            <p:nvPr/>
          </p:nvSpPr>
          <p:spPr>
            <a:xfrm>
              <a:off x="3518154" y="5213985"/>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F2 拒止环境自主</a:t>
              </a:r>
            </a:p>
          </p:txBody>
        </p:sp>
        <p:sp>
          <p:nvSpPr>
            <p:cNvPr id="66" name="TextBox 66"/>
            <p:cNvSpPr txBox="1"/>
            <p:nvPr/>
          </p:nvSpPr>
          <p:spPr>
            <a:xfrm>
              <a:off x="5670804" y="521398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网络依赖 → 断链条件下任务自治</a:t>
              </a:r>
            </a:p>
          </p:txBody>
        </p:sp>
      </p:grpSp>
      <p:grpSp>
        <p:nvGrpSpPr>
          <p:cNvPr id="72" name="Group 72"/>
          <p:cNvGrpSpPr/>
          <p:nvPr/>
        </p:nvGrpSpPr>
        <p:grpSpPr>
          <a:xfrm>
            <a:off x="609600" y="5676900"/>
            <a:ext cx="10972800" cy="781050"/>
            <a:chOff x="609600" y="5676900"/>
            <a:chExt cx="10972800" cy="781050"/>
          </a:xfrm>
        </p:grpSpPr>
        <p:sp>
          <p:nvSpPr>
            <p:cNvPr id="68" name="Rectangle 68"/>
            <p:cNvSpPr/>
            <p:nvPr/>
          </p:nvSpPr>
          <p:spPr>
            <a:xfrm>
              <a:off x="609600" y="5676900"/>
              <a:ext cx="10972800" cy="781050"/>
            </a:xfrm>
            <a:prstGeom prst="rect">
              <a:avLst/>
            </a:prstGeom>
            <a:solidFill>
              <a:schemeClr val="accent1"/>
            </a:solidFill>
            <a:ln>
              <a:noFill/>
            </a:ln>
          </p:spPr>
        </p:sp>
        <p:sp>
          <p:nvSpPr>
            <p:cNvPr id="69" name="Rectangle 69"/>
            <p:cNvSpPr/>
            <p:nvPr/>
          </p:nvSpPr>
          <p:spPr>
            <a:xfrm>
              <a:off x="609600" y="5676900"/>
              <a:ext cx="95250" cy="781050"/>
            </a:xfrm>
            <a:prstGeom prst="rect">
              <a:avLst/>
            </a:prstGeom>
            <a:solidFill>
              <a:schemeClr val="accent3"/>
            </a:solidFill>
            <a:ln>
              <a:noFill/>
            </a:ln>
          </p:spPr>
        </p:sp>
        <p:sp>
          <p:nvSpPr>
            <p:cNvPr id="70" name="TextBox 70"/>
            <p:cNvSpPr txBox="1"/>
            <p:nvPr/>
          </p:nvSpPr>
          <p:spPr>
            <a:xfrm>
              <a:off x="869442" y="5835968"/>
              <a:ext cx="505146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12 张卡只是有界起始镜头，不是固定答案、事实或装备清单</a:t>
              </a:r>
            </a:p>
          </p:txBody>
        </p:sp>
        <p:sp>
          <p:nvSpPr>
            <p:cNvPr id="71" name="TextBox 71"/>
            <p:cNvSpPr txBox="1"/>
            <p:nvPr/>
          </p:nvSpPr>
          <p:spPr>
            <a:xfrm>
              <a:off x="869442" y="6121718"/>
              <a:ext cx="5457596"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智能体可自主发散 OTHER；但不为“六维齐全”机械增加无关概念</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724150"/>
                <a:ext cx="876300" cy="2228850"/>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717493" y="234791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90%</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前端结果证据：17胜2平1负及八维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459368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Codex Agent：17胜2平1负，95% CI 78%–100%</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651627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Codex Agent 的八维票型</a:t>
              </a:r>
            </a:p>
          </p:txBody>
        </p:sp>
        <p:sp>
          <p:nvSpPr>
            <p:cNvPr id="3" name="TextBox 3"/>
            <p:cNvSpPr txBox="1"/>
            <p:nvPr/>
          </p:nvSpPr>
          <p:spPr>
            <a:xfrm>
              <a:off x="600456" y="1024890"/>
              <a:ext cx="3653028"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八维全部领先，证据维度差距最小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061460" cy="228600"/>
              </a:xfrm>
              <a:prstGeom prst="rect">
                <a:avLst/>
              </a:prstGeom>
              <a:solidFill>
                <a:schemeClr val="accent2"/>
              </a:solidFill>
              <a:ln>
                <a:noFill/>
              </a:ln>
            </p:spPr>
          </p:sp>
          <p:sp>
            <p:nvSpPr>
              <p:cNvPr id="9" name="Rectangle 9"/>
              <p:cNvSpPr/>
              <p:nvPr/>
            </p:nvSpPr>
            <p:spPr>
              <a:xfrm>
                <a:off x="6918960" y="1981200"/>
                <a:ext cx="466725" cy="228600"/>
              </a:xfrm>
              <a:prstGeom prst="rect">
                <a:avLst/>
              </a:prstGeom>
              <a:solidFill>
                <a:srgbClr val="B7C7D6"/>
              </a:solidFill>
              <a:ln>
                <a:noFill/>
              </a:ln>
            </p:spPr>
          </p:sp>
          <p:sp>
            <p:nvSpPr>
              <p:cNvPr id="10" name="Rectangle 10"/>
              <p:cNvSpPr/>
              <p:nvPr/>
            </p:nvSpPr>
            <p:spPr>
              <a:xfrm>
                <a:off x="7385685" y="1981200"/>
                <a:ext cx="1186815" cy="228600"/>
              </a:xfrm>
              <a:prstGeom prst="rect">
                <a:avLst/>
              </a:prstGeom>
              <a:solidFill>
                <a:schemeClr val="accent6"/>
              </a:solidFill>
              <a:ln>
                <a:noFill/>
              </a:ln>
            </p:spPr>
          </p:sp>
          <p:sp>
            <p:nvSpPr>
              <p:cNvPr id="11" name="TextBox 11"/>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71:1:8</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2499360" cy="228600"/>
              </a:xfrm>
              <a:prstGeom prst="rect">
                <a:avLst/>
              </a:prstGeom>
              <a:solidFill>
                <a:schemeClr val="accent2"/>
              </a:solidFill>
              <a:ln>
                <a:noFill/>
              </a:ln>
            </p:spPr>
          </p:sp>
          <p:sp>
            <p:nvSpPr>
              <p:cNvPr id="14" name="Rectangle 14"/>
              <p:cNvSpPr/>
              <p:nvPr/>
            </p:nvSpPr>
            <p:spPr>
              <a:xfrm>
                <a:off x="5356860" y="2457450"/>
                <a:ext cx="1497330" cy="228600"/>
              </a:xfrm>
              <a:prstGeom prst="rect">
                <a:avLst/>
              </a:prstGeom>
              <a:solidFill>
                <a:srgbClr val="B7C7D6"/>
              </a:solidFill>
              <a:ln>
                <a:noFill/>
              </a:ln>
            </p:spPr>
          </p:sp>
          <p:sp>
            <p:nvSpPr>
              <p:cNvPr id="15" name="Rectangle 15"/>
              <p:cNvSpPr/>
              <p:nvPr/>
            </p:nvSpPr>
            <p:spPr>
              <a:xfrm>
                <a:off x="6854190" y="2457450"/>
                <a:ext cx="1718310"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38:16:26</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193858" cy="228600"/>
              </a:xfrm>
              <a:prstGeom prst="rect">
                <a:avLst/>
              </a:prstGeom>
              <a:solidFill>
                <a:schemeClr val="accent2"/>
              </a:solidFill>
              <a:ln>
                <a:noFill/>
              </a:ln>
            </p:spPr>
          </p:sp>
          <p:sp>
            <p:nvSpPr>
              <p:cNvPr id="19" name="Rectangle 19"/>
              <p:cNvSpPr/>
              <p:nvPr/>
            </p:nvSpPr>
            <p:spPr>
              <a:xfrm>
                <a:off x="7051358" y="2933700"/>
                <a:ext cx="1521142"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4498658" cy="228600"/>
              </a:xfrm>
              <a:prstGeom prst="rect">
                <a:avLst/>
              </a:prstGeom>
              <a:solidFill>
                <a:schemeClr val="accent2"/>
              </a:solidFill>
              <a:ln>
                <a:noFill/>
              </a:ln>
            </p:spPr>
          </p:sp>
          <p:sp>
            <p:nvSpPr>
              <p:cNvPr id="23" name="Rectangle 23"/>
              <p:cNvSpPr/>
              <p:nvPr/>
            </p:nvSpPr>
            <p:spPr>
              <a:xfrm>
                <a:off x="7356158" y="3409950"/>
                <a:ext cx="1216342" cy="228600"/>
              </a:xfrm>
              <a:prstGeom prst="rect">
                <a:avLst/>
              </a:prstGeom>
              <a:solidFill>
                <a:schemeClr val="accent6"/>
              </a:solidFill>
              <a:ln>
                <a:noFill/>
              </a:ln>
            </p:spPr>
          </p:sp>
          <p:sp>
            <p:nvSpPr>
              <p:cNvPr id="24" name="TextBox 24"/>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73:0:7</a:t>
                </a:r>
              </a:p>
            </p:txBody>
          </p:sp>
          <p:sp>
            <p:nvSpPr>
              <p:cNvPr id="25" name="TextBox 25"/>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6" name="Rectangle 26"/>
              <p:cNvSpPr/>
              <p:nvPr/>
            </p:nvSpPr>
            <p:spPr>
              <a:xfrm>
                <a:off x="2857500" y="3886200"/>
                <a:ext cx="3573780" cy="228600"/>
              </a:xfrm>
              <a:prstGeom prst="rect">
                <a:avLst/>
              </a:prstGeom>
              <a:solidFill>
                <a:schemeClr val="accent2"/>
              </a:solidFill>
              <a:ln>
                <a:noFill/>
              </a:ln>
            </p:spPr>
          </p:sp>
          <p:sp>
            <p:nvSpPr>
              <p:cNvPr id="27" name="Rectangle 27"/>
              <p:cNvSpPr/>
              <p:nvPr/>
            </p:nvSpPr>
            <p:spPr>
              <a:xfrm>
                <a:off x="6431280" y="3886200"/>
                <a:ext cx="1126808" cy="228600"/>
              </a:xfrm>
              <a:prstGeom prst="rect">
                <a:avLst/>
              </a:prstGeom>
              <a:solidFill>
                <a:srgbClr val="B7C7D6"/>
              </a:solidFill>
              <a:ln>
                <a:noFill/>
              </a:ln>
            </p:spPr>
          </p:sp>
          <p:sp>
            <p:nvSpPr>
              <p:cNvPr id="28" name="Rectangle 28"/>
              <p:cNvSpPr/>
              <p:nvPr/>
            </p:nvSpPr>
            <p:spPr>
              <a:xfrm>
                <a:off x="7558088" y="3886200"/>
                <a:ext cx="1014412" cy="228600"/>
              </a:xfrm>
              <a:prstGeom prst="rect">
                <a:avLst/>
              </a:prstGeom>
              <a:solidFill>
                <a:schemeClr val="accent6"/>
              </a:solidFill>
              <a:ln>
                <a:noFill/>
              </a:ln>
            </p:spPr>
          </p:sp>
          <p:sp>
            <p:nvSpPr>
              <p:cNvPr id="29" name="TextBox 29"/>
              <p:cNvSpPr txBox="1"/>
              <p:nvPr/>
            </p:nvSpPr>
            <p:spPr>
              <a:xfrm>
                <a:off x="8737092" y="3930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66:7:7</a:t>
                </a:r>
              </a:p>
            </p:txBody>
          </p:sp>
          <p:sp>
            <p:nvSpPr>
              <p:cNvPr id="30" name="TextBox 30"/>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1" name="Rectangle 31"/>
              <p:cNvSpPr/>
              <p:nvPr/>
            </p:nvSpPr>
            <p:spPr>
              <a:xfrm>
                <a:off x="2857500" y="4362450"/>
                <a:ext cx="4122420" cy="228600"/>
              </a:xfrm>
              <a:prstGeom prst="rect">
                <a:avLst/>
              </a:prstGeom>
              <a:solidFill>
                <a:schemeClr val="accent2"/>
              </a:solidFill>
              <a:ln>
                <a:noFill/>
              </a:ln>
            </p:spPr>
          </p:sp>
          <p:sp>
            <p:nvSpPr>
              <p:cNvPr id="32" name="Rectangle 32"/>
              <p:cNvSpPr/>
              <p:nvPr/>
            </p:nvSpPr>
            <p:spPr>
              <a:xfrm>
                <a:off x="6979920" y="4362450"/>
                <a:ext cx="471488" cy="228600"/>
              </a:xfrm>
              <a:prstGeom prst="rect">
                <a:avLst/>
              </a:prstGeom>
              <a:solidFill>
                <a:srgbClr val="B7C7D6"/>
              </a:solidFill>
              <a:ln>
                <a:noFill/>
              </a:ln>
            </p:spPr>
          </p:sp>
          <p:sp>
            <p:nvSpPr>
              <p:cNvPr id="33" name="Rectangle 33"/>
              <p:cNvSpPr/>
              <p:nvPr/>
            </p:nvSpPr>
            <p:spPr>
              <a:xfrm>
                <a:off x="7451408" y="4362450"/>
                <a:ext cx="1121092" cy="228600"/>
              </a:xfrm>
              <a:prstGeom prst="rect">
                <a:avLst/>
              </a:prstGeom>
              <a:solidFill>
                <a:schemeClr val="accent6"/>
              </a:solidFill>
              <a:ln>
                <a:noFill/>
              </a:ln>
            </p:spPr>
          </p:sp>
          <p:sp>
            <p:nvSpPr>
              <p:cNvPr id="34" name="TextBox 34"/>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72:1:7</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4385310" cy="228600"/>
              </a:xfrm>
              <a:prstGeom prst="rect">
                <a:avLst/>
              </a:prstGeom>
              <a:solidFill>
                <a:schemeClr val="accent2"/>
              </a:solidFill>
              <a:ln>
                <a:noFill/>
              </a:ln>
            </p:spPr>
          </p:sp>
          <p:sp>
            <p:nvSpPr>
              <p:cNvPr id="37" name="Rectangle 37"/>
              <p:cNvSpPr/>
              <p:nvPr/>
            </p:nvSpPr>
            <p:spPr>
              <a:xfrm>
                <a:off x="7242810" y="4838700"/>
                <a:ext cx="700088" cy="228600"/>
              </a:xfrm>
              <a:prstGeom prst="rect">
                <a:avLst/>
              </a:prstGeom>
              <a:solidFill>
                <a:srgbClr val="B7C7D6"/>
              </a:solidFill>
              <a:ln>
                <a:noFill/>
              </a:ln>
            </p:spPr>
          </p:sp>
          <p:sp>
            <p:nvSpPr>
              <p:cNvPr id="38" name="Rectangle 38"/>
              <p:cNvSpPr/>
              <p:nvPr/>
            </p:nvSpPr>
            <p:spPr>
              <a:xfrm>
                <a:off x="7942898" y="4838700"/>
                <a:ext cx="629602"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76:2:2</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3763328" cy="228600"/>
              </a:xfrm>
              <a:prstGeom prst="rect">
                <a:avLst/>
              </a:prstGeom>
              <a:solidFill>
                <a:schemeClr val="accent2"/>
              </a:solidFill>
              <a:ln>
                <a:noFill/>
              </a:ln>
            </p:spPr>
          </p:sp>
          <p:sp>
            <p:nvSpPr>
              <p:cNvPr id="42" name="Rectangle 42"/>
              <p:cNvSpPr/>
              <p:nvPr/>
            </p:nvSpPr>
            <p:spPr>
              <a:xfrm>
                <a:off x="6620828" y="5314950"/>
                <a:ext cx="762952" cy="228600"/>
              </a:xfrm>
              <a:prstGeom prst="rect">
                <a:avLst/>
              </a:prstGeom>
              <a:solidFill>
                <a:srgbClr val="B7C7D6"/>
              </a:solidFill>
              <a:ln>
                <a:noFill/>
              </a:ln>
            </p:spPr>
          </p:sp>
          <p:sp>
            <p:nvSpPr>
              <p:cNvPr id="43" name="Rectangle 43"/>
              <p:cNvSpPr/>
              <p:nvPr/>
            </p:nvSpPr>
            <p:spPr>
              <a:xfrm>
                <a:off x="7383780" y="5314950"/>
                <a:ext cx="1188720" cy="228600"/>
              </a:xfrm>
              <a:prstGeom prst="rect">
                <a:avLst/>
              </a:prstGeom>
              <a:solidFill>
                <a:schemeClr val="accent6"/>
              </a:solidFill>
              <a:ln>
                <a:noFill/>
              </a:ln>
            </p:spPr>
          </p:sp>
          <p:sp>
            <p:nvSpPr>
              <p:cNvPr id="44" name="TextBox 44"/>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68:3:9</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290447"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总体得分率</a:t>
              </a:r>
            </a:p>
          </p:txBody>
        </p:sp>
        <p:sp>
          <p:nvSpPr>
            <p:cNvPr id="49" name="TextBox 49"/>
            <p:cNvSpPr txBox="1"/>
            <p:nvPr/>
          </p:nvSpPr>
          <p:spPr>
            <a:xfrm>
              <a:off x="9486900" y="2265998"/>
              <a:ext cx="1332522"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90%</a:t>
              </a:r>
            </a:p>
          </p:txBody>
        </p:sp>
        <p:sp>
          <p:nvSpPr>
            <p:cNvPr id="50" name="TextBox 50"/>
            <p:cNvSpPr txBox="1"/>
            <p:nvPr/>
          </p:nvSpPr>
          <p:spPr>
            <a:xfrm>
              <a:off x="9499092" y="3035618"/>
              <a:ext cx="154030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17 胜 · 2 平 · 1 负</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最小领先维度</a:t>
              </a:r>
            </a:p>
          </p:txBody>
        </p:sp>
        <p:sp>
          <p:nvSpPr>
            <p:cNvPr id="53" name="TextBox 53"/>
            <p:cNvSpPr txBox="1"/>
            <p:nvPr/>
          </p:nvSpPr>
          <p:spPr>
            <a:xfrm>
              <a:off x="9499092" y="4197668"/>
              <a:ext cx="146761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证据与事实可靠性</a:t>
              </a:r>
            </a:p>
          </p:txBody>
        </p:sp>
        <p:sp>
          <p:nvSpPr>
            <p:cNvPr id="54" name="TextBox 54"/>
            <p:cNvSpPr txBox="1"/>
            <p:nvPr/>
          </p:nvSpPr>
          <p:spPr>
            <a:xfrm>
              <a:off x="9494520" y="4519612"/>
              <a:ext cx="1422235"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38:16:26</a:t>
              </a:r>
            </a:p>
          </p:txBody>
        </p:sp>
        <p:sp>
          <p:nvSpPr>
            <p:cNvPr id="55" name="TextBox 55"/>
            <p:cNvSpPr txBox="1"/>
            <p:nvPr/>
          </p:nvSpPr>
          <p:spPr>
            <a:xfrm>
              <a:off x="9499092" y="4997768"/>
              <a:ext cx="1569110" cy="264033"/>
            </a:xfrm>
            <a:prstGeom prst="rect">
              <a:avLst/>
            </a:prstGeom>
            <a:noFill/>
            <a:ln>
              <a:noFill/>
            </a:ln>
          </p:spPr>
          <p:txBody>
            <a:bodyPr wrap="none" lIns="0" tIns="0" rIns="0" bIns="0" anchor="t" anchorCtr="0">
              <a:spAutoFit/>
            </a:bodyPr>
            <a:lstStyle/>
            <a:p>
              <a:pPr algn="l"/>
              <a:r>
                <a:rPr lang="en-US" sz="1350" dirty="0">
                  <a:solidFill>
                    <a:srgbClr val="C8D5E2"/>
                  </a:solidFill>
                  <a:latin typeface="+mn-lt"/>
                  <a:ea typeface="+mn-ea"/>
                  <a:cs typeface="+mn-cs"/>
                </a:rPr>
                <a:t>95% CI 78%–100%</a:t>
              </a:r>
            </a:p>
          </p:txBody>
        </p:sp>
      </p:grpSp>
      <p:grpSp>
        <p:nvGrpSpPr>
          <p:cNvPr id="64" name="Group 64"/>
          <p:cNvGrpSpPr/>
          <p:nvPr/>
        </p:nvGrpSpPr>
        <p:grpSpPr>
          <a:xfrm>
            <a:off x="609600" y="6172200"/>
            <a:ext cx="8670188" cy="270701"/>
            <a:chOff x="609600" y="6172200"/>
            <a:chExt cx="8670188"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150245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Codex Agent</a:t>
              </a:r>
            </a:p>
          </p:txBody>
        </p:sp>
        <p:sp>
          <p:nvSpPr>
            <p:cNvPr id="63" name="TextBox 63"/>
            <p:cNvSpPr txBox="1"/>
            <p:nvPr/>
          </p:nvSpPr>
          <p:spPr>
            <a:xfrm>
              <a:off x="5899404" y="6195060"/>
              <a:ext cx="3380384"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√票数压缩；准确票数以右侧数字为准</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448175" cy="228600"/>
              </a:xfrm>
              <a:prstGeom prst="rect">
                <a:avLst/>
              </a:prstGeom>
              <a:solidFill>
                <a:schemeClr val="accent2"/>
              </a:solidFill>
              <a:ln>
                <a:noFill/>
              </a:ln>
            </p:spPr>
          </p:sp>
          <p:sp>
            <p:nvSpPr>
              <p:cNvPr id="9" name="Rectangle 9"/>
              <p:cNvSpPr/>
              <p:nvPr/>
            </p:nvSpPr>
            <p:spPr>
              <a:xfrm>
                <a:off x="7305675" y="1981200"/>
                <a:ext cx="12668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648200" cy="228600"/>
              </a:xfrm>
              <a:prstGeom prst="rect">
                <a:avLst/>
              </a:prstGeom>
              <a:solidFill>
                <a:schemeClr val="accent2"/>
              </a:solidFill>
              <a:ln>
                <a:noFill/>
              </a:ln>
            </p:spPr>
          </p:sp>
          <p:sp>
            <p:nvSpPr>
              <p:cNvPr id="16" name="Rectangle 16"/>
              <p:cNvSpPr/>
              <p:nvPr/>
            </p:nvSpPr>
            <p:spPr>
              <a:xfrm>
                <a:off x="7505700" y="2933700"/>
                <a:ext cx="106680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542472" cy="228600"/>
              </a:xfrm>
              <a:prstGeom prst="rect">
                <a:avLst/>
              </a:prstGeom>
              <a:solidFill>
                <a:schemeClr val="accent2"/>
              </a:solidFill>
              <a:ln>
                <a:noFill/>
              </a:ln>
            </p:spPr>
          </p:sp>
          <p:sp>
            <p:nvSpPr>
              <p:cNvPr id="20" name="Rectangle 20"/>
              <p:cNvSpPr/>
              <p:nvPr/>
            </p:nvSpPr>
            <p:spPr>
              <a:xfrm>
                <a:off x="7399972" y="3409950"/>
                <a:ext cx="117252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3856672" cy="228600"/>
              </a:xfrm>
              <a:prstGeom prst="rect">
                <a:avLst/>
              </a:prstGeom>
              <a:solidFill>
                <a:schemeClr val="accent2"/>
              </a:solidFill>
              <a:ln>
                <a:noFill/>
              </a:ln>
            </p:spPr>
          </p:sp>
          <p:sp>
            <p:nvSpPr>
              <p:cNvPr id="34" name="Rectangle 34"/>
              <p:cNvSpPr/>
              <p:nvPr/>
            </p:nvSpPr>
            <p:spPr>
              <a:xfrm>
                <a:off x="6714172" y="5314950"/>
                <a:ext cx="647700" cy="228600"/>
              </a:xfrm>
              <a:prstGeom prst="rect">
                <a:avLst/>
              </a:prstGeom>
              <a:solidFill>
                <a:srgbClr val="B7C7D6"/>
              </a:solidFill>
              <a:ln>
                <a:noFill/>
              </a:ln>
            </p:spPr>
          </p:sp>
          <p:sp>
            <p:nvSpPr>
              <p:cNvPr id="35" name="Rectangle 35"/>
              <p:cNvSpPr/>
              <p:nvPr/>
            </p:nvSpPr>
            <p:spPr>
              <a:xfrm>
                <a:off x="7361872" y="5314950"/>
                <a:ext cx="1210628"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926330" cy="228600"/>
              </a:xfrm>
              <a:prstGeom prst="rect">
                <a:avLst/>
              </a:prstGeom>
              <a:solidFill>
                <a:schemeClr val="accent2"/>
              </a:solidFill>
              <a:ln>
                <a:noFill/>
              </a:ln>
            </p:spPr>
          </p:sp>
          <p:sp>
            <p:nvSpPr>
              <p:cNvPr id="9" name="Rectangle 9"/>
              <p:cNvSpPr/>
              <p:nvPr/>
            </p:nvSpPr>
            <p:spPr>
              <a:xfrm>
                <a:off x="7783830" y="1981200"/>
                <a:ext cx="788670"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926330" cy="228600"/>
              </a:xfrm>
              <a:prstGeom prst="rect">
                <a:avLst/>
              </a:prstGeom>
              <a:solidFill>
                <a:schemeClr val="accent2"/>
              </a:solidFill>
              <a:ln>
                <a:noFill/>
              </a:ln>
            </p:spPr>
          </p:sp>
          <p:sp>
            <p:nvSpPr>
              <p:cNvPr id="16" name="Rectangle 16"/>
              <p:cNvSpPr/>
              <p:nvPr/>
            </p:nvSpPr>
            <p:spPr>
              <a:xfrm>
                <a:off x="7783830" y="2933700"/>
                <a:ext cx="78867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926330" cy="228600"/>
              </a:xfrm>
              <a:prstGeom prst="rect">
                <a:avLst/>
              </a:prstGeom>
              <a:solidFill>
                <a:schemeClr val="accent2"/>
              </a:solidFill>
              <a:ln>
                <a:noFill/>
              </a:ln>
            </p:spPr>
          </p:sp>
          <p:sp>
            <p:nvSpPr>
              <p:cNvPr id="20" name="Rectangle 20"/>
              <p:cNvSpPr/>
              <p:nvPr/>
            </p:nvSpPr>
            <p:spPr>
              <a:xfrm>
                <a:off x="7783830" y="3409950"/>
                <a:ext cx="788670"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4351020" cy="228600"/>
              </a:xfrm>
              <a:prstGeom prst="rect">
                <a:avLst/>
              </a:prstGeom>
              <a:solidFill>
                <a:schemeClr val="accent2"/>
              </a:solidFill>
              <a:ln>
                <a:noFill/>
              </a:ln>
            </p:spPr>
          </p:sp>
          <p:sp>
            <p:nvSpPr>
              <p:cNvPr id="31" name="Rectangle 31"/>
              <p:cNvSpPr/>
              <p:nvPr/>
            </p:nvSpPr>
            <p:spPr>
              <a:xfrm>
                <a:off x="7208520" y="4838700"/>
                <a:ext cx="499110" cy="228600"/>
              </a:xfrm>
              <a:prstGeom prst="rect">
                <a:avLst/>
              </a:prstGeom>
              <a:solidFill>
                <a:srgbClr val="B7C7D6"/>
              </a:solidFill>
              <a:ln>
                <a:noFill/>
              </a:ln>
            </p:spPr>
          </p:sp>
          <p:sp>
            <p:nvSpPr>
              <p:cNvPr id="32" name="Rectangle 32"/>
              <p:cNvSpPr/>
              <p:nvPr/>
            </p:nvSpPr>
            <p:spPr>
              <a:xfrm>
                <a:off x="7707630" y="4838700"/>
                <a:ext cx="864870"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170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说明：深度调研需要专业 Agent 系统</a:t>
              </a:r>
            </a:p>
          </p:txBody>
        </p:sp>
        <p:sp>
          <p:nvSpPr>
            <p:cNvPr id="3" name="TextBox 3"/>
            <p:cNvSpPr txBox="1"/>
            <p:nvPr/>
          </p:nvSpPr>
          <p:spPr>
            <a:xfrm>
              <a:off x="600456" y="1043940"/>
              <a:ext cx="901196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基模是能力底座，通用 Agent 是执行框架，专业 Agent 系统才是深度调研交付单元</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20</a:t>
              </a:r>
            </a:p>
          </p:txBody>
        </p:sp>
      </p:grpSp>
      <p:grpSp>
        <p:nvGrpSpPr>
          <p:cNvPr id="13" name="Group 13"/>
          <p:cNvGrpSpPr/>
          <p:nvPr/>
        </p:nvGrpSpPr>
        <p:grpSpPr>
          <a:xfrm>
            <a:off x="609600" y="1619250"/>
            <a:ext cx="3352800" cy="2571750"/>
            <a:chOff x="609600" y="1619250"/>
            <a:chExt cx="3352800" cy="2571750"/>
          </a:xfrm>
        </p:grpSpPr>
        <p:sp>
          <p:nvSpPr>
            <p:cNvPr id="6" name="Rectangle 6"/>
            <p:cNvSpPr/>
            <p:nvPr/>
          </p:nvSpPr>
          <p:spPr>
            <a:xfrm>
              <a:off x="609600" y="1619250"/>
              <a:ext cx="3352800" cy="2571750"/>
            </a:xfrm>
            <a:prstGeom prst="rect">
              <a:avLst/>
            </a:prstGeom>
            <a:solidFill>
              <a:schemeClr val="accent5"/>
            </a:solidFill>
            <a:ln>
              <a:noFill/>
            </a:ln>
          </p:spPr>
        </p:sp>
        <p:sp>
          <p:nvSpPr>
            <p:cNvPr id="7" name="Rectangle 7"/>
            <p:cNvSpPr/>
            <p:nvPr/>
          </p:nvSpPr>
          <p:spPr>
            <a:xfrm>
              <a:off x="609600" y="1619250"/>
              <a:ext cx="3352800" cy="66675"/>
            </a:xfrm>
            <a:prstGeom prst="rect">
              <a:avLst/>
            </a:prstGeom>
            <a:solidFill>
              <a:schemeClr val="accent2"/>
            </a:solidFill>
            <a:ln>
              <a:noFill/>
            </a:ln>
          </p:spPr>
        </p:sp>
        <p:sp>
          <p:nvSpPr>
            <p:cNvPr id="8" name="TextBox 8"/>
            <p:cNvSpPr txBox="1"/>
            <p:nvPr/>
          </p:nvSpPr>
          <p:spPr>
            <a:xfrm>
              <a:off x="826008" y="1779270"/>
              <a:ext cx="115348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纯 LLM</a:t>
              </a:r>
            </a:p>
          </p:txBody>
        </p:sp>
        <p:sp>
          <p:nvSpPr>
            <p:cNvPr id="9" name="TextBox 9"/>
            <p:cNvSpPr txBox="1"/>
            <p:nvPr/>
          </p:nvSpPr>
          <p:spPr>
            <a:xfrm>
              <a:off x="831342" y="2292668"/>
              <a:ext cx="255167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生成快 · 成本低 · 表达能力强</a:t>
              </a:r>
            </a:p>
          </p:txBody>
        </p:sp>
        <p:sp>
          <p:nvSpPr>
            <p:cNvPr id="10" name="Line 10"/>
            <p:cNvSpPr/>
            <p:nvPr/>
          </p:nvSpPr>
          <p:spPr>
            <a:xfrm>
              <a:off x="838200" y="2628900"/>
              <a:ext cx="2895600" cy="9525"/>
            </a:xfrm>
            <a:custGeom>
              <a:avLst/>
              <a:gdLst/>
              <a:ahLst/>
              <a:cxnLst/>
              <a:rect l="l" t="t" r="r" b="b"/>
              <a:pathLst>
                <a:path w="2895600" h="9525">
                  <a:moveTo>
                    <a:pt x="0" y="0"/>
                  </a:moveTo>
                  <a:lnTo>
                    <a:pt x="2895600" y="0"/>
                  </a:lnTo>
                </a:path>
              </a:pathLst>
            </a:custGeom>
            <a:noFill/>
            <a:ln w="19050">
              <a:solidFill>
                <a:srgbClr val="D8E1EA"/>
              </a:solidFill>
            </a:ln>
          </p:spPr>
        </p:sp>
        <p:sp>
          <p:nvSpPr>
            <p:cNvPr id="11" name="TextBox 11"/>
            <p:cNvSpPr txBox="1"/>
            <p:nvPr/>
          </p:nvSpPr>
          <p:spPr>
            <a:xfrm>
              <a:off x="831342" y="2807018"/>
              <a:ext cx="2071116" cy="8736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缺少多源研究与过程状态缺少证据审计与机制推演难以稳定满足正式交付合同</a:t>
              </a:r>
            </a:p>
          </p:txBody>
        </p:sp>
        <p:sp>
          <p:nvSpPr>
            <p:cNvPr id="12" name="TextBox 12"/>
            <p:cNvSpPr txBox="1"/>
            <p:nvPr/>
          </p:nvSpPr>
          <p:spPr>
            <a:xfrm>
              <a:off x="829818" y="3803332"/>
              <a:ext cx="2897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19 胜 · 1 平 · 0 负｜97.5%</a:t>
              </a:r>
            </a:p>
          </p:txBody>
        </p:sp>
      </p:grpSp>
      <p:grpSp>
        <p:nvGrpSpPr>
          <p:cNvPr id="21" name="Group 21"/>
          <p:cNvGrpSpPr/>
          <p:nvPr/>
        </p:nvGrpSpPr>
        <p:grpSpPr>
          <a:xfrm>
            <a:off x="4191000" y="1619250"/>
            <a:ext cx="3352800" cy="2571750"/>
            <a:chOff x="4191000" y="1619250"/>
            <a:chExt cx="3352800" cy="2571750"/>
          </a:xfrm>
        </p:grpSpPr>
        <p:sp>
          <p:nvSpPr>
            <p:cNvPr id="14" name="Rectangle 14"/>
            <p:cNvSpPr/>
            <p:nvPr/>
          </p:nvSpPr>
          <p:spPr>
            <a:xfrm>
              <a:off x="4191000" y="1619250"/>
              <a:ext cx="3352800" cy="2571750"/>
            </a:xfrm>
            <a:prstGeom prst="rect">
              <a:avLst/>
            </a:prstGeom>
            <a:solidFill>
              <a:schemeClr val="accent5"/>
            </a:solidFill>
            <a:ln>
              <a:noFill/>
            </a:ln>
          </p:spPr>
        </p:sp>
        <p:sp>
          <p:nvSpPr>
            <p:cNvPr id="15" name="Rectangle 15"/>
            <p:cNvSpPr/>
            <p:nvPr/>
          </p:nvSpPr>
          <p:spPr>
            <a:xfrm>
              <a:off x="4191000" y="1619250"/>
              <a:ext cx="3352800" cy="66675"/>
            </a:xfrm>
            <a:prstGeom prst="rect">
              <a:avLst/>
            </a:prstGeom>
            <a:solidFill>
              <a:schemeClr val="accent3"/>
            </a:solidFill>
            <a:ln>
              <a:noFill/>
            </a:ln>
          </p:spPr>
        </p:sp>
        <p:sp>
          <p:nvSpPr>
            <p:cNvPr id="16" name="TextBox 16"/>
            <p:cNvSpPr txBox="1"/>
            <p:nvPr/>
          </p:nvSpPr>
          <p:spPr>
            <a:xfrm>
              <a:off x="4407408" y="1779270"/>
              <a:ext cx="233635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智谱 GLM 基模</a:t>
              </a:r>
            </a:p>
          </p:txBody>
        </p:sp>
        <p:sp>
          <p:nvSpPr>
            <p:cNvPr id="17" name="TextBox 17"/>
            <p:cNvSpPr txBox="1"/>
            <p:nvPr/>
          </p:nvSpPr>
          <p:spPr>
            <a:xfrm>
              <a:off x="4412742" y="2292668"/>
              <a:ext cx="2332226"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本地化适配 · 通用生成能力</a:t>
              </a:r>
            </a:p>
          </p:txBody>
        </p:sp>
        <p:sp>
          <p:nvSpPr>
            <p:cNvPr id="18" name="Line 18"/>
            <p:cNvSpPr/>
            <p:nvPr/>
          </p:nvSpPr>
          <p:spPr>
            <a:xfrm>
              <a:off x="4419600" y="2628900"/>
              <a:ext cx="2895600" cy="9525"/>
            </a:xfrm>
            <a:custGeom>
              <a:avLst/>
              <a:gdLst/>
              <a:ahLst/>
              <a:cxnLst/>
              <a:rect l="l" t="t" r="r" b="b"/>
              <a:pathLst>
                <a:path w="2895600" h="9525">
                  <a:moveTo>
                    <a:pt x="0" y="0"/>
                  </a:moveTo>
                  <a:lnTo>
                    <a:pt x="2895600" y="0"/>
                  </a:lnTo>
                </a:path>
              </a:pathLst>
            </a:custGeom>
            <a:noFill/>
            <a:ln w="19050">
              <a:solidFill>
                <a:srgbClr val="D8E1EA"/>
              </a:solidFill>
            </a:ln>
          </p:spPr>
        </p:sp>
        <p:sp>
          <p:nvSpPr>
            <p:cNvPr id="19" name="TextBox 19"/>
            <p:cNvSpPr txBox="1"/>
            <p:nvPr/>
          </p:nvSpPr>
          <p:spPr>
            <a:xfrm>
              <a:off x="4412742" y="2807018"/>
              <a:ext cx="2242566" cy="8736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同样缺少领域任务编排无法固化能力映射与质量循环输出质量依赖单次 Prompt</a:t>
              </a:r>
            </a:p>
          </p:txBody>
        </p:sp>
        <p:sp>
          <p:nvSpPr>
            <p:cNvPr id="20" name="TextBox 20"/>
            <p:cNvSpPr txBox="1"/>
            <p:nvPr/>
          </p:nvSpPr>
          <p:spPr>
            <a:xfrm>
              <a:off x="4411218" y="3803332"/>
              <a:ext cx="2897144"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19 胜 · 1 平 · 0 负｜97.5%</a:t>
              </a:r>
            </a:p>
          </p:txBody>
        </p:sp>
      </p:grpSp>
      <p:grpSp>
        <p:nvGrpSpPr>
          <p:cNvPr id="29" name="Group 29"/>
          <p:cNvGrpSpPr/>
          <p:nvPr/>
        </p:nvGrpSpPr>
        <p:grpSpPr>
          <a:xfrm>
            <a:off x="7772400" y="1619250"/>
            <a:ext cx="3810000" cy="2571750"/>
            <a:chOff x="7772400" y="1619250"/>
            <a:chExt cx="3810000" cy="2571750"/>
          </a:xfrm>
        </p:grpSpPr>
        <p:sp>
          <p:nvSpPr>
            <p:cNvPr id="22" name="Rectangle 22"/>
            <p:cNvSpPr/>
            <p:nvPr/>
          </p:nvSpPr>
          <p:spPr>
            <a:xfrm>
              <a:off x="7772400" y="1619250"/>
              <a:ext cx="3810000" cy="2571750"/>
            </a:xfrm>
            <a:prstGeom prst="rect">
              <a:avLst/>
            </a:prstGeom>
            <a:solidFill>
              <a:srgbClr val="FFF4E8"/>
            </a:solidFill>
            <a:ln>
              <a:noFill/>
            </a:ln>
          </p:spPr>
        </p:sp>
        <p:sp>
          <p:nvSpPr>
            <p:cNvPr id="23" name="Rectangle 23"/>
            <p:cNvSpPr/>
            <p:nvPr/>
          </p:nvSpPr>
          <p:spPr>
            <a:xfrm>
              <a:off x="7772400" y="1619250"/>
              <a:ext cx="3810000" cy="66675"/>
            </a:xfrm>
            <a:prstGeom prst="rect">
              <a:avLst/>
            </a:prstGeom>
            <a:solidFill>
              <a:schemeClr val="accent6"/>
            </a:solidFill>
            <a:ln>
              <a:noFill/>
            </a:ln>
          </p:spPr>
        </p:sp>
        <p:sp>
          <p:nvSpPr>
            <p:cNvPr id="24" name="TextBox 24"/>
            <p:cNvSpPr txBox="1"/>
            <p:nvPr/>
          </p:nvSpPr>
          <p:spPr>
            <a:xfrm>
              <a:off x="7988808" y="1779270"/>
              <a:ext cx="280335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通用 Codex Agent</a:t>
              </a:r>
            </a:p>
          </p:txBody>
        </p:sp>
        <p:sp>
          <p:nvSpPr>
            <p:cNvPr id="25" name="TextBox 25"/>
            <p:cNvSpPr txBox="1"/>
            <p:nvPr/>
          </p:nvSpPr>
          <p:spPr>
            <a:xfrm>
              <a:off x="7994142" y="2292668"/>
              <a:ext cx="3419886"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工具调用 · 任务执行 · 通用 Agent 能力</a:t>
              </a:r>
            </a:p>
          </p:txBody>
        </p:sp>
        <p:sp>
          <p:nvSpPr>
            <p:cNvPr id="26" name="Line 26"/>
            <p:cNvSpPr/>
            <p:nvPr/>
          </p:nvSpPr>
          <p:spPr>
            <a:xfrm>
              <a:off x="8001000" y="2628900"/>
              <a:ext cx="3352800" cy="9525"/>
            </a:xfrm>
            <a:custGeom>
              <a:avLst/>
              <a:gdLst/>
              <a:ahLst/>
              <a:cxnLst/>
              <a:rect l="l" t="t" r="r" b="b"/>
              <a:pathLst>
                <a:path w="3352800" h="9525">
                  <a:moveTo>
                    <a:pt x="0" y="0"/>
                  </a:moveTo>
                  <a:lnTo>
                    <a:pt x="3352800" y="0"/>
                  </a:lnTo>
                </a:path>
              </a:pathLst>
            </a:custGeom>
            <a:noFill/>
            <a:ln w="19050">
              <a:solidFill>
                <a:srgbClr val="E6C9A8"/>
              </a:solidFill>
            </a:ln>
          </p:spPr>
        </p:sp>
        <p:sp>
          <p:nvSpPr>
            <p:cNvPr id="27" name="TextBox 27"/>
            <p:cNvSpPr txBox="1"/>
            <p:nvPr/>
          </p:nvSpPr>
          <p:spPr>
            <a:xfrm>
              <a:off x="7994142" y="2807018"/>
              <a:ext cx="2594038" cy="8736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缺少 A–H 领域路由与 S1–S6缺少三层九项、能力画像与 L1–L4证据维度最接近，但整体仍有差距</a:t>
              </a:r>
            </a:p>
          </p:txBody>
        </p:sp>
        <p:sp>
          <p:nvSpPr>
            <p:cNvPr id="28" name="TextBox 28"/>
            <p:cNvSpPr txBox="1"/>
            <p:nvPr/>
          </p:nvSpPr>
          <p:spPr>
            <a:xfrm>
              <a:off x="7991856" y="3787140"/>
              <a:ext cx="2880646"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17 胜 · 2 平 · 1 负｜90%</a:t>
              </a:r>
            </a:p>
          </p:txBody>
        </p:sp>
      </p:grpSp>
      <p:grpSp>
        <p:nvGrpSpPr>
          <p:cNvPr id="43" name="Group 43"/>
          <p:cNvGrpSpPr/>
          <p:nvPr/>
        </p:nvGrpSpPr>
        <p:grpSpPr>
          <a:xfrm>
            <a:off x="609600" y="4495800"/>
            <a:ext cx="10972800" cy="1676400"/>
            <a:chOff x="609600" y="4495800"/>
            <a:chExt cx="10972800" cy="1676400"/>
          </a:xfrm>
        </p:grpSpPr>
        <p:sp>
          <p:nvSpPr>
            <p:cNvPr id="30" name="Rectangle 30"/>
            <p:cNvSpPr/>
            <p:nvPr/>
          </p:nvSpPr>
          <p:spPr>
            <a:xfrm>
              <a:off x="609600" y="4495800"/>
              <a:ext cx="10972800" cy="1676400"/>
            </a:xfrm>
            <a:prstGeom prst="rect">
              <a:avLst/>
            </a:prstGeom>
            <a:solidFill>
              <a:schemeClr val="accent1"/>
            </a:solidFill>
            <a:ln>
              <a:noFill/>
            </a:ln>
          </p:spPr>
        </p:sp>
        <p:sp>
          <p:nvSpPr>
            <p:cNvPr id="31" name="TextBox 31"/>
            <p:cNvSpPr txBox="1"/>
            <p:nvPr/>
          </p:nvSpPr>
          <p:spPr>
            <a:xfrm>
              <a:off x="826008" y="4655820"/>
              <a:ext cx="7692286"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专业 Agent 系统的增量：组织、约束、验证与交付</a:t>
              </a:r>
            </a:p>
          </p:txBody>
        </p:sp>
        <p:sp>
          <p:nvSpPr>
            <p:cNvPr id="32" name="TextBox 32"/>
            <p:cNvSpPr txBox="1"/>
            <p:nvPr/>
          </p:nvSpPr>
          <p:spPr>
            <a:xfrm>
              <a:off x="829056" y="5158740"/>
              <a:ext cx="122986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多角色研究</a:t>
              </a:r>
            </a:p>
          </p:txBody>
        </p:sp>
        <p:sp>
          <p:nvSpPr>
            <p:cNvPr id="33" name="TextBox 33"/>
            <p:cNvSpPr txBox="1"/>
            <p:nvPr/>
          </p:nvSpPr>
          <p:spPr>
            <a:xfrm>
              <a:off x="2391156" y="5158740"/>
              <a:ext cx="151562" cy="352044"/>
            </a:xfrm>
            <a:prstGeom prst="rect">
              <a:avLst/>
            </a:prstGeom>
            <a:noFill/>
            <a:ln>
              <a:noFill/>
            </a:ln>
          </p:spPr>
          <p:txBody>
            <a:bodyPr wrap="none" lIns="0" tIns="0" rIns="0" bIns="0" anchor="t" anchorCtr="0">
              <a:spAutoFit/>
            </a:bodyPr>
            <a:lstStyle/>
            <a:p>
              <a:pPr algn="l"/>
              <a:r>
                <a:rPr lang="en-US" sz="1800" dirty="0">
                  <a:solidFill>
                    <a:srgbClr val="6D89A3"/>
                  </a:solidFill>
                  <a:latin typeface="+mn-lt"/>
                  <a:ea typeface="+mn-ea"/>
                  <a:cs typeface="+mn-cs"/>
                </a:rPr>
                <a:t>→</a:t>
              </a:r>
            </a:p>
          </p:txBody>
        </p:sp>
        <p:sp>
          <p:nvSpPr>
            <p:cNvPr id="34" name="TextBox 34"/>
            <p:cNvSpPr txBox="1"/>
            <p:nvPr/>
          </p:nvSpPr>
          <p:spPr>
            <a:xfrm>
              <a:off x="2791206" y="5158740"/>
              <a:ext cx="98755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机理推演</a:t>
              </a:r>
            </a:p>
          </p:txBody>
        </p:sp>
        <p:sp>
          <p:nvSpPr>
            <p:cNvPr id="35" name="TextBox 35"/>
            <p:cNvSpPr txBox="1"/>
            <p:nvPr/>
          </p:nvSpPr>
          <p:spPr>
            <a:xfrm>
              <a:off x="4086606" y="5158740"/>
              <a:ext cx="151562" cy="352044"/>
            </a:xfrm>
            <a:prstGeom prst="rect">
              <a:avLst/>
            </a:prstGeom>
            <a:noFill/>
            <a:ln>
              <a:noFill/>
            </a:ln>
          </p:spPr>
          <p:txBody>
            <a:bodyPr wrap="none" lIns="0" tIns="0" rIns="0" bIns="0" anchor="t" anchorCtr="0">
              <a:spAutoFit/>
            </a:bodyPr>
            <a:lstStyle/>
            <a:p>
              <a:pPr algn="l"/>
              <a:r>
                <a:rPr lang="en-US" sz="1800" dirty="0">
                  <a:solidFill>
                    <a:srgbClr val="6D89A3"/>
                  </a:solidFill>
                  <a:latin typeface="+mn-lt"/>
                  <a:ea typeface="+mn-ea"/>
                  <a:cs typeface="+mn-cs"/>
                </a:rPr>
                <a:t>→</a:t>
              </a:r>
            </a:p>
          </p:txBody>
        </p:sp>
        <p:sp>
          <p:nvSpPr>
            <p:cNvPr id="36" name="TextBox 36"/>
            <p:cNvSpPr txBox="1"/>
            <p:nvPr/>
          </p:nvSpPr>
          <p:spPr>
            <a:xfrm>
              <a:off x="4486656" y="5158740"/>
              <a:ext cx="98755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能力映射</a:t>
              </a:r>
            </a:p>
          </p:txBody>
        </p:sp>
        <p:sp>
          <p:nvSpPr>
            <p:cNvPr id="37" name="TextBox 37"/>
            <p:cNvSpPr txBox="1"/>
            <p:nvPr/>
          </p:nvSpPr>
          <p:spPr>
            <a:xfrm>
              <a:off x="5782056" y="5158740"/>
              <a:ext cx="151562" cy="352044"/>
            </a:xfrm>
            <a:prstGeom prst="rect">
              <a:avLst/>
            </a:prstGeom>
            <a:noFill/>
            <a:ln>
              <a:noFill/>
            </a:ln>
          </p:spPr>
          <p:txBody>
            <a:bodyPr wrap="none" lIns="0" tIns="0" rIns="0" bIns="0" anchor="t" anchorCtr="0">
              <a:spAutoFit/>
            </a:bodyPr>
            <a:lstStyle/>
            <a:p>
              <a:pPr algn="l"/>
              <a:r>
                <a:rPr lang="en-US" sz="1800" dirty="0">
                  <a:solidFill>
                    <a:srgbClr val="6D89A3"/>
                  </a:solidFill>
                  <a:latin typeface="+mn-lt"/>
                  <a:ea typeface="+mn-ea"/>
                  <a:cs typeface="+mn-cs"/>
                </a:rPr>
                <a:t>→</a:t>
              </a:r>
            </a:p>
          </p:txBody>
        </p:sp>
        <p:sp>
          <p:nvSpPr>
            <p:cNvPr id="38" name="TextBox 38"/>
            <p:cNvSpPr txBox="1"/>
            <p:nvPr/>
          </p:nvSpPr>
          <p:spPr>
            <a:xfrm>
              <a:off x="6182106" y="5158740"/>
              <a:ext cx="98755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装备收敛</a:t>
              </a:r>
            </a:p>
          </p:txBody>
        </p:sp>
        <p:sp>
          <p:nvSpPr>
            <p:cNvPr id="39" name="TextBox 39"/>
            <p:cNvSpPr txBox="1"/>
            <p:nvPr/>
          </p:nvSpPr>
          <p:spPr>
            <a:xfrm>
              <a:off x="7477506" y="5158740"/>
              <a:ext cx="151562" cy="352044"/>
            </a:xfrm>
            <a:prstGeom prst="rect">
              <a:avLst/>
            </a:prstGeom>
            <a:noFill/>
            <a:ln>
              <a:noFill/>
            </a:ln>
          </p:spPr>
          <p:txBody>
            <a:bodyPr wrap="none" lIns="0" tIns="0" rIns="0" bIns="0" anchor="t" anchorCtr="0">
              <a:spAutoFit/>
            </a:bodyPr>
            <a:lstStyle/>
            <a:p>
              <a:pPr algn="l"/>
              <a:r>
                <a:rPr lang="en-US" sz="1800" dirty="0">
                  <a:solidFill>
                    <a:srgbClr val="6D89A3"/>
                  </a:solidFill>
                  <a:latin typeface="+mn-lt"/>
                  <a:ea typeface="+mn-ea"/>
                  <a:cs typeface="+mn-cs"/>
                </a:rPr>
                <a:t>→</a:t>
              </a:r>
            </a:p>
          </p:txBody>
        </p:sp>
        <p:sp>
          <p:nvSpPr>
            <p:cNvPr id="40" name="TextBox 40"/>
            <p:cNvSpPr txBox="1"/>
            <p:nvPr/>
          </p:nvSpPr>
          <p:spPr>
            <a:xfrm>
              <a:off x="7877556" y="5158740"/>
              <a:ext cx="98755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证据审计</a:t>
              </a:r>
            </a:p>
          </p:txBody>
        </p:sp>
        <p:sp>
          <p:nvSpPr>
            <p:cNvPr id="41" name="TextBox 41"/>
            <p:cNvSpPr txBox="1"/>
            <p:nvPr/>
          </p:nvSpPr>
          <p:spPr>
            <a:xfrm>
              <a:off x="831342" y="5721668"/>
              <a:ext cx="6737985"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适用于复杂、长链条、多来源、强领域约束，并要求可追溯正式交付的深度调研任务</a:t>
              </a:r>
            </a:p>
          </p:txBody>
        </p:sp>
        <p:sp>
          <p:nvSpPr>
            <p:cNvPr id="42" name="TextBox 42"/>
            <p:cNvSpPr txBox="1"/>
            <p:nvPr/>
          </p:nvSpPr>
          <p:spPr>
            <a:xfrm>
              <a:off x="8202488" y="5673090"/>
              <a:ext cx="3122356" cy="352044"/>
            </a:xfrm>
            <a:prstGeom prst="rect">
              <a:avLst/>
            </a:prstGeom>
            <a:noFill/>
            <a:ln>
              <a:noFill/>
            </a:ln>
          </p:spPr>
          <p:txBody>
            <a:bodyPr wrap="none" lIns="0" tIns="0" rIns="0" bIns="0" anchor="t" anchorCtr="0">
              <a:spAutoFit/>
            </a:bodyPr>
            <a:lstStyle/>
            <a:p>
              <a:pPr algn="r"/>
              <a:r>
                <a:rPr lang="zh-CN" sz="1800" b="1" dirty="0">
                  <a:solidFill>
                    <a:srgbClr val="7CC5A5"/>
                  </a:solidFill>
                  <a:latin typeface="+mn-lt"/>
                  <a:ea typeface="+mn-ea"/>
                  <a:cs typeface="+mn-cs"/>
                </a:rPr>
                <a:t>从“会回答”升级为“能交付”</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21</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初步消融实验表明：制胜机理贡献仍最突出</a:t>
              </a:r>
            </a:p>
          </p:txBody>
        </p:sp>
        <p:sp>
          <p:nvSpPr>
            <p:cNvPr id="3" name="TextBox 3"/>
            <p:cNvSpPr txBox="1"/>
            <p:nvPr/>
          </p:nvSpPr>
          <p:spPr>
            <a:xfrm>
              <a:off x="600456" y="1043940"/>
              <a:ext cx="7457389"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多源基线仅呈 20 个百分点方向性增益；当前结果仍按探索性证据解读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22</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7" name="Group 37"/>
          <p:cNvGrpSpPr/>
          <p:nvPr/>
        </p:nvGrpSpPr>
        <p:grpSpPr>
          <a:xfrm>
            <a:off x="6057900" y="5257800"/>
            <a:ext cx="5524500" cy="1280351"/>
            <a:chOff x="6057900" y="5257800"/>
            <a:chExt cx="5524500" cy="1280351"/>
          </a:xfrm>
        </p:grpSpPr>
        <p:sp>
          <p:nvSpPr>
            <p:cNvPr id="32" name="Rectangle 32"/>
            <p:cNvSpPr/>
            <p:nvPr/>
          </p:nvSpPr>
          <p:spPr>
            <a:xfrm>
              <a:off x="6057900" y="5257800"/>
              <a:ext cx="5524500" cy="1238250"/>
            </a:xfrm>
            <a:prstGeom prst="rect">
              <a:avLst/>
            </a:prstGeom>
            <a:solidFill>
              <a:srgbClr val="FFF4E8"/>
            </a:solidFill>
            <a:ln>
              <a:noFill/>
            </a:ln>
          </p:spPr>
        </p:sp>
        <p:sp>
          <p:nvSpPr>
            <p:cNvPr id="33" name="TextBox 33"/>
            <p:cNvSpPr txBox="1"/>
            <p:nvPr/>
          </p:nvSpPr>
          <p:spPr>
            <a:xfrm>
              <a:off x="6277356" y="540639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消融结论</a:t>
              </a:r>
            </a:p>
          </p:txBody>
        </p:sp>
        <p:sp>
          <p:nvSpPr>
            <p:cNvPr id="34" name="TextBox 34"/>
            <p:cNvSpPr txBox="1"/>
            <p:nvPr/>
          </p:nvSpPr>
          <p:spPr>
            <a:xfrm>
              <a:off x="6279642" y="5759768"/>
              <a:ext cx="366313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① 制胜机理贡献信号最强：Δ 90 个百分点</a:t>
              </a:r>
            </a:p>
          </p:txBody>
        </p:sp>
        <p:sp>
          <p:nvSpPr>
            <p:cNvPr id="35" name="TextBox 35"/>
            <p:cNvSpPr txBox="1"/>
            <p:nvPr/>
          </p:nvSpPr>
          <p:spPr>
            <a:xfrm>
              <a:off x="6279642" y="6026468"/>
              <a:ext cx="34893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多源研究呈方向性增益：Δ 20 个百分点</a:t>
              </a:r>
            </a:p>
          </p:txBody>
        </p:sp>
        <p:sp>
          <p:nvSpPr>
            <p:cNvPr id="36" name="TextBox 36"/>
            <p:cNvSpPr txBox="1"/>
            <p:nvPr/>
          </p:nvSpPr>
          <p:spPr>
            <a:xfrm>
              <a:off x="6279642" y="6274118"/>
              <a:ext cx="395610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③ 固定代码、模型、Query 与 Judge 后扩样复测</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下一阶段：补优化、扩样本、降时延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23</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优化智能体设计</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严格落实相关要求</a:t>
              </a:r>
            </a:p>
          </p:txBody>
        </p:sp>
        <p:sp>
          <p:nvSpPr>
            <p:cNvPr id="10" name="TextBox 10"/>
            <p:cNvSpPr txBox="1"/>
            <p:nvPr/>
          </p:nvSpPr>
          <p:spPr>
            <a:xfrm>
              <a:off x="600456" y="3920490"/>
              <a:ext cx="224416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压缩 Prompt 上下文</a:t>
              </a:r>
            </a:p>
          </p:txBody>
        </p:sp>
        <p:sp>
          <p:nvSpPr>
            <p:cNvPr id="11" name="TextBox 11"/>
            <p:cNvSpPr txBox="1"/>
            <p:nvPr/>
          </p:nvSpPr>
          <p:spPr>
            <a:xfrm>
              <a:off x="600456" y="4320540"/>
              <a:ext cx="24414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强化质量门与装备约束</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2026-07-30T10:31:28Z</dcterms:created>
  <dcterms:modified xsi:type="dcterms:W3CDTF">2026-07-30T10:31:28Z</dcterms:modified>
  <cp:category/>
  <cp:contentStatus/>
</cp:coreProperties>
</file>