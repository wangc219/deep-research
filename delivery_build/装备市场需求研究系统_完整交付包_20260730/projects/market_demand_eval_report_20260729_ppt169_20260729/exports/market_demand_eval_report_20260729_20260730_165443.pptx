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文档中的发散问题没有被整段复制进每个 Agent 的 Prompt，而是压缩成四层运行机制。十二类分类提问先进入唯一责任分支或专业 Agent，每个角色只获得最多三个专属镜头；六类颠覆逻辑则被整理为十二张反事实种子卡，运行时通常只确定性选择两到三张。S1 先形成竞争性对手体系和反适应假设，S2 再形成机制不同的作战路径，随后 S3 到 S6 逐步转化为突破机制、能力映射、差距成熟度和五到七项具体装备，最后通过五项质量门。整个选卡过程在本地完成，不增加模型调用，而且种子始终被标记为假设镜头而不是事实或必选目录。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分类提问的主要价值，是先确定唯一主责，避免所有 Agent 重复回答同一批问题。十二类问题被映射到 A到G的主分支或 international_situation 专业 Agent，例如局部战争经验归 C 分支，体系对抗问题归 F 分支，空天、深海、电磁和网络问题归 G 分支。主分支负责主研究路径，前置专业 Agent 只获得最多三个职责专属镜头，其他 Agent 不再重复展开。</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这十二张卡不是固定答案，而是把原始颠覆问题压缩为可控的反事实发散镜头。每张卡只保留传统关系、新关系、装备牵引和风险检查等短信息，运行时根据 Query、主分支和 Agent 职责选择少量相关卡。A1 到 F2 只是有界起始集合，智能体仍可在因果约束和质量门下提出 OTHER 新方向，但不能为了覆盖六个维度机械增加无关概念。</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八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更新后的通用 Codex Agent 对比中，完整方法为十七胜两平一负，得分率百分之九十，百分之九十五置信区间为百分之七十八到百分之一百。八个评测维度现在全部领先，能力映射为七十三比零比七，因果机理为六十八比零比十二。证据与事实可靠性为三十八比十六比二十六，虽然已经由反向转为领先，但仍是差距最小、需要继续加强的维度。条形延续使用平方根压缩示意，准确数据以右侧票数为准。</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在这三项上全部支持完整方法。条形采用平方根压缩，使六到七张 Baseline 胜票仍能清晰辨认，但准确大小仍由右侧票数表达。</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 Baseline 胜票最多的维度；条形经过平方根压缩后更容易看清这些少数票，但不改变票数结论。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步消融实验中，完整方法对去多源基线为百分之六十对百分之四十，差值二十个百分点；对去制胜机理为百分之九十五对百分之五，差值九十个百分点。制胜机理的贡献信号依然最强，多源基线目前只呈方向性增益。由于控制组版本和样本条件仍有限，这些差值不直接解释为严格因果效应。</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建议下一阶段批准三个工作包。第一，继续优化智能体设计，严格落实分类分支、专属镜头、种子边界和装备质量门；第二，完成五十条全量 Benchmark，并固定代码与模型版本、预注册评测口径；第三，开展同版本消融复测，同时记录质量、时延和成本。完成这三项后，项目才能从初步有效走向稳定可信和可规模化。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95300"/>
            <a:ext cx="10994898" cy="862584"/>
            <a:chOff x="594360" y="495300"/>
            <a:chExt cx="10994898" cy="862584"/>
          </a:xfrm>
        </p:grpSpPr>
        <p:sp>
          <p:nvSpPr>
            <p:cNvPr id="2" name="TextBox 2"/>
            <p:cNvSpPr txBox="1"/>
            <p:nvPr/>
          </p:nvSpPr>
          <p:spPr>
            <a:xfrm>
              <a:off x="594360" y="495300"/>
              <a:ext cx="106462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发散问题没有整段复制进 Prompt，而是压缩为四层机制</a:t>
              </a:r>
            </a:p>
          </p:txBody>
        </p:sp>
        <p:sp>
          <p:nvSpPr>
            <p:cNvPr id="3" name="TextBox 3"/>
            <p:cNvSpPr txBox="1"/>
            <p:nvPr/>
          </p:nvSpPr>
          <p:spPr>
            <a:xfrm>
              <a:off x="600456" y="10058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保留发散能力，同时控制上下文规模与概念漂移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grpSp>
      <p:grpSp>
        <p:nvGrpSpPr>
          <p:cNvPr id="30" name="Group 30"/>
          <p:cNvGrpSpPr/>
          <p:nvPr/>
        </p:nvGrpSpPr>
        <p:grpSpPr>
          <a:xfrm>
            <a:off x="609600" y="1504950"/>
            <a:ext cx="10972800" cy="1809750"/>
            <a:chOff x="609600" y="1504950"/>
            <a:chExt cx="10972800" cy="1809750"/>
          </a:xfrm>
        </p:grpSpPr>
        <p:sp>
          <p:nvSpPr>
            <p:cNvPr id="6" name="Rectangle 6"/>
            <p:cNvSpPr/>
            <p:nvPr/>
          </p:nvSpPr>
          <p:spPr>
            <a:xfrm>
              <a:off x="609600" y="1504950"/>
              <a:ext cx="2628900" cy="1809750"/>
            </a:xfrm>
            <a:prstGeom prst="rect">
              <a:avLst/>
            </a:prstGeom>
            <a:solidFill>
              <a:schemeClr val="accent5"/>
            </a:solidFill>
            <a:ln>
              <a:noFill/>
            </a:ln>
          </p:spPr>
        </p:sp>
        <p:sp>
          <p:nvSpPr>
            <p:cNvPr id="7" name="Rectangle 7"/>
            <p:cNvSpPr/>
            <p:nvPr/>
          </p:nvSpPr>
          <p:spPr>
            <a:xfrm>
              <a:off x="609600" y="1504950"/>
              <a:ext cx="2628900" cy="76200"/>
            </a:xfrm>
            <a:prstGeom prst="rect">
              <a:avLst/>
            </a:prstGeom>
            <a:solidFill>
              <a:schemeClr val="accent1"/>
            </a:solidFill>
            <a:ln>
              <a:noFill/>
            </a:ln>
          </p:spPr>
        </p:sp>
        <p:sp>
          <p:nvSpPr>
            <p:cNvPr id="8" name="TextBox 8"/>
            <p:cNvSpPr txBox="1"/>
            <p:nvPr/>
          </p:nvSpPr>
          <p:spPr>
            <a:xfrm>
              <a:off x="7886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9" name="TextBox 9"/>
            <p:cNvSpPr txBox="1"/>
            <p:nvPr/>
          </p:nvSpPr>
          <p:spPr>
            <a:xfrm>
              <a:off x="1248156" y="1767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分支内核</a:t>
              </a:r>
            </a:p>
          </p:txBody>
        </p:sp>
        <p:sp>
          <p:nvSpPr>
            <p:cNvPr id="10" name="TextBox 10"/>
            <p:cNvSpPr txBox="1"/>
            <p:nvPr/>
          </p:nvSpPr>
          <p:spPr>
            <a:xfrm>
              <a:off x="793242" y="2235518"/>
              <a:ext cx="22425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12 类问题 → 唯一责任分支每个分支只保留一句任务内核</a:t>
              </a:r>
            </a:p>
          </p:txBody>
        </p:sp>
        <p:sp>
          <p:nvSpPr>
            <p:cNvPr id="11" name="TextBox 11"/>
            <p:cNvSpPr txBox="1"/>
            <p:nvPr/>
          </p:nvSpPr>
          <p:spPr>
            <a:xfrm>
              <a:off x="793242" y="2902268"/>
              <a:ext cx="1474960"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A–H / 专业 Agent</a:t>
              </a:r>
            </a:p>
          </p:txBody>
        </p:sp>
        <p:sp>
          <p:nvSpPr>
            <p:cNvPr id="12" name="Rectangle 12"/>
            <p:cNvSpPr/>
            <p:nvPr/>
          </p:nvSpPr>
          <p:spPr>
            <a:xfrm>
              <a:off x="3390900" y="1504950"/>
              <a:ext cx="2628900" cy="1809750"/>
            </a:xfrm>
            <a:prstGeom prst="rect">
              <a:avLst/>
            </a:prstGeom>
            <a:solidFill>
              <a:schemeClr val="accent5"/>
            </a:solidFill>
            <a:ln>
              <a:noFill/>
            </a:ln>
          </p:spPr>
        </p:sp>
        <p:sp>
          <p:nvSpPr>
            <p:cNvPr id="13" name="Rectangle 13"/>
            <p:cNvSpPr/>
            <p:nvPr/>
          </p:nvSpPr>
          <p:spPr>
            <a:xfrm>
              <a:off x="3390900" y="1504950"/>
              <a:ext cx="2628900" cy="76200"/>
            </a:xfrm>
            <a:prstGeom prst="rect">
              <a:avLst/>
            </a:prstGeom>
            <a:solidFill>
              <a:schemeClr val="accent2"/>
            </a:solidFill>
            <a:ln>
              <a:noFill/>
            </a:ln>
          </p:spPr>
        </p:sp>
        <p:sp>
          <p:nvSpPr>
            <p:cNvPr id="14" name="TextBox 14"/>
            <p:cNvSpPr txBox="1"/>
            <p:nvPr/>
          </p:nvSpPr>
          <p:spPr>
            <a:xfrm>
              <a:off x="35699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02</a:t>
              </a:r>
            </a:p>
          </p:txBody>
        </p:sp>
        <p:sp>
          <p:nvSpPr>
            <p:cNvPr id="15" name="TextBox 15"/>
            <p:cNvSpPr txBox="1"/>
            <p:nvPr/>
          </p:nvSpPr>
          <p:spPr>
            <a:xfrm>
              <a:off x="4029456" y="1767840"/>
              <a:ext cx="1832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Agent 专属镜头</a:t>
              </a:r>
            </a:p>
          </p:txBody>
        </p:sp>
        <p:sp>
          <p:nvSpPr>
            <p:cNvPr id="16" name="TextBox 16"/>
            <p:cNvSpPr txBox="1"/>
            <p:nvPr/>
          </p:nvSpPr>
          <p:spPr>
            <a:xfrm>
              <a:off x="3574542" y="2235518"/>
              <a:ext cx="25854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按职责配置，不重复分析全量问题每个前置 Agent 最多 3 个镜头</a:t>
              </a:r>
            </a:p>
          </p:txBody>
        </p:sp>
        <p:sp>
          <p:nvSpPr>
            <p:cNvPr id="17" name="TextBox 17"/>
            <p:cNvSpPr txBox="1"/>
            <p:nvPr/>
          </p:nvSpPr>
          <p:spPr>
            <a:xfrm>
              <a:off x="3574542" y="2902268"/>
              <a:ext cx="209460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场景 / 装备 / 体系 / 技术</a:t>
              </a:r>
            </a:p>
          </p:txBody>
        </p:sp>
        <p:sp>
          <p:nvSpPr>
            <p:cNvPr id="18" name="Rectangle 18"/>
            <p:cNvSpPr/>
            <p:nvPr/>
          </p:nvSpPr>
          <p:spPr>
            <a:xfrm>
              <a:off x="6172200" y="1504950"/>
              <a:ext cx="2628900" cy="1809750"/>
            </a:xfrm>
            <a:prstGeom prst="rect">
              <a:avLst/>
            </a:prstGeom>
            <a:solidFill>
              <a:schemeClr val="accent5"/>
            </a:solidFill>
            <a:ln>
              <a:noFill/>
            </a:ln>
          </p:spPr>
        </p:sp>
        <p:sp>
          <p:nvSpPr>
            <p:cNvPr id="19" name="Rectangle 19"/>
            <p:cNvSpPr/>
            <p:nvPr/>
          </p:nvSpPr>
          <p:spPr>
            <a:xfrm>
              <a:off x="6172200" y="1504950"/>
              <a:ext cx="2628900" cy="76200"/>
            </a:xfrm>
            <a:prstGeom prst="rect">
              <a:avLst/>
            </a:prstGeom>
            <a:solidFill>
              <a:schemeClr val="accent3"/>
            </a:solidFill>
            <a:ln>
              <a:noFill/>
            </a:ln>
          </p:spPr>
        </p:sp>
        <p:sp>
          <p:nvSpPr>
            <p:cNvPr id="20" name="TextBox 20"/>
            <p:cNvSpPr txBox="1"/>
            <p:nvPr/>
          </p:nvSpPr>
          <p:spPr>
            <a:xfrm>
              <a:off x="63512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03</a:t>
              </a:r>
            </a:p>
          </p:txBody>
        </p:sp>
        <p:sp>
          <p:nvSpPr>
            <p:cNvPr id="21" name="TextBox 21"/>
            <p:cNvSpPr txBox="1"/>
            <p:nvPr/>
          </p:nvSpPr>
          <p:spPr>
            <a:xfrm>
              <a:off x="6810756" y="1767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颠覆性种子卡</a:t>
              </a:r>
            </a:p>
          </p:txBody>
        </p:sp>
        <p:sp>
          <p:nvSpPr>
            <p:cNvPr id="22" name="TextBox 22"/>
            <p:cNvSpPr txBox="1"/>
            <p:nvPr/>
          </p:nvSpPr>
          <p:spPr>
            <a:xfrm>
              <a:off x="6355842" y="2235518"/>
              <a:ext cx="227685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六类逻辑 → A1–F2 十二张短卡根据 Query 通常只选 2–3 张</a:t>
              </a:r>
            </a:p>
          </p:txBody>
        </p:sp>
        <p:sp>
          <p:nvSpPr>
            <p:cNvPr id="23" name="TextBox 23"/>
            <p:cNvSpPr txBox="1"/>
            <p:nvPr/>
          </p:nvSpPr>
          <p:spPr>
            <a:xfrm>
              <a:off x="6355842" y="2902268"/>
              <a:ext cx="224908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关系变化 / 装备牵引 / 风险</a:t>
              </a:r>
            </a:p>
          </p:txBody>
        </p:sp>
        <p:sp>
          <p:nvSpPr>
            <p:cNvPr id="24" name="Rectangle 24"/>
            <p:cNvSpPr/>
            <p:nvPr/>
          </p:nvSpPr>
          <p:spPr>
            <a:xfrm>
              <a:off x="8953500" y="1504950"/>
              <a:ext cx="2628900" cy="1809750"/>
            </a:xfrm>
            <a:prstGeom prst="rect">
              <a:avLst/>
            </a:prstGeom>
            <a:solidFill>
              <a:schemeClr val="accent5"/>
            </a:solidFill>
            <a:ln>
              <a:noFill/>
            </a:ln>
          </p:spPr>
        </p:sp>
        <p:sp>
          <p:nvSpPr>
            <p:cNvPr id="25" name="Rectangle 25"/>
            <p:cNvSpPr/>
            <p:nvPr/>
          </p:nvSpPr>
          <p:spPr>
            <a:xfrm>
              <a:off x="8953500" y="1504950"/>
              <a:ext cx="2628900" cy="76200"/>
            </a:xfrm>
            <a:prstGeom prst="rect">
              <a:avLst/>
            </a:prstGeom>
            <a:solidFill>
              <a:schemeClr val="accent6"/>
            </a:solidFill>
            <a:ln>
              <a:noFill/>
            </a:ln>
          </p:spPr>
        </p:sp>
        <p:sp>
          <p:nvSpPr>
            <p:cNvPr id="26" name="TextBox 26"/>
            <p:cNvSpPr txBox="1"/>
            <p:nvPr/>
          </p:nvSpPr>
          <p:spPr>
            <a:xfrm>
              <a:off x="91325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04</a:t>
              </a:r>
            </a:p>
          </p:txBody>
        </p:sp>
        <p:sp>
          <p:nvSpPr>
            <p:cNvPr id="27" name="TextBox 27"/>
            <p:cNvSpPr txBox="1"/>
            <p:nvPr/>
          </p:nvSpPr>
          <p:spPr>
            <a:xfrm>
              <a:off x="9592056" y="17678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质量门</a:t>
              </a:r>
            </a:p>
          </p:txBody>
        </p:sp>
        <p:sp>
          <p:nvSpPr>
            <p:cNvPr id="28" name="TextBox 28"/>
            <p:cNvSpPr txBox="1"/>
            <p:nvPr/>
          </p:nvSpPr>
          <p:spPr>
            <a:xfrm>
              <a:off x="9137142" y="2235518"/>
              <a:ext cx="207111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S1–S6 逐步发散并收敛最终通过五项业务验收标准</a:t>
              </a:r>
            </a:p>
          </p:txBody>
        </p:sp>
        <p:sp>
          <p:nvSpPr>
            <p:cNvPr id="29" name="TextBox 29"/>
            <p:cNvSpPr txBox="1"/>
            <p:nvPr/>
          </p:nvSpPr>
          <p:spPr>
            <a:xfrm>
              <a:off x="9137142" y="2902268"/>
              <a:ext cx="205825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5–7 项 · 可验证 · 有边界</a:t>
              </a:r>
            </a:p>
          </p:txBody>
        </p:sp>
      </p:grpSp>
      <p:grpSp>
        <p:nvGrpSpPr>
          <p:cNvPr id="75" name="Group 75"/>
          <p:cNvGrpSpPr/>
          <p:nvPr/>
        </p:nvGrpSpPr>
        <p:grpSpPr>
          <a:xfrm>
            <a:off x="602742" y="3607118"/>
            <a:ext cx="10979658" cy="1565338"/>
            <a:chOff x="602742" y="3607118"/>
            <a:chExt cx="10979658" cy="1565338"/>
          </a:xfrm>
        </p:grpSpPr>
        <p:sp>
          <p:nvSpPr>
            <p:cNvPr id="31" name="TextBox 31"/>
            <p:cNvSpPr txBox="1"/>
            <p:nvPr/>
          </p:nvSpPr>
          <p:spPr>
            <a:xfrm>
              <a:off x="602742" y="3607118"/>
              <a:ext cx="247354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运行落点 · S1–S6 完整链路</a:t>
              </a:r>
            </a:p>
          </p:txBody>
        </p:sp>
        <p:sp>
          <p:nvSpPr>
            <p:cNvPr id="32" name="Rectangle 32"/>
            <p:cNvSpPr/>
            <p:nvPr/>
          </p:nvSpPr>
          <p:spPr>
            <a:xfrm>
              <a:off x="609600" y="3867150"/>
              <a:ext cx="1638300" cy="533400"/>
            </a:xfrm>
            <a:prstGeom prst="rect">
              <a:avLst/>
            </a:prstGeom>
            <a:solidFill>
              <a:schemeClr val="accent1"/>
            </a:solidFill>
            <a:ln>
              <a:noFill/>
            </a:ln>
          </p:spPr>
        </p:sp>
        <p:sp>
          <p:nvSpPr>
            <p:cNvPr id="33" name="TextBox 33"/>
            <p:cNvSpPr txBox="1"/>
            <p:nvPr/>
          </p:nvSpPr>
          <p:spPr>
            <a:xfrm>
              <a:off x="915309" y="3950018"/>
              <a:ext cx="102688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原始 Query</a:t>
              </a:r>
            </a:p>
          </p:txBody>
        </p:sp>
        <p:sp>
          <p:nvSpPr>
            <p:cNvPr id="34" name="TextBox 34"/>
            <p:cNvSpPr txBox="1"/>
            <p:nvPr/>
          </p:nvSpPr>
          <p:spPr>
            <a:xfrm>
              <a:off x="1099566" y="4175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任务输入</a:t>
              </a:r>
            </a:p>
          </p:txBody>
        </p:sp>
        <p:sp>
          <p:nvSpPr>
            <p:cNvPr id="35" name="Freeform 35"/>
            <p:cNvSpPr/>
            <p:nvPr/>
          </p:nvSpPr>
          <p:spPr>
            <a:xfrm>
              <a:off x="22860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36" name="Rectangle 36"/>
            <p:cNvSpPr/>
            <p:nvPr/>
          </p:nvSpPr>
          <p:spPr>
            <a:xfrm>
              <a:off x="2476500" y="3867150"/>
              <a:ext cx="1638300" cy="533400"/>
            </a:xfrm>
            <a:prstGeom prst="rect">
              <a:avLst/>
            </a:prstGeom>
            <a:solidFill>
              <a:srgbClr val="DCE9F5"/>
            </a:solidFill>
            <a:ln>
              <a:noFill/>
            </a:ln>
          </p:spPr>
        </p:sp>
        <p:sp>
          <p:nvSpPr>
            <p:cNvPr id="37" name="TextBox 37"/>
            <p:cNvSpPr txBox="1"/>
            <p:nvPr/>
          </p:nvSpPr>
          <p:spPr>
            <a:xfrm>
              <a:off x="3122451" y="3950018"/>
              <a:ext cx="346398"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A–H</a:t>
              </a:r>
            </a:p>
          </p:txBody>
        </p:sp>
        <p:sp>
          <p:nvSpPr>
            <p:cNvPr id="38" name="TextBox 38"/>
            <p:cNvSpPr txBox="1"/>
            <p:nvPr/>
          </p:nvSpPr>
          <p:spPr>
            <a:xfrm>
              <a:off x="2966466" y="4175760"/>
              <a:ext cx="658368"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路径识别</a:t>
              </a:r>
            </a:p>
          </p:txBody>
        </p:sp>
        <p:sp>
          <p:nvSpPr>
            <p:cNvPr id="39" name="Freeform 39"/>
            <p:cNvSpPr/>
            <p:nvPr/>
          </p:nvSpPr>
          <p:spPr>
            <a:xfrm>
              <a:off x="41529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0" name="Rectangle 40"/>
            <p:cNvSpPr/>
            <p:nvPr/>
          </p:nvSpPr>
          <p:spPr>
            <a:xfrm>
              <a:off x="4343400" y="3867150"/>
              <a:ext cx="1638300" cy="533400"/>
            </a:xfrm>
            <a:prstGeom prst="rect">
              <a:avLst/>
            </a:prstGeom>
            <a:solidFill>
              <a:srgbClr val="DCE9F5"/>
            </a:solidFill>
            <a:ln>
              <a:noFill/>
            </a:ln>
          </p:spPr>
        </p:sp>
        <p:sp>
          <p:nvSpPr>
            <p:cNvPr id="41" name="TextBox 41"/>
            <p:cNvSpPr txBox="1"/>
            <p:nvPr/>
          </p:nvSpPr>
          <p:spPr>
            <a:xfrm>
              <a:off x="4475423" y="3950018"/>
              <a:ext cx="137425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前置专业 Agent</a:t>
              </a:r>
            </a:p>
          </p:txBody>
        </p:sp>
        <p:sp>
          <p:nvSpPr>
            <p:cNvPr id="42" name="TextBox 42"/>
            <p:cNvSpPr txBox="1"/>
            <p:nvPr/>
          </p:nvSpPr>
          <p:spPr>
            <a:xfrm>
              <a:off x="4671822" y="4175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专属发散镜头</a:t>
              </a:r>
            </a:p>
          </p:txBody>
        </p:sp>
        <p:sp>
          <p:nvSpPr>
            <p:cNvPr id="43" name="Freeform 43"/>
            <p:cNvSpPr/>
            <p:nvPr/>
          </p:nvSpPr>
          <p:spPr>
            <a:xfrm>
              <a:off x="60198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4" name="Rectangle 44"/>
            <p:cNvSpPr/>
            <p:nvPr/>
          </p:nvSpPr>
          <p:spPr>
            <a:xfrm>
              <a:off x="6210300" y="3867150"/>
              <a:ext cx="1638300" cy="533400"/>
            </a:xfrm>
            <a:prstGeom prst="rect">
              <a:avLst/>
            </a:prstGeom>
            <a:solidFill>
              <a:schemeClr val="accent2"/>
            </a:solidFill>
            <a:ln>
              <a:noFill/>
            </a:ln>
          </p:spPr>
        </p:sp>
        <p:sp>
          <p:nvSpPr>
            <p:cNvPr id="45" name="TextBox 45"/>
            <p:cNvSpPr txBox="1"/>
            <p:nvPr/>
          </p:nvSpPr>
          <p:spPr>
            <a:xfrm>
              <a:off x="69116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S1</a:t>
              </a:r>
            </a:p>
          </p:txBody>
        </p:sp>
        <p:sp>
          <p:nvSpPr>
            <p:cNvPr id="46" name="TextBox 46"/>
            <p:cNvSpPr txBox="1"/>
            <p:nvPr/>
          </p:nvSpPr>
          <p:spPr>
            <a:xfrm>
              <a:off x="63771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对手体系与反适应</a:t>
              </a:r>
            </a:p>
          </p:txBody>
        </p:sp>
        <p:sp>
          <p:nvSpPr>
            <p:cNvPr id="47" name="Freeform 47"/>
            <p:cNvSpPr/>
            <p:nvPr/>
          </p:nvSpPr>
          <p:spPr>
            <a:xfrm>
              <a:off x="78867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8" name="Rectangle 48"/>
            <p:cNvSpPr/>
            <p:nvPr/>
          </p:nvSpPr>
          <p:spPr>
            <a:xfrm>
              <a:off x="8077200" y="3867150"/>
              <a:ext cx="1638300" cy="533400"/>
            </a:xfrm>
            <a:prstGeom prst="rect">
              <a:avLst/>
            </a:prstGeom>
            <a:solidFill>
              <a:schemeClr val="accent2"/>
            </a:solidFill>
            <a:ln>
              <a:noFill/>
            </a:ln>
          </p:spPr>
        </p:sp>
        <p:sp>
          <p:nvSpPr>
            <p:cNvPr id="49" name="TextBox 49"/>
            <p:cNvSpPr txBox="1"/>
            <p:nvPr/>
          </p:nvSpPr>
          <p:spPr>
            <a:xfrm>
              <a:off x="87785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S2</a:t>
              </a:r>
            </a:p>
          </p:txBody>
        </p:sp>
        <p:sp>
          <p:nvSpPr>
            <p:cNvPr id="50" name="TextBox 50"/>
            <p:cNvSpPr txBox="1"/>
            <p:nvPr/>
          </p:nvSpPr>
          <p:spPr>
            <a:xfrm>
              <a:off x="8324850" y="4175760"/>
              <a:ext cx="1143000"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竞争性作战路径</a:t>
              </a:r>
            </a:p>
          </p:txBody>
        </p:sp>
        <p:sp>
          <p:nvSpPr>
            <p:cNvPr id="51" name="Freeform 51"/>
            <p:cNvSpPr/>
            <p:nvPr/>
          </p:nvSpPr>
          <p:spPr>
            <a:xfrm>
              <a:off x="97536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52" name="Rectangle 52"/>
            <p:cNvSpPr/>
            <p:nvPr/>
          </p:nvSpPr>
          <p:spPr>
            <a:xfrm>
              <a:off x="9944100" y="3867150"/>
              <a:ext cx="1638300" cy="533400"/>
            </a:xfrm>
            <a:prstGeom prst="rect">
              <a:avLst/>
            </a:prstGeom>
            <a:solidFill>
              <a:schemeClr val="accent2"/>
            </a:solidFill>
            <a:ln>
              <a:noFill/>
            </a:ln>
          </p:spPr>
        </p:sp>
        <p:sp>
          <p:nvSpPr>
            <p:cNvPr id="53" name="TextBox 53"/>
            <p:cNvSpPr txBox="1"/>
            <p:nvPr/>
          </p:nvSpPr>
          <p:spPr>
            <a:xfrm>
              <a:off x="106454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S3</a:t>
              </a:r>
            </a:p>
          </p:txBody>
        </p:sp>
        <p:sp>
          <p:nvSpPr>
            <p:cNvPr id="54" name="TextBox 54"/>
            <p:cNvSpPr txBox="1"/>
            <p:nvPr/>
          </p:nvSpPr>
          <p:spPr>
            <a:xfrm>
              <a:off x="101109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突破机制与效果链</a:t>
              </a:r>
            </a:p>
          </p:txBody>
        </p:sp>
        <p:sp>
          <p:nvSpPr>
            <p:cNvPr id="55" name="Freeform 55"/>
            <p:cNvSpPr/>
            <p:nvPr/>
          </p:nvSpPr>
          <p:spPr>
            <a:xfrm>
              <a:off x="10687050" y="4438650"/>
              <a:ext cx="152400" cy="152400"/>
            </a:xfrm>
            <a:custGeom>
              <a:avLst/>
              <a:gdLst/>
              <a:ahLst/>
              <a:cxnLst/>
              <a:rect l="l" t="t" r="r" b="b"/>
              <a:pathLst>
                <a:path w="152400" h="152400">
                  <a:moveTo>
                    <a:pt x="76200" y="0"/>
                  </a:moveTo>
                  <a:lnTo>
                    <a:pt x="76200" y="76200"/>
                  </a:lnTo>
                  <a:lnTo>
                    <a:pt x="0" y="76200"/>
                  </a:lnTo>
                  <a:lnTo>
                    <a:pt x="76200" y="152400"/>
                  </a:lnTo>
                  <a:lnTo>
                    <a:pt x="152400" y="76200"/>
                  </a:lnTo>
                  <a:lnTo>
                    <a:pt x="76200" y="76200"/>
                  </a:lnTo>
                </a:path>
              </a:pathLst>
            </a:custGeom>
            <a:solidFill>
              <a:srgbClr val="94A3B8"/>
            </a:solidFill>
            <a:ln>
              <a:noFill/>
            </a:ln>
          </p:spPr>
        </p:sp>
        <p:sp>
          <p:nvSpPr>
            <p:cNvPr id="56" name="Rectangle 56"/>
            <p:cNvSpPr/>
            <p:nvPr/>
          </p:nvSpPr>
          <p:spPr>
            <a:xfrm>
              <a:off x="9925050" y="4629150"/>
              <a:ext cx="1657350" cy="533400"/>
            </a:xfrm>
            <a:prstGeom prst="rect">
              <a:avLst/>
            </a:prstGeom>
            <a:solidFill>
              <a:schemeClr val="accent2"/>
            </a:solidFill>
            <a:ln>
              <a:noFill/>
            </a:ln>
          </p:spPr>
        </p:sp>
        <p:sp>
          <p:nvSpPr>
            <p:cNvPr id="57" name="TextBox 57"/>
            <p:cNvSpPr txBox="1"/>
            <p:nvPr/>
          </p:nvSpPr>
          <p:spPr>
            <a:xfrm>
              <a:off x="10635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S4</a:t>
              </a:r>
            </a:p>
          </p:txBody>
        </p:sp>
        <p:sp>
          <p:nvSpPr>
            <p:cNvPr id="58" name="TextBox 58"/>
            <p:cNvSpPr txBox="1"/>
            <p:nvPr/>
          </p:nvSpPr>
          <p:spPr>
            <a:xfrm>
              <a:off x="10424541" y="4937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能力映射</a:t>
              </a:r>
            </a:p>
          </p:txBody>
        </p:sp>
        <p:sp>
          <p:nvSpPr>
            <p:cNvPr id="59" name="Freeform 59"/>
            <p:cNvSpPr/>
            <p:nvPr/>
          </p:nvSpPr>
          <p:spPr>
            <a:xfrm>
              <a:off x="9734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0" name="Rectangle 60"/>
            <p:cNvSpPr/>
            <p:nvPr/>
          </p:nvSpPr>
          <p:spPr>
            <a:xfrm>
              <a:off x="7829550" y="4629150"/>
              <a:ext cx="1657350" cy="533400"/>
            </a:xfrm>
            <a:prstGeom prst="rect">
              <a:avLst/>
            </a:prstGeom>
            <a:solidFill>
              <a:schemeClr val="accent2"/>
            </a:solidFill>
            <a:ln>
              <a:noFill/>
            </a:ln>
          </p:spPr>
        </p:sp>
        <p:sp>
          <p:nvSpPr>
            <p:cNvPr id="61" name="TextBox 61"/>
            <p:cNvSpPr txBox="1"/>
            <p:nvPr/>
          </p:nvSpPr>
          <p:spPr>
            <a:xfrm>
              <a:off x="85404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S5</a:t>
              </a:r>
            </a:p>
          </p:txBody>
        </p:sp>
        <p:sp>
          <p:nvSpPr>
            <p:cNvPr id="62" name="TextBox 62"/>
            <p:cNvSpPr txBox="1"/>
            <p:nvPr/>
          </p:nvSpPr>
          <p:spPr>
            <a:xfrm>
              <a:off x="8167497" y="4937760"/>
              <a:ext cx="98145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差距与成熟度</a:t>
              </a:r>
            </a:p>
          </p:txBody>
        </p:sp>
        <p:sp>
          <p:nvSpPr>
            <p:cNvPr id="63" name="Freeform 63"/>
            <p:cNvSpPr/>
            <p:nvPr/>
          </p:nvSpPr>
          <p:spPr>
            <a:xfrm>
              <a:off x="7639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4" name="Rectangle 64"/>
            <p:cNvSpPr/>
            <p:nvPr/>
          </p:nvSpPr>
          <p:spPr>
            <a:xfrm>
              <a:off x="5734050" y="4629150"/>
              <a:ext cx="1657350" cy="533400"/>
            </a:xfrm>
            <a:prstGeom prst="rect">
              <a:avLst/>
            </a:prstGeom>
            <a:solidFill>
              <a:schemeClr val="accent3"/>
            </a:solidFill>
            <a:ln>
              <a:noFill/>
            </a:ln>
          </p:spPr>
        </p:sp>
        <p:sp>
          <p:nvSpPr>
            <p:cNvPr id="65" name="TextBox 65"/>
            <p:cNvSpPr txBox="1"/>
            <p:nvPr/>
          </p:nvSpPr>
          <p:spPr>
            <a:xfrm>
              <a:off x="6444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S6</a:t>
              </a:r>
            </a:p>
          </p:txBody>
        </p:sp>
        <p:sp>
          <p:nvSpPr>
            <p:cNvPr id="66" name="TextBox 66"/>
            <p:cNvSpPr txBox="1"/>
            <p:nvPr/>
          </p:nvSpPr>
          <p:spPr>
            <a:xfrm>
              <a:off x="5971032" y="4937760"/>
              <a:ext cx="118338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形成 5–7 项装备</a:t>
              </a:r>
            </a:p>
          </p:txBody>
        </p:sp>
        <p:sp>
          <p:nvSpPr>
            <p:cNvPr id="67" name="Freeform 67"/>
            <p:cNvSpPr/>
            <p:nvPr/>
          </p:nvSpPr>
          <p:spPr>
            <a:xfrm>
              <a:off x="5543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8" name="Rectangle 68"/>
            <p:cNvSpPr/>
            <p:nvPr/>
          </p:nvSpPr>
          <p:spPr>
            <a:xfrm>
              <a:off x="3638550" y="4629150"/>
              <a:ext cx="1657350" cy="533400"/>
            </a:xfrm>
            <a:prstGeom prst="rect">
              <a:avLst/>
            </a:prstGeom>
            <a:solidFill>
              <a:srgbClr val="DDEDE7"/>
            </a:solidFill>
            <a:ln>
              <a:noFill/>
            </a:ln>
          </p:spPr>
        </p:sp>
        <p:sp>
          <p:nvSpPr>
            <p:cNvPr id="69" name="TextBox 69"/>
            <p:cNvSpPr txBox="1"/>
            <p:nvPr/>
          </p:nvSpPr>
          <p:spPr>
            <a:xfrm>
              <a:off x="4037584" y="4712018"/>
              <a:ext cx="8592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Reporter</a:t>
              </a:r>
            </a:p>
          </p:txBody>
        </p:sp>
        <p:sp>
          <p:nvSpPr>
            <p:cNvPr id="70" name="TextBox 70"/>
            <p:cNvSpPr txBox="1"/>
            <p:nvPr/>
          </p:nvSpPr>
          <p:spPr>
            <a:xfrm>
              <a:off x="3976497" y="4937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三层九项报告</a:t>
              </a:r>
            </a:p>
          </p:txBody>
        </p:sp>
        <p:sp>
          <p:nvSpPr>
            <p:cNvPr id="71" name="Freeform 71"/>
            <p:cNvSpPr/>
            <p:nvPr/>
          </p:nvSpPr>
          <p:spPr>
            <a:xfrm>
              <a:off x="3448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72" name="Rectangle 72"/>
            <p:cNvSpPr/>
            <p:nvPr/>
          </p:nvSpPr>
          <p:spPr>
            <a:xfrm>
              <a:off x="1543050" y="4629150"/>
              <a:ext cx="1657350" cy="533400"/>
            </a:xfrm>
            <a:prstGeom prst="rect">
              <a:avLst/>
            </a:prstGeom>
            <a:solidFill>
              <a:schemeClr val="accent1"/>
            </a:solidFill>
            <a:ln>
              <a:noFill/>
            </a:ln>
          </p:spPr>
        </p:sp>
        <p:sp>
          <p:nvSpPr>
            <p:cNvPr id="73" name="TextBox 73"/>
            <p:cNvSpPr txBox="1"/>
            <p:nvPr/>
          </p:nvSpPr>
          <p:spPr>
            <a:xfrm>
              <a:off x="1887807" y="4712018"/>
              <a:ext cx="96783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五项质量门</a:t>
              </a:r>
            </a:p>
          </p:txBody>
        </p:sp>
        <p:sp>
          <p:nvSpPr>
            <p:cNvPr id="74" name="TextBox 74"/>
            <p:cNvSpPr txBox="1"/>
            <p:nvPr/>
          </p:nvSpPr>
          <p:spPr>
            <a:xfrm>
              <a:off x="1961769" y="4937760"/>
              <a:ext cx="819912"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收敛与验收</a:t>
              </a:r>
            </a:p>
          </p:txBody>
        </p:sp>
      </p:grpSp>
      <p:grpSp>
        <p:nvGrpSpPr>
          <p:cNvPr id="81" name="Group 81"/>
          <p:cNvGrpSpPr/>
          <p:nvPr/>
        </p:nvGrpSpPr>
        <p:grpSpPr>
          <a:xfrm>
            <a:off x="609600" y="5467350"/>
            <a:ext cx="10972800" cy="895350"/>
            <a:chOff x="609600" y="5467350"/>
            <a:chExt cx="10972800" cy="895350"/>
          </a:xfrm>
        </p:grpSpPr>
        <p:sp>
          <p:nvSpPr>
            <p:cNvPr id="76" name="Rectangle 76"/>
            <p:cNvSpPr/>
            <p:nvPr/>
          </p:nvSpPr>
          <p:spPr>
            <a:xfrm>
              <a:off x="609600" y="5467350"/>
              <a:ext cx="10972800" cy="895350"/>
            </a:xfrm>
            <a:prstGeom prst="rect">
              <a:avLst/>
            </a:prstGeom>
            <a:solidFill>
              <a:schemeClr val="accent5"/>
            </a:solidFill>
            <a:ln>
              <a:noFill/>
            </a:ln>
          </p:spPr>
        </p:sp>
        <p:sp>
          <p:nvSpPr>
            <p:cNvPr id="77" name="TextBox 77"/>
            <p:cNvSpPr txBox="1"/>
            <p:nvPr/>
          </p:nvSpPr>
          <p:spPr>
            <a:xfrm>
              <a:off x="831342" y="56264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三条运行边界</a:t>
              </a:r>
            </a:p>
          </p:txBody>
        </p:sp>
        <p:sp>
          <p:nvSpPr>
            <p:cNvPr id="78" name="TextBox 78"/>
            <p:cNvSpPr txBox="1"/>
            <p:nvPr/>
          </p:nvSpPr>
          <p:spPr>
            <a:xfrm>
              <a:off x="831342" y="5969318"/>
              <a:ext cx="28942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本地确定性选卡，不增加模型调用</a:t>
              </a:r>
            </a:p>
          </p:txBody>
        </p:sp>
        <p:sp>
          <p:nvSpPr>
            <p:cNvPr id="79" name="TextBox 79"/>
            <p:cNvSpPr txBox="1"/>
            <p:nvPr/>
          </p:nvSpPr>
          <p:spPr>
            <a:xfrm>
              <a:off x="4279392" y="5969318"/>
              <a:ext cx="38483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bounded_exploration 最多挑战一个既有前提</a:t>
              </a:r>
            </a:p>
          </p:txBody>
        </p:sp>
        <p:sp>
          <p:nvSpPr>
            <p:cNvPr id="80" name="TextBox 80"/>
            <p:cNvSpPr txBox="1"/>
            <p:nvPr/>
          </p:nvSpPr>
          <p:spPr>
            <a:xfrm>
              <a:off x="8356092" y="596931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种子不是事实、指标或必选目录</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60058"/>
            <a:ext cx="10995660" cy="884681"/>
            <a:chOff x="593598" y="460058"/>
            <a:chExt cx="10995660" cy="884681"/>
          </a:xfrm>
        </p:grpSpPr>
        <p:sp>
          <p:nvSpPr>
            <p:cNvPr id="2" name="TextBox 2"/>
            <p:cNvSpPr txBox="1"/>
            <p:nvPr/>
          </p:nvSpPr>
          <p:spPr>
            <a:xfrm>
              <a:off x="593598" y="460058"/>
              <a:ext cx="89707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分类提问落实为 A–H 分支和专业 Agent 路由</a:t>
              </a:r>
            </a:p>
          </p:txBody>
        </p:sp>
        <p:sp>
          <p:nvSpPr>
            <p:cNvPr id="3" name="TextBox 3"/>
            <p:cNvSpPr txBox="1"/>
            <p:nvPr/>
          </p:nvSpPr>
          <p:spPr>
            <a:xfrm>
              <a:off x="601218" y="1022032"/>
              <a:ext cx="6183066"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核心是确定“唯一主责”，防止所有 Agent 重复回答同一批问题</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grpSp>
      <p:grpSp>
        <p:nvGrpSpPr>
          <p:cNvPr id="42" name="Group 42"/>
          <p:cNvGrpSpPr/>
          <p:nvPr/>
        </p:nvGrpSpPr>
        <p:grpSpPr>
          <a:xfrm>
            <a:off x="609600" y="1504950"/>
            <a:ext cx="10972800" cy="3816953"/>
            <a:chOff x="609600" y="1504950"/>
            <a:chExt cx="10972800" cy="3816953"/>
          </a:xfrm>
        </p:grpSpPr>
        <p:sp>
          <p:nvSpPr>
            <p:cNvPr id="6" name="Rectangle 6"/>
            <p:cNvSpPr/>
            <p:nvPr/>
          </p:nvSpPr>
          <p:spPr>
            <a:xfrm>
              <a:off x="609600" y="1504950"/>
              <a:ext cx="10972800" cy="381000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77701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分类提问</a:t>
              </a:r>
            </a:p>
          </p:txBody>
        </p:sp>
        <p:sp>
          <p:nvSpPr>
            <p:cNvPr id="9" name="TextBox 9"/>
            <p:cNvSpPr txBox="1"/>
            <p:nvPr/>
          </p:nvSpPr>
          <p:spPr>
            <a:xfrm>
              <a:off x="784174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项目主落点</a:t>
              </a:r>
            </a:p>
          </p:txBody>
        </p:sp>
        <p:sp>
          <p:nvSpPr>
            <p:cNvPr id="10" name="Line 10"/>
            <p:cNvSpPr/>
            <p:nvPr/>
          </p:nvSpPr>
          <p:spPr>
            <a:xfrm>
              <a:off x="7620000" y="1504950"/>
              <a:ext cx="9525" cy="3810000"/>
            </a:xfrm>
            <a:custGeom>
              <a:avLst/>
              <a:gdLst/>
              <a:ahLst/>
              <a:cxnLst/>
              <a:rect l="l" t="t" r="r" b="b"/>
              <a:pathLst>
                <a:path w="9525" h="3810000">
                  <a:moveTo>
                    <a:pt x="0" y="0"/>
                  </a:moveTo>
                  <a:lnTo>
                    <a:pt x="0" y="3810000"/>
                  </a:lnTo>
                </a:path>
              </a:pathLst>
            </a:custGeom>
            <a:noFill/>
            <a:ln w="19050">
              <a:solidFill>
                <a:srgbClr val="C9D5E0"/>
              </a:solidFill>
            </a:ln>
          </p:spPr>
        </p:sp>
        <p:sp>
          <p:nvSpPr>
            <p:cNvPr id="11" name="Rectangle 11"/>
            <p:cNvSpPr/>
            <p:nvPr/>
          </p:nvSpPr>
          <p:spPr>
            <a:xfrm>
              <a:off x="609600" y="1866900"/>
              <a:ext cx="10972800" cy="285750"/>
            </a:xfrm>
            <a:prstGeom prst="rect">
              <a:avLst/>
            </a:prstGeom>
            <a:solidFill>
              <a:schemeClr val="accent5"/>
            </a:solidFill>
            <a:ln>
              <a:noFill/>
            </a:ln>
          </p:spPr>
        </p:sp>
        <p:sp>
          <p:nvSpPr>
            <p:cNvPr id="12" name="TextBox 12"/>
            <p:cNvSpPr txBox="1"/>
            <p:nvPr/>
          </p:nvSpPr>
          <p:spPr>
            <a:xfrm>
              <a:off x="774573" y="1929289"/>
              <a:ext cx="2149643"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 局部战争经验与装备启示</a:t>
              </a:r>
            </a:p>
          </p:txBody>
        </p:sp>
        <p:sp>
          <p:nvSpPr>
            <p:cNvPr id="13" name="TextBox 13"/>
            <p:cNvSpPr txBox="1"/>
            <p:nvPr/>
          </p:nvSpPr>
          <p:spPr>
            <a:xfrm>
              <a:off x="7842123" y="1929289"/>
              <a:ext cx="1838633"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C：局部战争案例经验</a:t>
              </a:r>
            </a:p>
          </p:txBody>
        </p:sp>
        <p:sp>
          <p:nvSpPr>
            <p:cNvPr id="14" name="Rectangle 14"/>
            <p:cNvSpPr/>
            <p:nvPr/>
          </p:nvSpPr>
          <p:spPr>
            <a:xfrm>
              <a:off x="7620000" y="2152650"/>
              <a:ext cx="57150" cy="285750"/>
            </a:xfrm>
            <a:prstGeom prst="rect">
              <a:avLst/>
            </a:prstGeom>
            <a:solidFill>
              <a:schemeClr val="accent6"/>
            </a:solidFill>
            <a:ln>
              <a:noFill/>
            </a:ln>
          </p:spPr>
        </p:sp>
        <p:sp>
          <p:nvSpPr>
            <p:cNvPr id="15" name="TextBox 15"/>
            <p:cNvSpPr txBox="1"/>
            <p:nvPr/>
          </p:nvSpPr>
          <p:spPr>
            <a:xfrm>
              <a:off x="774573" y="2215039"/>
              <a:ext cx="163270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2. 国际战略形势变化</a:t>
              </a:r>
            </a:p>
          </p:txBody>
        </p:sp>
        <p:sp>
          <p:nvSpPr>
            <p:cNvPr id="16" name="TextBox 16"/>
            <p:cNvSpPr txBox="1"/>
            <p:nvPr/>
          </p:nvSpPr>
          <p:spPr>
            <a:xfrm>
              <a:off x="7842123" y="2215039"/>
              <a:ext cx="2632863" cy="249364"/>
            </a:xfrm>
            <a:prstGeom prst="rect">
              <a:avLst/>
            </a:prstGeom>
            <a:noFill/>
            <a:ln>
              <a:noFill/>
            </a:ln>
          </p:spPr>
          <p:txBody>
            <a:bodyPr wrap="none" lIns="0" tIns="0" rIns="0" bIns="0" anchor="t" anchorCtr="0">
              <a:spAutoFit/>
            </a:bodyPr>
            <a:lstStyle/>
            <a:p>
              <a:pPr algn="l"/>
              <a:r>
                <a:rPr lang="en-US" sz="1280" b="1" dirty="0">
                  <a:solidFill>
                    <a:schemeClr val="accent6"/>
                  </a:solidFill>
                  <a:latin typeface="+mn-lt"/>
                  <a:ea typeface="+mn-ea"/>
                  <a:cs typeface="+mn-cs"/>
                </a:rPr>
                <a:t>international_situation Agent</a:t>
              </a:r>
            </a:p>
          </p:txBody>
        </p:sp>
        <p:sp>
          <p:nvSpPr>
            <p:cNvPr id="17" name="Rectangle 17"/>
            <p:cNvSpPr/>
            <p:nvPr/>
          </p:nvSpPr>
          <p:spPr>
            <a:xfrm>
              <a:off x="609600" y="2438400"/>
              <a:ext cx="10972800" cy="285750"/>
            </a:xfrm>
            <a:prstGeom prst="rect">
              <a:avLst/>
            </a:prstGeom>
            <a:solidFill>
              <a:schemeClr val="accent5"/>
            </a:solidFill>
            <a:ln>
              <a:noFill/>
            </a:ln>
          </p:spPr>
        </p:sp>
        <p:sp>
          <p:nvSpPr>
            <p:cNvPr id="18" name="TextBox 18"/>
            <p:cNvSpPr txBox="1"/>
            <p:nvPr/>
          </p:nvSpPr>
          <p:spPr>
            <a:xfrm>
              <a:off x="774573" y="2500789"/>
              <a:ext cx="269243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3. 穿透性制空、反介入 / 区域拒止</a:t>
              </a:r>
            </a:p>
          </p:txBody>
        </p:sp>
        <p:sp>
          <p:nvSpPr>
            <p:cNvPr id="19" name="TextBox 19"/>
            <p:cNvSpPr txBox="1"/>
            <p:nvPr/>
          </p:nvSpPr>
          <p:spPr>
            <a:xfrm>
              <a:off x="7842123" y="25007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F：体系对抗</a:t>
              </a:r>
            </a:p>
          </p:txBody>
        </p:sp>
        <p:sp>
          <p:nvSpPr>
            <p:cNvPr id="20" name="TextBox 20"/>
            <p:cNvSpPr txBox="1"/>
            <p:nvPr/>
          </p:nvSpPr>
          <p:spPr>
            <a:xfrm>
              <a:off x="774573" y="2786539"/>
              <a:ext cx="249427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4. 人工智能、新材料等颠覆技术</a:t>
              </a:r>
            </a:p>
          </p:txBody>
        </p:sp>
        <p:sp>
          <p:nvSpPr>
            <p:cNvPr id="21" name="TextBox 21"/>
            <p:cNvSpPr txBox="1"/>
            <p:nvPr/>
          </p:nvSpPr>
          <p:spPr>
            <a:xfrm>
              <a:off x="7842123" y="2786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D：技术驱动</a:t>
              </a:r>
            </a:p>
          </p:txBody>
        </p:sp>
        <p:sp>
          <p:nvSpPr>
            <p:cNvPr id="22" name="Rectangle 22"/>
            <p:cNvSpPr/>
            <p:nvPr/>
          </p:nvSpPr>
          <p:spPr>
            <a:xfrm>
              <a:off x="609600" y="3009900"/>
              <a:ext cx="10972800" cy="285750"/>
            </a:xfrm>
            <a:prstGeom prst="rect">
              <a:avLst/>
            </a:prstGeom>
            <a:solidFill>
              <a:schemeClr val="accent5"/>
            </a:solidFill>
            <a:ln>
              <a:noFill/>
            </a:ln>
          </p:spPr>
        </p:sp>
        <p:sp>
          <p:nvSpPr>
            <p:cNvPr id="23" name="TextBox 23"/>
            <p:cNvSpPr txBox="1"/>
            <p:nvPr/>
          </p:nvSpPr>
          <p:spPr>
            <a:xfrm>
              <a:off x="774573" y="3072289"/>
              <a:ext cx="3355838"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5. 全球部署、马赛克、多层防御等对手建设</a:t>
              </a:r>
            </a:p>
          </p:txBody>
        </p:sp>
        <p:sp>
          <p:nvSpPr>
            <p:cNvPr id="24" name="TextBox 24"/>
            <p:cNvSpPr txBox="1"/>
            <p:nvPr/>
          </p:nvSpPr>
          <p:spPr>
            <a:xfrm>
              <a:off x="7842123" y="30722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E：对手动向</a:t>
              </a:r>
            </a:p>
          </p:txBody>
        </p:sp>
        <p:sp>
          <p:nvSpPr>
            <p:cNvPr id="25" name="TextBox 25"/>
            <p:cNvSpPr txBox="1"/>
            <p:nvPr/>
          </p:nvSpPr>
          <p:spPr>
            <a:xfrm>
              <a:off x="774573" y="3358039"/>
              <a:ext cx="3011211"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6. 马赛克战、决策中心战、分布式杀伤</a:t>
              </a:r>
            </a:p>
          </p:txBody>
        </p:sp>
        <p:sp>
          <p:nvSpPr>
            <p:cNvPr id="26" name="TextBox 26"/>
            <p:cNvSpPr txBox="1"/>
            <p:nvPr/>
          </p:nvSpPr>
          <p:spPr>
            <a:xfrm>
              <a:off x="7842123" y="335803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F：体系对抗</a:t>
              </a:r>
            </a:p>
          </p:txBody>
        </p:sp>
        <p:sp>
          <p:nvSpPr>
            <p:cNvPr id="27" name="Rectangle 27"/>
            <p:cNvSpPr/>
            <p:nvPr/>
          </p:nvSpPr>
          <p:spPr>
            <a:xfrm>
              <a:off x="609600" y="3581400"/>
              <a:ext cx="10972800" cy="285750"/>
            </a:xfrm>
            <a:prstGeom prst="rect">
              <a:avLst/>
            </a:prstGeom>
            <a:solidFill>
              <a:schemeClr val="accent5"/>
            </a:solidFill>
            <a:ln>
              <a:noFill/>
            </a:ln>
          </p:spPr>
        </p:sp>
        <p:sp>
          <p:nvSpPr>
            <p:cNvPr id="28" name="TextBox 28"/>
            <p:cNvSpPr txBox="1"/>
            <p:nvPr/>
          </p:nvSpPr>
          <p:spPr>
            <a:xfrm>
              <a:off x="774573" y="3643789"/>
              <a:ext cx="1977329"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7. 空天、深海等新作战域</a:t>
              </a:r>
            </a:p>
          </p:txBody>
        </p:sp>
        <p:sp>
          <p:nvSpPr>
            <p:cNvPr id="29" name="TextBox 29"/>
            <p:cNvSpPr txBox="1"/>
            <p:nvPr/>
          </p:nvSpPr>
          <p:spPr>
            <a:xfrm>
              <a:off x="7842123" y="364378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G：跨域融合</a:t>
              </a:r>
            </a:p>
          </p:txBody>
        </p:sp>
        <p:sp>
          <p:nvSpPr>
            <p:cNvPr id="30" name="TextBox 30"/>
            <p:cNvSpPr txBox="1"/>
            <p:nvPr/>
          </p:nvSpPr>
          <p:spPr>
            <a:xfrm>
              <a:off x="774573" y="3929539"/>
              <a:ext cx="1805015"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8. 电磁、网络空间作战</a:t>
              </a:r>
            </a:p>
          </p:txBody>
        </p:sp>
        <p:sp>
          <p:nvSpPr>
            <p:cNvPr id="31" name="TextBox 31"/>
            <p:cNvSpPr txBox="1"/>
            <p:nvPr/>
          </p:nvSpPr>
          <p:spPr>
            <a:xfrm>
              <a:off x="7842123" y="3929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G：跨域融合</a:t>
              </a:r>
            </a:p>
          </p:txBody>
        </p:sp>
        <p:sp>
          <p:nvSpPr>
            <p:cNvPr id="32" name="Rectangle 32"/>
            <p:cNvSpPr/>
            <p:nvPr/>
          </p:nvSpPr>
          <p:spPr>
            <a:xfrm>
              <a:off x="609600" y="4152900"/>
              <a:ext cx="10972800" cy="285750"/>
            </a:xfrm>
            <a:prstGeom prst="rect">
              <a:avLst/>
            </a:prstGeom>
            <a:solidFill>
              <a:schemeClr val="accent5"/>
            </a:solidFill>
            <a:ln>
              <a:noFill/>
            </a:ln>
          </p:spPr>
        </p:sp>
        <p:sp>
          <p:nvSpPr>
            <p:cNvPr id="33" name="TextBox 33"/>
            <p:cNvSpPr txBox="1"/>
            <p:nvPr/>
          </p:nvSpPr>
          <p:spPr>
            <a:xfrm>
              <a:off x="774573" y="4215289"/>
              <a:ext cx="1994560"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9. “金穹”等多层拦截体系</a:t>
              </a:r>
            </a:p>
          </p:txBody>
        </p:sp>
        <p:sp>
          <p:nvSpPr>
            <p:cNvPr id="34" name="TextBox 34"/>
            <p:cNvSpPr txBox="1"/>
            <p:nvPr/>
          </p:nvSpPr>
          <p:spPr>
            <a:xfrm>
              <a:off x="7842123" y="4215289"/>
              <a:ext cx="1073951"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E：对手动向</a:t>
              </a:r>
            </a:p>
          </p:txBody>
        </p:sp>
        <p:sp>
          <p:nvSpPr>
            <p:cNvPr id="35" name="TextBox 35"/>
            <p:cNvSpPr txBox="1"/>
            <p:nvPr/>
          </p:nvSpPr>
          <p:spPr>
            <a:xfrm>
              <a:off x="774573" y="4501039"/>
              <a:ext cx="258904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10. 智能化、无人化未来战争形态</a:t>
              </a:r>
            </a:p>
          </p:txBody>
        </p:sp>
        <p:sp>
          <p:nvSpPr>
            <p:cNvPr id="36" name="TextBox 36"/>
            <p:cNvSpPr txBox="1"/>
            <p:nvPr/>
          </p:nvSpPr>
          <p:spPr>
            <a:xfrm>
              <a:off x="7842123" y="4501039"/>
              <a:ext cx="882780"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A：新战法</a:t>
              </a:r>
            </a:p>
          </p:txBody>
        </p:sp>
        <p:sp>
          <p:nvSpPr>
            <p:cNvPr id="37" name="Rectangle 37"/>
            <p:cNvSpPr/>
            <p:nvPr/>
          </p:nvSpPr>
          <p:spPr>
            <a:xfrm>
              <a:off x="609600" y="4724400"/>
              <a:ext cx="10972800" cy="285750"/>
            </a:xfrm>
            <a:prstGeom prst="rect">
              <a:avLst/>
            </a:prstGeom>
            <a:solidFill>
              <a:schemeClr val="accent5"/>
            </a:solidFill>
            <a:ln>
              <a:noFill/>
            </a:ln>
          </p:spPr>
        </p:sp>
        <p:sp>
          <p:nvSpPr>
            <p:cNvPr id="38" name="TextBox 38"/>
            <p:cNvSpPr txBox="1"/>
            <p:nvPr/>
          </p:nvSpPr>
          <p:spPr>
            <a:xfrm>
              <a:off x="774573" y="4786789"/>
              <a:ext cx="3622924"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11. 周边控制、远海前出、远程快打等传统缺口</a:t>
              </a:r>
            </a:p>
          </p:txBody>
        </p:sp>
        <p:sp>
          <p:nvSpPr>
            <p:cNvPr id="39" name="TextBox 39"/>
            <p:cNvSpPr txBox="1"/>
            <p:nvPr/>
          </p:nvSpPr>
          <p:spPr>
            <a:xfrm>
              <a:off x="7842123" y="4786789"/>
              <a:ext cx="1456292" cy="249364"/>
            </a:xfrm>
            <a:prstGeom prst="rect">
              <a:avLst/>
            </a:prstGeom>
            <a:noFill/>
            <a:ln>
              <a:noFill/>
            </a:ln>
          </p:spPr>
          <p:txBody>
            <a:bodyPr wrap="none" lIns="0" tIns="0" rIns="0" bIns="0" anchor="t" anchorCtr="0">
              <a:spAutoFit/>
            </a:bodyPr>
            <a:lstStyle/>
            <a:p>
              <a:pPr algn="l"/>
              <a:r>
                <a:rPr lang="zh-CN" sz="1280" b="1" dirty="0">
                  <a:solidFill>
                    <a:schemeClr val="accent2"/>
                  </a:solidFill>
                  <a:latin typeface="+mn-lt"/>
                  <a:ea typeface="+mn-ea"/>
                  <a:cs typeface="+mn-cs"/>
                </a:rPr>
                <a:t>B：传统能力缺口</a:t>
              </a:r>
            </a:p>
          </p:txBody>
        </p:sp>
        <p:sp>
          <p:nvSpPr>
            <p:cNvPr id="40" name="TextBox 40"/>
            <p:cNvSpPr txBox="1"/>
            <p:nvPr/>
          </p:nvSpPr>
          <p:spPr>
            <a:xfrm>
              <a:off x="774573" y="5072539"/>
              <a:ext cx="2072102" cy="249364"/>
            </a:xfrm>
            <a:prstGeom prst="rect">
              <a:avLst/>
            </a:prstGeom>
            <a:noFill/>
            <a:ln>
              <a:noFill/>
            </a:ln>
          </p:spPr>
          <p:txBody>
            <a:bodyPr wrap="none" lIns="0" tIns="0" rIns="0" bIns="0" anchor="t" anchorCtr="0">
              <a:spAutoFit/>
            </a:bodyPr>
            <a:lstStyle/>
            <a:p>
              <a:pPr algn="l"/>
              <a:r>
                <a:rPr lang="zh-CN" sz="1280" dirty="0">
                  <a:solidFill>
                    <a:schemeClr val="dk1"/>
                  </a:solidFill>
                  <a:latin typeface="+mn-lt"/>
                  <a:ea typeface="+mn-ea"/>
                  <a:cs typeface="+mn-cs"/>
                </a:rPr>
                <a:t>12. 新质毁伤与新效应机理</a:t>
              </a:r>
            </a:p>
          </p:txBody>
        </p:sp>
        <p:sp>
          <p:nvSpPr>
            <p:cNvPr id="41" name="TextBox 41"/>
            <p:cNvSpPr txBox="1"/>
            <p:nvPr/>
          </p:nvSpPr>
          <p:spPr>
            <a:xfrm>
              <a:off x="7842123" y="5072539"/>
              <a:ext cx="1073951" cy="249364"/>
            </a:xfrm>
            <a:prstGeom prst="rect">
              <a:avLst/>
            </a:prstGeom>
            <a:noFill/>
            <a:ln>
              <a:noFill/>
            </a:ln>
          </p:spPr>
          <p:txBody>
            <a:bodyPr wrap="none" lIns="0" tIns="0" rIns="0" bIns="0" anchor="t" anchorCtr="0">
              <a:spAutoFit/>
            </a:bodyPr>
            <a:lstStyle/>
            <a:p>
              <a:pPr algn="l"/>
              <a:r>
                <a:rPr lang="zh-CN" sz="1280" b="1" dirty="0">
                  <a:solidFill>
                    <a:schemeClr val="accent3"/>
                  </a:solidFill>
                  <a:latin typeface="+mn-lt"/>
                  <a:ea typeface="+mn-ea"/>
                  <a:cs typeface="+mn-cs"/>
                </a:rPr>
                <a:t>D：技术驱动</a:t>
              </a:r>
            </a:p>
          </p:txBody>
        </p:sp>
      </p:grpSp>
      <p:grpSp>
        <p:nvGrpSpPr>
          <p:cNvPr id="50" name="Group 50"/>
          <p:cNvGrpSpPr/>
          <p:nvPr/>
        </p:nvGrpSpPr>
        <p:grpSpPr>
          <a:xfrm>
            <a:off x="609600" y="5524500"/>
            <a:ext cx="10972800" cy="933450"/>
            <a:chOff x="609600" y="5524500"/>
            <a:chExt cx="10972800" cy="933450"/>
          </a:xfrm>
        </p:grpSpPr>
        <p:sp>
          <p:nvSpPr>
            <p:cNvPr id="43" name="Rectangle 43"/>
            <p:cNvSpPr/>
            <p:nvPr/>
          </p:nvSpPr>
          <p:spPr>
            <a:xfrm>
              <a:off x="609600" y="5524500"/>
              <a:ext cx="10972800" cy="933450"/>
            </a:xfrm>
            <a:prstGeom prst="rect">
              <a:avLst/>
            </a:prstGeom>
            <a:solidFill>
              <a:schemeClr val="accent1"/>
            </a:solidFill>
            <a:ln>
              <a:noFill/>
            </a:ln>
          </p:spPr>
        </p:sp>
        <p:sp>
          <p:nvSpPr>
            <p:cNvPr id="44" name="Rectangle 44"/>
            <p:cNvSpPr/>
            <p:nvPr/>
          </p:nvSpPr>
          <p:spPr>
            <a:xfrm>
              <a:off x="609600" y="5524500"/>
              <a:ext cx="95250" cy="933450"/>
            </a:xfrm>
            <a:prstGeom prst="rect">
              <a:avLst/>
            </a:prstGeom>
            <a:solidFill>
              <a:schemeClr val="accent3"/>
            </a:solidFill>
            <a:ln>
              <a:noFill/>
            </a:ln>
          </p:spPr>
        </p:sp>
        <p:sp>
          <p:nvSpPr>
            <p:cNvPr id="45" name="TextBox 45"/>
            <p:cNvSpPr txBox="1"/>
            <p:nvPr/>
          </p:nvSpPr>
          <p:spPr>
            <a:xfrm>
              <a:off x="869442" y="5702618"/>
              <a:ext cx="211277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主分支：负责主研究路径</a:t>
              </a:r>
            </a:p>
          </p:txBody>
        </p:sp>
        <p:sp>
          <p:nvSpPr>
            <p:cNvPr id="46" name="TextBox 46"/>
            <p:cNvSpPr txBox="1"/>
            <p:nvPr/>
          </p:nvSpPr>
          <p:spPr>
            <a:xfrm>
              <a:off x="4165092" y="5702618"/>
              <a:ext cx="31400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前置 Agent：最多 3 个职责专属镜头</a:t>
              </a:r>
            </a:p>
          </p:txBody>
        </p:sp>
        <p:sp>
          <p:nvSpPr>
            <p:cNvPr id="47" name="TextBox 47"/>
            <p:cNvSpPr txBox="1"/>
            <p:nvPr/>
          </p:nvSpPr>
          <p:spPr>
            <a:xfrm>
              <a:off x="8546592" y="5702618"/>
              <a:ext cx="214619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其他 Agent：不重复展开</a:t>
              </a:r>
            </a:p>
          </p:txBody>
        </p:sp>
        <p:sp>
          <p:nvSpPr>
            <p:cNvPr id="48" name="Line 48"/>
            <p:cNvSpPr/>
            <p:nvPr/>
          </p:nvSpPr>
          <p:spPr>
            <a:xfrm>
              <a:off x="876300" y="6057900"/>
              <a:ext cx="10439400" cy="9525"/>
            </a:xfrm>
            <a:custGeom>
              <a:avLst/>
              <a:gdLst/>
              <a:ahLst/>
              <a:cxnLst/>
              <a:rect l="l" t="t" r="r" b="b"/>
              <a:pathLst>
                <a:path w="10439400" h="9525">
                  <a:moveTo>
                    <a:pt x="0" y="0"/>
                  </a:moveTo>
                  <a:lnTo>
                    <a:pt x="10439400" y="0"/>
                  </a:lnTo>
                </a:path>
              </a:pathLst>
            </a:custGeom>
            <a:noFill/>
            <a:ln w="19050">
              <a:solidFill>
                <a:srgbClr val="6D89A3"/>
              </a:solidFill>
            </a:ln>
          </p:spPr>
        </p:sp>
        <p:sp>
          <p:nvSpPr>
            <p:cNvPr id="49" name="TextBox 49"/>
            <p:cNvSpPr txBox="1"/>
            <p:nvPr/>
          </p:nvSpPr>
          <p:spPr>
            <a:xfrm>
              <a:off x="869442" y="6178868"/>
              <a:ext cx="7022249"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路由结果再与 Query 关键词、Agent 职责和 A–H 主分支联合，选择少量相关发散镜头</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76250"/>
            <a:ext cx="10994898" cy="868489"/>
            <a:chOff x="594360" y="476250"/>
            <a:chExt cx="10994898" cy="868489"/>
          </a:xfrm>
        </p:grpSpPr>
        <p:sp>
          <p:nvSpPr>
            <p:cNvPr id="2" name="TextBox 2"/>
            <p:cNvSpPr txBox="1"/>
            <p:nvPr/>
          </p:nvSpPr>
          <p:spPr>
            <a:xfrm>
              <a:off x="594360" y="476250"/>
              <a:ext cx="880837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颠覆型提问落实为 12 张有界反常规发散种子卡</a:t>
              </a:r>
            </a:p>
          </p:txBody>
        </p:sp>
        <p:sp>
          <p:nvSpPr>
            <p:cNvPr id="3" name="TextBox 3"/>
            <p:cNvSpPr txBox="1"/>
            <p:nvPr/>
          </p:nvSpPr>
          <p:spPr>
            <a:xfrm>
              <a:off x="601218" y="1022032"/>
              <a:ext cx="8078069" cy="322707"/>
            </a:xfrm>
            <a:prstGeom prst="rect">
              <a:avLst/>
            </a:prstGeom>
            <a:noFill/>
            <a:ln>
              <a:noFill/>
            </a:ln>
          </p:spPr>
          <p:txBody>
            <a:bodyPr wrap="none" lIns="0" tIns="0" rIns="0" bIns="0" anchor="t" anchorCtr="0">
              <a:spAutoFit/>
            </a:bodyPr>
            <a:lstStyle/>
            <a:p>
              <a:pPr algn="l"/>
              <a:r>
                <a:rPr lang="zh-CN" sz="1650" dirty="0">
                  <a:solidFill>
                    <a:srgbClr val="6B7785"/>
                  </a:solidFill>
                  <a:latin typeface="+mn-lt"/>
                  <a:ea typeface="+mn-ea"/>
                  <a:cs typeface="+mn-cs"/>
                </a:rPr>
                <a:t>不是固定目录：智能体可在 Query 因果约束与质量门下自主提出 OTHER 新方向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grpSp>
      <p:grpSp>
        <p:nvGrpSpPr>
          <p:cNvPr id="67" name="Group 67"/>
          <p:cNvGrpSpPr/>
          <p:nvPr/>
        </p:nvGrpSpPr>
        <p:grpSpPr>
          <a:xfrm>
            <a:off x="609600" y="1504950"/>
            <a:ext cx="10972800" cy="3981450"/>
            <a:chOff x="609600" y="1504950"/>
            <a:chExt cx="10972800" cy="3981450"/>
          </a:xfrm>
        </p:grpSpPr>
        <p:sp>
          <p:nvSpPr>
            <p:cNvPr id="6" name="Rectangle 6"/>
            <p:cNvSpPr/>
            <p:nvPr/>
          </p:nvSpPr>
          <p:spPr>
            <a:xfrm>
              <a:off x="609600" y="1504950"/>
              <a:ext cx="10972800" cy="3981450"/>
            </a:xfrm>
            <a:prstGeom prst="rect">
              <a:avLst/>
            </a:prstGeom>
            <a:solidFill>
              <a:schemeClr val="lt1"/>
            </a:solidFill>
            <a:ln w="19050">
              <a:solidFill>
                <a:srgbClr val="C9D5E0"/>
              </a:solidFill>
            </a:ln>
          </p:spPr>
        </p:sp>
        <p:sp>
          <p:nvSpPr>
            <p:cNvPr id="7" name="Rectangle 7"/>
            <p:cNvSpPr/>
            <p:nvPr/>
          </p:nvSpPr>
          <p:spPr>
            <a:xfrm>
              <a:off x="609600" y="1504950"/>
              <a:ext cx="10972800" cy="361950"/>
            </a:xfrm>
            <a:prstGeom prst="rect">
              <a:avLst/>
            </a:prstGeom>
            <a:solidFill>
              <a:schemeClr val="accent1"/>
            </a:solidFill>
            <a:ln>
              <a:noFill/>
            </a:ln>
          </p:spPr>
        </p:sp>
        <p:sp>
          <p:nvSpPr>
            <p:cNvPr id="8" name="TextBox 8"/>
            <p:cNvSpPr txBox="1"/>
            <p:nvPr/>
          </p:nvSpPr>
          <p:spPr>
            <a:xfrm>
              <a:off x="77419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原始颠覆维度</a:t>
              </a:r>
            </a:p>
          </p:txBody>
        </p:sp>
        <p:sp>
          <p:nvSpPr>
            <p:cNvPr id="9" name="TextBox 9"/>
            <p:cNvSpPr txBox="1"/>
            <p:nvPr/>
          </p:nvSpPr>
          <p:spPr>
            <a:xfrm>
              <a:off x="3517392" y="1606868"/>
              <a:ext cx="96783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项目种子卡</a:t>
              </a:r>
            </a:p>
          </p:txBody>
        </p:sp>
        <p:sp>
          <p:nvSpPr>
            <p:cNvPr id="10" name="TextBox 10"/>
            <p:cNvSpPr txBox="1"/>
            <p:nvPr/>
          </p:nvSpPr>
          <p:spPr>
            <a:xfrm>
              <a:off x="5670042" y="1606868"/>
              <a:ext cx="1158659"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重点研究关系</a:t>
              </a:r>
            </a:p>
          </p:txBody>
        </p:sp>
        <p:sp>
          <p:nvSpPr>
            <p:cNvPr id="11" name="Line 11"/>
            <p:cNvSpPr/>
            <p:nvPr/>
          </p:nvSpPr>
          <p:spPr>
            <a:xfrm>
              <a:off x="33337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2" name="Line 12"/>
            <p:cNvSpPr/>
            <p:nvPr/>
          </p:nvSpPr>
          <p:spPr>
            <a:xfrm>
              <a:off x="5467350" y="1504950"/>
              <a:ext cx="9525" cy="3981450"/>
            </a:xfrm>
            <a:custGeom>
              <a:avLst/>
              <a:gdLst/>
              <a:ahLst/>
              <a:cxnLst/>
              <a:rect l="l" t="t" r="r" b="b"/>
              <a:pathLst>
                <a:path w="9525" h="3981450">
                  <a:moveTo>
                    <a:pt x="0" y="0"/>
                  </a:moveTo>
                  <a:lnTo>
                    <a:pt x="0" y="3981450"/>
                  </a:lnTo>
                </a:path>
              </a:pathLst>
            </a:custGeom>
            <a:noFill/>
            <a:ln w="19050">
              <a:solidFill>
                <a:srgbClr val="C9D5E0"/>
              </a:solidFill>
            </a:ln>
          </p:spPr>
        </p:sp>
        <p:sp>
          <p:nvSpPr>
            <p:cNvPr id="13" name="Rectangle 13"/>
            <p:cNvSpPr/>
            <p:nvPr/>
          </p:nvSpPr>
          <p:spPr>
            <a:xfrm>
              <a:off x="609600" y="1866900"/>
              <a:ext cx="10972800" cy="295275"/>
            </a:xfrm>
            <a:prstGeom prst="rect">
              <a:avLst/>
            </a:prstGeom>
            <a:solidFill>
              <a:schemeClr val="accent5"/>
            </a:solidFill>
            <a:ln>
              <a:noFill/>
            </a:ln>
          </p:spPr>
        </p:sp>
        <p:sp>
          <p:nvSpPr>
            <p:cNvPr id="14" name="Rectangle 14"/>
            <p:cNvSpPr/>
            <p:nvPr/>
          </p:nvSpPr>
          <p:spPr>
            <a:xfrm>
              <a:off x="609600" y="1866900"/>
              <a:ext cx="57150" cy="295275"/>
            </a:xfrm>
            <a:prstGeom prst="rect">
              <a:avLst/>
            </a:prstGeom>
            <a:solidFill>
              <a:schemeClr val="accent2"/>
            </a:solidFill>
            <a:ln>
              <a:noFill/>
            </a:ln>
          </p:spPr>
        </p:sp>
        <p:sp>
          <p:nvSpPr>
            <p:cNvPr id="15" name="TextBox 15"/>
            <p:cNvSpPr txBox="1"/>
            <p:nvPr/>
          </p:nvSpPr>
          <p:spPr>
            <a:xfrm>
              <a:off x="774954" y="194691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拦截经济学反转</a:t>
              </a:r>
            </a:p>
          </p:txBody>
        </p:sp>
        <p:sp>
          <p:nvSpPr>
            <p:cNvPr id="16" name="TextBox 16"/>
            <p:cNvSpPr txBox="1"/>
            <p:nvPr/>
          </p:nvSpPr>
          <p:spPr>
            <a:xfrm>
              <a:off x="3518154" y="194691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A1 成本强加</a:t>
              </a:r>
            </a:p>
          </p:txBody>
        </p:sp>
        <p:sp>
          <p:nvSpPr>
            <p:cNvPr id="17" name="TextBox 17"/>
            <p:cNvSpPr txBox="1"/>
            <p:nvPr/>
          </p:nvSpPr>
          <p:spPr>
            <a:xfrm>
              <a:off x="5670804" y="19469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单件性能竞争 → 体系交换比竞争</a:t>
              </a:r>
            </a:p>
          </p:txBody>
        </p:sp>
        <p:sp>
          <p:nvSpPr>
            <p:cNvPr id="18" name="Rectangle 18"/>
            <p:cNvSpPr/>
            <p:nvPr/>
          </p:nvSpPr>
          <p:spPr>
            <a:xfrm>
              <a:off x="609600" y="2162175"/>
              <a:ext cx="57150" cy="295275"/>
            </a:xfrm>
            <a:prstGeom prst="rect">
              <a:avLst/>
            </a:prstGeom>
            <a:solidFill>
              <a:schemeClr val="accent2"/>
            </a:solidFill>
            <a:ln>
              <a:noFill/>
            </a:ln>
          </p:spPr>
        </p:sp>
        <p:sp>
          <p:nvSpPr>
            <p:cNvPr id="19" name="TextBox 19"/>
            <p:cNvSpPr txBox="1"/>
            <p:nvPr/>
          </p:nvSpPr>
          <p:spPr>
            <a:xfrm>
              <a:off x="774954" y="22421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前线弹药工厂</a:t>
              </a:r>
            </a:p>
          </p:txBody>
        </p:sp>
        <p:sp>
          <p:nvSpPr>
            <p:cNvPr id="20" name="TextBox 20"/>
            <p:cNvSpPr txBox="1"/>
            <p:nvPr/>
          </p:nvSpPr>
          <p:spPr>
            <a:xfrm>
              <a:off x="3518154" y="2242185"/>
              <a:ext cx="1159215"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A2 制造即战力</a:t>
              </a:r>
            </a:p>
          </p:txBody>
        </p:sp>
        <p:sp>
          <p:nvSpPr>
            <p:cNvPr id="21" name="TextBox 21"/>
            <p:cNvSpPr txBox="1"/>
            <p:nvPr/>
          </p:nvSpPr>
          <p:spPr>
            <a:xfrm>
              <a:off x="5670804" y="22421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后方库存 → 分布式按需制造</a:t>
              </a:r>
            </a:p>
          </p:txBody>
        </p:sp>
        <p:sp>
          <p:nvSpPr>
            <p:cNvPr id="22" name="Rectangle 22"/>
            <p:cNvSpPr/>
            <p:nvPr/>
          </p:nvSpPr>
          <p:spPr>
            <a:xfrm>
              <a:off x="609600" y="2457450"/>
              <a:ext cx="10972800" cy="295275"/>
            </a:xfrm>
            <a:prstGeom prst="rect">
              <a:avLst/>
            </a:prstGeom>
            <a:solidFill>
              <a:schemeClr val="accent5"/>
            </a:solidFill>
            <a:ln>
              <a:noFill/>
            </a:ln>
          </p:spPr>
        </p:sp>
        <p:sp>
          <p:nvSpPr>
            <p:cNvPr id="23" name="Rectangle 23"/>
            <p:cNvSpPr/>
            <p:nvPr/>
          </p:nvSpPr>
          <p:spPr>
            <a:xfrm>
              <a:off x="609600" y="2457450"/>
              <a:ext cx="57150" cy="295275"/>
            </a:xfrm>
            <a:prstGeom prst="rect">
              <a:avLst/>
            </a:prstGeom>
            <a:solidFill>
              <a:schemeClr val="accent3"/>
            </a:solidFill>
            <a:ln>
              <a:noFill/>
            </a:ln>
          </p:spPr>
        </p:sp>
        <p:sp>
          <p:nvSpPr>
            <p:cNvPr id="24" name="TextBox 24"/>
            <p:cNvSpPr txBox="1"/>
            <p:nvPr/>
          </p:nvSpPr>
          <p:spPr>
            <a:xfrm>
              <a:off x="774954" y="2537460"/>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徘徊火力云</a:t>
              </a:r>
            </a:p>
          </p:txBody>
        </p:sp>
        <p:sp>
          <p:nvSpPr>
            <p:cNvPr id="25" name="TextBox 25"/>
            <p:cNvSpPr txBox="1"/>
            <p:nvPr/>
          </p:nvSpPr>
          <p:spPr>
            <a:xfrm>
              <a:off x="3518154" y="253746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B1 持续火力场</a:t>
              </a:r>
            </a:p>
          </p:txBody>
        </p:sp>
        <p:sp>
          <p:nvSpPr>
            <p:cNvPr id="26" name="TextBox 26"/>
            <p:cNvSpPr txBox="1"/>
            <p:nvPr/>
          </p:nvSpPr>
          <p:spPr>
            <a:xfrm>
              <a:off x="5670804" y="25374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临时发射 → 战区持续存在</a:t>
              </a:r>
            </a:p>
          </p:txBody>
        </p:sp>
        <p:sp>
          <p:nvSpPr>
            <p:cNvPr id="27" name="Rectangle 27"/>
            <p:cNvSpPr/>
            <p:nvPr/>
          </p:nvSpPr>
          <p:spPr>
            <a:xfrm>
              <a:off x="609600" y="2752725"/>
              <a:ext cx="57150" cy="295275"/>
            </a:xfrm>
            <a:prstGeom prst="rect">
              <a:avLst/>
            </a:prstGeom>
            <a:solidFill>
              <a:schemeClr val="accent3"/>
            </a:solidFill>
            <a:ln>
              <a:noFill/>
            </a:ln>
          </p:spPr>
        </p:sp>
        <p:sp>
          <p:nvSpPr>
            <p:cNvPr id="28" name="TextBox 28"/>
            <p:cNvSpPr txBox="1"/>
            <p:nvPr/>
          </p:nvSpPr>
          <p:spPr>
            <a:xfrm>
              <a:off x="774954" y="2832735"/>
              <a:ext cx="146608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和平预置、战时激活</a:t>
              </a:r>
            </a:p>
          </p:txBody>
        </p:sp>
        <p:sp>
          <p:nvSpPr>
            <p:cNvPr id="29" name="TextBox 29"/>
            <p:cNvSpPr txBox="1"/>
            <p:nvPr/>
          </p:nvSpPr>
          <p:spPr>
            <a:xfrm>
              <a:off x="3518154" y="283273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B2 预置任务节点</a:t>
              </a:r>
            </a:p>
          </p:txBody>
        </p:sp>
        <p:sp>
          <p:nvSpPr>
            <p:cNvPr id="30" name="TextBox 30"/>
            <p:cNvSpPr txBox="1"/>
            <p:nvPr/>
          </p:nvSpPr>
          <p:spPr>
            <a:xfrm>
              <a:off x="5670804" y="28327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战时部署 → 预先部署和可信激活</a:t>
              </a:r>
            </a:p>
          </p:txBody>
        </p:sp>
        <p:sp>
          <p:nvSpPr>
            <p:cNvPr id="31" name="Rectangle 31"/>
            <p:cNvSpPr/>
            <p:nvPr/>
          </p:nvSpPr>
          <p:spPr>
            <a:xfrm>
              <a:off x="609600" y="3048000"/>
              <a:ext cx="10972800" cy="295275"/>
            </a:xfrm>
            <a:prstGeom prst="rect">
              <a:avLst/>
            </a:prstGeom>
            <a:solidFill>
              <a:schemeClr val="accent5"/>
            </a:solidFill>
            <a:ln>
              <a:noFill/>
            </a:ln>
          </p:spPr>
        </p:sp>
        <p:sp>
          <p:nvSpPr>
            <p:cNvPr id="32" name="Rectangle 32"/>
            <p:cNvSpPr/>
            <p:nvPr/>
          </p:nvSpPr>
          <p:spPr>
            <a:xfrm>
              <a:off x="609600" y="3048000"/>
              <a:ext cx="57150" cy="295275"/>
            </a:xfrm>
            <a:prstGeom prst="rect">
              <a:avLst/>
            </a:prstGeom>
            <a:solidFill>
              <a:schemeClr val="accent6"/>
            </a:solidFill>
            <a:ln>
              <a:noFill/>
            </a:ln>
          </p:spPr>
        </p:sp>
        <p:sp>
          <p:nvSpPr>
            <p:cNvPr id="33" name="TextBox 33"/>
            <p:cNvSpPr txBox="1"/>
            <p:nvPr/>
          </p:nvSpPr>
          <p:spPr>
            <a:xfrm>
              <a:off x="774954" y="3128010"/>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毁平台转向毁节奏</a:t>
              </a:r>
            </a:p>
          </p:txBody>
        </p:sp>
        <p:sp>
          <p:nvSpPr>
            <p:cNvPr id="34" name="TextBox 34"/>
            <p:cNvSpPr txBox="1"/>
            <p:nvPr/>
          </p:nvSpPr>
          <p:spPr>
            <a:xfrm>
              <a:off x="3518154" y="3128010"/>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C1 决策节奏对抗</a:t>
              </a:r>
            </a:p>
          </p:txBody>
        </p:sp>
        <p:sp>
          <p:nvSpPr>
            <p:cNvPr id="35" name="TextBox 35"/>
            <p:cNvSpPr txBox="1"/>
            <p:nvPr/>
          </p:nvSpPr>
          <p:spPr>
            <a:xfrm>
              <a:off x="5670804" y="312801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物理摧毁 → 压缩或扰乱决策周期</a:t>
              </a:r>
            </a:p>
          </p:txBody>
        </p:sp>
        <p:sp>
          <p:nvSpPr>
            <p:cNvPr id="36" name="Rectangle 36"/>
            <p:cNvSpPr/>
            <p:nvPr/>
          </p:nvSpPr>
          <p:spPr>
            <a:xfrm>
              <a:off x="609600" y="3343275"/>
              <a:ext cx="57150" cy="295275"/>
            </a:xfrm>
            <a:prstGeom prst="rect">
              <a:avLst/>
            </a:prstGeom>
            <a:solidFill>
              <a:schemeClr val="accent6"/>
            </a:solidFill>
            <a:ln>
              <a:noFill/>
            </a:ln>
          </p:spPr>
        </p:sp>
        <p:sp>
          <p:nvSpPr>
            <p:cNvPr id="37" name="TextBox 37"/>
            <p:cNvSpPr txBox="1"/>
            <p:nvPr/>
          </p:nvSpPr>
          <p:spPr>
            <a:xfrm>
              <a:off x="774954" y="34232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越打越聪明</a:t>
              </a:r>
            </a:p>
          </p:txBody>
        </p:sp>
        <p:sp>
          <p:nvSpPr>
            <p:cNvPr id="38" name="TextBox 38"/>
            <p:cNvSpPr txBox="1"/>
            <p:nvPr/>
          </p:nvSpPr>
          <p:spPr>
            <a:xfrm>
              <a:off x="3518154" y="3423285"/>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C2 战役内学习</a:t>
              </a:r>
            </a:p>
          </p:txBody>
        </p:sp>
        <p:sp>
          <p:nvSpPr>
            <p:cNvPr id="39" name="TextBox 39"/>
            <p:cNvSpPr txBox="1"/>
            <p:nvPr/>
          </p:nvSpPr>
          <p:spPr>
            <a:xfrm>
              <a:off x="5670804" y="3423285"/>
              <a:ext cx="197495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固定策略 → 批次间快速学习</a:t>
              </a:r>
            </a:p>
          </p:txBody>
        </p:sp>
        <p:sp>
          <p:nvSpPr>
            <p:cNvPr id="40" name="Rectangle 40"/>
            <p:cNvSpPr/>
            <p:nvPr/>
          </p:nvSpPr>
          <p:spPr>
            <a:xfrm>
              <a:off x="609600" y="3638550"/>
              <a:ext cx="10972800" cy="295275"/>
            </a:xfrm>
            <a:prstGeom prst="rect">
              <a:avLst/>
            </a:prstGeom>
            <a:solidFill>
              <a:schemeClr val="accent5"/>
            </a:solidFill>
            <a:ln>
              <a:noFill/>
            </a:ln>
          </p:spPr>
        </p:sp>
        <p:sp>
          <p:nvSpPr>
            <p:cNvPr id="41" name="Rectangle 41"/>
            <p:cNvSpPr/>
            <p:nvPr/>
          </p:nvSpPr>
          <p:spPr>
            <a:xfrm>
              <a:off x="609600" y="3638550"/>
              <a:ext cx="57150" cy="295275"/>
            </a:xfrm>
            <a:prstGeom prst="rect">
              <a:avLst/>
            </a:prstGeom>
            <a:solidFill>
              <a:schemeClr val="accent2"/>
            </a:solidFill>
            <a:ln>
              <a:noFill/>
            </a:ln>
          </p:spPr>
        </p:sp>
        <p:sp>
          <p:nvSpPr>
            <p:cNvPr id="42" name="TextBox 42"/>
            <p:cNvSpPr txBox="1"/>
            <p:nvPr/>
          </p:nvSpPr>
          <p:spPr>
            <a:xfrm>
              <a:off x="774954" y="3718560"/>
              <a:ext cx="114300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非动能点穴瘫痪</a:t>
              </a:r>
            </a:p>
          </p:txBody>
        </p:sp>
        <p:sp>
          <p:nvSpPr>
            <p:cNvPr id="43" name="TextBox 43"/>
            <p:cNvSpPr txBox="1"/>
            <p:nvPr/>
          </p:nvSpPr>
          <p:spPr>
            <a:xfrm>
              <a:off x="3518154" y="3718560"/>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D1 功能压制</a:t>
              </a:r>
            </a:p>
          </p:txBody>
        </p:sp>
        <p:sp>
          <p:nvSpPr>
            <p:cNvPr id="44" name="TextBox 44"/>
            <p:cNvSpPr txBox="1"/>
            <p:nvPr/>
          </p:nvSpPr>
          <p:spPr>
            <a:xfrm>
              <a:off x="5670804" y="3718560"/>
              <a:ext cx="1813408"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结构毁伤 → 关键功能失效</a:t>
              </a:r>
            </a:p>
          </p:txBody>
        </p:sp>
        <p:sp>
          <p:nvSpPr>
            <p:cNvPr id="45" name="Rectangle 45"/>
            <p:cNvSpPr/>
            <p:nvPr/>
          </p:nvSpPr>
          <p:spPr>
            <a:xfrm>
              <a:off x="609600" y="3933825"/>
              <a:ext cx="57150" cy="295275"/>
            </a:xfrm>
            <a:prstGeom prst="rect">
              <a:avLst/>
            </a:prstGeom>
            <a:solidFill>
              <a:schemeClr val="accent2"/>
            </a:solidFill>
            <a:ln>
              <a:noFill/>
            </a:ln>
          </p:spPr>
        </p:sp>
        <p:sp>
          <p:nvSpPr>
            <p:cNvPr id="46" name="TextBox 46"/>
            <p:cNvSpPr txBox="1"/>
            <p:nvPr/>
          </p:nvSpPr>
          <p:spPr>
            <a:xfrm>
              <a:off x="774954" y="4013835"/>
              <a:ext cx="1304544"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打击作为战略信号</a:t>
              </a:r>
            </a:p>
          </p:txBody>
        </p:sp>
        <p:sp>
          <p:nvSpPr>
            <p:cNvPr id="47" name="TextBox 47"/>
            <p:cNvSpPr txBox="1"/>
            <p:nvPr/>
          </p:nvSpPr>
          <p:spPr>
            <a:xfrm>
              <a:off x="3518154" y="4013835"/>
              <a:ext cx="979993" cy="234696"/>
            </a:xfrm>
            <a:prstGeom prst="rect">
              <a:avLst/>
            </a:prstGeom>
            <a:noFill/>
            <a:ln>
              <a:noFill/>
            </a:ln>
          </p:spPr>
          <p:txBody>
            <a:bodyPr wrap="none" lIns="0" tIns="0" rIns="0" bIns="0" anchor="t" anchorCtr="0">
              <a:spAutoFit/>
            </a:bodyPr>
            <a:lstStyle/>
            <a:p>
              <a:pPr algn="l"/>
              <a:r>
                <a:rPr lang="zh-CN" sz="1200" b="1" dirty="0">
                  <a:solidFill>
                    <a:schemeClr val="accent2"/>
                  </a:solidFill>
                  <a:latin typeface="+mn-lt"/>
                  <a:ea typeface="+mn-ea"/>
                  <a:cs typeface="+mn-cs"/>
                </a:rPr>
                <a:t>D2 战略信号</a:t>
              </a:r>
            </a:p>
          </p:txBody>
        </p:sp>
        <p:sp>
          <p:nvSpPr>
            <p:cNvPr id="48" name="TextBox 48"/>
            <p:cNvSpPr txBox="1"/>
            <p:nvPr/>
          </p:nvSpPr>
          <p:spPr>
            <a:xfrm>
              <a:off x="5670804" y="401383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单纯毁伤 → 打击与认知效应结合</a:t>
              </a:r>
            </a:p>
          </p:txBody>
        </p:sp>
        <p:sp>
          <p:nvSpPr>
            <p:cNvPr id="49" name="Rectangle 49"/>
            <p:cNvSpPr/>
            <p:nvPr/>
          </p:nvSpPr>
          <p:spPr>
            <a:xfrm>
              <a:off x="609600" y="4229100"/>
              <a:ext cx="10972800" cy="295275"/>
            </a:xfrm>
            <a:prstGeom prst="rect">
              <a:avLst/>
            </a:prstGeom>
            <a:solidFill>
              <a:schemeClr val="accent5"/>
            </a:solidFill>
            <a:ln>
              <a:noFill/>
            </a:ln>
          </p:spPr>
        </p:sp>
        <p:sp>
          <p:nvSpPr>
            <p:cNvPr id="50" name="Rectangle 50"/>
            <p:cNvSpPr/>
            <p:nvPr/>
          </p:nvSpPr>
          <p:spPr>
            <a:xfrm>
              <a:off x="609600" y="4229100"/>
              <a:ext cx="57150" cy="295275"/>
            </a:xfrm>
            <a:prstGeom prst="rect">
              <a:avLst/>
            </a:prstGeom>
            <a:solidFill>
              <a:schemeClr val="accent3"/>
            </a:solidFill>
            <a:ln>
              <a:noFill/>
            </a:ln>
          </p:spPr>
        </p:sp>
        <p:sp>
          <p:nvSpPr>
            <p:cNvPr id="51" name="TextBox 51"/>
            <p:cNvSpPr txBox="1"/>
            <p:nvPr/>
          </p:nvSpPr>
          <p:spPr>
            <a:xfrm>
              <a:off x="774954" y="4309110"/>
              <a:ext cx="178917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任意传感器匹配最优射手</a:t>
              </a:r>
            </a:p>
          </p:txBody>
        </p:sp>
        <p:sp>
          <p:nvSpPr>
            <p:cNvPr id="52" name="TextBox 52"/>
            <p:cNvSpPr txBox="1"/>
            <p:nvPr/>
          </p:nvSpPr>
          <p:spPr>
            <a:xfrm>
              <a:off x="3518154" y="4309110"/>
              <a:ext cx="1159215"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E1 火力即服务</a:t>
              </a:r>
            </a:p>
          </p:txBody>
        </p:sp>
        <p:sp>
          <p:nvSpPr>
            <p:cNvPr id="53" name="TextBox 53"/>
            <p:cNvSpPr txBox="1"/>
            <p:nvPr/>
          </p:nvSpPr>
          <p:spPr>
            <a:xfrm>
              <a:off x="5670804" y="4309110"/>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平台绑定 → 传感器与射手解耦</a:t>
              </a:r>
            </a:p>
          </p:txBody>
        </p:sp>
        <p:sp>
          <p:nvSpPr>
            <p:cNvPr id="54" name="Rectangle 54"/>
            <p:cNvSpPr/>
            <p:nvPr/>
          </p:nvSpPr>
          <p:spPr>
            <a:xfrm>
              <a:off x="609600" y="4524375"/>
              <a:ext cx="57150" cy="295275"/>
            </a:xfrm>
            <a:prstGeom prst="rect">
              <a:avLst/>
            </a:prstGeom>
            <a:solidFill>
              <a:schemeClr val="accent3"/>
            </a:solidFill>
            <a:ln>
              <a:noFill/>
            </a:ln>
          </p:spPr>
        </p:sp>
        <p:sp>
          <p:nvSpPr>
            <p:cNvPr id="55" name="TextBox 55"/>
            <p:cNvSpPr txBox="1"/>
            <p:nvPr/>
          </p:nvSpPr>
          <p:spPr>
            <a:xfrm>
              <a:off x="774954" y="4604385"/>
              <a:ext cx="81991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蜂群对蜂群</a:t>
              </a:r>
            </a:p>
          </p:txBody>
        </p:sp>
        <p:sp>
          <p:nvSpPr>
            <p:cNvPr id="56" name="TextBox 56"/>
            <p:cNvSpPr txBox="1"/>
            <p:nvPr/>
          </p:nvSpPr>
          <p:spPr>
            <a:xfrm>
              <a:off x="3518154" y="4604385"/>
              <a:ext cx="1338438" cy="234696"/>
            </a:xfrm>
            <a:prstGeom prst="rect">
              <a:avLst/>
            </a:prstGeom>
            <a:noFill/>
            <a:ln>
              <a:noFill/>
            </a:ln>
          </p:spPr>
          <p:txBody>
            <a:bodyPr wrap="none" lIns="0" tIns="0" rIns="0" bIns="0" anchor="t" anchorCtr="0">
              <a:spAutoFit/>
            </a:bodyPr>
            <a:lstStyle/>
            <a:p>
              <a:pPr algn="l"/>
              <a:r>
                <a:rPr lang="zh-CN" sz="1200" b="1" dirty="0">
                  <a:solidFill>
                    <a:schemeClr val="accent3"/>
                  </a:solidFill>
                  <a:latin typeface="+mn-lt"/>
                  <a:ea typeface="+mn-ea"/>
                  <a:cs typeface="+mn-cs"/>
                </a:rPr>
                <a:t>E2 集群对抗生态</a:t>
              </a:r>
            </a:p>
          </p:txBody>
        </p:sp>
        <p:sp>
          <p:nvSpPr>
            <p:cNvPr id="57" name="TextBox 57"/>
            <p:cNvSpPr txBox="1"/>
            <p:nvPr/>
          </p:nvSpPr>
          <p:spPr>
            <a:xfrm>
              <a:off x="5670804" y="4604385"/>
              <a:ext cx="213649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单平台对抗 → 算法和种群对抗</a:t>
              </a:r>
            </a:p>
          </p:txBody>
        </p:sp>
        <p:sp>
          <p:nvSpPr>
            <p:cNvPr id="58" name="Rectangle 58"/>
            <p:cNvSpPr/>
            <p:nvPr/>
          </p:nvSpPr>
          <p:spPr>
            <a:xfrm>
              <a:off x="609600" y="4819650"/>
              <a:ext cx="10972800" cy="295275"/>
            </a:xfrm>
            <a:prstGeom prst="rect">
              <a:avLst/>
            </a:prstGeom>
            <a:solidFill>
              <a:schemeClr val="accent5"/>
            </a:solidFill>
            <a:ln>
              <a:noFill/>
            </a:ln>
          </p:spPr>
        </p:sp>
        <p:sp>
          <p:nvSpPr>
            <p:cNvPr id="59" name="Rectangle 59"/>
            <p:cNvSpPr/>
            <p:nvPr/>
          </p:nvSpPr>
          <p:spPr>
            <a:xfrm>
              <a:off x="609600" y="4819650"/>
              <a:ext cx="57150" cy="295275"/>
            </a:xfrm>
            <a:prstGeom prst="rect">
              <a:avLst/>
            </a:prstGeom>
            <a:solidFill>
              <a:schemeClr val="accent6"/>
            </a:solidFill>
            <a:ln>
              <a:noFill/>
            </a:ln>
          </p:spPr>
        </p:sp>
        <p:sp>
          <p:nvSpPr>
            <p:cNvPr id="60" name="TextBox 60"/>
            <p:cNvSpPr txBox="1"/>
            <p:nvPr/>
          </p:nvSpPr>
          <p:spPr>
            <a:xfrm>
              <a:off x="774954" y="4899660"/>
              <a:ext cx="1627632"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算法威慑、选择性透明</a:t>
              </a:r>
            </a:p>
          </p:txBody>
        </p:sp>
        <p:sp>
          <p:nvSpPr>
            <p:cNvPr id="61" name="TextBox 61"/>
            <p:cNvSpPr txBox="1"/>
            <p:nvPr/>
          </p:nvSpPr>
          <p:spPr>
            <a:xfrm>
              <a:off x="3518154" y="4899660"/>
              <a:ext cx="1159215"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F1 可验证自主</a:t>
              </a:r>
            </a:p>
          </p:txBody>
        </p:sp>
        <p:sp>
          <p:nvSpPr>
            <p:cNvPr id="62" name="TextBox 62"/>
            <p:cNvSpPr txBox="1"/>
            <p:nvPr/>
          </p:nvSpPr>
          <p:spPr>
            <a:xfrm>
              <a:off x="5670804" y="4899660"/>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黑箱自主 → 可约束、可验证自主</a:t>
              </a:r>
            </a:p>
          </p:txBody>
        </p:sp>
        <p:sp>
          <p:nvSpPr>
            <p:cNvPr id="63" name="Rectangle 63"/>
            <p:cNvSpPr/>
            <p:nvPr/>
          </p:nvSpPr>
          <p:spPr>
            <a:xfrm>
              <a:off x="609600" y="5114925"/>
              <a:ext cx="57150" cy="371475"/>
            </a:xfrm>
            <a:prstGeom prst="rect">
              <a:avLst/>
            </a:prstGeom>
            <a:solidFill>
              <a:schemeClr val="accent6"/>
            </a:solidFill>
            <a:ln>
              <a:noFill/>
            </a:ln>
          </p:spPr>
        </p:sp>
        <p:sp>
          <p:nvSpPr>
            <p:cNvPr id="64" name="TextBox 64"/>
            <p:cNvSpPr txBox="1"/>
            <p:nvPr/>
          </p:nvSpPr>
          <p:spPr>
            <a:xfrm>
              <a:off x="774954" y="5213985"/>
              <a:ext cx="981456"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越降级越自主</a:t>
              </a:r>
            </a:p>
          </p:txBody>
        </p:sp>
        <p:sp>
          <p:nvSpPr>
            <p:cNvPr id="65" name="TextBox 65"/>
            <p:cNvSpPr txBox="1"/>
            <p:nvPr/>
          </p:nvSpPr>
          <p:spPr>
            <a:xfrm>
              <a:off x="3518154" y="5213985"/>
              <a:ext cx="1338438" cy="234696"/>
            </a:xfrm>
            <a:prstGeom prst="rect">
              <a:avLst/>
            </a:prstGeom>
            <a:noFill/>
            <a:ln>
              <a:noFill/>
            </a:ln>
          </p:spPr>
          <p:txBody>
            <a:bodyPr wrap="none" lIns="0" tIns="0" rIns="0" bIns="0" anchor="t" anchorCtr="0">
              <a:spAutoFit/>
            </a:bodyPr>
            <a:lstStyle/>
            <a:p>
              <a:pPr algn="l"/>
              <a:r>
                <a:rPr lang="zh-CN" sz="1200" b="1" dirty="0">
                  <a:solidFill>
                    <a:schemeClr val="accent6"/>
                  </a:solidFill>
                  <a:latin typeface="+mn-lt"/>
                  <a:ea typeface="+mn-ea"/>
                  <a:cs typeface="+mn-cs"/>
                </a:rPr>
                <a:t>F2 拒止环境自主</a:t>
              </a:r>
            </a:p>
          </p:txBody>
        </p:sp>
        <p:sp>
          <p:nvSpPr>
            <p:cNvPr id="66" name="TextBox 66"/>
            <p:cNvSpPr txBox="1"/>
            <p:nvPr/>
          </p:nvSpPr>
          <p:spPr>
            <a:xfrm>
              <a:off x="5670804" y="5213985"/>
              <a:ext cx="2298040" cy="234696"/>
            </a:xfrm>
            <a:prstGeom prst="rect">
              <a:avLst/>
            </a:prstGeom>
            <a:noFill/>
            <a:ln>
              <a:noFill/>
            </a:ln>
          </p:spPr>
          <p:txBody>
            <a:bodyPr wrap="none" lIns="0" tIns="0" rIns="0" bIns="0" anchor="t" anchorCtr="0">
              <a:spAutoFit/>
            </a:bodyPr>
            <a:lstStyle/>
            <a:p>
              <a:pPr algn="l"/>
              <a:r>
                <a:rPr lang="zh-CN" sz="1200" dirty="0">
                  <a:solidFill>
                    <a:schemeClr val="dk1"/>
                  </a:solidFill>
                  <a:latin typeface="+mn-lt"/>
                  <a:ea typeface="+mn-ea"/>
                  <a:cs typeface="+mn-cs"/>
                </a:rPr>
                <a:t>网络依赖 → 断链条件下任务自治</a:t>
              </a:r>
            </a:p>
          </p:txBody>
        </p:sp>
      </p:grpSp>
      <p:grpSp>
        <p:nvGrpSpPr>
          <p:cNvPr id="72" name="Group 72"/>
          <p:cNvGrpSpPr/>
          <p:nvPr/>
        </p:nvGrpSpPr>
        <p:grpSpPr>
          <a:xfrm>
            <a:off x="609600" y="5676900"/>
            <a:ext cx="10972800" cy="781050"/>
            <a:chOff x="609600" y="5676900"/>
            <a:chExt cx="10972800" cy="781050"/>
          </a:xfrm>
        </p:grpSpPr>
        <p:sp>
          <p:nvSpPr>
            <p:cNvPr id="68" name="Rectangle 68"/>
            <p:cNvSpPr/>
            <p:nvPr/>
          </p:nvSpPr>
          <p:spPr>
            <a:xfrm>
              <a:off x="609600" y="5676900"/>
              <a:ext cx="10972800" cy="781050"/>
            </a:xfrm>
            <a:prstGeom prst="rect">
              <a:avLst/>
            </a:prstGeom>
            <a:solidFill>
              <a:schemeClr val="accent1"/>
            </a:solidFill>
            <a:ln>
              <a:noFill/>
            </a:ln>
          </p:spPr>
        </p:sp>
        <p:sp>
          <p:nvSpPr>
            <p:cNvPr id="69" name="Rectangle 69"/>
            <p:cNvSpPr/>
            <p:nvPr/>
          </p:nvSpPr>
          <p:spPr>
            <a:xfrm>
              <a:off x="609600" y="5676900"/>
              <a:ext cx="95250" cy="781050"/>
            </a:xfrm>
            <a:prstGeom prst="rect">
              <a:avLst/>
            </a:prstGeom>
            <a:solidFill>
              <a:schemeClr val="accent3"/>
            </a:solidFill>
            <a:ln>
              <a:noFill/>
            </a:ln>
          </p:spPr>
        </p:sp>
        <p:sp>
          <p:nvSpPr>
            <p:cNvPr id="70" name="TextBox 70"/>
            <p:cNvSpPr txBox="1"/>
            <p:nvPr/>
          </p:nvSpPr>
          <p:spPr>
            <a:xfrm>
              <a:off x="869442" y="5835968"/>
              <a:ext cx="505146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12 张卡只是有界起始镜头，不是固定答案、事实或装备清单</a:t>
              </a:r>
            </a:p>
          </p:txBody>
        </p:sp>
        <p:sp>
          <p:nvSpPr>
            <p:cNvPr id="71" name="TextBox 71"/>
            <p:cNvSpPr txBox="1"/>
            <p:nvPr/>
          </p:nvSpPr>
          <p:spPr>
            <a:xfrm>
              <a:off x="869442" y="6121718"/>
              <a:ext cx="5457596"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智能体可自主发散 OTHER；但不为“六维齐全”机械增加无关概念</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651627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Codex Agent 的八维票型</a:t>
              </a:r>
            </a:p>
          </p:txBody>
        </p:sp>
        <p:sp>
          <p:nvSpPr>
            <p:cNvPr id="3" name="TextBox 3"/>
            <p:cNvSpPr txBox="1"/>
            <p:nvPr/>
          </p:nvSpPr>
          <p:spPr>
            <a:xfrm>
              <a:off x="600456" y="1024890"/>
              <a:ext cx="3653028"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八维全部领先，证据维度差距最小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061460" cy="228600"/>
              </a:xfrm>
              <a:prstGeom prst="rect">
                <a:avLst/>
              </a:prstGeom>
              <a:solidFill>
                <a:schemeClr val="accent2"/>
              </a:solidFill>
              <a:ln>
                <a:noFill/>
              </a:ln>
            </p:spPr>
          </p:sp>
          <p:sp>
            <p:nvSpPr>
              <p:cNvPr id="9" name="Rectangle 9"/>
              <p:cNvSpPr/>
              <p:nvPr/>
            </p:nvSpPr>
            <p:spPr>
              <a:xfrm>
                <a:off x="6918960" y="1981200"/>
                <a:ext cx="466725" cy="228600"/>
              </a:xfrm>
              <a:prstGeom prst="rect">
                <a:avLst/>
              </a:prstGeom>
              <a:solidFill>
                <a:srgbClr val="B7C7D6"/>
              </a:solidFill>
              <a:ln>
                <a:noFill/>
              </a:ln>
            </p:spPr>
          </p:sp>
          <p:sp>
            <p:nvSpPr>
              <p:cNvPr id="10" name="Rectangle 10"/>
              <p:cNvSpPr/>
              <p:nvPr/>
            </p:nvSpPr>
            <p:spPr>
              <a:xfrm>
                <a:off x="7385685" y="1981200"/>
                <a:ext cx="1186815" cy="228600"/>
              </a:xfrm>
              <a:prstGeom prst="rect">
                <a:avLst/>
              </a:prstGeom>
              <a:solidFill>
                <a:schemeClr val="accent6"/>
              </a:solidFill>
              <a:ln>
                <a:noFill/>
              </a:ln>
            </p:spPr>
          </p:sp>
          <p:sp>
            <p:nvSpPr>
              <p:cNvPr id="11" name="TextBox 11"/>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71:1:8</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2499360" cy="228600"/>
              </a:xfrm>
              <a:prstGeom prst="rect">
                <a:avLst/>
              </a:prstGeom>
              <a:solidFill>
                <a:schemeClr val="accent2"/>
              </a:solidFill>
              <a:ln>
                <a:noFill/>
              </a:ln>
            </p:spPr>
          </p:sp>
          <p:sp>
            <p:nvSpPr>
              <p:cNvPr id="14" name="Rectangle 14"/>
              <p:cNvSpPr/>
              <p:nvPr/>
            </p:nvSpPr>
            <p:spPr>
              <a:xfrm>
                <a:off x="5356860" y="2457450"/>
                <a:ext cx="1497330" cy="228600"/>
              </a:xfrm>
              <a:prstGeom prst="rect">
                <a:avLst/>
              </a:prstGeom>
              <a:solidFill>
                <a:srgbClr val="B7C7D6"/>
              </a:solidFill>
              <a:ln>
                <a:noFill/>
              </a:ln>
            </p:spPr>
          </p:sp>
          <p:sp>
            <p:nvSpPr>
              <p:cNvPr id="15" name="Rectangle 15"/>
              <p:cNvSpPr/>
              <p:nvPr/>
            </p:nvSpPr>
            <p:spPr>
              <a:xfrm>
                <a:off x="6854190" y="2457450"/>
                <a:ext cx="1718310"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38:16:26</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193858" cy="228600"/>
              </a:xfrm>
              <a:prstGeom prst="rect">
                <a:avLst/>
              </a:prstGeom>
              <a:solidFill>
                <a:schemeClr val="accent2"/>
              </a:solidFill>
              <a:ln>
                <a:noFill/>
              </a:ln>
            </p:spPr>
          </p:sp>
          <p:sp>
            <p:nvSpPr>
              <p:cNvPr id="19" name="Rectangle 19"/>
              <p:cNvSpPr/>
              <p:nvPr/>
            </p:nvSpPr>
            <p:spPr>
              <a:xfrm>
                <a:off x="7051358" y="2933700"/>
                <a:ext cx="1521142"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4498658" cy="228600"/>
              </a:xfrm>
              <a:prstGeom prst="rect">
                <a:avLst/>
              </a:prstGeom>
              <a:solidFill>
                <a:schemeClr val="accent2"/>
              </a:solidFill>
              <a:ln>
                <a:noFill/>
              </a:ln>
            </p:spPr>
          </p:sp>
          <p:sp>
            <p:nvSpPr>
              <p:cNvPr id="23" name="Rectangle 23"/>
              <p:cNvSpPr/>
              <p:nvPr/>
            </p:nvSpPr>
            <p:spPr>
              <a:xfrm>
                <a:off x="7356158" y="3409950"/>
                <a:ext cx="1216342" cy="228600"/>
              </a:xfrm>
              <a:prstGeom prst="rect">
                <a:avLst/>
              </a:prstGeom>
              <a:solidFill>
                <a:schemeClr val="accent6"/>
              </a:solidFill>
              <a:ln>
                <a:noFill/>
              </a:ln>
            </p:spPr>
          </p:sp>
          <p:sp>
            <p:nvSpPr>
              <p:cNvPr id="24" name="TextBox 24"/>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73:0:7</a:t>
                </a:r>
              </a:p>
            </p:txBody>
          </p:sp>
          <p:sp>
            <p:nvSpPr>
              <p:cNvPr id="25" name="TextBox 25"/>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6" name="Rectangle 26"/>
              <p:cNvSpPr/>
              <p:nvPr/>
            </p:nvSpPr>
            <p:spPr>
              <a:xfrm>
                <a:off x="2857500" y="3886200"/>
                <a:ext cx="3573780" cy="228600"/>
              </a:xfrm>
              <a:prstGeom prst="rect">
                <a:avLst/>
              </a:prstGeom>
              <a:solidFill>
                <a:schemeClr val="accent2"/>
              </a:solidFill>
              <a:ln>
                <a:noFill/>
              </a:ln>
            </p:spPr>
          </p:sp>
          <p:sp>
            <p:nvSpPr>
              <p:cNvPr id="27" name="Rectangle 27"/>
              <p:cNvSpPr/>
              <p:nvPr/>
            </p:nvSpPr>
            <p:spPr>
              <a:xfrm>
                <a:off x="6431280" y="3886200"/>
                <a:ext cx="1126808" cy="228600"/>
              </a:xfrm>
              <a:prstGeom prst="rect">
                <a:avLst/>
              </a:prstGeom>
              <a:solidFill>
                <a:srgbClr val="B7C7D6"/>
              </a:solidFill>
              <a:ln>
                <a:noFill/>
              </a:ln>
            </p:spPr>
          </p:sp>
          <p:sp>
            <p:nvSpPr>
              <p:cNvPr id="28" name="Rectangle 28"/>
              <p:cNvSpPr/>
              <p:nvPr/>
            </p:nvSpPr>
            <p:spPr>
              <a:xfrm>
                <a:off x="7558088" y="3886200"/>
                <a:ext cx="1014412" cy="228600"/>
              </a:xfrm>
              <a:prstGeom prst="rect">
                <a:avLst/>
              </a:prstGeom>
              <a:solidFill>
                <a:schemeClr val="accent6"/>
              </a:solidFill>
              <a:ln>
                <a:noFill/>
              </a:ln>
            </p:spPr>
          </p:sp>
          <p:sp>
            <p:nvSpPr>
              <p:cNvPr id="29" name="TextBox 29"/>
              <p:cNvSpPr txBox="1"/>
              <p:nvPr/>
            </p:nvSpPr>
            <p:spPr>
              <a:xfrm>
                <a:off x="8737092" y="3930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66:7:7</a:t>
                </a:r>
              </a:p>
            </p:txBody>
          </p:sp>
          <p:sp>
            <p:nvSpPr>
              <p:cNvPr id="30" name="TextBox 30"/>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1" name="Rectangle 31"/>
              <p:cNvSpPr/>
              <p:nvPr/>
            </p:nvSpPr>
            <p:spPr>
              <a:xfrm>
                <a:off x="2857500" y="4362450"/>
                <a:ext cx="4122420" cy="228600"/>
              </a:xfrm>
              <a:prstGeom prst="rect">
                <a:avLst/>
              </a:prstGeom>
              <a:solidFill>
                <a:schemeClr val="accent2"/>
              </a:solidFill>
              <a:ln>
                <a:noFill/>
              </a:ln>
            </p:spPr>
          </p:sp>
          <p:sp>
            <p:nvSpPr>
              <p:cNvPr id="32" name="Rectangle 32"/>
              <p:cNvSpPr/>
              <p:nvPr/>
            </p:nvSpPr>
            <p:spPr>
              <a:xfrm>
                <a:off x="6979920" y="4362450"/>
                <a:ext cx="471488" cy="228600"/>
              </a:xfrm>
              <a:prstGeom prst="rect">
                <a:avLst/>
              </a:prstGeom>
              <a:solidFill>
                <a:srgbClr val="B7C7D6"/>
              </a:solidFill>
              <a:ln>
                <a:noFill/>
              </a:ln>
            </p:spPr>
          </p:sp>
          <p:sp>
            <p:nvSpPr>
              <p:cNvPr id="33" name="Rectangle 33"/>
              <p:cNvSpPr/>
              <p:nvPr/>
            </p:nvSpPr>
            <p:spPr>
              <a:xfrm>
                <a:off x="7451408" y="4362450"/>
                <a:ext cx="1121092" cy="228600"/>
              </a:xfrm>
              <a:prstGeom prst="rect">
                <a:avLst/>
              </a:prstGeom>
              <a:solidFill>
                <a:schemeClr val="accent6"/>
              </a:solidFill>
              <a:ln>
                <a:noFill/>
              </a:ln>
            </p:spPr>
          </p:sp>
          <p:sp>
            <p:nvSpPr>
              <p:cNvPr id="34" name="TextBox 34"/>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72:1:7</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4385310" cy="228600"/>
              </a:xfrm>
              <a:prstGeom prst="rect">
                <a:avLst/>
              </a:prstGeom>
              <a:solidFill>
                <a:schemeClr val="accent2"/>
              </a:solidFill>
              <a:ln>
                <a:noFill/>
              </a:ln>
            </p:spPr>
          </p:sp>
          <p:sp>
            <p:nvSpPr>
              <p:cNvPr id="37" name="Rectangle 37"/>
              <p:cNvSpPr/>
              <p:nvPr/>
            </p:nvSpPr>
            <p:spPr>
              <a:xfrm>
                <a:off x="7242810" y="4838700"/>
                <a:ext cx="700088" cy="228600"/>
              </a:xfrm>
              <a:prstGeom prst="rect">
                <a:avLst/>
              </a:prstGeom>
              <a:solidFill>
                <a:srgbClr val="B7C7D6"/>
              </a:solidFill>
              <a:ln>
                <a:noFill/>
              </a:ln>
            </p:spPr>
          </p:sp>
          <p:sp>
            <p:nvSpPr>
              <p:cNvPr id="38" name="Rectangle 38"/>
              <p:cNvSpPr/>
              <p:nvPr/>
            </p:nvSpPr>
            <p:spPr>
              <a:xfrm>
                <a:off x="7942898" y="4838700"/>
                <a:ext cx="629602"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76:2:2</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3763328" cy="228600"/>
              </a:xfrm>
              <a:prstGeom prst="rect">
                <a:avLst/>
              </a:prstGeom>
              <a:solidFill>
                <a:schemeClr val="accent2"/>
              </a:solidFill>
              <a:ln>
                <a:noFill/>
              </a:ln>
            </p:spPr>
          </p:sp>
          <p:sp>
            <p:nvSpPr>
              <p:cNvPr id="42" name="Rectangle 42"/>
              <p:cNvSpPr/>
              <p:nvPr/>
            </p:nvSpPr>
            <p:spPr>
              <a:xfrm>
                <a:off x="6620828" y="5314950"/>
                <a:ext cx="762952" cy="228600"/>
              </a:xfrm>
              <a:prstGeom prst="rect">
                <a:avLst/>
              </a:prstGeom>
              <a:solidFill>
                <a:srgbClr val="B7C7D6"/>
              </a:solidFill>
              <a:ln>
                <a:noFill/>
              </a:ln>
            </p:spPr>
          </p:sp>
          <p:sp>
            <p:nvSpPr>
              <p:cNvPr id="43" name="Rectangle 43"/>
              <p:cNvSpPr/>
              <p:nvPr/>
            </p:nvSpPr>
            <p:spPr>
              <a:xfrm>
                <a:off x="7383780" y="5314950"/>
                <a:ext cx="1188720" cy="228600"/>
              </a:xfrm>
              <a:prstGeom prst="rect">
                <a:avLst/>
              </a:prstGeom>
              <a:solidFill>
                <a:schemeClr val="accent6"/>
              </a:solidFill>
              <a:ln>
                <a:noFill/>
              </a:ln>
            </p:spPr>
          </p:sp>
          <p:sp>
            <p:nvSpPr>
              <p:cNvPr id="44" name="TextBox 44"/>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68:3:9</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290447"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总体得分率</a:t>
              </a:r>
            </a:p>
          </p:txBody>
        </p:sp>
        <p:sp>
          <p:nvSpPr>
            <p:cNvPr id="49" name="TextBox 49"/>
            <p:cNvSpPr txBox="1"/>
            <p:nvPr/>
          </p:nvSpPr>
          <p:spPr>
            <a:xfrm>
              <a:off x="9486900" y="2265998"/>
              <a:ext cx="1332522"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90%</a:t>
              </a:r>
            </a:p>
          </p:txBody>
        </p:sp>
        <p:sp>
          <p:nvSpPr>
            <p:cNvPr id="50" name="TextBox 50"/>
            <p:cNvSpPr txBox="1"/>
            <p:nvPr/>
          </p:nvSpPr>
          <p:spPr>
            <a:xfrm>
              <a:off x="9499092" y="3035618"/>
              <a:ext cx="154030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17 胜 · 2 平 · 1 负</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最小领先维度</a:t>
              </a:r>
            </a:p>
          </p:txBody>
        </p:sp>
        <p:sp>
          <p:nvSpPr>
            <p:cNvPr id="53" name="TextBox 53"/>
            <p:cNvSpPr txBox="1"/>
            <p:nvPr/>
          </p:nvSpPr>
          <p:spPr>
            <a:xfrm>
              <a:off x="9499092" y="4197668"/>
              <a:ext cx="146761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证据与事实可靠性</a:t>
              </a:r>
            </a:p>
          </p:txBody>
        </p:sp>
        <p:sp>
          <p:nvSpPr>
            <p:cNvPr id="54" name="TextBox 54"/>
            <p:cNvSpPr txBox="1"/>
            <p:nvPr/>
          </p:nvSpPr>
          <p:spPr>
            <a:xfrm>
              <a:off x="9494520" y="4519612"/>
              <a:ext cx="1422235"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38:16:26</a:t>
              </a:r>
            </a:p>
          </p:txBody>
        </p:sp>
        <p:sp>
          <p:nvSpPr>
            <p:cNvPr id="55" name="TextBox 55"/>
            <p:cNvSpPr txBox="1"/>
            <p:nvPr/>
          </p:nvSpPr>
          <p:spPr>
            <a:xfrm>
              <a:off x="9499092" y="4997768"/>
              <a:ext cx="1569110" cy="264033"/>
            </a:xfrm>
            <a:prstGeom prst="rect">
              <a:avLst/>
            </a:prstGeom>
            <a:noFill/>
            <a:ln>
              <a:noFill/>
            </a:ln>
          </p:spPr>
          <p:txBody>
            <a:bodyPr wrap="none" lIns="0" tIns="0" rIns="0" bIns="0" anchor="t" anchorCtr="0">
              <a:spAutoFit/>
            </a:bodyPr>
            <a:lstStyle/>
            <a:p>
              <a:pPr algn="l"/>
              <a:r>
                <a:rPr lang="en-US" sz="1350" dirty="0">
                  <a:solidFill>
                    <a:srgbClr val="C8D5E2"/>
                  </a:solidFill>
                  <a:latin typeface="+mn-lt"/>
                  <a:ea typeface="+mn-ea"/>
                  <a:cs typeface="+mn-cs"/>
                </a:rPr>
                <a:t>95% CI 78%–100%</a:t>
              </a:r>
            </a:p>
          </p:txBody>
        </p:sp>
      </p:grpSp>
      <p:grpSp>
        <p:nvGrpSpPr>
          <p:cNvPr id="64" name="Group 64"/>
          <p:cNvGrpSpPr/>
          <p:nvPr/>
        </p:nvGrpSpPr>
        <p:grpSpPr>
          <a:xfrm>
            <a:off x="609600" y="6172200"/>
            <a:ext cx="8670188" cy="270701"/>
            <a:chOff x="609600" y="6172200"/>
            <a:chExt cx="8670188"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150245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Codex Agent</a:t>
              </a:r>
            </a:p>
          </p:txBody>
        </p:sp>
        <p:sp>
          <p:nvSpPr>
            <p:cNvPr id="63" name="TextBox 63"/>
            <p:cNvSpPr txBox="1"/>
            <p:nvPr/>
          </p:nvSpPr>
          <p:spPr>
            <a:xfrm>
              <a:off x="5899404" y="6195060"/>
              <a:ext cx="3380384"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√票数压缩；准确票数以右侧数字为准</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448175" cy="228600"/>
              </a:xfrm>
              <a:prstGeom prst="rect">
                <a:avLst/>
              </a:prstGeom>
              <a:solidFill>
                <a:schemeClr val="accent2"/>
              </a:solidFill>
              <a:ln>
                <a:noFill/>
              </a:ln>
            </p:spPr>
          </p:sp>
          <p:sp>
            <p:nvSpPr>
              <p:cNvPr id="9" name="Rectangle 9"/>
              <p:cNvSpPr/>
              <p:nvPr/>
            </p:nvSpPr>
            <p:spPr>
              <a:xfrm>
                <a:off x="7305675" y="1981200"/>
                <a:ext cx="12668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648200" cy="228600"/>
              </a:xfrm>
              <a:prstGeom prst="rect">
                <a:avLst/>
              </a:prstGeom>
              <a:solidFill>
                <a:schemeClr val="accent2"/>
              </a:solidFill>
              <a:ln>
                <a:noFill/>
              </a:ln>
            </p:spPr>
          </p:sp>
          <p:sp>
            <p:nvSpPr>
              <p:cNvPr id="16" name="Rectangle 16"/>
              <p:cNvSpPr/>
              <p:nvPr/>
            </p:nvSpPr>
            <p:spPr>
              <a:xfrm>
                <a:off x="7505700" y="2933700"/>
                <a:ext cx="106680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542472" cy="228600"/>
              </a:xfrm>
              <a:prstGeom prst="rect">
                <a:avLst/>
              </a:prstGeom>
              <a:solidFill>
                <a:schemeClr val="accent2"/>
              </a:solidFill>
              <a:ln>
                <a:noFill/>
              </a:ln>
            </p:spPr>
          </p:sp>
          <p:sp>
            <p:nvSpPr>
              <p:cNvPr id="20" name="Rectangle 20"/>
              <p:cNvSpPr/>
              <p:nvPr/>
            </p:nvSpPr>
            <p:spPr>
              <a:xfrm>
                <a:off x="7399972" y="3409950"/>
                <a:ext cx="117252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3856672" cy="228600"/>
              </a:xfrm>
              <a:prstGeom prst="rect">
                <a:avLst/>
              </a:prstGeom>
              <a:solidFill>
                <a:schemeClr val="accent2"/>
              </a:solidFill>
              <a:ln>
                <a:noFill/>
              </a:ln>
            </p:spPr>
          </p:sp>
          <p:sp>
            <p:nvSpPr>
              <p:cNvPr id="34" name="Rectangle 34"/>
              <p:cNvSpPr/>
              <p:nvPr/>
            </p:nvSpPr>
            <p:spPr>
              <a:xfrm>
                <a:off x="6714172" y="5314950"/>
                <a:ext cx="647700" cy="228600"/>
              </a:xfrm>
              <a:prstGeom prst="rect">
                <a:avLst/>
              </a:prstGeom>
              <a:solidFill>
                <a:srgbClr val="B7C7D6"/>
              </a:solidFill>
              <a:ln>
                <a:noFill/>
              </a:ln>
            </p:spPr>
          </p:sp>
          <p:sp>
            <p:nvSpPr>
              <p:cNvPr id="35" name="Rectangle 35"/>
              <p:cNvSpPr/>
              <p:nvPr/>
            </p:nvSpPr>
            <p:spPr>
              <a:xfrm>
                <a:off x="7361872" y="5314950"/>
                <a:ext cx="1210628"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926330" cy="228600"/>
              </a:xfrm>
              <a:prstGeom prst="rect">
                <a:avLst/>
              </a:prstGeom>
              <a:solidFill>
                <a:schemeClr val="accent2"/>
              </a:solidFill>
              <a:ln>
                <a:noFill/>
              </a:ln>
            </p:spPr>
          </p:sp>
          <p:sp>
            <p:nvSpPr>
              <p:cNvPr id="9" name="Rectangle 9"/>
              <p:cNvSpPr/>
              <p:nvPr/>
            </p:nvSpPr>
            <p:spPr>
              <a:xfrm>
                <a:off x="7783830" y="1981200"/>
                <a:ext cx="788670"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926330" cy="228600"/>
              </a:xfrm>
              <a:prstGeom prst="rect">
                <a:avLst/>
              </a:prstGeom>
              <a:solidFill>
                <a:schemeClr val="accent2"/>
              </a:solidFill>
              <a:ln>
                <a:noFill/>
              </a:ln>
            </p:spPr>
          </p:sp>
          <p:sp>
            <p:nvSpPr>
              <p:cNvPr id="16" name="Rectangle 16"/>
              <p:cNvSpPr/>
              <p:nvPr/>
            </p:nvSpPr>
            <p:spPr>
              <a:xfrm>
                <a:off x="7783830" y="2933700"/>
                <a:ext cx="78867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926330" cy="228600"/>
              </a:xfrm>
              <a:prstGeom prst="rect">
                <a:avLst/>
              </a:prstGeom>
              <a:solidFill>
                <a:schemeClr val="accent2"/>
              </a:solidFill>
              <a:ln>
                <a:noFill/>
              </a:ln>
            </p:spPr>
          </p:sp>
          <p:sp>
            <p:nvSpPr>
              <p:cNvPr id="20" name="Rectangle 20"/>
              <p:cNvSpPr/>
              <p:nvPr/>
            </p:nvSpPr>
            <p:spPr>
              <a:xfrm>
                <a:off x="7783830" y="3409950"/>
                <a:ext cx="788670"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4351020" cy="228600"/>
              </a:xfrm>
              <a:prstGeom prst="rect">
                <a:avLst/>
              </a:prstGeom>
              <a:solidFill>
                <a:schemeClr val="accent2"/>
              </a:solidFill>
              <a:ln>
                <a:noFill/>
              </a:ln>
            </p:spPr>
          </p:sp>
          <p:sp>
            <p:nvSpPr>
              <p:cNvPr id="31" name="Rectangle 31"/>
              <p:cNvSpPr/>
              <p:nvPr/>
            </p:nvSpPr>
            <p:spPr>
              <a:xfrm>
                <a:off x="7208520" y="4838700"/>
                <a:ext cx="499110" cy="228600"/>
              </a:xfrm>
              <a:prstGeom prst="rect">
                <a:avLst/>
              </a:prstGeom>
              <a:solidFill>
                <a:srgbClr val="B7C7D6"/>
              </a:solidFill>
              <a:ln>
                <a:noFill/>
              </a:ln>
            </p:spPr>
          </p:sp>
          <p:sp>
            <p:nvSpPr>
              <p:cNvPr id="32" name="Rectangle 32"/>
              <p:cNvSpPr/>
              <p:nvPr/>
            </p:nvSpPr>
            <p:spPr>
              <a:xfrm>
                <a:off x="7707630" y="4838700"/>
                <a:ext cx="864870"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20</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初步消融实验表明：制胜机理贡献仍最突出</a:t>
              </a:r>
            </a:p>
          </p:txBody>
        </p:sp>
        <p:sp>
          <p:nvSpPr>
            <p:cNvPr id="3" name="TextBox 3"/>
            <p:cNvSpPr txBox="1"/>
            <p:nvPr/>
          </p:nvSpPr>
          <p:spPr>
            <a:xfrm>
              <a:off x="600456" y="1043940"/>
              <a:ext cx="7457389"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多源基线仅呈 20 个百分点方向性增益；当前结果仍按探索性证据解读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21</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下一阶段：补优化、扩样本、降时延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22</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优化智能体设计</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严格落实相关要求</a:t>
              </a:r>
            </a:p>
          </p:txBody>
        </p:sp>
        <p:sp>
          <p:nvSpPr>
            <p:cNvPr id="10" name="TextBox 10"/>
            <p:cNvSpPr txBox="1"/>
            <p:nvPr/>
          </p:nvSpPr>
          <p:spPr>
            <a:xfrm>
              <a:off x="600456" y="3920490"/>
              <a:ext cx="224416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压缩 Prompt 上下文</a:t>
              </a:r>
            </a:p>
          </p:txBody>
        </p:sp>
        <p:sp>
          <p:nvSpPr>
            <p:cNvPr id="11" name="TextBox 11"/>
            <p:cNvSpPr txBox="1"/>
            <p:nvPr/>
          </p:nvSpPr>
          <p:spPr>
            <a:xfrm>
              <a:off x="600456" y="4320540"/>
              <a:ext cx="24414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强化质量门与装备约束</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2026-07-30T08:54:44Z</dcterms:created>
  <dcterms:modified xsi:type="dcterms:W3CDTF">2026-07-30T08:54:44Z</dcterms:modified>
  <cp:category/>
  <cp:contentStatus/>
</cp:coreProperties>
</file>