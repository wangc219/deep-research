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66" r:id="rId13"/>
    <p:sldId id="268" r:id="rId14"/>
    <p:sldId id="270" r:id="rId15"/>
    <p:sldId id="271" r:id="rId16"/>
    <p:sldId id="272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本次汇报围绕基于多智能体协作的 JS 装备市场需求深度挖掘系统，重点展示已经完成的落地功能、工程验收和 Benchmark Baseline 结果。项目已经从架构设计进入可运行、可追溯、可评测的系统初版阶段。下面先用一页概览说明项目完成度。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当前项目已经形成业务、工程和评测三类闭环。核心功能覆盖三路线与 A 到 H 动态编排、S 一到 S 六专业推理链、证据门控与交互审计，以及成果矩阵和交付 Manifest；全量回归达到四百四十六项通过，对通用 Codex Agent 的真实专家盲评为十七胜、两平、零负。接下来我们从端到端业务流程看这些能力如何串联。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把传统的资料检索和人工归纳，升级为七阶段可追溯研究闭环。任务从解析和路线选择开始，经过多智能体研究、证据治理和专业机理推理，最终形成成果画像与审计交付，并通过验证回流再次核查证据。这个闭环保证交付不是简单清单，而是带有背景、约束、证据和验证路径的结构化成果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这一页用 Codex 原生绘制的可编辑架构图，把项目业务和功能收敛为一条清晰主线路。任务入口经过三路线和 A 到 H 分支形成研究蓝图，主控 Agent 调度路线与分支专用 Agent，再进入 S 一到 S 六推理链；证据治理层在门控未通过时定向回溯到相关 Agent，企业运行层最终通过接口、队列、Worker、工作台、Trace 与 Manifest 完成交付。下面进一步展开三路线和动态分支的编排机制。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系统已经落地新制胜机理、传统能力缺口和局部战争案例三条稳定路线，同时以 A 到 H 八个分支形成目标架构扩展面。主控 Agent 根据任务主题、交互模式和覆盖缺口选择专业 Agent，并生成差异化研究蓝图。这样既保证成熟路径稳定执行，也保留面向新任务的动态发现能力。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多智能体在本项目中不是简单地重复调用模型，而是运行在受控 Harness 中。Agent 角色可通过 Registry 动态选择或替换，每个 Agent 拥有独立 Session、上下文、工具权限、预算、Checkpoint 和输出目录，并通过有界 Wave 并发和结构化交接实现可恢复协作。接下来介绍这些 Agent 所固化的专业推理链。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S 一到 S 六把研究材料逐级转化为机理分析和能力成果。六个节点分别覆盖对手分析、运用审查、突破口思考、能力映射、现状差距和综合输出，使规律、场景、因果、能力需求、指标边界和验证建议形成连续链路。专业推理链之外，系统还设计了分层质量循环来处理证据不足和阶段矛盾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L 一到 L 四按照缺口大小触发不同范围的纠偏。系统可以在当前节点补证、回溯相邻阶段、跨阶段重新门控，并在收敛后进行有界复核；所有调整都受到 Harness 边界约束并保留触发和动作记录。这样既能提高质量，又避免无限反思和不可控重编排。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研究指挥台已经承载真实任务创建、排队、执行、筛选、归档和历史查看。接口创建任务后由持久化队列和独立 Worker 跨进程执行，应用重启后仍可读取摘要、证据、专业节点、成果、报告、追溯与 Manifest。它证明项目已经从算法流程进入可操作的企业工作台形态。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真实任务已经记录三百七十二条交互事件、二十二张证据卡、六个专用 S Agent、十二个推理节点和一次真实 Recall。页面中的真实审计链清楚显示 L 一门控未通过，系统发起定向补证，完成再调后返回 L 一，并由主控 Agent 合并结果、重新计算能力覆盖。持久化事件流同时支持实时观察、断线重放和事后审计，下一页进一步看专业推理结果在产品中的呈现。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系统已经把研究结论沉淀为甲方可直接评审的多形态成果交付包。真实能力成果界面之外，交付矩阵还包括深度报告、需求卡片、能力全景、推理追溯、证据索引、质量门控、交互审计和 Manifest。整个交付包既支持当前评审，也为后续验证和迭代保留依据。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正式 Benchmark 不会把四百八十条候选题库直接全部运行，而是由专家从中筛选并标注约一百条真正适合 Deep Research 的 Query，最终数量以专家终审为准。入选题目必须具备多源检索、跨源综合或机理分析的必要性，紧贴 JS 装备需求业务，并形成完整的分支、模式、预期输出、评分规则、证据包和安全边界标注。正式测试覆盖 A 到 H 全部分支，每个分支预计约十二到十三条，同时纳入跨分支、歧义、证据冲突、Recall 或 Agent 缺口及安全注入等挑战样本，并结合模块消融 Baseline、绝对评分、Pairwise 和专家盲评进行验证。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这一页是本次汇报的核心实证。十九条专业 Query 全部完成，经过两名真实专家盲评，完整方法对纯 LLM 为十九胜、零平、零负，对通用 Codex Agent 为十七胜、两平、零负；八维票型显示能力映射、机理深度、军事价值、前瞻性、任务完成、跨场景稳健性和不确定性处理七项优势。证据与事实可靠性的票型为二比三比六十七，但结合报告声明十九项正式证据而正文没有完整展开的情况，这一结果更应理解为正文证据展示、评测输入口径和 Judge 可见信息的差异，不能直接推导为底层证据不足。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>
                <a:sym typeface="+mn-ea"/>
              </a:rPr>
              <a:t>下一阶段重点集中在三件事。第一，继续优化智能体设计和协作编排，细化主控、专用 Agent、业务 Agent 与 S1 到 S6 的职责边界，完善动态路由、并行协同、回溯再调和输入输出契约。第二，进一步梳理和完善端到端业务执行流程，让任务入口、三路线、A 到 H 分支、六步推理、证据门控、人工复核和成果交付保持一致，并补齐异常处理与状态回放。第三，持续完善 Benchmark 测试，扩充专家标注 Query，优化匿名 Pairwise 盲评和人工仲裁，同时增加主控编排、专用 Agent、S1 到 S6、证据门控、Recall 与工具链等模块的消融实验，量化各模块的实际贡献。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js_equipment_client_report_20260722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" name="Image 2"/>
            <p:cNvPicPr>
              <a:picLocks noChangeAspect="1"/>
            </p:cNvPicPr>
            <p:nvPr/>
          </p:nvPicPr>
          <p:blipFill>
            <a:blip r:embed="rId1"/>
            <a:srcRect t="27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  <p:sp>
        <p:nvSpPr>
          <p:cNvPr id="4" name="Rectangle 4"/>
          <p:cNvSpPr/>
          <p:nvPr/>
        </p:nvSpPr>
        <p:spPr>
          <a:xfrm>
            <a:off x="6753225" y="914400"/>
            <a:ext cx="5086350" cy="4895850"/>
          </a:xfrm>
          <a:prstGeom prst="roundRect">
            <a:avLst>
              <a:gd name="adj" fmla="val 6226"/>
            </a:avLst>
          </a:prstGeom>
          <a:solidFill>
            <a:srgbClr val="FFFFFF">
              <a:alpha val="88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7224522" y="1444942"/>
            <a:ext cx="5121592" cy="2465071"/>
            <a:chOff x="7224522" y="1444942"/>
            <a:chExt cx="5121592" cy="2465071"/>
          </a:xfrm>
        </p:grpSpPr>
        <p:sp>
          <p:nvSpPr>
            <p:cNvPr id="5" name="TextBox 5"/>
            <p:cNvSpPr txBox="1"/>
            <p:nvPr/>
          </p:nvSpPr>
          <p:spPr>
            <a:xfrm>
              <a:off x="7224522" y="1444942"/>
              <a:ext cx="5121592" cy="107175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4050"/>
                </a:lnSpc>
              </a:pPr>
              <a:r>
                <a:rPr lang="zh-CN" sz="28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基于多智能体协作的JS 装备市场需求深度挖掘系统</a:t>
              </a:r>
              <a:endParaRPr lang="zh-CN" sz="28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7239000" y="2724150"/>
              <a:ext cx="704850" cy="571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227570" y="3071812"/>
              <a:ext cx="2446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项目阶段成果汇报</a:t>
              </a:r>
              <a:endParaRPr lang="zh-CN" sz="22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232142" y="3702368"/>
              <a:ext cx="32956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落地功能 · 工程验收 · Benchmark Baseline 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7239000" y="4953000"/>
            <a:ext cx="4114800" cy="476250"/>
            <a:chOff x="7239000" y="4953000"/>
            <a:chExt cx="4114800" cy="476250"/>
          </a:xfrm>
        </p:grpSpPr>
        <p:sp>
          <p:nvSpPr>
            <p:cNvPr id="10" name="Rectangle 10"/>
            <p:cNvSpPr/>
            <p:nvPr/>
          </p:nvSpPr>
          <p:spPr>
            <a:xfrm>
              <a:off x="72390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973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业务闭环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66775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2606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工程闭环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096500" y="4953000"/>
              <a:ext cx="1257300" cy="476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354818" y="512159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评测闭环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78730" y="64017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TextBox 10"/>
          <p:cNvSpPr txBox="1"/>
          <p:nvPr/>
        </p:nvSpPr>
        <p:spPr>
          <a:xfrm>
            <a:off x="7232142" y="3950018"/>
            <a:ext cx="1921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汇报日期：</a:t>
            </a:r>
            <a:fld id="{6D411DCE-A345-4332-8BDD-912E275EC8EA}" type="datetimeFigureOut">
              <a:rPr lang="zh-CN" alt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</a:fld>
            <a:endParaRPr 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8040624" cy="695516"/>
            <a:chOff x="500634" y="489585"/>
            <a:chExt cx="8040624" cy="6955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5496560" cy="415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八类分支闭环与核心功能已</a:t>
              </a:r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初步落地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80147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结论先行：业务研究、工程运行、成果交付和 Benchmark 评测已形成可展示、可复核的项目初版。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32967" y="1333500"/>
            <a:ext cx="4665112" cy="4239006"/>
            <a:chOff x="1032967" y="1333500"/>
            <a:chExt cx="4665112" cy="4239006"/>
          </a:xfrm>
        </p:grpSpPr>
        <p:sp>
          <p:nvSpPr>
            <p:cNvPr id="5" name="Freeform 5"/>
            <p:cNvSpPr/>
            <p:nvPr/>
          </p:nvSpPr>
          <p:spPr>
            <a:xfrm>
              <a:off x="1181100" y="1333500"/>
              <a:ext cx="4076700" cy="3714750"/>
            </a:xfrm>
            <a:custGeom>
              <a:avLst/>
              <a:gdLst/>
              <a:ahLst/>
              <a:cxnLst/>
              <a:rect l="l" t="t" r="r" b="b"/>
              <a:pathLst>
                <a:path w="4076700" h="3714750">
                  <a:moveTo>
                    <a:pt x="533400" y="971550"/>
                  </a:moveTo>
                  <a:cubicBezTo>
                    <a:pt x="1466850" y="0"/>
                    <a:pt x="3067050" y="247650"/>
                    <a:pt x="3581400" y="1447800"/>
                  </a:cubicBezTo>
                  <a:cubicBezTo>
                    <a:pt x="4076700" y="2609850"/>
                    <a:pt x="3152775" y="3714750"/>
                    <a:pt x="1866900" y="3562350"/>
                  </a:cubicBezTo>
                  <a:cubicBezTo>
                    <a:pt x="647700" y="3429000"/>
                    <a:pt x="0" y="2381250"/>
                    <a:pt x="476250" y="1314450"/>
                  </a:cubicBezTo>
                </a:path>
              </a:pathLst>
            </a:custGeom>
            <a:noFill/>
            <a:ln w="209550" cap="rnd">
              <a:solidFill>
                <a:srgbClr val="D7E0EA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1714500" y="1333500"/>
              <a:ext cx="3048000" cy="1447800"/>
            </a:xfrm>
            <a:custGeom>
              <a:avLst/>
              <a:gdLst/>
              <a:ahLst/>
              <a:cxnLst/>
              <a:rect l="l" t="t" r="r" b="b"/>
              <a:pathLst>
                <a:path w="3048000" h="1447800">
                  <a:moveTo>
                    <a:pt x="0" y="971550"/>
                  </a:moveTo>
                  <a:cubicBezTo>
                    <a:pt x="933450" y="0"/>
                    <a:pt x="2533650" y="247650"/>
                    <a:pt x="3048000" y="1447800"/>
                  </a:cubicBezTo>
                </a:path>
              </a:pathLst>
            </a:custGeom>
            <a:noFill/>
            <a:ln w="209550" cap="rnd">
              <a:solidFill>
                <a:schemeClr val="accent1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3048000" y="2781300"/>
              <a:ext cx="2209800" cy="2266950"/>
            </a:xfrm>
            <a:custGeom>
              <a:avLst/>
              <a:gdLst/>
              <a:ahLst/>
              <a:cxnLst/>
              <a:rect l="l" t="t" r="r" b="b"/>
              <a:pathLst>
                <a:path w="2209800" h="2266950">
                  <a:moveTo>
                    <a:pt x="1714500" y="0"/>
                  </a:moveTo>
                  <a:cubicBezTo>
                    <a:pt x="2209800" y="1162050"/>
                    <a:pt x="1285875" y="2266950"/>
                    <a:pt x="0" y="2114550"/>
                  </a:cubicBezTo>
                </a:path>
              </a:pathLst>
            </a:custGeom>
            <a:noFill/>
            <a:ln w="209550" cap="rnd">
              <a:solidFill>
                <a:schemeClr val="accent3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1181100" y="2647950"/>
              <a:ext cx="1866900" cy="2247900"/>
            </a:xfrm>
            <a:custGeom>
              <a:avLst/>
              <a:gdLst/>
              <a:ahLst/>
              <a:cxnLst/>
              <a:rect l="l" t="t" r="r" b="b"/>
              <a:pathLst>
                <a:path w="1866900" h="2247900">
                  <a:moveTo>
                    <a:pt x="1866900" y="2247900"/>
                  </a:moveTo>
                  <a:cubicBezTo>
                    <a:pt x="647700" y="2114550"/>
                    <a:pt x="0" y="1066800"/>
                    <a:pt x="476250" y="0"/>
                  </a:cubicBezTo>
                </a:path>
              </a:pathLst>
            </a:custGeom>
            <a:noFill/>
            <a:ln w="209550" cap="rnd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43025" y="159067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681163" y="1814513"/>
              <a:ext cx="371475" cy="371475"/>
              <a:chOff x="1681163" y="1814513"/>
              <a:chExt cx="371475" cy="371475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681163" y="2103438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0" y="41275"/>
                    </a:moveTo>
                    <a:cubicBezTo>
                      <a:pt x="0" y="64071"/>
                      <a:pt x="18479" y="82550"/>
                      <a:pt x="41275" y="82550"/>
                    </a:cubicBez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970088" y="1814513"/>
                <a:ext cx="82550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82550">
                    <a:moveTo>
                      <a:pt x="41275" y="82550"/>
                    </a:moveTo>
                    <a:cubicBezTo>
                      <a:pt x="64071" y="82550"/>
                      <a:pt x="82550" y="64071"/>
                      <a:pt x="82550" y="41275"/>
                    </a:cubicBezTo>
                    <a:cubicBezTo>
                      <a:pt x="82550" y="18479"/>
                      <a:pt x="64071" y="0"/>
                      <a:pt x="41275" y="0"/>
                    </a:cubicBezTo>
                    <a:cubicBezTo>
                      <a:pt x="18479" y="0"/>
                      <a:pt x="0" y="18479"/>
                      <a:pt x="0" y="41275"/>
                    </a:cubicBezTo>
                    <a:cubicBezTo>
                      <a:pt x="0" y="64071"/>
                      <a:pt x="18479" y="82550"/>
                      <a:pt x="41275" y="82550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825625" y="1855788"/>
                <a:ext cx="82550" cy="288925"/>
              </a:xfrm>
              <a:custGeom>
                <a:avLst/>
                <a:gdLst/>
                <a:ahLst/>
                <a:cxnLst/>
                <a:rect l="l" t="t" r="r" b="b"/>
                <a:pathLst>
                  <a:path w="82550" h="288925">
                    <a:moveTo>
                      <a:pt x="82550" y="0"/>
                    </a:moveTo>
                    <a:cubicBezTo>
                      <a:pt x="59755" y="0"/>
                      <a:pt x="41275" y="18479"/>
                      <a:pt x="41275" y="41275"/>
                    </a:cubicBezTo>
                    <a:lnTo>
                      <a:pt x="41275" y="247650"/>
                    </a:lnTo>
                    <a:cubicBezTo>
                      <a:pt x="41275" y="270446"/>
                      <a:pt x="22796" y="288925"/>
                      <a:pt x="0" y="288925"/>
                    </a:cubicBezTo>
                  </a:path>
                </a:pathLst>
              </a:custGeom>
              <a:noFill/>
              <a:ln w="41275">
                <a:solidFill>
                  <a:schemeClr val="accent1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2060" y="23174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业务闭环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32967" y="2651760"/>
              <a:ext cx="1667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三路线 · A–H · S1–S6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4162425" y="24860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521200" y="2709863"/>
              <a:ext cx="330201" cy="371475"/>
              <a:chOff x="4521200" y="2709863"/>
              <a:chExt cx="330201" cy="371475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4521200" y="2709863"/>
                <a:ext cx="330201" cy="123825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23825">
                    <a:moveTo>
                      <a:pt x="0" y="61913"/>
                    </a:moveTo>
                    <a:cubicBezTo>
                      <a:pt x="0" y="96106"/>
                      <a:pt x="73918" y="123825"/>
                      <a:pt x="165100" y="123825"/>
                    </a:cubicBezTo>
                    <a:cubicBezTo>
                      <a:pt x="256283" y="123825"/>
                      <a:pt x="330201" y="96106"/>
                      <a:pt x="330201" y="61913"/>
                    </a:cubicBezTo>
                    <a:cubicBezTo>
                      <a:pt x="330201" y="27719"/>
                      <a:pt x="256283" y="0"/>
                      <a:pt x="165100" y="0"/>
                    </a:cubicBezTo>
                    <a:cubicBezTo>
                      <a:pt x="73918" y="0"/>
                      <a:pt x="0" y="27719"/>
                      <a:pt x="0" y="61913"/>
                    </a:cubicBez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4521200" y="2771775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521200" y="2895600"/>
                <a:ext cx="330201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330201" h="185738">
                    <a:moveTo>
                      <a:pt x="0" y="0"/>
                    </a:moveTo>
                    <a:lnTo>
                      <a:pt x="0" y="123825"/>
                    </a:lnTo>
                    <a:cubicBezTo>
                      <a:pt x="0" y="158019"/>
                      <a:pt x="73918" y="185738"/>
                      <a:pt x="165100" y="185738"/>
                    </a:cubicBezTo>
                    <a:cubicBezTo>
                      <a:pt x="256283" y="185738"/>
                      <a:pt x="330201" y="158019"/>
                      <a:pt x="330201" y="123825"/>
                    </a:cubicBezTo>
                    <a:lnTo>
                      <a:pt x="330201" y="0"/>
                    </a:lnTo>
                  </a:path>
                </a:pathLst>
              </a:custGeom>
              <a:noFill/>
              <a:ln w="41275">
                <a:solidFill>
                  <a:schemeClr val="accent3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4211460" y="3212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工程闭环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74521" y="3547110"/>
              <a:ext cx="2023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API · Queue · Worker · UI</a:t>
              </a:r>
              <a:endParaRPr lang="en-US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2333625" y="4276725"/>
              <a:ext cx="1047750" cy="104775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2671763" y="4521200"/>
              <a:ext cx="371475" cy="339726"/>
              <a:chOff x="2671763" y="4521200"/>
              <a:chExt cx="371475" cy="3397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2671763" y="4686300"/>
                <a:ext cx="123825" cy="16510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10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144463"/>
                    </a:lnTo>
                    <a:cubicBezTo>
                      <a:pt x="123825" y="155861"/>
                      <a:pt x="114585" y="165100"/>
                      <a:pt x="103188" y="165100"/>
                    </a:cubicBezTo>
                    <a:lnTo>
                      <a:pt x="20638" y="165100"/>
                    </a:lnTo>
                    <a:cubicBezTo>
                      <a:pt x="9240" y="165100"/>
                      <a:pt x="0" y="155861"/>
                      <a:pt x="0" y="1444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2919413" y="4603750"/>
                <a:ext cx="12382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247650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227013"/>
                    </a:lnTo>
                    <a:cubicBezTo>
                      <a:pt x="123825" y="238411"/>
                      <a:pt x="114585" y="247650"/>
                      <a:pt x="103188" y="247650"/>
                    </a:cubicBezTo>
                    <a:lnTo>
                      <a:pt x="20638" y="247650"/>
                    </a:lnTo>
                    <a:cubicBezTo>
                      <a:pt x="9240" y="247650"/>
                      <a:pt x="0" y="238411"/>
                      <a:pt x="0" y="22701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2795588" y="4521200"/>
                <a:ext cx="123825" cy="330201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330201">
                    <a:moveTo>
                      <a:pt x="0" y="20638"/>
                    </a:moveTo>
                    <a:cubicBezTo>
                      <a:pt x="0" y="9240"/>
                      <a:pt x="9240" y="0"/>
                      <a:pt x="20638" y="0"/>
                    </a:cubicBezTo>
                    <a:lnTo>
                      <a:pt x="103188" y="0"/>
                    </a:lnTo>
                    <a:cubicBezTo>
                      <a:pt x="114585" y="0"/>
                      <a:pt x="123825" y="9240"/>
                      <a:pt x="123825" y="20638"/>
                    </a:cubicBezTo>
                    <a:lnTo>
                      <a:pt x="123825" y="309563"/>
                    </a:lnTo>
                    <a:cubicBezTo>
                      <a:pt x="123825" y="320961"/>
                      <a:pt x="114585" y="330201"/>
                      <a:pt x="103188" y="330201"/>
                    </a:cubicBezTo>
                    <a:lnTo>
                      <a:pt x="20638" y="330201"/>
                    </a:lnTo>
                    <a:cubicBezTo>
                      <a:pt x="9240" y="330201"/>
                      <a:pt x="0" y="320961"/>
                      <a:pt x="0" y="309563"/>
                    </a:cubicBezTo>
                    <a:lnTo>
                      <a:pt x="0" y="20638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2692400" y="4851401"/>
                <a:ext cx="288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8925" h="9525">
                    <a:moveTo>
                      <a:pt x="0" y="0"/>
                    </a:moveTo>
                    <a:lnTo>
                      <a:pt x="288925" y="0"/>
                    </a:lnTo>
                  </a:path>
                </a:pathLst>
              </a:custGeom>
              <a:noFill/>
              <a:ln w="41275">
                <a:solidFill>
                  <a:schemeClr val="accent2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382660" y="50034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9A6A12"/>
                  </a:solidFill>
                  <a:latin typeface="+mn-lt"/>
                  <a:ea typeface="+mn-ea"/>
                  <a:cs typeface="+mn-cs"/>
                </a:rPr>
                <a:t>评测闭环</a:t>
              </a:r>
              <a:endParaRPr lang="zh-CN" sz="1650" b="1" dirty="0">
                <a:solidFill>
                  <a:srgbClr val="9A6A1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54835" y="53378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案例 · 真实专家盲评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5582" y="3109912"/>
              <a:ext cx="622935" cy="8020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2850"/>
                </a:lnSpc>
              </a:pPr>
              <a:r>
                <a:rPr lang="zh-C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闭环初版</a:t>
              </a:r>
              <a:endPara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191250" y="1466850"/>
            <a:ext cx="2609850" cy="1809750"/>
            <a:chOff x="6191250" y="1466850"/>
            <a:chExt cx="2609850" cy="1809750"/>
          </a:xfrm>
        </p:grpSpPr>
        <p:sp>
          <p:nvSpPr>
            <p:cNvPr id="33" name="Rectangle 33"/>
            <p:cNvSpPr/>
            <p:nvPr/>
          </p:nvSpPr>
          <p:spPr>
            <a:xfrm>
              <a:off x="6191250" y="1466850"/>
              <a:ext cx="2609850" cy="1809750"/>
            </a:xfrm>
            <a:prstGeom prst="roundRect">
              <a:avLst>
                <a:gd name="adj" fmla="val 1157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6533356" y="1774825"/>
              <a:ext cx="226218" cy="256381"/>
              <a:chOff x="6533356" y="1774825"/>
              <a:chExt cx="226218" cy="25638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6533356" y="1774825"/>
                <a:ext cx="180975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41299">
                    <a:moveTo>
                      <a:pt x="69600" y="241299"/>
                    </a:moveTo>
                    <a:lnTo>
                      <a:pt x="30162" y="241299"/>
                    </a:lnTo>
                    <a:cubicBezTo>
                      <a:pt x="13504" y="241299"/>
                      <a:pt x="0" y="227795"/>
                      <a:pt x="0" y="211137"/>
                    </a:cubicBezTo>
                    <a:lnTo>
                      <a:pt x="0" y="30162"/>
                    </a:lnTo>
                    <a:cubicBezTo>
                      <a:pt x="0" y="13504"/>
                      <a:pt x="13504" y="0"/>
                      <a:pt x="30162" y="0"/>
                    </a:cubicBezTo>
                    <a:lnTo>
                      <a:pt x="150812" y="0"/>
                    </a:lnTo>
                    <a:cubicBezTo>
                      <a:pt x="167470" y="0"/>
                      <a:pt x="180975" y="13504"/>
                      <a:pt x="180975" y="30162"/>
                    </a:cubicBezTo>
                    <a:lnTo>
                      <a:pt x="180975" y="150812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669087" y="1970881"/>
                <a:ext cx="90487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7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593681" y="1835150"/>
                <a:ext cx="603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0325" h="9525">
                    <a:moveTo>
                      <a:pt x="0" y="0"/>
                    </a:moveTo>
                    <a:lnTo>
                      <a:pt x="60325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593681" y="1895475"/>
                <a:ext cx="301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9525">
                    <a:moveTo>
                      <a:pt x="0" y="0"/>
                    </a:moveTo>
                    <a:lnTo>
                      <a:pt x="30162" y="0"/>
                    </a:lnTo>
                  </a:path>
                </a:pathLst>
              </a:custGeom>
              <a:noFill/>
              <a:ln w="30162">
                <a:solidFill>
                  <a:schemeClr val="accent6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553200" y="217265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446</a:t>
              </a:r>
              <a:endParaRPr lang="en-US" sz="4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744206" y="2377440"/>
              <a:ext cx="85791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passed</a:t>
              </a:r>
              <a:endParaRPr lang="en-US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5392" y="2845118"/>
              <a:ext cx="1419225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 全量回归测试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成功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8991600" y="1466850"/>
            <a:ext cx="2724150" cy="1809750"/>
            <a:chOff x="8991600" y="1466850"/>
            <a:chExt cx="2724150" cy="1809750"/>
          </a:xfrm>
        </p:grpSpPr>
        <p:sp>
          <p:nvSpPr>
            <p:cNvPr id="43" name="Rectangle 43"/>
            <p:cNvSpPr/>
            <p:nvPr/>
          </p:nvSpPr>
          <p:spPr>
            <a:xfrm>
              <a:off x="8991600" y="1466850"/>
              <a:ext cx="2724150" cy="1809750"/>
            </a:xfrm>
            <a:prstGeom prst="roundRect">
              <a:avLst>
                <a:gd name="adj" fmla="val 11579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9322594" y="1774825"/>
              <a:ext cx="271461" cy="250824"/>
              <a:chOff x="9322594" y="1774825"/>
              <a:chExt cx="271461" cy="25082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322594" y="1895475"/>
                <a:ext cx="904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20650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05569"/>
                    </a:lnTo>
                    <a:cubicBezTo>
                      <a:pt x="90487" y="113898"/>
                      <a:pt x="83735" y="120650"/>
                      <a:pt x="75406" y="120650"/>
                    </a:cubicBezTo>
                    <a:lnTo>
                      <a:pt x="15081" y="120650"/>
                    </a:lnTo>
                    <a:cubicBezTo>
                      <a:pt x="6752" y="120650"/>
                      <a:pt x="0" y="113898"/>
                      <a:pt x="0" y="105569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503568" y="1835150"/>
                <a:ext cx="90487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180975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165893"/>
                    </a:lnTo>
                    <a:cubicBezTo>
                      <a:pt x="90487" y="174223"/>
                      <a:pt x="83735" y="180975"/>
                      <a:pt x="75406" y="180975"/>
                    </a:cubicBezTo>
                    <a:lnTo>
                      <a:pt x="15081" y="180975"/>
                    </a:lnTo>
                    <a:cubicBezTo>
                      <a:pt x="6752" y="180975"/>
                      <a:pt x="0" y="174223"/>
                      <a:pt x="0" y="165893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413081" y="1774825"/>
                <a:ext cx="90487" cy="241299"/>
              </a:xfrm>
              <a:custGeom>
                <a:avLst/>
                <a:gdLst/>
                <a:ahLst/>
                <a:cxnLst/>
                <a:rect l="l" t="t" r="r" b="b"/>
                <a:pathLst>
                  <a:path w="90487" h="241299">
                    <a:moveTo>
                      <a:pt x="0" y="15081"/>
                    </a:moveTo>
                    <a:cubicBezTo>
                      <a:pt x="0" y="6752"/>
                      <a:pt x="6752" y="0"/>
                      <a:pt x="15081" y="0"/>
                    </a:cubicBezTo>
                    <a:lnTo>
                      <a:pt x="75406" y="0"/>
                    </a:lnTo>
                    <a:cubicBezTo>
                      <a:pt x="83735" y="0"/>
                      <a:pt x="90487" y="6752"/>
                      <a:pt x="90487" y="15081"/>
                    </a:cubicBezTo>
                    <a:lnTo>
                      <a:pt x="90487" y="226218"/>
                    </a:lnTo>
                    <a:cubicBezTo>
                      <a:pt x="90487" y="234547"/>
                      <a:pt x="83735" y="241299"/>
                      <a:pt x="75406" y="241299"/>
                    </a:cubicBezTo>
                    <a:lnTo>
                      <a:pt x="15081" y="241299"/>
                    </a:lnTo>
                    <a:cubicBezTo>
                      <a:pt x="6752" y="241299"/>
                      <a:pt x="0" y="234547"/>
                      <a:pt x="0" y="226218"/>
                    </a:cubicBezTo>
                    <a:lnTo>
                      <a:pt x="0" y="15081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337675" y="2016124"/>
                <a:ext cx="2111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1137" h="9525">
                    <a:moveTo>
                      <a:pt x="0" y="0"/>
                    </a:moveTo>
                    <a:lnTo>
                      <a:pt x="211137" y="0"/>
                    </a:lnTo>
                  </a:path>
                </a:pathLst>
              </a:custGeom>
              <a:noFill/>
              <a:ln w="30162">
                <a:solidFill>
                  <a:schemeClr val="accent2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9128760" y="2286000"/>
              <a:ext cx="24899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</a:t>
              </a:r>
              <a:endParaRPr lang="zh-CN" sz="30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137904" y="2861310"/>
              <a:ext cx="22585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对通用 Codex Agent · 94.74%</a:t>
              </a:r>
              <a:endParaRPr lang="zh-CN" sz="12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3486150"/>
            <a:ext cx="5524500" cy="2057400"/>
            <a:chOff x="6191250" y="3486150"/>
            <a:chExt cx="5524500" cy="2057400"/>
          </a:xfrm>
        </p:grpSpPr>
        <p:sp>
          <p:nvSpPr>
            <p:cNvPr id="52" name="Rectangle 52"/>
            <p:cNvSpPr/>
            <p:nvPr/>
          </p:nvSpPr>
          <p:spPr>
            <a:xfrm>
              <a:off x="6191250" y="3486150"/>
              <a:ext cx="5524500" cy="2057400"/>
            </a:xfrm>
            <a:prstGeom prst="roundRect">
              <a:avLst>
                <a:gd name="adj" fmla="val 1018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6521439" y="3778250"/>
              <a:ext cx="254011" cy="254000"/>
              <a:chOff x="6521439" y="3778250"/>
              <a:chExt cx="254011" cy="254000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6584950" y="384175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174625" y="4255"/>
                    </a:moveTo>
                    <a:cubicBezTo>
                      <a:pt x="184449" y="9926"/>
                      <a:pt x="190500" y="20407"/>
                      <a:pt x="190500" y="31750"/>
                    </a:cubicBezTo>
                    <a:lnTo>
                      <a:pt x="190500" y="158750"/>
                    </a:lnTo>
                    <a:cubicBezTo>
                      <a:pt x="190500" y="176285"/>
                      <a:pt x="176285" y="190500"/>
                      <a:pt x="158750" y="190500"/>
                    </a:cubicBezTo>
                    <a:lnTo>
                      <a:pt x="31750" y="190500"/>
                    </a:lnTo>
                    <a:cubicBezTo>
                      <a:pt x="14215" y="190500"/>
                      <a:pt x="0" y="176285"/>
                      <a:pt x="0" y="15875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521439" y="3778250"/>
                <a:ext cx="190511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11" h="190500">
                    <a:moveTo>
                      <a:pt x="15886" y="186278"/>
                    </a:moveTo>
                    <a:cubicBezTo>
                      <a:pt x="6053" y="180600"/>
                      <a:pt x="0" y="170105"/>
                      <a:pt x="11" y="158750"/>
                    </a:cubicBezTo>
                    <a:lnTo>
                      <a:pt x="11" y="31750"/>
                    </a:lnTo>
                    <a:cubicBezTo>
                      <a:pt x="11" y="14215"/>
                      <a:pt x="14226" y="0"/>
                      <a:pt x="31761" y="0"/>
                    </a:cubicBezTo>
                    <a:lnTo>
                      <a:pt x="158761" y="0"/>
                    </a:lnTo>
                    <a:cubicBezTo>
                      <a:pt x="176296" y="0"/>
                      <a:pt x="190511" y="14215"/>
                      <a:pt x="190511" y="31750"/>
                    </a:cubicBezTo>
                    <a:lnTo>
                      <a:pt x="190511" y="158750"/>
                    </a:lnTo>
                    <a:cubicBezTo>
                      <a:pt x="190511" y="176285"/>
                      <a:pt x="176296" y="190500"/>
                      <a:pt x="158761" y="190500"/>
                    </a:cubicBezTo>
                    <a:lnTo>
                      <a:pt x="111136" y="19050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6982206" y="3787140"/>
              <a:ext cx="30714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核心功能已形成可运行闭环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64960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66259" y="4415314"/>
              <a:ext cx="1602740" cy="1968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八分支  A–H 动态编排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9010650" y="426720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406286" y="4415314"/>
              <a:ext cx="15518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S1–S6 专业推理链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4960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33397" y="5005864"/>
              <a:ext cx="166845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证据门控 + 交互审计</a:t>
              </a:r>
              <a:endParaRPr lang="zh-CN" sz="128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9010650" y="4857750"/>
              <a:ext cx="2343150" cy="438150"/>
            </a:xfrm>
            <a:prstGeom prst="roundRect">
              <a:avLst>
                <a:gd name="adj" fmla="val 391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9310253" y="5005864"/>
              <a:ext cx="17439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成果矩阵 + Manifest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81050" y="5886450"/>
            <a:ext cx="10629900" cy="457200"/>
            <a:chOff x="781050" y="5886450"/>
            <a:chExt cx="10629900" cy="457200"/>
          </a:xfrm>
        </p:grpSpPr>
        <p:sp>
          <p:nvSpPr>
            <p:cNvPr id="66" name="Rectangle 66"/>
            <p:cNvSpPr/>
            <p:nvPr/>
          </p:nvSpPr>
          <p:spPr>
            <a:xfrm>
              <a:off x="781050" y="5886450"/>
              <a:ext cx="10629900" cy="4572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2713863" y="6003608"/>
              <a:ext cx="676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项目初版已具备甲方演示、工程复核与 Benchmark 对比验证条件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02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89585"/>
            <a:ext cx="10612755" cy="714566"/>
            <a:chOff x="500634" y="489585"/>
            <a:chExt cx="10612755" cy="71456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89585"/>
              <a:ext cx="1061275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系统把“资料检索 + 人工归纳”升级为七阶段可追溯研究闭环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最终交付不是装备清单，而是从任务背景到验证路径均可回溯的能力画像。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533171" y="1924050"/>
            <a:ext cx="11232719" cy="2705100"/>
            <a:chOff x="533171" y="1924050"/>
            <a:chExt cx="11232719" cy="2705100"/>
          </a:xfrm>
        </p:grpSpPr>
        <p:sp>
          <p:nvSpPr>
            <p:cNvPr id="5" name="Freeform 5"/>
            <p:cNvSpPr/>
            <p:nvPr/>
          </p:nvSpPr>
          <p:spPr>
            <a:xfrm>
              <a:off x="1866900" y="2628900"/>
              <a:ext cx="8362950" cy="9525"/>
            </a:xfrm>
            <a:custGeom>
              <a:avLst/>
              <a:gdLst/>
              <a:ahLst/>
              <a:cxnLst/>
              <a:rect l="l" t="t" r="r" b="b"/>
              <a:pathLst>
                <a:path w="8362950" h="9525">
                  <a:moveTo>
                    <a:pt x="0" y="0"/>
                  </a:moveTo>
                  <a:lnTo>
                    <a:pt x="552450" y="0"/>
                  </a:lnTo>
                  <a:moveTo>
                    <a:pt x="1562100" y="0"/>
                  </a:moveTo>
                  <a:lnTo>
                    <a:pt x="2114550" y="0"/>
                  </a:lnTo>
                  <a:moveTo>
                    <a:pt x="3124200" y="0"/>
                  </a:moveTo>
                  <a:lnTo>
                    <a:pt x="3676650" y="0"/>
                  </a:lnTo>
                  <a:moveTo>
                    <a:pt x="4686300" y="0"/>
                  </a:moveTo>
                  <a:lnTo>
                    <a:pt x="5238750" y="0"/>
                  </a:lnTo>
                  <a:moveTo>
                    <a:pt x="6248400" y="0"/>
                  </a:moveTo>
                  <a:lnTo>
                    <a:pt x="6800850" y="0"/>
                  </a:lnTo>
                  <a:moveTo>
                    <a:pt x="7810500" y="0"/>
                  </a:moveTo>
                  <a:lnTo>
                    <a:pt x="836295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  <a:tailEnd type="triangle" w="lg" len="lg"/>
            </a:ln>
          </p:spPr>
        </p:sp>
        <p:sp>
          <p:nvSpPr>
            <p:cNvPr id="6" name="Freeform 6"/>
            <p:cNvSpPr/>
            <p:nvPr/>
          </p:nvSpPr>
          <p:spPr>
            <a:xfrm>
              <a:off x="6134100" y="3028950"/>
              <a:ext cx="4486275" cy="1600200"/>
            </a:xfrm>
            <a:custGeom>
              <a:avLst/>
              <a:gdLst/>
              <a:ahLst/>
              <a:cxnLst/>
              <a:rect l="l" t="t" r="r" b="b"/>
              <a:pathLst>
                <a:path w="4486275" h="1600200">
                  <a:moveTo>
                    <a:pt x="4381500" y="190500"/>
                  </a:moveTo>
                  <a:cubicBezTo>
                    <a:pt x="4486275" y="1276350"/>
                    <a:pt x="2305050" y="1600200"/>
                    <a:pt x="933450" y="1104900"/>
                  </a:cubicBezTo>
                  <a:cubicBezTo>
                    <a:pt x="57150" y="781050"/>
                    <a:pt x="0" y="304800"/>
                    <a:pt x="76200" y="0"/>
                  </a:cubicBezTo>
                </a:path>
              </a:pathLst>
            </a:custGeom>
            <a:noFill/>
            <a:ln w="28575">
              <a:solidFill>
                <a:srgbClr val="7AA2B5"/>
              </a:solidFill>
              <a:custDash>
                <a:ds d="266667" sp="200000"/>
              </a:custDash>
              <a:tailEnd type="triangle" w="lg" len="lg"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533171" y="1924050"/>
              <a:ext cx="1353007" cy="1409700"/>
              <a:chOff x="533171" y="1924050"/>
              <a:chExt cx="1353007" cy="1409700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524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9810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070070" y="2171158"/>
                <a:ext cx="273413" cy="273436"/>
                <a:chOff x="1070070" y="2171158"/>
                <a:chExt cx="273413" cy="273436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1195388" y="2290762"/>
                  <a:ext cx="2857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28575">
                      <a:moveTo>
                        <a:pt x="0" y="14288"/>
                      </a:moveTo>
                      <a:cubicBezTo>
                        <a:pt x="0" y="22178"/>
                        <a:pt x="6397" y="28575"/>
                        <a:pt x="14288" y="28575"/>
                      </a:cubicBezTo>
                      <a:cubicBezTo>
                        <a:pt x="22178" y="28575"/>
                        <a:pt x="28575" y="22178"/>
                        <a:pt x="28575" y="14288"/>
                      </a:cubicBezTo>
                      <a:cubicBezTo>
                        <a:pt x="28575" y="6397"/>
                        <a:pt x="22178" y="0"/>
                        <a:pt x="14288" y="0"/>
                      </a:cubicBezTo>
                      <a:cubicBezTo>
                        <a:pt x="6397" y="0"/>
                        <a:pt x="0" y="6397"/>
                        <a:pt x="0" y="1428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1138238" y="2233612"/>
                  <a:ext cx="142875" cy="142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42875">
                      <a:moveTo>
                        <a:pt x="71438" y="0"/>
                      </a:moveTo>
                      <a:cubicBezTo>
                        <a:pt x="31984" y="0"/>
                        <a:pt x="0" y="31984"/>
                        <a:pt x="0" y="71438"/>
                      </a:cubicBezTo>
                      <a:cubicBezTo>
                        <a:pt x="0" y="110891"/>
                        <a:pt x="31984" y="142875"/>
                        <a:pt x="71438" y="142875"/>
                      </a:cubicBezTo>
                      <a:cubicBezTo>
                        <a:pt x="110891" y="142875"/>
                        <a:pt x="142875" y="110891"/>
                        <a:pt x="142875" y="71438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1070070" y="2171158"/>
                  <a:ext cx="273413" cy="273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3413" h="273436">
                      <a:moveTo>
                        <a:pt x="153893" y="6090"/>
                      </a:moveTo>
                      <a:cubicBezTo>
                        <a:pt x="99604" y="0"/>
                        <a:pt x="47394" y="28876"/>
                        <a:pt x="23697" y="78097"/>
                      </a:cubicBezTo>
                      <a:cubicBezTo>
                        <a:pt x="0" y="127319"/>
                        <a:pt x="9990" y="186140"/>
                        <a:pt x="48609" y="224779"/>
                      </a:cubicBezTo>
                      <a:cubicBezTo>
                        <a:pt x="87227" y="263417"/>
                        <a:pt x="146044" y="273436"/>
                        <a:pt x="195277" y="249764"/>
                      </a:cubicBezTo>
                      <a:cubicBezTo>
                        <a:pt x="244511" y="226092"/>
                        <a:pt x="273413" y="173896"/>
                        <a:pt x="267350" y="11960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2" name="Freeform 12"/>
                <p:cNvSpPr/>
                <p:nvPr/>
              </p:nvSpPr>
              <p:spPr>
                <a:xfrm>
                  <a:off x="1252538" y="2176462"/>
                  <a:ext cx="8572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85725">
                      <a:moveTo>
                        <a:pt x="0" y="42862"/>
                      </a:moveTo>
                      <a:lnTo>
                        <a:pt x="0" y="85725"/>
                      </a:lnTo>
                      <a:lnTo>
                        <a:pt x="42862" y="85725"/>
                      </a:lnTo>
                      <a:lnTo>
                        <a:pt x="85725" y="42862"/>
                      </a:lnTo>
                      <a:lnTo>
                        <a:pt x="42862" y="42862"/>
                      </a:lnTo>
                      <a:lnTo>
                        <a:pt x="42862" y="0"/>
                      </a:ln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209675" y="2262188"/>
                  <a:ext cx="42862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862" h="42862">
                      <a:moveTo>
                        <a:pt x="42862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7348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任务解析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33171" y="3013710"/>
                <a:ext cx="13530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主题 · 边界 · 模式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114550" y="1924050"/>
              <a:ext cx="1314450" cy="1409700"/>
              <a:chOff x="2114550" y="1924050"/>
              <a:chExt cx="1314450" cy="14097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21145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25431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23" name="Group 23"/>
              <p:cNvGrpSpPr/>
              <p:nvPr/>
            </p:nvGrpSpPr>
            <p:grpSpPr>
              <a:xfrm>
                <a:off x="2643188" y="2176462"/>
                <a:ext cx="257174" cy="257176"/>
                <a:chOff x="2643188" y="2176462"/>
                <a:chExt cx="257174" cy="257176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2643188" y="2376488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2843212" y="2176462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28575" y="57150"/>
                      </a:move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  <a:cubicBezTo>
                        <a:pt x="0" y="44357"/>
                        <a:pt x="12793" y="57150"/>
                        <a:pt x="28575" y="571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2743200" y="2205038"/>
                  <a:ext cx="57150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00025">
                      <a:moveTo>
                        <a:pt x="57150" y="0"/>
                      </a:moveTo>
                      <a:cubicBezTo>
                        <a:pt x="41368" y="0"/>
                        <a:pt x="28575" y="12793"/>
                        <a:pt x="28575" y="28575"/>
                      </a:cubicBezTo>
                      <a:lnTo>
                        <a:pt x="28575" y="171450"/>
                      </a:lnTo>
                      <a:cubicBezTo>
                        <a:pt x="28575" y="187232"/>
                        <a:pt x="15782" y="200025"/>
                        <a:pt x="0" y="2000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24" name="TextBox 24"/>
              <p:cNvSpPr txBox="1"/>
              <p:nvPr/>
            </p:nvSpPr>
            <p:spPr>
              <a:xfrm>
                <a:off x="22969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路径选择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2327278" y="3013710"/>
                <a:ext cx="88900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八</a:t>
                </a:r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分支 · A–H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3520916" y="1924050"/>
              <a:ext cx="1625918" cy="1409700"/>
              <a:chOff x="3520916" y="1924050"/>
              <a:chExt cx="1625918" cy="14097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36766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41052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16000"/>
                </a:srgbClr>
              </a:solidFill>
              <a:ln>
                <a:noFill/>
              </a:ln>
            </p:spPr>
          </p:sp>
          <p:grpSp>
            <p:nvGrpSpPr>
              <p:cNvPr id="38" name="Group 38"/>
              <p:cNvGrpSpPr/>
              <p:nvPr/>
            </p:nvGrpSpPr>
            <p:grpSpPr>
              <a:xfrm>
                <a:off x="4233862" y="2162175"/>
                <a:ext cx="200026" cy="271463"/>
                <a:chOff x="4233862" y="2162175"/>
                <a:chExt cx="200026" cy="271463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4248150" y="2190750"/>
                  <a:ext cx="171450" cy="11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14300">
                      <a:moveTo>
                        <a:pt x="0" y="28575"/>
                      </a:move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85725"/>
                      </a:lnTo>
                      <a:cubicBezTo>
                        <a:pt x="171450" y="101507"/>
                        <a:pt x="158657" y="114300"/>
                        <a:pt x="142875" y="114300"/>
                      </a:cubicBezTo>
                      <a:lnTo>
                        <a:pt x="28575" y="114300"/>
                      </a:lnTo>
                      <a:cubicBezTo>
                        <a:pt x="12793" y="114300"/>
                        <a:pt x="0" y="101507"/>
                        <a:pt x="0" y="85725"/>
                      </a:cubicBez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4333875" y="2162175"/>
                  <a:ext cx="9525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8575">
                      <a:moveTo>
                        <a:pt x="0" y="0"/>
                      </a:moveTo>
                      <a:lnTo>
                        <a:pt x="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4291012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4376738" y="2305050"/>
                  <a:ext cx="9525" cy="1285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28588">
                      <a:moveTo>
                        <a:pt x="0" y="0"/>
                      </a:moveTo>
                      <a:lnTo>
                        <a:pt x="0" y="128588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4233862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28575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4" name="Freeform 34"/>
                <p:cNvSpPr/>
                <p:nvPr/>
              </p:nvSpPr>
              <p:spPr>
                <a:xfrm>
                  <a:off x="4376738" y="2333625"/>
                  <a:ext cx="57150" cy="2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28575">
                      <a:moveTo>
                        <a:pt x="0" y="0"/>
                      </a:moveTo>
                      <a:lnTo>
                        <a:pt x="57150" y="285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4291012" y="2390775"/>
                  <a:ext cx="857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9525">
                      <a:moveTo>
                        <a:pt x="0" y="0"/>
                      </a:move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430530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4362450" y="2247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43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39" name="TextBox 39"/>
              <p:cNvSpPr txBox="1"/>
              <p:nvPr/>
            </p:nvSpPr>
            <p:spPr>
              <a:xfrm>
                <a:off x="36258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多智能体研究</a:t>
                </a:r>
                <a:endPara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520916" y="3013710"/>
                <a:ext cx="16259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独立会话 · 并发 Wave</a:t>
                </a:r>
                <a:endPara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5231587" y="1924050"/>
              <a:ext cx="1328776" cy="1409700"/>
              <a:chOff x="5231587" y="1924050"/>
              <a:chExt cx="1328776" cy="14097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52387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5667375" y="2076450"/>
                <a:ext cx="457200" cy="4572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grpSp>
            <p:nvGrpSpPr>
              <p:cNvPr id="46" name="Group 46"/>
              <p:cNvGrpSpPr/>
              <p:nvPr/>
            </p:nvGrpSpPr>
            <p:grpSpPr>
              <a:xfrm>
                <a:off x="5748106" y="2176462"/>
                <a:ext cx="279010" cy="257176"/>
                <a:chOff x="5748106" y="2176462"/>
                <a:chExt cx="279010" cy="257176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5748106" y="2176462"/>
                  <a:ext cx="279010" cy="254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010" h="254975">
                      <a:moveTo>
                        <a:pt x="140154" y="254975"/>
                      </a:moveTo>
                      <a:cubicBezTo>
                        <a:pt x="50649" y="227230"/>
                        <a:pt x="0" y="132765"/>
                        <a:pt x="26425" y="42862"/>
                      </a:cubicBezTo>
                      <a:cubicBezTo>
                        <a:pt x="70939" y="44899"/>
                        <a:pt x="114496" y="29526"/>
                        <a:pt x="147869" y="0"/>
                      </a:cubicBezTo>
                      <a:cubicBezTo>
                        <a:pt x="181242" y="29526"/>
                        <a:pt x="224800" y="44899"/>
                        <a:pt x="269313" y="42862"/>
                      </a:cubicBezTo>
                      <a:cubicBezTo>
                        <a:pt x="279010" y="75854"/>
                        <a:pt x="278561" y="110999"/>
                        <a:pt x="268027" y="143732"/>
                      </a:cubicBez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5938838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chemeClr val="accent3"/>
                  </a:solidFill>
                </a:ln>
              </p:spPr>
            </p:sp>
          </p:grpSp>
          <p:sp>
            <p:nvSpPr>
              <p:cNvPr id="47" name="TextBox 47"/>
              <p:cNvSpPr txBox="1"/>
              <p:nvPr/>
            </p:nvSpPr>
            <p:spPr>
              <a:xfrm>
                <a:off x="5475606" y="2679382"/>
                <a:ext cx="840740" cy="2533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材料治理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231587" y="301371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材料化 · 质量门控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6750006" y="1924050"/>
              <a:ext cx="1416139" cy="1409700"/>
              <a:chOff x="6750006" y="1924050"/>
              <a:chExt cx="1416139" cy="14097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8008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9525">
                <a:solidFill>
                  <a:srgbClr val="D7E0EA"/>
                </a:solidFill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7229475" y="2076450"/>
                <a:ext cx="457200" cy="457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7329488" y="2176462"/>
                <a:ext cx="257174" cy="271463"/>
                <a:chOff x="7329488" y="2176462"/>
                <a:chExt cx="257174" cy="271463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7372350" y="2176462"/>
                  <a:ext cx="171450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171450">
                      <a:moveTo>
                        <a:pt x="0" y="85725"/>
                      </a:moveTo>
                      <a:cubicBezTo>
                        <a:pt x="0" y="133070"/>
                        <a:pt x="38380" y="171450"/>
                        <a:pt x="85725" y="171450"/>
                      </a:cubicBezTo>
                      <a:cubicBezTo>
                        <a:pt x="133070" y="171450"/>
                        <a:pt x="171450" y="133070"/>
                        <a:pt x="171450" y="85725"/>
                      </a:cubicBezTo>
                      <a:cubicBezTo>
                        <a:pt x="171450" y="38380"/>
                        <a:pt x="133070" y="0"/>
                        <a:pt x="85725" y="0"/>
                      </a:cubicBezTo>
                      <a:cubicBezTo>
                        <a:pt x="38380" y="0"/>
                        <a:pt x="0" y="38380"/>
                        <a:pt x="0" y="8572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7458075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0" y="0"/>
                      </a:moveTo>
                      <a:cubicBezTo>
                        <a:pt x="19045" y="4758"/>
                        <a:pt x="28575" y="33333"/>
                        <a:pt x="28575" y="85725"/>
                      </a:cubicBezTo>
                      <a:cubicBezTo>
                        <a:pt x="28575" y="138117"/>
                        <a:pt x="19045" y="166692"/>
                        <a:pt x="0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4" name="Freeform 54"/>
                <p:cNvSpPr/>
                <p:nvPr/>
              </p:nvSpPr>
              <p:spPr>
                <a:xfrm>
                  <a:off x="7429500" y="2176462"/>
                  <a:ext cx="285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171450">
                      <a:moveTo>
                        <a:pt x="28575" y="0"/>
                      </a:moveTo>
                      <a:cubicBezTo>
                        <a:pt x="9530" y="4758"/>
                        <a:pt x="0" y="33333"/>
                        <a:pt x="0" y="85725"/>
                      </a:cubicBezTo>
                      <a:cubicBezTo>
                        <a:pt x="0" y="138117"/>
                        <a:pt x="9530" y="166692"/>
                        <a:pt x="28575" y="171450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7372350" y="2262188"/>
                  <a:ext cx="1714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">
                      <a:moveTo>
                        <a:pt x="0" y="0"/>
                      </a:moveTo>
                      <a:lnTo>
                        <a:pt x="171450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6" name="Freeform 56"/>
                <p:cNvSpPr/>
                <p:nvPr/>
              </p:nvSpPr>
              <p:spPr>
                <a:xfrm>
                  <a:off x="7329488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7" name="Freeform 57"/>
                <p:cNvSpPr/>
                <p:nvPr/>
              </p:nvSpPr>
              <p:spPr>
                <a:xfrm>
                  <a:off x="7486650" y="2419350"/>
                  <a:ext cx="100012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9525">
                      <a:moveTo>
                        <a:pt x="0" y="0"/>
                      </a:moveTo>
                      <a:lnTo>
                        <a:pt x="100012" y="0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8" name="Freeform 58"/>
                <p:cNvSpPr/>
                <p:nvPr/>
              </p:nvSpPr>
              <p:spPr>
                <a:xfrm>
                  <a:off x="7429500" y="2390775"/>
                  <a:ext cx="57150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57150">
                      <a:moveTo>
                        <a:pt x="0" y="28575"/>
                      </a:moveTo>
                      <a:cubicBezTo>
                        <a:pt x="0" y="44357"/>
                        <a:pt x="12793" y="57150"/>
                        <a:pt x="28575" y="57150"/>
                      </a:cubicBezTo>
                      <a:cubicBezTo>
                        <a:pt x="44357" y="57150"/>
                        <a:pt x="57150" y="44357"/>
                        <a:pt x="57150" y="28575"/>
                      </a:cubicBezTo>
                      <a:cubicBezTo>
                        <a:pt x="57150" y="12793"/>
                        <a:pt x="44357" y="0"/>
                        <a:pt x="28575" y="0"/>
                      </a:cubicBezTo>
                      <a:cubicBezTo>
                        <a:pt x="12793" y="0"/>
                        <a:pt x="0" y="12793"/>
                        <a:pt x="0" y="28575"/>
                      </a:cubicBez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  <p:sp>
              <p:nvSpPr>
                <p:cNvPr id="59" name="Freeform 59"/>
                <p:cNvSpPr/>
                <p:nvPr/>
              </p:nvSpPr>
              <p:spPr>
                <a:xfrm>
                  <a:off x="7458075" y="2347912"/>
                  <a:ext cx="9525" cy="428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42862">
                      <a:moveTo>
                        <a:pt x="0" y="0"/>
                      </a:moveTo>
                      <a:lnTo>
                        <a:pt x="0" y="42862"/>
                      </a:lnTo>
                    </a:path>
                  </a:pathLst>
                </a:custGeom>
                <a:noFill/>
                <a:ln w="28575">
                  <a:solidFill>
                    <a:schemeClr val="accent1"/>
                  </a:solidFill>
                </a:ln>
              </p:spPr>
            </p:sp>
          </p:grpSp>
          <p:sp>
            <p:nvSpPr>
              <p:cNvPr id="61" name="TextBox 61"/>
              <p:cNvSpPr txBox="1"/>
              <p:nvPr/>
            </p:nvSpPr>
            <p:spPr>
              <a:xfrm>
                <a:off x="6750006" y="267938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制胜机理推理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6884441" y="3013710"/>
                <a:ext cx="11472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S1–S6 · L1–L4</a:t>
                </a:r>
                <a:endPara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8362950" y="1924050"/>
              <a:ext cx="1314450" cy="1409700"/>
              <a:chOff x="8362950" y="1924050"/>
              <a:chExt cx="1314450" cy="1409700"/>
            </a:xfrm>
          </p:grpSpPr>
          <p:sp>
            <p:nvSpPr>
              <p:cNvPr id="64" name="Rectangle 64"/>
              <p:cNvSpPr/>
              <p:nvPr/>
            </p:nvSpPr>
            <p:spPr>
              <a:xfrm>
                <a:off x="83629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rgbClr val="FFFFFF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65" name="Ellipse 65"/>
              <p:cNvSpPr/>
              <p:nvPr/>
            </p:nvSpPr>
            <p:spPr>
              <a:xfrm>
                <a:off x="8791575" y="2076450"/>
                <a:ext cx="457200" cy="457200"/>
              </a:xfrm>
              <a:prstGeom prst="ellipse">
                <a:avLst/>
              </a:prstGeom>
              <a:solidFill>
                <a:srgbClr val="FFF3D8"/>
              </a:solidFill>
              <a:ln>
                <a:noFill/>
              </a:ln>
            </p:spPr>
          </p:sp>
          <p:grpSp>
            <p:nvGrpSpPr>
              <p:cNvPr id="69" name="Group 69"/>
              <p:cNvGrpSpPr/>
              <p:nvPr/>
            </p:nvGrpSpPr>
            <p:grpSpPr>
              <a:xfrm>
                <a:off x="8920162" y="2176462"/>
                <a:ext cx="200026" cy="257175"/>
                <a:chOff x="8920162" y="2176462"/>
                <a:chExt cx="200026" cy="257175"/>
              </a:xfrm>
            </p:grpSpPr>
            <p:sp>
              <p:nvSpPr>
                <p:cNvPr id="66" name="Freeform 66"/>
                <p:cNvSpPr/>
                <p:nvPr/>
              </p:nvSpPr>
              <p:spPr>
                <a:xfrm>
                  <a:off x="9048750" y="2176462"/>
                  <a:ext cx="71438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1438">
                      <a:moveTo>
                        <a:pt x="0" y="0"/>
                      </a:moveTo>
                      <a:lnTo>
                        <a:pt x="0" y="57150"/>
                      </a:lnTo>
                      <a:cubicBezTo>
                        <a:pt x="0" y="65041"/>
                        <a:pt x="6397" y="71438"/>
                        <a:pt x="14288" y="71438"/>
                      </a:cubicBezTo>
                      <a:lnTo>
                        <a:pt x="71438" y="71438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7" name="Freeform 67"/>
                <p:cNvSpPr/>
                <p:nvPr/>
              </p:nvSpPr>
              <p:spPr>
                <a:xfrm>
                  <a:off x="8920162" y="2176462"/>
                  <a:ext cx="200025" cy="257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57175">
                      <a:moveTo>
                        <a:pt x="171450" y="257175"/>
                      </a:moveTo>
                      <a:lnTo>
                        <a:pt x="28575" y="257175"/>
                      </a:lnTo>
                      <a:cubicBezTo>
                        <a:pt x="12793" y="257175"/>
                        <a:pt x="0" y="244382"/>
                        <a:pt x="0" y="228600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28588" y="0"/>
                      </a:lnTo>
                      <a:lnTo>
                        <a:pt x="200025" y="71438"/>
                      </a:lnTo>
                      <a:lnTo>
                        <a:pt x="200025" y="228600"/>
                      </a:lnTo>
                      <a:cubicBezTo>
                        <a:pt x="200025" y="244382"/>
                        <a:pt x="187232" y="257175"/>
                        <a:pt x="171450" y="257175"/>
                      </a:cubicBez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  <p:sp>
              <p:nvSpPr>
                <p:cNvPr id="68" name="Freeform 68"/>
                <p:cNvSpPr/>
                <p:nvPr/>
              </p:nvSpPr>
              <p:spPr>
                <a:xfrm>
                  <a:off x="8977312" y="231933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A87312"/>
                  </a:solidFill>
                </a:ln>
              </p:spPr>
            </p:sp>
          </p:grpSp>
          <p:sp>
            <p:nvSpPr>
              <p:cNvPr id="70" name="TextBox 70"/>
              <p:cNvSpPr txBox="1"/>
              <p:nvPr/>
            </p:nvSpPr>
            <p:spPr>
              <a:xfrm>
                <a:off x="85453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  <a:endPara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8448675" y="3013710"/>
                <a:ext cx="11430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结构化成果交付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9925050" y="1924050"/>
              <a:ext cx="1314450" cy="1409700"/>
              <a:chOff x="9925050" y="1924050"/>
              <a:chExt cx="1314450" cy="1409700"/>
            </a:xfrm>
          </p:grpSpPr>
          <p:sp>
            <p:nvSpPr>
              <p:cNvPr id="73" name="Rectangle 73"/>
              <p:cNvSpPr/>
              <p:nvPr/>
            </p:nvSpPr>
            <p:spPr>
              <a:xfrm>
                <a:off x="9925050" y="1924050"/>
                <a:ext cx="1314450" cy="1409700"/>
              </a:xfrm>
              <a:prstGeom prst="roundRect">
                <a:avLst>
                  <a:gd name="adj" fmla="val 14493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4" name="Ellipse 74"/>
              <p:cNvSpPr/>
              <p:nvPr/>
            </p:nvSpPr>
            <p:spPr>
              <a:xfrm>
                <a:off x="10353675" y="2076450"/>
                <a:ext cx="457200" cy="457200"/>
              </a:xfrm>
              <a:prstGeom prst="ellipse">
                <a:avLst/>
              </a:prstGeom>
              <a:solidFill>
                <a:srgbClr val="FFFFFF">
                  <a:alpha val="22000"/>
                </a:srgbClr>
              </a:solidFill>
              <a:ln>
                <a:noFill/>
              </a:ln>
            </p:spPr>
          </p:sp>
          <p:grpSp>
            <p:nvGrpSpPr>
              <p:cNvPr id="79" name="Group 79"/>
              <p:cNvGrpSpPr/>
              <p:nvPr/>
            </p:nvGrpSpPr>
            <p:grpSpPr>
              <a:xfrm>
                <a:off x="10482262" y="2190750"/>
                <a:ext cx="214313" cy="242888"/>
                <a:chOff x="10482262" y="2190750"/>
                <a:chExt cx="214313" cy="242888"/>
              </a:xfrm>
            </p:grpSpPr>
            <p:sp>
              <p:nvSpPr>
                <p:cNvPr id="75" name="Freeform 75"/>
                <p:cNvSpPr/>
                <p:nvPr/>
              </p:nvSpPr>
              <p:spPr>
                <a:xfrm>
                  <a:off x="10482262" y="2190750"/>
                  <a:ext cx="171450" cy="228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228600">
                      <a:moveTo>
                        <a:pt x="65937" y="228600"/>
                      </a:moveTo>
                      <a:lnTo>
                        <a:pt x="28575" y="228600"/>
                      </a:lnTo>
                      <a:cubicBezTo>
                        <a:pt x="12793" y="228600"/>
                        <a:pt x="0" y="215807"/>
                        <a:pt x="0" y="2000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lnTo>
                        <a:pt x="142875" y="0"/>
                      </a:lnTo>
                      <a:cubicBezTo>
                        <a:pt x="158657" y="0"/>
                        <a:pt x="171450" y="12793"/>
                        <a:pt x="171450" y="28575"/>
                      </a:cubicBezTo>
                      <a:lnTo>
                        <a:pt x="171450" y="142875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6" name="Freeform 76"/>
                <p:cNvSpPr/>
                <p:nvPr/>
              </p:nvSpPr>
              <p:spPr>
                <a:xfrm>
                  <a:off x="10610850" y="2376488"/>
                  <a:ext cx="857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25" h="57150">
                      <a:moveTo>
                        <a:pt x="0" y="28575"/>
                      </a:moveTo>
                      <a:lnTo>
                        <a:pt x="28575" y="57150"/>
                      </a:lnTo>
                      <a:lnTo>
                        <a:pt x="8572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7" name="Freeform 77"/>
                <p:cNvSpPr/>
                <p:nvPr/>
              </p:nvSpPr>
              <p:spPr>
                <a:xfrm>
                  <a:off x="10539412" y="2247900"/>
                  <a:ext cx="571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">
                      <a:moveTo>
                        <a:pt x="0" y="0"/>
                      </a:moveTo>
                      <a:lnTo>
                        <a:pt x="57150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  <p:sp>
              <p:nvSpPr>
                <p:cNvPr id="78" name="Freeform 78"/>
                <p:cNvSpPr/>
                <p:nvPr/>
              </p:nvSpPr>
              <p:spPr>
                <a:xfrm>
                  <a:off x="10539412" y="2305050"/>
                  <a:ext cx="28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575" h="9525">
                      <a:moveTo>
                        <a:pt x="0" y="0"/>
                      </a:moveTo>
                      <a:lnTo>
                        <a:pt x="28575" y="0"/>
                      </a:lnTo>
                    </a:path>
                  </a:pathLst>
                </a:custGeom>
                <a:noFill/>
                <a:ln w="28575">
                  <a:solidFill>
                    <a:srgbClr val="FFFFFF"/>
                  </a:solidFill>
                </a:ln>
              </p:spPr>
            </p:sp>
          </p:grpSp>
          <p:sp>
            <p:nvSpPr>
              <p:cNvPr id="80" name="TextBox 80"/>
              <p:cNvSpPr txBox="1"/>
              <p:nvPr/>
            </p:nvSpPr>
            <p:spPr>
              <a:xfrm>
                <a:off x="10107435" y="2679382"/>
                <a:ext cx="94968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审计交付</a:t>
                </a:r>
                <a:endPara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966103" y="3013710"/>
                <a:ext cx="123234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报告 · Manifest</a:t>
                </a:r>
                <a:endPara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83" name="TextBox 83"/>
            <p:cNvSpPr txBox="1"/>
            <p:nvPr/>
          </p:nvSpPr>
          <p:spPr>
            <a:xfrm>
              <a:off x="8698992" y="4064318"/>
              <a:ext cx="30668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rPr>
                <a:t>验证回流：能力结论返回证据链复核</a:t>
              </a:r>
              <a:endParaRPr lang="zh-CN" sz="1350" b="1" dirty="0">
                <a:solidFill>
                  <a:srgbClr val="A8731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552450" y="4972050"/>
            <a:ext cx="11068050" cy="1066800"/>
            <a:chOff x="552450" y="4972050"/>
            <a:chExt cx="11068050" cy="1066800"/>
          </a:xfrm>
        </p:grpSpPr>
        <p:sp>
          <p:nvSpPr>
            <p:cNvPr id="85" name="Rectangle 85"/>
            <p:cNvSpPr/>
            <p:nvPr/>
          </p:nvSpPr>
          <p:spPr>
            <a:xfrm>
              <a:off x="552450" y="4972050"/>
              <a:ext cx="2819400" cy="1066800"/>
            </a:xfrm>
            <a:prstGeom prst="roundRect">
              <a:avLst>
                <a:gd name="adj" fmla="val 1607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741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输入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771906" y="5501640"/>
              <a:ext cx="43436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公开、非操作性、任务级与能力级问题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3543300" y="4972050"/>
              <a:ext cx="3505200" cy="1066800"/>
            </a:xfrm>
            <a:prstGeom prst="roundRect">
              <a:avLst>
                <a:gd name="adj" fmla="val 16071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376504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过程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762756" y="5501640"/>
              <a:ext cx="40891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受控协作、证据治理、分层质量循环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7219950" y="4972050"/>
              <a:ext cx="4400550" cy="1066800"/>
            </a:xfrm>
            <a:prstGeom prst="roundRect">
              <a:avLst>
                <a:gd name="adj" fmla="val 16071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441692" y="51692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交付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440168" y="5460682"/>
              <a:ext cx="41565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背景 · 效果 · 功能 · 约束 · 接口 · 形态</a:t>
              </a:r>
              <a:endParaRPr lang="zh-CN" sz="165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7441692" y="5759768"/>
              <a:ext cx="22490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优先级 · 证据链 · 验证路径</a:t>
              </a:r>
              <a:endParaRPr lang="zh-CN" sz="1350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96" name="TextBox 96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75285"/>
            <a:ext cx="10856145" cy="686752"/>
            <a:chOff x="500634" y="375285"/>
            <a:chExt cx="10856145" cy="686752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75285"/>
              <a:ext cx="1085614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项目架构沿一条主线路贯通业务、Agent、门控与成果交付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54392"/>
              <a:ext cx="8134350" cy="207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三层可编辑架构：任务入口 → </a:t>
              </a:r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八路线 / A–H → 主控与专用 Agent → S1–S6 → 证据门控回路 → 企业成果包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6415" y="1781175"/>
            <a:ext cx="11277600" cy="1104900"/>
            <a:chOff x="457200" y="1314450"/>
            <a:chExt cx="11277600" cy="1104900"/>
          </a:xfrm>
        </p:grpSpPr>
        <p:sp>
          <p:nvSpPr>
            <p:cNvPr id="5" name="Rectangle 5"/>
            <p:cNvSpPr/>
            <p:nvPr/>
          </p:nvSpPr>
          <p:spPr>
            <a:xfrm>
              <a:off x="457200" y="131445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590550" y="144780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781050" y="1676400"/>
              <a:ext cx="228599" cy="228599"/>
              <a:chOff x="781050" y="1676400"/>
              <a:chExt cx="228599" cy="228599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781050" y="1854199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58849" y="1676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25400" y="50800"/>
                    </a:move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  <a:cubicBezTo>
                      <a:pt x="0" y="39428"/>
                      <a:pt x="11372" y="50800"/>
                      <a:pt x="25400" y="50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869950" y="1701800"/>
                <a:ext cx="50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177800">
                    <a:moveTo>
                      <a:pt x="50800" y="0"/>
                    </a:moveTo>
                    <a:cubicBezTo>
                      <a:pt x="36772" y="0"/>
                      <a:pt x="25400" y="11372"/>
                      <a:pt x="25400" y="25400"/>
                    </a:cubicBezTo>
                    <a:lnTo>
                      <a:pt x="25400" y="152400"/>
                    </a:lnTo>
                    <a:cubicBezTo>
                      <a:pt x="25400" y="166428"/>
                      <a:pt x="14028" y="177800"/>
                      <a:pt x="0" y="177800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37285" y="1574006"/>
              <a:ext cx="7792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业务流程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1802606"/>
              <a:ext cx="6446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与编排层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8188" y="2055495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任务解析 · 路线 · 蓝图</a:t>
              </a:r>
              <a:endParaRPr lang="zh-CN" sz="9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2200" y="1562100"/>
              <a:ext cx="1009650" cy="609600"/>
            </a:xfrm>
            <a:prstGeom prst="roundRect">
              <a:avLst>
                <a:gd name="adj" fmla="val 25000"/>
              </a:avLst>
            </a:prstGeom>
            <a:solidFill>
              <a:srgbClr val="FFFFFF"/>
            </a:solidFill>
            <a:ln w="19050">
              <a:solidFill>
                <a:schemeClr val="accent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64854" y="169640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任务入口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88547" y="1912620"/>
              <a:ext cx="75695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Query / 模式</a:t>
              </a:r>
              <a:endPara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3371850" y="1866900"/>
              <a:ext cx="31432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8" name="Ellipse 18"/>
            <p:cNvSpPr/>
            <p:nvPr/>
          </p:nvSpPr>
          <p:spPr>
            <a:xfrm>
              <a:off x="3695700" y="1619250"/>
              <a:ext cx="495300" cy="495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3860006" y="1771650"/>
              <a:ext cx="178594" cy="190500"/>
              <a:chOff x="3860006" y="1771650"/>
              <a:chExt cx="178594" cy="1905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860006" y="1914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860006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979069" y="17716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883819" y="18192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907631" y="18549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967162" y="18549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23812">
                <a:solidFill>
                  <a:srgbClr val="FFFFFF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3684156" y="21412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路线选择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Freeform 27"/>
            <p:cNvSpPr/>
            <p:nvPr/>
          </p:nvSpPr>
          <p:spPr>
            <a:xfrm>
              <a:off x="4191000" y="16383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228600"/>
                  </a:moveTo>
                  <a:cubicBezTo>
                    <a:pt x="171450" y="228600"/>
                    <a:pt x="171450" y="0"/>
                    <a:pt x="323850" y="0"/>
                  </a:cubicBez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Freeform 28"/>
            <p:cNvSpPr/>
            <p:nvPr/>
          </p:nvSpPr>
          <p:spPr>
            <a:xfrm>
              <a:off x="4191000" y="1866900"/>
              <a:ext cx="323850" cy="9525"/>
            </a:xfrm>
            <a:custGeom>
              <a:avLst/>
              <a:gdLst/>
              <a:ahLst/>
              <a:cxnLst/>
              <a:rect l="l" t="t" r="r" b="b"/>
              <a:pathLst>
                <a:path w="323850" h="9525">
                  <a:moveTo>
                    <a:pt x="0" y="0"/>
                  </a:moveTo>
                  <a:lnTo>
                    <a:pt x="32385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191000" y="1866900"/>
              <a:ext cx="323850" cy="228600"/>
            </a:xfrm>
            <a:custGeom>
              <a:avLst/>
              <a:gdLst/>
              <a:ahLst/>
              <a:cxnLst/>
              <a:rect l="l" t="t" r="r" b="b"/>
              <a:pathLst>
                <a:path w="323850" h="228600">
                  <a:moveTo>
                    <a:pt x="0" y="0"/>
                  </a:moveTo>
                  <a:cubicBezTo>
                    <a:pt x="171450" y="0"/>
                    <a:pt x="171450" y="228600"/>
                    <a:pt x="323850" y="228600"/>
                  </a:cubicBezTo>
                </a:path>
              </a:pathLst>
            </a:cu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572000" y="14382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837117" y="1572578"/>
              <a:ext cx="669925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新战法</a:t>
              </a:r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发现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4572000" y="1885950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21485" y="20202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传统能力缺口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829300" y="1666875"/>
              <a:ext cx="1200150" cy="40005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78785" y="1801178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局部战争案例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Line 36"/>
            <p:cNvSpPr/>
            <p:nvPr/>
          </p:nvSpPr>
          <p:spPr>
            <a:xfrm>
              <a:off x="5772150" y="1638300"/>
              <a:ext cx="1419225" cy="114300"/>
            </a:xfrm>
            <a:custGeom>
              <a:avLst/>
              <a:gdLst/>
              <a:ahLst/>
              <a:cxnLst/>
              <a:rect l="l" t="t" r="r" b="b"/>
              <a:pathLst>
                <a:path w="1419225" h="114300">
                  <a:moveTo>
                    <a:pt x="0" y="0"/>
                  </a:moveTo>
                  <a:lnTo>
                    <a:pt x="1419225" y="1143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5772150" y="1981200"/>
              <a:ext cx="1419225" cy="104775"/>
            </a:xfrm>
            <a:custGeom>
              <a:avLst/>
              <a:gdLst/>
              <a:ahLst/>
              <a:cxnLst/>
              <a:rect l="l" t="t" r="r" b="b"/>
              <a:pathLst>
                <a:path w="1419225" h="104775">
                  <a:moveTo>
                    <a:pt x="0" y="104775"/>
                  </a:moveTo>
                  <a:lnTo>
                    <a:pt x="141922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029450" y="186690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4288">
              <a:solidFill>
                <a:srgbClr val="7658B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191375" y="1428750"/>
              <a:ext cx="2190750" cy="857250"/>
            </a:xfrm>
            <a:prstGeom prst="roundRect">
              <a:avLst>
                <a:gd name="adj" fmla="val 17778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46361" y="1513999"/>
              <a:ext cx="8807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分支网络</a:t>
              </a:r>
              <a:endParaRPr lang="zh-CN" sz="98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818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830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Ellipse 43"/>
            <p:cNvSpPr/>
            <p:nvPr/>
          </p:nvSpPr>
          <p:spPr>
            <a:xfrm>
              <a:off x="78581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9592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Ellipse 45"/>
            <p:cNvSpPr/>
            <p:nvPr/>
          </p:nvSpPr>
          <p:spPr>
            <a:xfrm>
              <a:off x="833437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43552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Ellipse 47"/>
            <p:cNvSpPr/>
            <p:nvPr/>
          </p:nvSpPr>
          <p:spPr>
            <a:xfrm>
              <a:off x="8810625" y="16954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911773" y="1788795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Ellipse 49"/>
            <p:cNvSpPr/>
            <p:nvPr/>
          </p:nvSpPr>
          <p:spPr>
            <a:xfrm>
              <a:off x="73818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74830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Ellipse 51"/>
            <p:cNvSpPr/>
            <p:nvPr/>
          </p:nvSpPr>
          <p:spPr>
            <a:xfrm>
              <a:off x="78581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9592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Ellipse 53"/>
            <p:cNvSpPr/>
            <p:nvPr/>
          </p:nvSpPr>
          <p:spPr>
            <a:xfrm>
              <a:off x="833437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3552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Ellipse 55"/>
            <p:cNvSpPr/>
            <p:nvPr/>
          </p:nvSpPr>
          <p:spPr>
            <a:xfrm>
              <a:off x="8810625" y="1990725"/>
              <a:ext cx="285750" cy="2857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911773" y="2084070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  <a:endParaRPr lang="en-US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Line 57"/>
            <p:cNvSpPr/>
            <p:nvPr/>
          </p:nvSpPr>
          <p:spPr>
            <a:xfrm>
              <a:off x="9382125" y="1866900"/>
              <a:ext cx="333375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791700" y="1562100"/>
              <a:ext cx="1619250" cy="6096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041514" y="1697831"/>
              <a:ext cx="11196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差异化研究蓝图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972599" y="1950720"/>
              <a:ext cx="125745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路线 + 分支 + 执行强度</a:t>
              </a:r>
              <a:endParaRPr lang="zh-CN" sz="9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0" name="Group 130"/>
          <p:cNvGrpSpPr/>
          <p:nvPr/>
        </p:nvGrpSpPr>
        <p:grpSpPr>
          <a:xfrm>
            <a:off x="526415" y="3038475"/>
            <a:ext cx="11277600" cy="1295400"/>
            <a:chOff x="457200" y="2571750"/>
            <a:chExt cx="11277600" cy="1295400"/>
          </a:xfrm>
        </p:grpSpPr>
        <p:sp>
          <p:nvSpPr>
            <p:cNvPr id="62" name="Rectangle 62"/>
            <p:cNvSpPr/>
            <p:nvPr/>
          </p:nvSpPr>
          <p:spPr>
            <a:xfrm>
              <a:off x="457200" y="2571750"/>
              <a:ext cx="11277600" cy="1295400"/>
            </a:xfrm>
            <a:prstGeom prst="roundRect">
              <a:avLst>
                <a:gd name="adj" fmla="val 14706"/>
              </a:avLst>
            </a:prstGeom>
            <a:solidFill>
              <a:srgbClr val="DFF0F3"/>
            </a:solidFill>
            <a:ln w="9525">
              <a:solidFill>
                <a:srgbClr val="BFDCE4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590550" y="2705100"/>
              <a:ext cx="1562100" cy="102870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06450" y="2921000"/>
              <a:ext cx="177800" cy="241300"/>
              <a:chOff x="806450" y="2921000"/>
              <a:chExt cx="177800" cy="2413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19150" y="29464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95350" y="29210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572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933450" y="30480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06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933450" y="30734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57250" y="3124199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99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920750" y="2997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137285" y="2831306"/>
              <a:ext cx="892607" cy="448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Agent 协作与 S1–S6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38188" y="3350895"/>
              <a:ext cx="132969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500"/>
                </a:lnSpc>
              </a:pPr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独立 Session · Wave权限 · 预算 · Checkpoint</a:t>
              </a:r>
              <a:endParaRPr lang="zh-CN" sz="9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362200" y="2819400"/>
              <a:ext cx="1219200" cy="781050"/>
            </a:xfrm>
            <a:prstGeom prst="roundRect">
              <a:avLst>
                <a:gd name="adj" fmla="val 21951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2532063" y="2955925"/>
              <a:ext cx="155575" cy="211138"/>
              <a:chOff x="2532063" y="2955925"/>
              <a:chExt cx="155575" cy="211138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2543175" y="2978150"/>
                <a:ext cx="13335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889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111125" y="0"/>
                    </a:lnTo>
                    <a:cubicBezTo>
                      <a:pt x="123400" y="0"/>
                      <a:pt x="133350" y="9950"/>
                      <a:pt x="133350" y="22225"/>
                    </a:cubicBezTo>
                    <a:lnTo>
                      <a:pt x="133350" y="66675"/>
                    </a:lnTo>
                    <a:cubicBezTo>
                      <a:pt x="133350" y="78950"/>
                      <a:pt x="123400" y="88900"/>
                      <a:pt x="111125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609850" y="2955925"/>
                <a:ext cx="95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2225">
                    <a:moveTo>
                      <a:pt x="0" y="0"/>
                    </a:moveTo>
                    <a:lnTo>
                      <a:pt x="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576513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643188" y="3067050"/>
                <a:ext cx="95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0013">
                    <a:moveTo>
                      <a:pt x="0" y="0"/>
                    </a:moveTo>
                    <a:lnTo>
                      <a:pt x="0" y="100013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2532063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22225"/>
                    </a:moveTo>
                    <a:lnTo>
                      <a:pt x="44450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2643188" y="3089275"/>
                <a:ext cx="44450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22225">
                    <a:moveTo>
                      <a:pt x="0" y="0"/>
                    </a:moveTo>
                    <a:lnTo>
                      <a:pt x="44450" y="22225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576513" y="3133726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258762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2632075" y="3022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1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852166" y="2991802"/>
              <a:ext cx="768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主控 Agent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534856" y="3273266"/>
              <a:ext cx="873887" cy="3238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275"/>
                </a:lnSpc>
              </a:pPr>
              <a:r>
                <a:rPr lang="zh-CN" sz="82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解析 · 选择 · 调度收敛 · 回溯 · 交付</a:t>
              </a:r>
              <a:endParaRPr lang="zh-CN" sz="82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Line 89"/>
            <p:cNvSpPr/>
            <p:nvPr/>
          </p:nvSpPr>
          <p:spPr>
            <a:xfrm>
              <a:off x="3581400" y="3209925"/>
              <a:ext cx="2476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90" name="Rectangle 90"/>
            <p:cNvSpPr/>
            <p:nvPr/>
          </p:nvSpPr>
          <p:spPr>
            <a:xfrm>
              <a:off x="3905250" y="2762250"/>
              <a:ext cx="2114550" cy="895350"/>
            </a:xfrm>
            <a:prstGeom prst="roundRect">
              <a:avLst>
                <a:gd name="adj" fmla="val 19149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4191687" y="2848928"/>
              <a:ext cx="1541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路线 / 分支专用 Agent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40576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4229672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作战场景</a:t>
              </a:r>
              <a:endParaRPr lang="zh-CN" sz="9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4972050" y="308610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5144071" y="315087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  <a:endParaRPr lang="zh-CN" sz="9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4057650" y="3371850"/>
              <a:ext cx="838200" cy="238125"/>
            </a:xfrm>
            <a:prstGeom prst="roundRect">
              <a:avLst>
                <a:gd name="adj" fmla="val 48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229672" y="3436620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武器装备</a:t>
              </a:r>
              <a:endParaRPr lang="zh-CN" sz="9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953000" y="3371850"/>
              <a:ext cx="914400" cy="238125"/>
            </a:xfrm>
            <a:prstGeom prst="roundRect">
              <a:avLst>
                <a:gd name="adj" fmla="val 48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5009706" y="3444716"/>
              <a:ext cx="80098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A–H 动态 Agent</a:t>
              </a:r>
              <a:endParaRPr lang="zh-CN" sz="820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0" name="Line 100"/>
            <p:cNvSpPr/>
            <p:nvPr/>
          </p:nvSpPr>
          <p:spPr>
            <a:xfrm>
              <a:off x="6019800" y="3209925"/>
              <a:ext cx="2095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3055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65783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S1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64368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对手分析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3793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体系 / 假设</a:t>
              </a:r>
              <a:endPara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5" name="Line 105"/>
            <p:cNvSpPr/>
            <p:nvPr/>
          </p:nvSpPr>
          <p:spPr>
            <a:xfrm>
              <a:off x="70866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2771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75498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S2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74084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作战运用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3508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任务 / 协同</a:t>
              </a:r>
              <a:endPara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0" name="Line 110"/>
            <p:cNvSpPr/>
            <p:nvPr/>
          </p:nvSpPr>
          <p:spPr>
            <a:xfrm>
              <a:off x="80581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824865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52142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S3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837998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突破机理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832243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效果 / 因果</a:t>
              </a:r>
              <a:endPara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5" name="Line 115"/>
            <p:cNvSpPr/>
            <p:nvPr/>
          </p:nvSpPr>
          <p:spPr>
            <a:xfrm>
              <a:off x="90297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16" name="Rectangle 116"/>
            <p:cNvSpPr/>
            <p:nvPr/>
          </p:nvSpPr>
          <p:spPr>
            <a:xfrm>
              <a:off x="9220200" y="2781300"/>
              <a:ext cx="781050" cy="857250"/>
            </a:xfrm>
            <a:prstGeom prst="roundRect">
              <a:avLst>
                <a:gd name="adj" fmla="val 19512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94929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S4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3515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能力映射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9293981" y="3369945"/>
              <a:ext cx="6334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功能 / 指标</a:t>
              </a:r>
              <a:endPara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0" name="Line 120"/>
            <p:cNvSpPr/>
            <p:nvPr/>
          </p:nvSpPr>
          <p:spPr>
            <a:xfrm>
              <a:off x="1000125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1" name="Rectangle 121"/>
            <p:cNvSpPr/>
            <p:nvPr/>
          </p:nvSpPr>
          <p:spPr>
            <a:xfrm>
              <a:off x="10191750" y="2781300"/>
              <a:ext cx="666750" cy="857250"/>
            </a:xfrm>
            <a:prstGeom prst="roundRect">
              <a:avLst>
                <a:gd name="adj" fmla="val 22857"/>
              </a:avLst>
            </a:prstGeom>
            <a:solidFill>
              <a:srgbClr val="FFFFFF"/>
            </a:solidFill>
            <a:ln w="9525">
              <a:solidFill>
                <a:schemeClr val="accent3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073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S5</a:t>
              </a:r>
              <a:endParaRPr lang="en-US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10265931" y="3169920"/>
              <a:ext cx="51838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装备差距</a:t>
              </a:r>
              <a:endParaRPr lang="zh-CN" sz="9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278046" y="336994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五档比较</a:t>
              </a:r>
              <a:endParaRPr lang="zh-CN" sz="9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5" name="Line 125"/>
            <p:cNvSpPr/>
            <p:nvPr/>
          </p:nvSpPr>
          <p:spPr>
            <a:xfrm>
              <a:off x="10858500" y="3209925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11049000" y="2781300"/>
              <a:ext cx="552450" cy="857250"/>
            </a:xfrm>
            <a:prstGeom prst="roundRect">
              <a:avLst>
                <a:gd name="adj" fmla="val 275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1207473" y="2892742"/>
              <a:ext cx="235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S6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11193247" y="31699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能力</a:t>
              </a:r>
              <a:endParaRPr lang="zh-C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11193247" y="334137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画像</a:t>
              </a:r>
              <a:endParaRPr lang="zh-CN" sz="9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4" name="Group 184"/>
          <p:cNvGrpSpPr/>
          <p:nvPr/>
        </p:nvGrpSpPr>
        <p:grpSpPr>
          <a:xfrm>
            <a:off x="526415" y="4124325"/>
            <a:ext cx="11277600" cy="1600200"/>
            <a:chOff x="457200" y="3657600"/>
            <a:chExt cx="11277600" cy="1600200"/>
          </a:xfrm>
        </p:grpSpPr>
        <p:sp>
          <p:nvSpPr>
            <p:cNvPr id="131" name="Rectangle 131"/>
            <p:cNvSpPr/>
            <p:nvPr/>
          </p:nvSpPr>
          <p:spPr>
            <a:xfrm>
              <a:off x="457200" y="4000500"/>
              <a:ext cx="11277600" cy="1104900"/>
            </a:xfrm>
            <a:prstGeom prst="roundRect">
              <a:avLst>
                <a:gd name="adj" fmla="val 17241"/>
              </a:avLst>
            </a:prstGeom>
            <a:solidFill>
              <a:srgbClr val="F2EEFA"/>
            </a:solidFill>
            <a:ln w="9525">
              <a:solidFill>
                <a:srgbClr val="D8CCE9"/>
              </a:solidFill>
            </a:ln>
          </p:spPr>
        </p:sp>
        <p:sp>
          <p:nvSpPr>
            <p:cNvPr id="132" name="Rectangle 132"/>
            <p:cNvSpPr/>
            <p:nvPr/>
          </p:nvSpPr>
          <p:spPr>
            <a:xfrm>
              <a:off x="590550" y="4133850"/>
              <a:ext cx="1562100" cy="838200"/>
            </a:xfrm>
            <a:prstGeom prst="roundRect">
              <a:avLst>
                <a:gd name="adj" fmla="val 20455"/>
              </a:avLst>
            </a:prstGeom>
            <a:solidFill>
              <a:srgbClr val="7658B5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763911" y="4352925"/>
              <a:ext cx="248008" cy="228599"/>
              <a:chOff x="763911" y="4352925"/>
              <a:chExt cx="248008" cy="228599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763911" y="4352925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1" y="201982"/>
                      <a:pt x="0" y="118013"/>
                      <a:pt x="23489" y="38100"/>
                    </a:cubicBezTo>
                    <a:cubicBezTo>
                      <a:pt x="63056" y="39910"/>
                      <a:pt x="101774" y="26245"/>
                      <a:pt x="131439" y="0"/>
                    </a:cubicBezTo>
                    <a:cubicBezTo>
                      <a:pt x="161104" y="26245"/>
                      <a:pt x="199822" y="39910"/>
                      <a:pt x="239389" y="38100"/>
                    </a:cubicBezTo>
                    <a:cubicBezTo>
                      <a:pt x="248008" y="67426"/>
                      <a:pt x="247610" y="98665"/>
                      <a:pt x="238246" y="127762"/>
                    </a:cubicBez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933450" y="4530724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rgbClr val="FFFFFF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1137285" y="4260056"/>
              <a:ext cx="9375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证据与质量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1137285" y="448865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治理层</a:t>
              </a:r>
              <a:endParaRPr lang="zh-CN" sz="11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738188" y="4741545"/>
              <a:ext cx="101513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FE7F8"/>
                  </a:solidFill>
                  <a:latin typeface="+mn-lt"/>
                  <a:ea typeface="+mn-ea"/>
                  <a:cs typeface="+mn-cs"/>
                </a:rPr>
                <a:t>补证 · 回溯 · 审计</a:t>
              </a:r>
              <a:endParaRPr lang="zh-CN" sz="900" dirty="0">
                <a:solidFill>
                  <a:srgbClr val="EFE7F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9" name="Rectangle 139"/>
            <p:cNvSpPr/>
            <p:nvPr/>
          </p:nvSpPr>
          <p:spPr>
            <a:xfrm>
              <a:off x="2362200" y="4267200"/>
              <a:ext cx="8763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2507456" y="4431506"/>
              <a:ext cx="185737" cy="185737"/>
              <a:chOff x="2507456" y="4431506"/>
              <a:chExt cx="185737" cy="185737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2507456" y="4431506"/>
                <a:ext cx="144462" cy="144462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144462">
                    <a:moveTo>
                      <a:pt x="0" y="72231"/>
                    </a:moveTo>
                    <a:cubicBezTo>
                      <a:pt x="0" y="112123"/>
                      <a:pt x="32339" y="144462"/>
                      <a:pt x="72231" y="144462"/>
                    </a:cubicBezTo>
                    <a:cubicBezTo>
                      <a:pt x="112123" y="144462"/>
                      <a:pt x="144462" y="112123"/>
                      <a:pt x="144462" y="72231"/>
                    </a:cubicBezTo>
                    <a:cubicBezTo>
                      <a:pt x="144462" y="32339"/>
                      <a:pt x="112123" y="0"/>
                      <a:pt x="72231" y="0"/>
                    </a:cubicBezTo>
                    <a:cubicBezTo>
                      <a:pt x="32339" y="0"/>
                      <a:pt x="0" y="32339"/>
                      <a:pt x="0" y="72231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2631281" y="4555331"/>
                <a:ext cx="61912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61912">
                    <a:moveTo>
                      <a:pt x="61912" y="61912"/>
                    </a:moveTo>
                    <a:lnTo>
                      <a:pt x="0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2795397" y="44857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检索</a:t>
              </a:r>
              <a:endParaRPr lang="zh-CN" sz="980" b="1" dirty="0">
                <a:solidFill>
                  <a:srgbClr val="52378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" name="Line 144"/>
            <p:cNvSpPr/>
            <p:nvPr/>
          </p:nvSpPr>
          <p:spPr>
            <a:xfrm>
              <a:off x="32385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45" name="Rectangle 145"/>
            <p:cNvSpPr/>
            <p:nvPr/>
          </p:nvSpPr>
          <p:spPr>
            <a:xfrm>
              <a:off x="348615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49" name="Group 149"/>
            <p:cNvGrpSpPr/>
            <p:nvPr/>
          </p:nvGrpSpPr>
          <p:grpSpPr>
            <a:xfrm>
              <a:off x="3641725" y="4431506"/>
              <a:ext cx="165099" cy="185737"/>
              <a:chOff x="3641725" y="4431506"/>
              <a:chExt cx="165099" cy="185737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3641725" y="4431506"/>
                <a:ext cx="165099" cy="61912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61912">
                    <a:moveTo>
                      <a:pt x="0" y="30956"/>
                    </a:moveTo>
                    <a:cubicBezTo>
                      <a:pt x="0" y="48053"/>
                      <a:pt x="36959" y="61912"/>
                      <a:pt x="82550" y="61912"/>
                    </a:cubicBezTo>
                    <a:cubicBezTo>
                      <a:pt x="128141" y="61912"/>
                      <a:pt x="165099" y="48053"/>
                      <a:pt x="165099" y="30956"/>
                    </a:cubicBezTo>
                    <a:cubicBezTo>
                      <a:pt x="165099" y="13860"/>
                      <a:pt x="128141" y="0"/>
                      <a:pt x="82550" y="0"/>
                    </a:cubicBezTo>
                    <a:cubicBezTo>
                      <a:pt x="36959" y="0"/>
                      <a:pt x="0" y="13860"/>
                      <a:pt x="0" y="30956"/>
                    </a:cubicBez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3641725" y="4462462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48" name="Freeform 148"/>
              <p:cNvSpPr/>
              <p:nvPr/>
            </p:nvSpPr>
            <p:spPr>
              <a:xfrm>
                <a:off x="3641725" y="4524375"/>
                <a:ext cx="165099" cy="92868"/>
              </a:xfrm>
              <a:custGeom>
                <a:avLst/>
                <a:gdLst/>
                <a:ahLst/>
                <a:cxnLst/>
                <a:rect l="l" t="t" r="r" b="b"/>
                <a:pathLst>
                  <a:path w="165099" h="92868">
                    <a:moveTo>
                      <a:pt x="0" y="0"/>
                    </a:moveTo>
                    <a:lnTo>
                      <a:pt x="0" y="61912"/>
                    </a:lnTo>
                    <a:cubicBezTo>
                      <a:pt x="0" y="79009"/>
                      <a:pt x="36959" y="92868"/>
                      <a:pt x="82550" y="92868"/>
                    </a:cubicBezTo>
                    <a:cubicBezTo>
                      <a:pt x="128141" y="92868"/>
                      <a:pt x="165099" y="79009"/>
                      <a:pt x="165099" y="61912"/>
                    </a:cubicBezTo>
                    <a:lnTo>
                      <a:pt x="165099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0" name="TextBox 150"/>
            <p:cNvSpPr txBox="1"/>
            <p:nvPr/>
          </p:nvSpPr>
          <p:spPr>
            <a:xfrm>
              <a:off x="3919347" y="4485799"/>
              <a:ext cx="42547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材料化</a:t>
              </a:r>
              <a:endParaRPr lang="zh-CN" sz="980" b="1" dirty="0">
                <a:solidFill>
                  <a:srgbClr val="52378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1" name="Line 151"/>
            <p:cNvSpPr/>
            <p:nvPr/>
          </p:nvSpPr>
          <p:spPr>
            <a:xfrm>
              <a:off x="447675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52" name="Rectangle 152"/>
            <p:cNvSpPr/>
            <p:nvPr/>
          </p:nvSpPr>
          <p:spPr>
            <a:xfrm>
              <a:off x="4724400" y="4267200"/>
              <a:ext cx="9906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9525">
              <a:solidFill>
                <a:srgbClr val="7658B5"/>
              </a:solidFill>
            </a:ln>
          </p:spPr>
        </p:sp>
        <p:grpSp>
          <p:nvGrpSpPr>
            <p:cNvPr id="157" name="Group 157"/>
            <p:cNvGrpSpPr/>
            <p:nvPr/>
          </p:nvGrpSpPr>
          <p:grpSpPr>
            <a:xfrm>
              <a:off x="4890294" y="4441825"/>
              <a:ext cx="154780" cy="175418"/>
              <a:chOff x="4890294" y="4441825"/>
              <a:chExt cx="154780" cy="175418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4890294" y="4441825"/>
                <a:ext cx="123825" cy="165099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65099">
                    <a:moveTo>
                      <a:pt x="47621" y="165099"/>
                    </a:moveTo>
                    <a:lnTo>
                      <a:pt x="20637" y="165099"/>
                    </a:lnTo>
                    <a:cubicBezTo>
                      <a:pt x="9240" y="165099"/>
                      <a:pt x="0" y="155860"/>
                      <a:pt x="0" y="144462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103187" y="0"/>
                    </a:lnTo>
                    <a:cubicBezTo>
                      <a:pt x="114585" y="0"/>
                      <a:pt x="123825" y="9240"/>
                      <a:pt x="123825" y="20637"/>
                    </a:cubicBezTo>
                    <a:lnTo>
                      <a:pt x="123825" y="103187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4983162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4931568" y="4483100"/>
                <a:ext cx="41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9525">
                    <a:moveTo>
                      <a:pt x="0" y="0"/>
                    </a:moveTo>
                    <a:lnTo>
                      <a:pt x="41275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  <p:sp>
            <p:nvSpPr>
              <p:cNvPr id="156" name="Freeform 156"/>
              <p:cNvSpPr/>
              <p:nvPr/>
            </p:nvSpPr>
            <p:spPr>
              <a:xfrm>
                <a:off x="4931568" y="4524375"/>
                <a:ext cx="2063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637" h="9525">
                    <a:moveTo>
                      <a:pt x="0" y="0"/>
                    </a:moveTo>
                    <a:lnTo>
                      <a:pt x="20637" y="0"/>
                    </a:lnTo>
                  </a:path>
                </a:pathLst>
              </a:custGeom>
              <a:noFill/>
              <a:ln w="20637">
                <a:solidFill>
                  <a:srgbClr val="7658B5"/>
                </a:solidFill>
              </a:ln>
            </p:spPr>
          </p:sp>
        </p:grpSp>
        <p:sp>
          <p:nvSpPr>
            <p:cNvPr id="158" name="TextBox 158"/>
            <p:cNvSpPr txBox="1"/>
            <p:nvPr/>
          </p:nvSpPr>
          <p:spPr>
            <a:xfrm>
              <a:off x="5157597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证据评分</a:t>
              </a:r>
              <a:endParaRPr lang="zh-CN" sz="980" b="1" dirty="0">
                <a:solidFill>
                  <a:srgbClr val="52378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9" name="Line 159"/>
            <p:cNvSpPr/>
            <p:nvPr/>
          </p:nvSpPr>
          <p:spPr>
            <a:xfrm>
              <a:off x="5715000" y="4543425"/>
              <a:ext cx="17145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0" name="Ellipse 160"/>
            <p:cNvSpPr/>
            <p:nvPr/>
          </p:nvSpPr>
          <p:spPr>
            <a:xfrm>
              <a:off x="58864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60234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L1</a:t>
              </a:r>
              <a:endParaRPr lang="en-US" sz="1050" b="1" dirty="0">
                <a:solidFill>
                  <a:srgbClr val="52378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2" name="Line 162"/>
            <p:cNvSpPr/>
            <p:nvPr/>
          </p:nvSpPr>
          <p:spPr>
            <a:xfrm>
              <a:off x="63436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3" name="Ellipse 163"/>
            <p:cNvSpPr/>
            <p:nvPr/>
          </p:nvSpPr>
          <p:spPr>
            <a:xfrm>
              <a:off x="65341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4" name="TextBox 164"/>
            <p:cNvSpPr txBox="1"/>
            <p:nvPr/>
          </p:nvSpPr>
          <p:spPr>
            <a:xfrm>
              <a:off x="66711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L2</a:t>
              </a:r>
              <a:endParaRPr lang="en-US" sz="1050" b="1" dirty="0">
                <a:solidFill>
                  <a:srgbClr val="52378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5" name="Line 165"/>
            <p:cNvSpPr/>
            <p:nvPr/>
          </p:nvSpPr>
          <p:spPr>
            <a:xfrm>
              <a:off x="69913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6" name="Ellipse 166"/>
            <p:cNvSpPr/>
            <p:nvPr/>
          </p:nvSpPr>
          <p:spPr>
            <a:xfrm>
              <a:off x="7181850" y="4314825"/>
              <a:ext cx="457200" cy="4572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7658B5"/>
              </a:solidFill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73188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2378C"/>
                  </a:solidFill>
                  <a:latin typeface="+mn-lt"/>
                  <a:ea typeface="+mn-ea"/>
                  <a:cs typeface="+mn-cs"/>
                </a:rPr>
                <a:t>L3</a:t>
              </a:r>
              <a:endParaRPr lang="en-US" sz="1050" b="1" dirty="0">
                <a:solidFill>
                  <a:srgbClr val="52378C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8" name="Line 168"/>
            <p:cNvSpPr/>
            <p:nvPr/>
          </p:nvSpPr>
          <p:spPr>
            <a:xfrm>
              <a:off x="7639050" y="4543425"/>
              <a:ext cx="190500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69" name="Ellipse 169"/>
            <p:cNvSpPr/>
            <p:nvPr/>
          </p:nvSpPr>
          <p:spPr>
            <a:xfrm>
              <a:off x="7829550" y="4314825"/>
              <a:ext cx="457200" cy="457200"/>
            </a:xfrm>
            <a:prstGeom prst="ellipse">
              <a:avLst/>
            </a:prstGeom>
            <a:solidFill>
              <a:srgbClr val="FFF3D8"/>
            </a:solidFill>
            <a:ln w="19050">
              <a:solidFill>
                <a:srgbClr val="C87919"/>
              </a:solidFill>
            </a:ln>
          </p:spPr>
        </p:sp>
        <p:sp>
          <p:nvSpPr>
            <p:cNvPr id="170" name="TextBox 170"/>
            <p:cNvSpPr txBox="1"/>
            <p:nvPr/>
          </p:nvSpPr>
          <p:spPr>
            <a:xfrm>
              <a:off x="7966565" y="448722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A46110"/>
                  </a:solidFill>
                  <a:latin typeface="+mn-lt"/>
                  <a:ea typeface="+mn-ea"/>
                  <a:cs typeface="+mn-cs"/>
                </a:rPr>
                <a:t>L4</a:t>
              </a:r>
              <a:endParaRPr lang="en-US" sz="1050" b="1" dirty="0">
                <a:solidFill>
                  <a:srgbClr val="A461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1" name="Line 171"/>
            <p:cNvSpPr/>
            <p:nvPr/>
          </p:nvSpPr>
          <p:spPr>
            <a:xfrm>
              <a:off x="8286750" y="4543425"/>
              <a:ext cx="238125" cy="1"/>
            </a:xfrm>
            <a:prstGeom prst="line">
              <a:avLst/>
            </a:prstGeom>
            <a:noFill/>
            <a:ln w="19050">
              <a:solidFill>
                <a:srgbClr val="7658B5"/>
              </a:solidFill>
              <a:tailEnd type="triangle" w="lg" len="lg"/>
            </a:ln>
          </p:spPr>
        </p:sp>
        <p:sp>
          <p:nvSpPr>
            <p:cNvPr id="172" name="Rectangle 172"/>
            <p:cNvSpPr/>
            <p:nvPr/>
          </p:nvSpPr>
          <p:spPr>
            <a:xfrm>
              <a:off x="8601075" y="4267200"/>
              <a:ext cx="11049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grpSp>
          <p:nvGrpSpPr>
            <p:cNvPr id="175" name="Group 175"/>
            <p:cNvGrpSpPr/>
            <p:nvPr/>
          </p:nvGrpSpPr>
          <p:grpSpPr>
            <a:xfrm>
              <a:off x="8741931" y="4431506"/>
              <a:ext cx="201506" cy="185737"/>
              <a:chOff x="8741931" y="4431506"/>
              <a:chExt cx="201506" cy="185737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8741931" y="4431506"/>
                <a:ext cx="201506" cy="184148"/>
              </a:xfrm>
              <a:custGeom>
                <a:avLst/>
                <a:gdLst/>
                <a:ahLst/>
                <a:cxnLst/>
                <a:rect l="l" t="t" r="r" b="b"/>
                <a:pathLst>
                  <a:path w="201506" h="184148">
                    <a:moveTo>
                      <a:pt x="101222" y="184148"/>
                    </a:moveTo>
                    <a:cubicBezTo>
                      <a:pt x="36580" y="164110"/>
                      <a:pt x="0" y="95886"/>
                      <a:pt x="19085" y="30956"/>
                    </a:cubicBezTo>
                    <a:cubicBezTo>
                      <a:pt x="51233" y="32427"/>
                      <a:pt x="82691" y="21324"/>
                      <a:pt x="106794" y="0"/>
                    </a:cubicBezTo>
                    <a:cubicBezTo>
                      <a:pt x="130897" y="21324"/>
                      <a:pt x="162355" y="32427"/>
                      <a:pt x="194503" y="30956"/>
                    </a:cubicBezTo>
                    <a:cubicBezTo>
                      <a:pt x="201506" y="54783"/>
                      <a:pt x="201183" y="80166"/>
                      <a:pt x="193575" y="103806"/>
                    </a:cubicBez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  <p:sp>
            <p:nvSpPr>
              <p:cNvPr id="174" name="Freeform 174"/>
              <p:cNvSpPr/>
              <p:nvPr/>
            </p:nvSpPr>
            <p:spPr>
              <a:xfrm>
                <a:off x="8879681" y="4575968"/>
                <a:ext cx="619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41275">
                    <a:moveTo>
                      <a:pt x="0" y="20637"/>
                    </a:moveTo>
                    <a:lnTo>
                      <a:pt x="20637" y="41275"/>
                    </a:lnTo>
                    <a:lnTo>
                      <a:pt x="61912" y="0"/>
                    </a:lnTo>
                  </a:path>
                </a:pathLst>
              </a:custGeom>
              <a:noFill/>
              <a:ln w="20637">
                <a:solidFill>
                  <a:schemeClr val="accent6"/>
                </a:solidFill>
              </a:ln>
            </p:spPr>
          </p:sp>
        </p:grpSp>
        <p:sp>
          <p:nvSpPr>
            <p:cNvPr id="176" name="TextBox 176"/>
            <p:cNvSpPr txBox="1"/>
            <p:nvPr/>
          </p:nvSpPr>
          <p:spPr>
            <a:xfrm>
              <a:off x="9053322" y="44857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独立审计</a:t>
              </a:r>
              <a:endParaRPr lang="zh-CN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7" name="Line 177"/>
            <p:cNvSpPr/>
            <p:nvPr/>
          </p:nvSpPr>
          <p:spPr>
            <a:xfrm>
              <a:off x="9705975" y="4543425"/>
              <a:ext cx="190500" cy="1"/>
            </a:xfrm>
            <a:prstGeom prst="line">
              <a:avLst/>
            </a:prstGeom>
            <a:noFill/>
            <a:ln w="19050">
              <a:solidFill>
                <a:schemeClr val="accent6"/>
              </a:solidFill>
              <a:tailEnd type="triangle" w="lg" len="lg"/>
            </a:ln>
          </p:spPr>
        </p:sp>
        <p:sp>
          <p:nvSpPr>
            <p:cNvPr id="178" name="Rectangle 178"/>
            <p:cNvSpPr/>
            <p:nvPr/>
          </p:nvSpPr>
          <p:spPr>
            <a:xfrm>
              <a:off x="9972675" y="4267200"/>
              <a:ext cx="1571625" cy="552450"/>
            </a:xfrm>
            <a:prstGeom prst="roundRect">
              <a:avLst>
                <a:gd name="adj" fmla="val 2413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9" name="TextBox 179"/>
            <p:cNvSpPr txBox="1"/>
            <p:nvPr/>
          </p:nvSpPr>
          <p:spPr>
            <a:xfrm>
              <a:off x="10144243" y="4382452"/>
              <a:ext cx="12189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质量与交付 Agent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9930135" y="4598670"/>
              <a:ext cx="164718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门控结果 · Trace · Manifest</a:t>
              </a:r>
              <a:endParaRPr lang="zh-CN" sz="9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1" name="Freeform 181"/>
            <p:cNvSpPr/>
            <p:nvPr/>
          </p:nvSpPr>
          <p:spPr>
            <a:xfrm>
              <a:off x="4953000" y="3657600"/>
              <a:ext cx="3105150" cy="1600200"/>
            </a:xfrm>
            <a:custGeom>
              <a:avLst/>
              <a:gdLst/>
              <a:ahLst/>
              <a:cxnLst/>
              <a:rect l="l" t="t" r="r" b="b"/>
              <a:pathLst>
                <a:path w="3105150" h="1600200">
                  <a:moveTo>
                    <a:pt x="3105150" y="1200150"/>
                  </a:moveTo>
                  <a:cubicBezTo>
                    <a:pt x="2857500" y="1562100"/>
                    <a:pt x="1466850" y="1600200"/>
                    <a:pt x="762000" y="1390650"/>
                  </a:cubicBezTo>
                  <a:cubicBezTo>
                    <a:pt x="266700" y="1238250"/>
                    <a:pt x="76200" y="400050"/>
                    <a:pt x="0" y="0"/>
                  </a:cubicBezTo>
                </a:path>
              </a:pathLst>
            </a:custGeom>
            <a:noFill/>
            <a:ln w="19050">
              <a:solidFill>
                <a:srgbClr val="C87919"/>
              </a:solidFill>
              <a:tailEnd type="triangle" w="lg" len="lg"/>
            </a:ln>
          </p:spPr>
        </p:sp>
        <p:sp>
          <p:nvSpPr>
            <p:cNvPr id="182" name="Rectangle 182"/>
            <p:cNvSpPr/>
            <p:nvPr/>
          </p:nvSpPr>
          <p:spPr>
            <a:xfrm>
              <a:off x="5486400" y="4914900"/>
              <a:ext cx="2743200" cy="2286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 w="9525">
              <a:solidFill>
                <a:srgbClr val="C87919"/>
              </a:solidFill>
            </a:ln>
          </p:spPr>
        </p:sp>
        <p:sp>
          <p:nvSpPr>
            <p:cNvPr id="183" name="TextBox 183"/>
            <p:cNvSpPr txBox="1"/>
            <p:nvPr/>
          </p:nvSpPr>
          <p:spPr>
            <a:xfrm>
              <a:off x="5351178" y="4979670"/>
              <a:ext cx="301364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门控未通过：定向补证 / 回溯再调 / 返回指定 Agent</a:t>
              </a:r>
              <a:endParaRPr lang="zh-CN" sz="90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25" name="TextBox 225"/>
          <p:cNvSpPr txBox="1"/>
          <p:nvPr/>
        </p:nvSpPr>
        <p:spPr>
          <a:xfrm>
            <a:off x="11497780" y="65541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6" name="Line 89"/>
          <p:cNvSpPr/>
          <p:nvPr/>
        </p:nvSpPr>
        <p:spPr>
          <a:xfrm rot="6120000" flipV="1">
            <a:off x="3505835" y="3063875"/>
            <a:ext cx="779780" cy="86360"/>
          </a:xfrm>
          <a:prstGeom prst="line">
            <a:avLst/>
          </a:prstGeom>
          <a:noFill/>
          <a:ln w="19050">
            <a:solidFill>
              <a:schemeClr val="accent3"/>
            </a:solidFill>
            <a:tailEnd type="triangle" w="lg" len="lg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505778"/>
            <a:ext cx="11101772" cy="698373"/>
            <a:chOff x="501396" y="505778"/>
            <a:chExt cx="11101772" cy="698373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505778"/>
              <a:ext cx="11101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三条已落地路线提供稳定入口，A–H 八分支提供扩展面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成熟路线保证稳定执行，动态分支根据任务主题、交互模式与覆盖缺口生成差异化研究蓝图。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2450" y="1428750"/>
            <a:ext cx="11410950" cy="1238250"/>
            <a:chOff x="552450" y="1428750"/>
            <a:chExt cx="11410950" cy="1238250"/>
          </a:xfrm>
        </p:grpSpPr>
        <p:sp>
          <p:nvSpPr>
            <p:cNvPr id="5" name="Rectangle 5"/>
            <p:cNvSpPr/>
            <p:nvPr/>
          </p:nvSpPr>
          <p:spPr>
            <a:xfrm>
              <a:off x="5524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9" name="Group 9"/>
            <p:cNvGrpSpPr/>
            <p:nvPr/>
          </p:nvGrpSpPr>
          <p:grpSpPr>
            <a:xfrm>
              <a:off x="850106" y="1783556"/>
              <a:ext cx="300038" cy="300038"/>
              <a:chOff x="850106" y="1783556"/>
              <a:chExt cx="300038" cy="300038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501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834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667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0" name="TextBox 10"/>
            <p:cNvSpPr txBox="1"/>
            <p:nvPr/>
          </p:nvSpPr>
          <p:spPr>
            <a:xfrm>
              <a:off x="1381125" y="1683544"/>
              <a:ext cx="1196975" cy="288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新战法</a:t>
              </a:r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发现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3792" y="20640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从新战法与体系效应推导能力需求</a:t>
              </a:r>
              <a:endParaRPr lang="zh-CN" sz="135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38150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3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4679156" y="1783556"/>
              <a:ext cx="300038" cy="300038"/>
              <a:chOff x="4679156" y="1783556"/>
              <a:chExt cx="300038" cy="300038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467915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491251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79583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521017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传统能力缺口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284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从现有能力与任务约束识别发展缺口</a:t>
              </a:r>
              <a:endParaRPr lang="zh-CN" sz="1350" dirty="0">
                <a:solidFill>
                  <a:srgbClr val="E7F6F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210550" y="1428750"/>
              <a:ext cx="3429000" cy="1238250"/>
            </a:xfrm>
            <a:prstGeom prst="roundRect">
              <a:avLst>
                <a:gd name="adj" fmla="val 16923"/>
              </a:avLst>
            </a:prstGeom>
            <a:solidFill>
              <a:schemeClr val="accent2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8508206" y="1783556"/>
              <a:ext cx="300038" cy="300038"/>
              <a:chOff x="8508206" y="1783556"/>
              <a:chExt cx="300038" cy="30003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508206" y="2016919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0" y="33338"/>
                    </a:moveTo>
                    <a:cubicBezTo>
                      <a:pt x="0" y="51749"/>
                      <a:pt x="14926" y="66675"/>
                      <a:pt x="33338" y="66675"/>
                    </a:cubicBez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741569" y="1783556"/>
                <a:ext cx="6667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66675">
                    <a:moveTo>
                      <a:pt x="33338" y="66675"/>
                    </a:moveTo>
                    <a:cubicBezTo>
                      <a:pt x="51749" y="66675"/>
                      <a:pt x="66675" y="51749"/>
                      <a:pt x="66675" y="33338"/>
                    </a:cubicBezTo>
                    <a:cubicBezTo>
                      <a:pt x="66675" y="14926"/>
                      <a:pt x="51749" y="0"/>
                      <a:pt x="33338" y="0"/>
                    </a:cubicBezTo>
                    <a:cubicBezTo>
                      <a:pt x="14926" y="0"/>
                      <a:pt x="0" y="14926"/>
                      <a:pt x="0" y="33338"/>
                    </a:cubicBezTo>
                    <a:cubicBezTo>
                      <a:pt x="0" y="51749"/>
                      <a:pt x="14926" y="66675"/>
                      <a:pt x="33338" y="66675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624888" y="1816894"/>
                <a:ext cx="66675" cy="233362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233362">
                    <a:moveTo>
                      <a:pt x="66675" y="0"/>
                    </a:moveTo>
                    <a:cubicBezTo>
                      <a:pt x="48263" y="0"/>
                      <a:pt x="33338" y="14926"/>
                      <a:pt x="33338" y="33338"/>
                    </a:cubicBezTo>
                    <a:lnTo>
                      <a:pt x="33338" y="200025"/>
                    </a:lnTo>
                    <a:cubicBezTo>
                      <a:pt x="33338" y="218437"/>
                      <a:pt x="18412" y="233362"/>
                      <a:pt x="0" y="233362"/>
                    </a:cubicBezTo>
                  </a:path>
                </a:pathLst>
              </a:custGeom>
              <a:noFill/>
              <a:ln w="33338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9039225" y="1683544"/>
              <a:ext cx="161348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局部战争案例</a:t>
              </a:r>
              <a:endParaRPr lang="zh-CN" sz="18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41892" y="206406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从案例规律与未来场景映射新兴装备</a:t>
              </a:r>
              <a:endParaRPr lang="zh-CN" sz="1350" dirty="0">
                <a:solidFill>
                  <a:srgbClr val="FFF7E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2266950" y="2609850"/>
            <a:ext cx="9124950" cy="3638550"/>
            <a:chOff x="2266950" y="2609850"/>
            <a:chExt cx="9124950" cy="3638550"/>
          </a:xfrm>
        </p:grpSpPr>
        <p:sp>
          <p:nvSpPr>
            <p:cNvPr id="27" name="Freeform 27"/>
            <p:cNvSpPr/>
            <p:nvPr/>
          </p:nvSpPr>
          <p:spPr>
            <a:xfrm>
              <a:off x="2266950" y="2952750"/>
              <a:ext cx="7658100" cy="2095500"/>
            </a:xfrm>
            <a:custGeom>
              <a:avLst/>
              <a:gdLst/>
              <a:ahLst/>
              <a:cxnLst/>
              <a:rect l="l" t="t" r="r" b="b"/>
              <a:pathLst>
                <a:path w="7658100" h="2095500">
                  <a:moveTo>
                    <a:pt x="0" y="2095500"/>
                  </a:moveTo>
                  <a:cubicBezTo>
                    <a:pt x="552450" y="533400"/>
                    <a:pt x="2171700" y="0"/>
                    <a:pt x="3829050" y="381000"/>
                  </a:cubicBezTo>
                  <a:cubicBezTo>
                    <a:pt x="5505450" y="0"/>
                    <a:pt x="7124700" y="552450"/>
                    <a:pt x="7658100" y="2095500"/>
                  </a:cubicBezTo>
                </a:path>
              </a:pathLst>
            </a:custGeom>
            <a:noFill/>
            <a:ln w="57150">
              <a:solidFill>
                <a:srgbClr val="D7E0EA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5314950" y="3505200"/>
              <a:ext cx="1562100" cy="156210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chemeClr val="accent1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907087" y="3749675"/>
              <a:ext cx="377825" cy="512762"/>
              <a:chOff x="5907087" y="3749675"/>
              <a:chExt cx="377825" cy="512762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5934075" y="3803650"/>
                <a:ext cx="323850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215900">
                    <a:moveTo>
                      <a:pt x="0" y="53975"/>
                    </a:moveTo>
                    <a:cubicBezTo>
                      <a:pt x="0" y="24165"/>
                      <a:pt x="24165" y="0"/>
                      <a:pt x="53975" y="0"/>
                    </a:cubicBezTo>
                    <a:lnTo>
                      <a:pt x="269875" y="0"/>
                    </a:lnTo>
                    <a:cubicBezTo>
                      <a:pt x="299684" y="0"/>
                      <a:pt x="323850" y="24165"/>
                      <a:pt x="323850" y="53975"/>
                    </a:cubicBezTo>
                    <a:lnTo>
                      <a:pt x="323850" y="161925"/>
                    </a:lnTo>
                    <a:cubicBezTo>
                      <a:pt x="323850" y="191734"/>
                      <a:pt x="299684" y="215900"/>
                      <a:pt x="269875" y="215900"/>
                    </a:cubicBezTo>
                    <a:lnTo>
                      <a:pt x="53975" y="215900"/>
                    </a:lnTo>
                    <a:cubicBezTo>
                      <a:pt x="24165" y="215900"/>
                      <a:pt x="0" y="191734"/>
                      <a:pt x="0" y="161925"/>
                    </a:cubicBez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096000" y="3749675"/>
                <a:ext cx="952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3975">
                    <a:moveTo>
                      <a:pt x="0" y="0"/>
                    </a:moveTo>
                    <a:lnTo>
                      <a:pt x="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015037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176962" y="4019550"/>
                <a:ext cx="9525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2887">
                    <a:moveTo>
                      <a:pt x="0" y="0"/>
                    </a:moveTo>
                    <a:lnTo>
                      <a:pt x="0" y="242887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907087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53975"/>
                    </a:moveTo>
                    <a:lnTo>
                      <a:pt x="107950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176962" y="4073525"/>
                <a:ext cx="107950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53975">
                    <a:moveTo>
                      <a:pt x="0" y="0"/>
                    </a:moveTo>
                    <a:lnTo>
                      <a:pt x="107950" y="53975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15037" y="4181474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0" y="0"/>
                    </a:moveTo>
                    <a:lnTo>
                      <a:pt x="161925" y="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04202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149975" y="39116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270"/>
                    </a:lnTo>
                  </a:path>
                </a:pathLst>
              </a:custGeom>
              <a:noFill/>
              <a:ln w="53975">
                <a:solidFill>
                  <a:schemeClr val="accent1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5437143" y="4472940"/>
              <a:ext cx="13177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主控 Agent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419496" y="4804410"/>
              <a:ext cx="13530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选择 · 补齐 · 编排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Freeform 41"/>
            <p:cNvSpPr/>
            <p:nvPr/>
          </p:nvSpPr>
          <p:spPr>
            <a:xfrm>
              <a:off x="3181350" y="3048000"/>
              <a:ext cx="5829300" cy="2667000"/>
            </a:xfrm>
            <a:custGeom>
              <a:avLst/>
              <a:gdLst/>
              <a:ahLst/>
              <a:cxnLst/>
              <a:rect l="l" t="t" r="r" b="b"/>
              <a:pathLst>
                <a:path w="5829300" h="2667000">
                  <a:moveTo>
                    <a:pt x="2438400" y="762000"/>
                  </a:moveTo>
                  <a:lnTo>
                    <a:pt x="0" y="266700"/>
                  </a:lnTo>
                  <a:moveTo>
                    <a:pt x="2724150" y="495300"/>
                  </a:moveTo>
                  <a:lnTo>
                    <a:pt x="1676400" y="0"/>
                  </a:lnTo>
                  <a:moveTo>
                    <a:pt x="3105150" y="495300"/>
                  </a:moveTo>
                  <a:lnTo>
                    <a:pt x="4152900" y="0"/>
                  </a:lnTo>
                  <a:moveTo>
                    <a:pt x="3390900" y="762000"/>
                  </a:moveTo>
                  <a:lnTo>
                    <a:pt x="5829300" y="266700"/>
                  </a:lnTo>
                  <a:moveTo>
                    <a:pt x="2228850" y="1409700"/>
                  </a:moveTo>
                  <a:lnTo>
                    <a:pt x="133350" y="2209800"/>
                  </a:lnTo>
                  <a:moveTo>
                    <a:pt x="2533650" y="1809750"/>
                  </a:moveTo>
                  <a:lnTo>
                    <a:pt x="1828800" y="2667000"/>
                  </a:lnTo>
                  <a:moveTo>
                    <a:pt x="3295650" y="1809750"/>
                  </a:moveTo>
                  <a:lnTo>
                    <a:pt x="4000500" y="2667000"/>
                  </a:lnTo>
                  <a:moveTo>
                    <a:pt x="3600450" y="1409700"/>
                  </a:moveTo>
                  <a:lnTo>
                    <a:pt x="5695950" y="2209800"/>
                  </a:lnTo>
                </a:path>
              </a:pathLst>
            </a:custGeom>
            <a:noFill/>
            <a:ln w="19050">
              <a:solidFill>
                <a:srgbClr val="7AA2B5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495550" y="2819400"/>
              <a:ext cx="800100" cy="800100"/>
              <a:chOff x="2495550" y="2819400"/>
              <a:chExt cx="800100" cy="800100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24955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28194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A</a:t>
                </a:r>
                <a:endPara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2647188" y="3318510"/>
                <a:ext cx="49682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新战法</a:t>
                </a:r>
                <a:endPara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4286250" y="2609850"/>
              <a:ext cx="800100" cy="800100"/>
              <a:chOff x="4286250" y="2609850"/>
              <a:chExt cx="800100" cy="800100"/>
            </a:xfrm>
          </p:grpSpPr>
          <p:sp>
            <p:nvSpPr>
              <p:cNvPr id="46" name="Ellipse 46"/>
              <p:cNvSpPr/>
              <p:nvPr/>
            </p:nvSpPr>
            <p:spPr>
              <a:xfrm>
                <a:off x="4286250" y="260985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46101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B</a:t>
                </a:r>
                <a:endPara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3571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传统缺口</a:t>
                </a:r>
                <a:endPara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7105650" y="2609850"/>
              <a:ext cx="800100" cy="800100"/>
              <a:chOff x="7105650" y="2609850"/>
              <a:chExt cx="800100" cy="80010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7105650" y="2609850"/>
                <a:ext cx="800100" cy="800100"/>
              </a:xfrm>
              <a:prstGeom prst="ellipse">
                <a:avLst/>
              </a:prstGeom>
              <a:solidFill>
                <a:srgbClr val="FFF3D8"/>
              </a:solidFill>
              <a:ln w="28575">
                <a:solidFill>
                  <a:schemeClr val="accent2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429550" y="279368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A87312"/>
                    </a:solidFill>
                    <a:latin typeface="+mn-lt"/>
                    <a:ea typeface="+mn-ea"/>
                    <a:cs typeface="+mn-cs"/>
                  </a:rPr>
                  <a:t>C</a:t>
                </a:r>
                <a:endParaRPr lang="en-US" sz="1650" b="1" dirty="0">
                  <a:solidFill>
                    <a:srgbClr val="A8731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176516" y="310896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案例经验</a:t>
                </a:r>
                <a:endParaRPr lang="zh-CN" sz="120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8896350" y="2819400"/>
              <a:ext cx="800100" cy="800100"/>
              <a:chOff x="8896350" y="2819400"/>
              <a:chExt cx="800100" cy="800100"/>
            </a:xfrm>
          </p:grpSpPr>
          <p:sp>
            <p:nvSpPr>
              <p:cNvPr id="54" name="Ellipse 54"/>
              <p:cNvSpPr/>
              <p:nvPr/>
            </p:nvSpPr>
            <p:spPr>
              <a:xfrm>
                <a:off x="8896350" y="28194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9220250" y="30032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D</a:t>
                </a:r>
                <a:endPara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967216" y="33185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技术驱动</a:t>
                </a:r>
                <a:endPara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2609850" y="5029200"/>
              <a:ext cx="800100" cy="800100"/>
              <a:chOff x="2609850" y="5029200"/>
              <a:chExt cx="800100" cy="800100"/>
            </a:xfrm>
          </p:grpSpPr>
          <p:sp>
            <p:nvSpPr>
              <p:cNvPr id="58" name="Ellipse 58"/>
              <p:cNvSpPr/>
              <p:nvPr/>
            </p:nvSpPr>
            <p:spPr>
              <a:xfrm>
                <a:off x="26098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29337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E</a:t>
                </a:r>
                <a:endPara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2680716" y="55283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对手动向</a:t>
                </a:r>
                <a:endPara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4457700" y="5448300"/>
              <a:ext cx="800100" cy="800100"/>
              <a:chOff x="4457700" y="5448300"/>
              <a:chExt cx="800100" cy="800100"/>
            </a:xfrm>
          </p:grpSpPr>
          <p:sp>
            <p:nvSpPr>
              <p:cNvPr id="62" name="Ellipse 62"/>
              <p:cNvSpPr/>
              <p:nvPr/>
            </p:nvSpPr>
            <p:spPr>
              <a:xfrm>
                <a:off x="44577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47816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F</a:t>
                </a:r>
                <a:endPara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45285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体系对抗</a:t>
                </a:r>
                <a:endPara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934200" y="5448300"/>
              <a:ext cx="800100" cy="800100"/>
              <a:chOff x="6934200" y="5448300"/>
              <a:chExt cx="800100" cy="800100"/>
            </a:xfrm>
          </p:grpSpPr>
          <p:sp>
            <p:nvSpPr>
              <p:cNvPr id="66" name="Ellipse 66"/>
              <p:cNvSpPr/>
              <p:nvPr/>
            </p:nvSpPr>
            <p:spPr>
              <a:xfrm>
                <a:off x="6934200" y="54483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7258100" y="56321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G</a:t>
                </a:r>
                <a:endPara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05066" y="594741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跨域融合</a:t>
                </a:r>
                <a:endPara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8772144" y="5029200"/>
              <a:ext cx="819912" cy="800100"/>
              <a:chOff x="8772144" y="5029200"/>
              <a:chExt cx="819912" cy="800100"/>
            </a:xfrm>
          </p:grpSpPr>
          <p:sp>
            <p:nvSpPr>
              <p:cNvPr id="70" name="Ellipse 70"/>
              <p:cNvSpPr/>
              <p:nvPr/>
            </p:nvSpPr>
            <p:spPr>
              <a:xfrm>
                <a:off x="8782050" y="5029200"/>
                <a:ext cx="800100" cy="800100"/>
              </a:xfrm>
              <a:prstGeom prst="ellipse">
                <a:avLst/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9105950" y="5213032"/>
                <a:ext cx="15230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H</a:t>
                </a:r>
                <a:endParaRPr lang="en-US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8772144" y="552831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非传统安全</a:t>
                </a:r>
                <a:endPara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74" name="Rectangle 74"/>
            <p:cNvSpPr/>
            <p:nvPr/>
          </p:nvSpPr>
          <p:spPr>
            <a:xfrm>
              <a:off x="9906000" y="4210050"/>
              <a:ext cx="1485900" cy="819150"/>
            </a:xfrm>
            <a:prstGeom prst="roundRect">
              <a:avLst>
                <a:gd name="adj" fmla="val 209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481310" y="436626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111264" y="46005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差异化蓝图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585450" y="485870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050" dirty="0">
                <a:solidFill>
                  <a:srgbClr val="B94747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05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1176164" cy="706470"/>
            <a:chOff x="501015" y="497681"/>
            <a:chExt cx="11176164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1176164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动态 Registry 与独立受控会话让协作可替换、可并发、可恢复</a:t>
              </a:r>
              <a:endParaRPr lang="zh-CN" sz="262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77541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多智能体不是“多次调用”，而是一套具备隔离、预算、权限、并发和恢复边界的运行 Harness。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3400" y="1466850"/>
            <a:ext cx="2743200" cy="4095750"/>
            <a:chOff x="533400" y="1466850"/>
            <a:chExt cx="2743200" cy="4095750"/>
          </a:xfrm>
        </p:grpSpPr>
        <p:sp>
          <p:nvSpPr>
            <p:cNvPr id="5" name="Rectangle 5"/>
            <p:cNvSpPr/>
            <p:nvPr/>
          </p:nvSpPr>
          <p:spPr>
            <a:xfrm>
              <a:off x="533400" y="1466850"/>
              <a:ext cx="2743200" cy="4095750"/>
            </a:xfrm>
            <a:prstGeom prst="roundRect">
              <a:avLst>
                <a:gd name="adj" fmla="val 8333"/>
              </a:avLst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868362" y="1749425"/>
              <a:ext cx="244475" cy="331787"/>
              <a:chOff x="868362" y="1749425"/>
              <a:chExt cx="244475" cy="33178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85825" y="1784350"/>
                <a:ext cx="20955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13970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174625" y="0"/>
                    </a:lnTo>
                    <a:cubicBezTo>
                      <a:pt x="193913" y="0"/>
                      <a:pt x="209550" y="15636"/>
                      <a:pt x="209550" y="34925"/>
                    </a:cubicBezTo>
                    <a:lnTo>
                      <a:pt x="209550" y="104775"/>
                    </a:lnTo>
                    <a:cubicBezTo>
                      <a:pt x="209550" y="124063"/>
                      <a:pt x="193913" y="139700"/>
                      <a:pt x="174625" y="139700"/>
                    </a:cubicBezTo>
                    <a:lnTo>
                      <a:pt x="34925" y="139700"/>
                    </a:lnTo>
                    <a:cubicBezTo>
                      <a:pt x="15636" y="139700"/>
                      <a:pt x="0" y="124063"/>
                      <a:pt x="0" y="10477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90600" y="1749425"/>
                <a:ext cx="95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4925">
                    <a:moveTo>
                      <a:pt x="0" y="0"/>
                    </a:moveTo>
                    <a:lnTo>
                      <a:pt x="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8212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42987" y="1924050"/>
                <a:ext cx="9525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7162">
                    <a:moveTo>
                      <a:pt x="0" y="0"/>
                    </a:moveTo>
                    <a:lnTo>
                      <a:pt x="0" y="157162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868362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34925"/>
                    </a:moveTo>
                    <a:lnTo>
                      <a:pt x="69850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42987" y="1958975"/>
                <a:ext cx="69850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34925">
                    <a:moveTo>
                      <a:pt x="0" y="0"/>
                    </a:moveTo>
                    <a:lnTo>
                      <a:pt x="69850" y="3492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938212" y="2028824"/>
                <a:ext cx="1047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9525">
                    <a:moveTo>
                      <a:pt x="0" y="0"/>
                    </a:moveTo>
                    <a:lnTo>
                      <a:pt x="104775" y="0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5567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25525" y="1854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75"/>
                    </a:lnTo>
                  </a:path>
                </a:pathLst>
              </a:custGeom>
              <a:noFill/>
              <a:ln w="34925">
                <a:solidFill>
                  <a:srgbClr val="FFFFFF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88161" y="1827371"/>
              <a:ext cx="193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动态 Agent Registry</a:t>
              </a:r>
              <a:endParaRPr lang="zh-CN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74192" y="23117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角色不写死在编排器中</a:t>
              </a:r>
              <a:endParaRPr lang="zh-CN" sz="135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81050" y="27241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29241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默认角色可全选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81050" y="346710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rgbClr val="FFFFFF">
                <a:alpha val="12000"/>
              </a:srgbClr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667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按任务选择子集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1050" y="4210050"/>
              <a:ext cx="2247900" cy="590550"/>
            </a:xfrm>
            <a:prstGeom prst="roundRect">
              <a:avLst>
                <a:gd name="adj" fmla="val 2580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44880" y="441007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通过配置替换角色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4954" y="50901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缺失 coverage 明确呈现</a:t>
              </a:r>
              <a:endParaRPr lang="zh-CN" sz="12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600450" y="1466850"/>
            <a:ext cx="4019550" cy="4095750"/>
            <a:chOff x="3600450" y="1466850"/>
            <a:chExt cx="4019550" cy="4095750"/>
          </a:xfrm>
        </p:grpSpPr>
        <p:sp>
          <p:nvSpPr>
            <p:cNvPr id="26" name="Rectangle 26"/>
            <p:cNvSpPr/>
            <p:nvPr/>
          </p:nvSpPr>
          <p:spPr>
            <a:xfrm>
              <a:off x="3600450" y="1466850"/>
              <a:ext cx="4019550" cy="4095750"/>
            </a:xfrm>
            <a:prstGeom prst="roundRect">
              <a:avLst>
                <a:gd name="adj" fmla="val 5687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38575" y="1683544"/>
              <a:ext cx="3338091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每个 Agent 的独立受控沙箱</a:t>
              </a:r>
              <a:endParaRPr lang="zh-CN" sz="18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3848100" y="2152650"/>
              <a:ext cx="3562807" cy="819150"/>
              <a:chOff x="3848100" y="2152650"/>
              <a:chExt cx="3562807" cy="8191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3848100" y="21526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4000500" y="2333625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4129712" y="25088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  <a:endPara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4601718" y="2298382"/>
                <a:ext cx="241493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上下文与 Session 隔离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604004" y="2632710"/>
                <a:ext cx="28069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独立投影 · 独立追加 · 原始会话不外泄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848100" y="3124200"/>
              <a:ext cx="3377032" cy="819150"/>
              <a:chOff x="3848100" y="3124200"/>
              <a:chExt cx="3377032" cy="8191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3848100" y="312420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DFF0F3"/>
              </a:solidFill>
              <a:ln>
                <a:noFill/>
              </a:ln>
            </p:spPr>
          </p:sp>
          <p:sp>
            <p:nvSpPr>
              <p:cNvPr id="35" name="Ellipse 35"/>
              <p:cNvSpPr/>
              <p:nvPr/>
            </p:nvSpPr>
            <p:spPr>
              <a:xfrm>
                <a:off x="4000500" y="3305175"/>
                <a:ext cx="457200" cy="4572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129712" y="348043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  <a:endPara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01718" y="3269932"/>
                <a:ext cx="211582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工具权限与预算约束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04004" y="3604260"/>
                <a:ext cx="262112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执行层强制最小权限 · 有界资源消耗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848100" y="4095750"/>
              <a:ext cx="3276600" cy="819150"/>
              <a:chOff x="3848100" y="4095750"/>
              <a:chExt cx="3276600" cy="8191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3848100" y="4095750"/>
                <a:ext cx="3276600" cy="819150"/>
              </a:xfrm>
              <a:prstGeom prst="roundRect">
                <a:avLst>
                  <a:gd name="adj" fmla="val 20930"/>
                </a:avLst>
              </a:prstGeom>
              <a:solidFill>
                <a:srgbClr val="FFF3D8"/>
              </a:solidFill>
              <a:ln>
                <a:noFill/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4000500" y="4276725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4129712" y="4451985"/>
                <a:ext cx="19877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  <a:endPara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601718" y="4241482"/>
                <a:ext cx="249125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Checkpoint 与输出目录</a:t>
                </a:r>
                <a:endPara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604004" y="4575810"/>
                <a:ext cx="183763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可恢复 · 可交接 · 可审计</a:t>
                </a:r>
                <a:endParaRPr lang="zh-CN" sz="120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7943850" y="1466850"/>
            <a:ext cx="3714750" cy="4095750"/>
            <a:chOff x="7943850" y="1466850"/>
            <a:chExt cx="3714750" cy="4095750"/>
          </a:xfrm>
        </p:grpSpPr>
        <p:sp>
          <p:nvSpPr>
            <p:cNvPr id="47" name="Rectangle 47"/>
            <p:cNvSpPr/>
            <p:nvPr/>
          </p:nvSpPr>
          <p:spPr>
            <a:xfrm>
              <a:off x="7943850" y="1466850"/>
              <a:ext cx="3714750" cy="4095750"/>
            </a:xfrm>
            <a:prstGeom prst="roundRect">
              <a:avLst>
                <a:gd name="adj" fmla="val 615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181975" y="1683544"/>
              <a:ext cx="182470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有界并发 Wave</a:t>
              </a:r>
              <a:endParaRPr lang="zh-CN" sz="18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8496300" y="2533650"/>
              <a:ext cx="2590800" cy="9525"/>
            </a:xfrm>
            <a:custGeom>
              <a:avLst/>
              <a:gdLst/>
              <a:ahLst/>
              <a:cxnLst/>
              <a:rect l="l" t="t" r="r" b="b"/>
              <a:pathLst>
                <a:path w="2590800" h="9525">
                  <a:moveTo>
                    <a:pt x="0" y="0"/>
                  </a:moveTo>
                  <a:lnTo>
                    <a:pt x="2590800" y="0"/>
                  </a:lnTo>
                </a:path>
              </a:pathLst>
            </a:custGeom>
            <a:noFill/>
            <a:ln w="38100">
              <a:solidFill>
                <a:srgbClr val="7AA2B5"/>
              </a:solidFill>
            </a:ln>
          </p:spPr>
        </p:sp>
        <p:sp>
          <p:nvSpPr>
            <p:cNvPr id="50" name="Ellipse 50"/>
            <p:cNvSpPr/>
            <p:nvPr/>
          </p:nvSpPr>
          <p:spPr>
            <a:xfrm>
              <a:off x="8477250" y="2247900"/>
              <a:ext cx="571500" cy="571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6250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W1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Ellipse 52"/>
            <p:cNvSpPr/>
            <p:nvPr/>
          </p:nvSpPr>
          <p:spPr>
            <a:xfrm>
              <a:off x="9505950" y="2247900"/>
              <a:ext cx="571500" cy="571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6537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W2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Ellipse 54"/>
            <p:cNvSpPr/>
            <p:nvPr/>
          </p:nvSpPr>
          <p:spPr>
            <a:xfrm>
              <a:off x="10534650" y="2247900"/>
              <a:ext cx="571500" cy="571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0682486" y="2454592"/>
              <a:ext cx="275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W3</a:t>
              </a:r>
              <a:endParaRPr lang="en-US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305800" y="314325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562975" y="3371850"/>
              <a:ext cx="285751" cy="285751"/>
              <a:chOff x="8562975" y="3371850"/>
              <a:chExt cx="285751" cy="285751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674100" y="3498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642350" y="3609976"/>
                <a:ext cx="1270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95250" y="0"/>
                    </a:lnTo>
                    <a:cubicBezTo>
                      <a:pt x="112785" y="0"/>
                      <a:pt x="127000" y="14215"/>
                      <a:pt x="127000" y="31750"/>
                    </a:cubicBezTo>
                    <a:lnTo>
                      <a:pt x="1270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75347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85226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0"/>
                    </a:moveTo>
                    <a:lnTo>
                      <a:pt x="31750" y="0"/>
                    </a:lnTo>
                    <a:cubicBezTo>
                      <a:pt x="49285" y="0"/>
                      <a:pt x="63500" y="14215"/>
                      <a:pt x="63500" y="31750"/>
                    </a:cubicBezTo>
                    <a:lnTo>
                      <a:pt x="63500" y="47625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594725" y="337185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8562975" y="3482975"/>
                <a:ext cx="6350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47625">
                    <a:moveTo>
                      <a:pt x="0" y="47625"/>
                    </a:move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040749" y="3278029"/>
              <a:ext cx="234641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Subagent map-reduce</a:t>
              </a:r>
              <a:endParaRPr lang="en-US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9042654" y="36042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并行研究后结构化汇聚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8305800" y="4076700"/>
              <a:ext cx="2990850" cy="7429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8594725" y="4321175"/>
              <a:ext cx="238125" cy="254001"/>
              <a:chOff x="8594725" y="4321175"/>
              <a:chExt cx="238125" cy="254001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8594725" y="451167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859472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753475" y="43211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626475" y="4384675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658225" y="4432300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0" y="111125"/>
                    </a:moveTo>
                    <a:lnTo>
                      <a:pt x="95250" y="111125"/>
                    </a:lnTo>
                    <a:cubicBezTo>
                      <a:pt x="112785" y="111125"/>
                      <a:pt x="127000" y="96910"/>
                      <a:pt x="127000" y="79375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737600" y="4432300"/>
                <a:ext cx="95250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47625">
                    <a:moveTo>
                      <a:pt x="0" y="47625"/>
                    </a:moveTo>
                    <a:lnTo>
                      <a:pt x="47625" y="0"/>
                    </a:lnTo>
                    <a:lnTo>
                      <a:pt x="95250" y="4762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9040749" y="4211479"/>
              <a:ext cx="161284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结构化 handoff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042654" y="453771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失败恢复 · 定向续跑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71550" y="5829300"/>
            <a:ext cx="10248900" cy="457200"/>
            <a:chOff x="971550" y="5829300"/>
            <a:chExt cx="10248900" cy="457200"/>
          </a:xfrm>
        </p:grpSpPr>
        <p:sp>
          <p:nvSpPr>
            <p:cNvPr id="77" name="Rectangle 77"/>
            <p:cNvSpPr/>
            <p:nvPr/>
          </p:nvSpPr>
          <p:spPr>
            <a:xfrm>
              <a:off x="971550" y="5829300"/>
              <a:ext cx="10248900" cy="4572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420090" y="5946458"/>
              <a:ext cx="735182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可替换角色 + 独立受控会话 + 有界并发与恢复 = 可治理的多智能体协作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0" name="TextBox 8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06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6750" y="1695450"/>
            <a:ext cx="10687050" cy="3638550"/>
          </a:xfrm>
          <a:custGeom>
            <a:avLst/>
            <a:gdLst/>
            <a:ahLst/>
            <a:cxnLst/>
            <a:rect l="l" t="t" r="r" b="b"/>
            <a:pathLst>
              <a:path w="10687050" h="3638550">
                <a:moveTo>
                  <a:pt x="0" y="3638550"/>
                </a:moveTo>
                <a:lnTo>
                  <a:pt x="1524000" y="2305050"/>
                </a:lnTo>
                <a:lnTo>
                  <a:pt x="3162300" y="2914650"/>
                </a:lnTo>
                <a:lnTo>
                  <a:pt x="4705350" y="1295400"/>
                </a:lnTo>
                <a:lnTo>
                  <a:pt x="6457950" y="2114550"/>
                </a:lnTo>
                <a:lnTo>
                  <a:pt x="8115300" y="571500"/>
                </a:lnTo>
                <a:lnTo>
                  <a:pt x="10687050" y="1447800"/>
                </a:lnTo>
                <a:moveTo>
                  <a:pt x="571500" y="685800"/>
                </a:moveTo>
                <a:lnTo>
                  <a:pt x="2095500" y="1504950"/>
                </a:lnTo>
                <a:lnTo>
                  <a:pt x="3810000" y="457200"/>
                </a:lnTo>
                <a:lnTo>
                  <a:pt x="5524500" y="1085850"/>
                </a:lnTo>
                <a:lnTo>
                  <a:pt x="7334250" y="0"/>
                </a:lnTo>
                <a:lnTo>
                  <a:pt x="9906000" y="342900"/>
                </a:lnTo>
              </a:path>
            </a:pathLst>
          </a:custGeom>
          <a:noFill/>
          <a:ln w="19050">
            <a:solidFill>
              <a:srgbClr val="D7E0EA"/>
            </a:solidFill>
          </a:ln>
        </p:spPr>
      </p:sp>
      <p:grpSp>
        <p:nvGrpSpPr>
          <p:cNvPr id="5" name="Group 5"/>
          <p:cNvGrpSpPr/>
          <p:nvPr/>
        </p:nvGrpSpPr>
        <p:grpSpPr>
          <a:xfrm>
            <a:off x="500634" y="489585"/>
            <a:ext cx="10824461" cy="714566"/>
            <a:chOff x="500634" y="489585"/>
            <a:chExt cx="10824461" cy="714566"/>
          </a:xfrm>
        </p:grpSpPr>
        <p:sp>
          <p:nvSpPr>
            <p:cNvPr id="3" name="TextBox 3"/>
            <p:cNvSpPr txBox="1"/>
            <p:nvPr/>
          </p:nvSpPr>
          <p:spPr>
            <a:xfrm>
              <a:off x="500634" y="489585"/>
              <a:ext cx="1082446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S1–S6 将研究材料逐级转化为制胜机理与能力画像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6542" y="940118"/>
              <a:ext cx="65940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六类专业 Agent 固化行业推理链，而不是在通用 Deep Research 外层简单套壳。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5592" y="1187768"/>
            <a:ext cx="10503408" cy="4327588"/>
            <a:chOff x="545592" y="1187768"/>
            <a:chExt cx="10503408" cy="4327588"/>
          </a:xfrm>
        </p:grpSpPr>
        <p:sp>
          <p:nvSpPr>
            <p:cNvPr id="6" name="Freeform 6"/>
            <p:cNvSpPr/>
            <p:nvPr/>
          </p:nvSpPr>
          <p:spPr>
            <a:xfrm>
              <a:off x="1238250" y="1790700"/>
              <a:ext cx="9658350" cy="2781300"/>
            </a:xfrm>
            <a:custGeom>
              <a:avLst/>
              <a:gdLst/>
              <a:ahLst/>
              <a:cxnLst/>
              <a:rect l="l" t="t" r="r" b="b"/>
              <a:pathLst>
                <a:path w="9658350" h="2781300">
                  <a:moveTo>
                    <a:pt x="0" y="2781300"/>
                  </a:moveTo>
                  <a:cubicBezTo>
                    <a:pt x="1562100" y="2686050"/>
                    <a:pt x="2152650" y="2305050"/>
                    <a:pt x="3048000" y="1885950"/>
                  </a:cubicBezTo>
                  <a:cubicBezTo>
                    <a:pt x="4324350" y="1295400"/>
                    <a:pt x="5429250" y="1162050"/>
                    <a:pt x="6515100" y="876300"/>
                  </a:cubicBezTo>
                  <a:cubicBezTo>
                    <a:pt x="7620000" y="590550"/>
                    <a:pt x="8477250" y="400050"/>
                    <a:pt x="9658350" y="0"/>
                  </a:cubicBezTo>
                </a:path>
              </a:pathLst>
            </a:custGeom>
            <a:noFill/>
            <a:ln w="171450" cap="rnd">
              <a:solidFill>
                <a:srgbClr val="D7E0EA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647700" y="3981450"/>
              <a:ext cx="1181100" cy="1533906"/>
              <a:chOff x="647700" y="3981450"/>
              <a:chExt cx="1181100" cy="1533906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647700" y="3981450"/>
                <a:ext cx="1181100" cy="11811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41997" y="42148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S1</a:t>
                </a:r>
                <a:endPara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67918" y="46358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对手分析</a:t>
                </a:r>
                <a:endPara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6178" y="52806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威胁 · 约束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2457450" y="3676650"/>
              <a:ext cx="1181100" cy="1533906"/>
              <a:chOff x="2457450" y="3676650"/>
              <a:chExt cx="1181100" cy="1533906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2457450" y="3676650"/>
                <a:ext cx="1181100" cy="1181100"/>
              </a:xfrm>
              <a:prstGeom prst="ellipse">
                <a:avLst/>
              </a:prstGeom>
              <a:solidFill>
                <a:srgbClr val="174D79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2851747" y="3910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S2</a:t>
                </a:r>
                <a:endPara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677668" y="433101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DDEAF2"/>
                    </a:solidFill>
                    <a:latin typeface="+mn-lt"/>
                    <a:ea typeface="+mn-ea"/>
                    <a:cs typeface="+mn-cs"/>
                  </a:rPr>
                  <a:t>运用审查</a:t>
                </a:r>
                <a:endPara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625928" y="4975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任务 · 场景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267200" y="2914650"/>
              <a:ext cx="1181100" cy="1533906"/>
              <a:chOff x="4267200" y="2914650"/>
              <a:chExt cx="1181100" cy="1533906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4267200" y="2914650"/>
                <a:ext cx="1181100" cy="1181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4661497" y="31480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S3</a:t>
                </a:r>
                <a:endPara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396550" y="35690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E7F6F8"/>
                    </a:solidFill>
                    <a:latin typeface="+mn-lt"/>
                    <a:ea typeface="+mn-ea"/>
                    <a:cs typeface="+mn-cs"/>
                  </a:rPr>
                  <a:t>突破口思考</a:t>
                </a:r>
                <a:endParaRPr lang="zh-CN" sz="13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35678" y="42138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规律 · 因果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6076950" y="2400300"/>
              <a:ext cx="1181100" cy="1533906"/>
              <a:chOff x="6076950" y="2400300"/>
              <a:chExt cx="1181100" cy="1533906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076950" y="2400300"/>
                <a:ext cx="1181100" cy="1181100"/>
              </a:xfrm>
              <a:prstGeom prst="ellipse">
                <a:avLst/>
              </a:prstGeom>
              <a:solidFill>
                <a:srgbClr val="3E95A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471247" y="263366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S4</a:t>
                </a:r>
                <a:endPara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297168" y="3054668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0FBFC"/>
                    </a:solidFill>
                    <a:latin typeface="+mn-lt"/>
                    <a:ea typeface="+mn-ea"/>
                    <a:cs typeface="+mn-cs"/>
                  </a:rPr>
                  <a:t>能力映射</a:t>
                </a:r>
                <a:endParaRPr lang="zh-CN" sz="1350" dirty="0">
                  <a:solidFill>
                    <a:srgbClr val="F0FBFC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245428" y="369951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效果 → 功能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86700" y="1885950"/>
              <a:ext cx="1181100" cy="1533906"/>
              <a:chOff x="7886700" y="1885950"/>
              <a:chExt cx="1181100" cy="1533906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7886700" y="1885950"/>
                <a:ext cx="1181100" cy="1181100"/>
              </a:xfrm>
              <a:prstGeom prst="ellipse">
                <a:avLst/>
              </a:prstGeom>
              <a:solidFill>
                <a:srgbClr val="B9822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280997" y="2119312"/>
                <a:ext cx="392506" cy="44005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2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S5</a:t>
                </a:r>
                <a:endPara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016049" y="2540318"/>
                <a:ext cx="9224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dirty="0">
                    <a:solidFill>
                      <a:srgbClr val="FFF7E5"/>
                    </a:solidFill>
                    <a:latin typeface="+mn-lt"/>
                    <a:ea typeface="+mn-ea"/>
                    <a:cs typeface="+mn-cs"/>
                  </a:rPr>
                  <a:t>现状与差距</a:t>
                </a:r>
                <a:endParaRPr lang="zh-CN" sz="135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055178" y="3185160"/>
                <a:ext cx="8441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边界 · 缺口</a:t>
                </a:r>
                <a:endPara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9620250" y="1276350"/>
              <a:ext cx="1333500" cy="1686306"/>
              <a:chOff x="9620250" y="1276350"/>
              <a:chExt cx="1333500" cy="1686306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9620250" y="1276350"/>
                <a:ext cx="1333500" cy="1333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0077663" y="1550670"/>
                <a:ext cx="418673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S6</a:t>
                </a:r>
                <a:endParaRPr lang="en-US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9677606" y="1998821"/>
                <a:ext cx="12187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能力图像综合</a:t>
                </a:r>
                <a:endPara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622612" y="2727960"/>
                <a:ext cx="13287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优先级 · 验证建议</a:t>
                </a:r>
                <a:endParaRPr lang="zh-CN" sz="1200" dirty="0">
                  <a:solidFill>
                    <a:srgbClr val="8A5D10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545592" y="21021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研究材料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52450" y="2400300"/>
              <a:ext cx="1619250" cy="9525"/>
            </a:xfrm>
            <a:custGeom>
              <a:avLst/>
              <a:gdLst/>
              <a:ahLst/>
              <a:cxnLst/>
              <a:rect l="l" t="t" r="r" b="b"/>
              <a:pathLst>
                <a:path w="1619250" h="9525">
                  <a:moveTo>
                    <a:pt x="0" y="0"/>
                  </a:moveTo>
                  <a:lnTo>
                    <a:pt x="16192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55642" y="1759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制胜机理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Freeform 40"/>
            <p:cNvSpPr/>
            <p:nvPr/>
          </p:nvSpPr>
          <p:spPr>
            <a:xfrm>
              <a:off x="4762500" y="20574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3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813292" y="1187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能力画像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8820150" y="1485900"/>
              <a:ext cx="2228850" cy="9525"/>
            </a:xfrm>
            <a:custGeom>
              <a:avLst/>
              <a:gdLst/>
              <a:ahLst/>
              <a:cxnLst/>
              <a:rect l="l" t="t" r="r" b="b"/>
              <a:pathLst>
                <a:path w="2228850" h="9525">
                  <a:moveTo>
                    <a:pt x="0" y="0"/>
                  </a:moveTo>
                  <a:lnTo>
                    <a:pt x="2228850" y="0"/>
                  </a:lnTo>
                </a:path>
              </a:pathLst>
            </a:custGeom>
            <a:solidFill>
              <a:srgbClr val="000000"/>
            </a:solidFill>
            <a:ln w="57150" cap="rnd">
              <a:solidFill>
                <a:schemeClr val="accent2"/>
              </a:solidFill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895350" y="5619750"/>
            <a:ext cx="10401300" cy="697039"/>
            <a:chOff x="895350" y="5619750"/>
            <a:chExt cx="10401300" cy="697039"/>
          </a:xfrm>
        </p:grpSpPr>
        <p:sp>
          <p:nvSpPr>
            <p:cNvPr id="44" name="Rectangle 44"/>
            <p:cNvSpPr/>
            <p:nvPr/>
          </p:nvSpPr>
          <p:spPr>
            <a:xfrm>
              <a:off x="895350" y="5619750"/>
              <a:ext cx="10401300" cy="647700"/>
            </a:xfrm>
            <a:prstGeom prst="roundRect">
              <a:avLst>
                <a:gd name="adj" fmla="val 32353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725668" y="57597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链路产出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484228" y="5994082"/>
              <a:ext cx="72235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规律 · 场景 · 因果机制 · 能力需求 · 指标边界 · 装备形态 · 验证建议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015" y="497681"/>
            <a:ext cx="10978940" cy="706470"/>
            <a:chOff x="501015" y="497681"/>
            <a:chExt cx="10978940" cy="706470"/>
          </a:xfrm>
        </p:grpSpPr>
        <p:sp>
          <p:nvSpPr>
            <p:cNvPr id="2" name="TextBox 2"/>
            <p:cNvSpPr txBox="1"/>
            <p:nvPr/>
          </p:nvSpPr>
          <p:spPr>
            <a:xfrm>
              <a:off x="501015" y="497681"/>
              <a:ext cx="10978940" cy="513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62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L1–L4 把补证、回溯和强度调整限制在可审计边界内</a:t>
              </a:r>
              <a:endParaRPr lang="zh-CN" sz="262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40118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系统不是无限自我反思，而是按缺口触发分层、定向、有上限的纠偏。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71550" y="1590040"/>
            <a:ext cx="4152900" cy="4489196"/>
            <a:chOff x="971550" y="1590675"/>
            <a:chExt cx="4152900" cy="4489196"/>
          </a:xfrm>
        </p:grpSpPr>
        <p:sp>
          <p:nvSpPr>
            <p:cNvPr id="5" name="Ellipse 5"/>
            <p:cNvSpPr/>
            <p:nvPr/>
          </p:nvSpPr>
          <p:spPr>
            <a:xfrm rot="-4680000">
              <a:off x="971550" y="1590675"/>
              <a:ext cx="4152900" cy="4152900"/>
            </a:xfrm>
            <a:prstGeom prst="ellipse">
              <a:avLst/>
            </a:prstGeom>
            <a:solidFill>
              <a:srgbClr val="FFFFFF"/>
            </a:solidFill>
            <a:ln w="285750">
              <a:solidFill>
                <a:schemeClr val="accent2"/>
              </a:solidFill>
              <a:custDash>
                <a:ds d="3933333" sp="633333"/>
              </a:custDash>
            </a:ln>
          </p:spPr>
        </p:sp>
        <p:sp>
          <p:nvSpPr>
            <p:cNvPr id="6" name="Ellipse 6"/>
            <p:cNvSpPr/>
            <p:nvPr/>
          </p:nvSpPr>
          <p:spPr>
            <a:xfrm rot="-3240000">
              <a:off x="1466850" y="2085975"/>
              <a:ext cx="3162300" cy="3162300"/>
            </a:xfrm>
            <a:prstGeom prst="ellipse">
              <a:avLst/>
            </a:prstGeom>
            <a:solidFill>
              <a:srgbClr val="FFFFFF"/>
            </a:solidFill>
            <a:ln w="266700">
              <a:solidFill>
                <a:schemeClr val="accent3"/>
              </a:solidFill>
              <a:custDash>
                <a:ds d="3142857" sp="585714"/>
              </a:custDash>
            </a:ln>
          </p:spPr>
        </p:sp>
        <p:sp>
          <p:nvSpPr>
            <p:cNvPr id="7" name="Ellipse 7"/>
            <p:cNvSpPr/>
            <p:nvPr/>
          </p:nvSpPr>
          <p:spPr>
            <a:xfrm rot="-1800000">
              <a:off x="1943100" y="2562225"/>
              <a:ext cx="2209800" cy="2209800"/>
            </a:xfrm>
            <a:prstGeom prst="ellipse">
              <a:avLst/>
            </a:prstGeom>
            <a:solidFill>
              <a:srgbClr val="FFFFFF"/>
            </a:solidFill>
            <a:ln w="247650">
              <a:solidFill>
                <a:srgbClr val="7AA2B5"/>
              </a:solidFill>
              <a:custDash>
                <a:ds d="2230769" sp="569231"/>
              </a:custDash>
            </a:ln>
          </p:spPr>
        </p:sp>
        <p:sp>
          <p:nvSpPr>
            <p:cNvPr id="8" name="Ellipse 8"/>
            <p:cNvSpPr/>
            <p:nvPr/>
          </p:nvSpPr>
          <p:spPr>
            <a:xfrm>
              <a:off x="2409825" y="3028950"/>
              <a:ext cx="1276350" cy="1276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851747" y="33385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96896" y="37295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节点自检</a:t>
              </a:r>
              <a:endParaRPr lang="zh-CN" sz="128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524250" y="2809875"/>
              <a:ext cx="87630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612779" y="293084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回溯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3550" y="1943100"/>
              <a:ext cx="1104900" cy="4000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5567" y="20640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L3 外循环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648075" y="5257800"/>
              <a:ext cx="1162050" cy="40005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778667" y="5378768"/>
              <a:ext cx="9008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L4 元循环</a:t>
              </a:r>
              <a:endParaRPr lang="zh-CN" sz="135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1654" y="5845175"/>
              <a:ext cx="36388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由内到外：补证 → 回溯 → 跨阶段门控 → 收敛后复核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477000" y="1428750"/>
            <a:ext cx="5181600" cy="4133850"/>
            <a:chOff x="6477000" y="1428750"/>
            <a:chExt cx="5181600" cy="4133850"/>
          </a:xfrm>
        </p:grpSpPr>
        <p:sp>
          <p:nvSpPr>
            <p:cNvPr id="19" name="Rectangle 19"/>
            <p:cNvSpPr/>
            <p:nvPr/>
          </p:nvSpPr>
          <p:spPr>
            <a:xfrm>
              <a:off x="6477000" y="1428750"/>
              <a:ext cx="5181600" cy="4133850"/>
            </a:xfrm>
            <a:prstGeom prst="roundRect">
              <a:avLst>
                <a:gd name="adj" fmla="val 5530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648450" y="1707832"/>
              <a:ext cx="4853650" cy="585121"/>
              <a:chOff x="6648450" y="1707832"/>
              <a:chExt cx="4853650" cy="585121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648450" y="1733550"/>
                <a:ext cx="495300" cy="495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784479" y="19197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L1</a:t>
                </a:r>
                <a:endPara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5868" y="1707832"/>
                <a:ext cx="18825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单节点自检与补证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327773" y="2043589"/>
                <a:ext cx="417432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触发：证据不足 / 输出缺项　动作：当前节点定向补齐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6819900" y="24574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648450" y="2698432"/>
              <a:ext cx="4483176" cy="585121"/>
              <a:chOff x="6648450" y="2698432"/>
              <a:chExt cx="4483176" cy="585121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6648450" y="2724150"/>
                <a:ext cx="495300" cy="495300"/>
              </a:xfrm>
              <a:prstGeom prst="ellipse">
                <a:avLst/>
              </a:prstGeom>
              <a:solidFill>
                <a:srgbClr val="7AA2B5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6784479" y="29103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L2</a:t>
                </a:r>
                <a:endPara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325868" y="2698432"/>
                <a:ext cx="14161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相邻阶段回溯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7327773" y="3034189"/>
                <a:ext cx="380385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触发：上下游矛盾　动作：回到相关阶段修正交接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1" name="Line 31"/>
            <p:cNvSpPr/>
            <p:nvPr/>
          </p:nvSpPr>
          <p:spPr>
            <a:xfrm>
              <a:off x="6819900" y="34480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48450" y="3689032"/>
              <a:ext cx="4310863" cy="585121"/>
              <a:chOff x="6648450" y="3689032"/>
              <a:chExt cx="4310863" cy="585121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648450" y="3714750"/>
                <a:ext cx="495300" cy="495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84479" y="39009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L3</a:t>
                </a:r>
                <a:endPara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25868" y="36890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跨阶段质量门控</a:t>
                </a:r>
                <a:endPara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7327773" y="4024789"/>
                <a:ext cx="3631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触发：关键质量门失败　动作：跨阶段定向再调</a:t>
                </a:r>
                <a:endPara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6819900" y="4438650"/>
              <a:ext cx="4514850" cy="9525"/>
            </a:xfrm>
            <a:custGeom>
              <a:avLst/>
              <a:gdLst/>
              <a:ahLst/>
              <a:cxnLst/>
              <a:rect l="l" t="t" r="r" b="b"/>
              <a:pathLst>
                <a:path w="4514850" h="9525">
                  <a:moveTo>
                    <a:pt x="0" y="0"/>
                  </a:moveTo>
                  <a:lnTo>
                    <a:pt x="451485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6648450" y="4679632"/>
              <a:ext cx="4288104" cy="585121"/>
              <a:chOff x="6648450" y="4679632"/>
              <a:chExt cx="4288104" cy="585121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648450" y="4705350"/>
                <a:ext cx="495300" cy="495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784479" y="4891564"/>
                <a:ext cx="2232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L4</a:t>
                </a:r>
                <a:endPara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325868" y="4679632"/>
                <a:ext cx="164936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8A5D10"/>
                    </a:solidFill>
                    <a:latin typeface="+mn-lt"/>
                    <a:ea typeface="+mn-ea"/>
                    <a:cs typeface="+mn-cs"/>
                  </a:rPr>
                  <a:t>收敛后有界复核</a:t>
                </a:r>
                <a:endParaRPr lang="zh-CN" sz="16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327773" y="5015389"/>
                <a:ext cx="36087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80" dirty="0">
                    <a:solidFill>
                      <a:srgbClr val="6E5A34"/>
                    </a:solidFill>
                    <a:latin typeface="+mn-lt"/>
                    <a:ea typeface="+mn-ea"/>
                    <a:cs typeface="+mn-cs"/>
                  </a:rPr>
                  <a:t>最多调整 2 个 A–H 次分支与 S1–S6 执行强度</a:t>
                </a:r>
                <a:endParaRPr lang="zh-CN" sz="12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sp>
        <p:nvSpPr>
          <p:cNvPr id="50" name="TextBox 50"/>
          <p:cNvSpPr txBox="1"/>
          <p:nvPr/>
        </p:nvSpPr>
        <p:spPr>
          <a:xfrm>
            <a:off x="11478730" y="64398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80060" y="400050"/>
            <a:ext cx="9887712" cy="746951"/>
            <a:chOff x="480060" y="400050"/>
            <a:chExt cx="9887712" cy="746951"/>
          </a:xfrm>
        </p:grpSpPr>
        <p:sp>
          <p:nvSpPr>
            <p:cNvPr id="2" name="TextBox 2"/>
            <p:cNvSpPr txBox="1"/>
            <p:nvPr/>
          </p:nvSpPr>
          <p:spPr>
            <a:xfrm>
              <a:off x="480060" y="400050"/>
              <a:ext cx="9887712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研究指挥台已承载真实任务管理与跨进程运行闭环</a:t>
              </a:r>
              <a:endParaRPr lang="zh-CN" sz="30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07492" y="8829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真实工作台覆盖研究创建、草稿、筛选、归档、执行历史与真实运行产物。</a:t>
              </a:r>
              <a:endParaRPr lang="zh-CN" sz="135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00050" y="1352550"/>
            <a:ext cx="9486900" cy="5334000"/>
            <a:chOff x="400050" y="1352550"/>
            <a:chExt cx="9486900" cy="5334000"/>
          </a:xfrm>
        </p:grpSpPr>
        <p:sp>
          <p:nvSpPr>
            <p:cNvPr id="5" name="Rectangle 5"/>
            <p:cNvSpPr/>
            <p:nvPr/>
          </p:nvSpPr>
          <p:spPr>
            <a:xfrm>
              <a:off x="400050" y="1352550"/>
              <a:ext cx="9486900" cy="5334000"/>
            </a:xfrm>
            <a:prstGeom prst="roundRect">
              <a:avLst>
                <a:gd name="adj" fmla="val 3929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21929" y="1466850"/>
              <a:ext cx="9243141" cy="5200650"/>
            </a:xfrm>
            <a:prstGeom prst="rect">
              <a:avLst/>
            </a:prstGeom>
          </p:spPr>
        </p:pic>
      </p:grpSp>
      <p:grpSp>
        <p:nvGrpSpPr>
          <p:cNvPr id="11" name="Group 11"/>
          <p:cNvGrpSpPr/>
          <p:nvPr/>
        </p:nvGrpSpPr>
        <p:grpSpPr>
          <a:xfrm>
            <a:off x="10077450" y="1485900"/>
            <a:ext cx="1695450" cy="1229868"/>
            <a:chOff x="10077450" y="1485900"/>
            <a:chExt cx="1695450" cy="1229868"/>
          </a:xfrm>
        </p:grpSpPr>
        <p:sp>
          <p:nvSpPr>
            <p:cNvPr id="8" name="Rectangle 8"/>
            <p:cNvSpPr/>
            <p:nvPr/>
          </p:nvSpPr>
          <p:spPr>
            <a:xfrm>
              <a:off x="10077450" y="14859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261854" y="1737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7E5"/>
                  </a:solidFill>
                  <a:latin typeface="+mn-lt"/>
                  <a:ea typeface="+mn-ea"/>
                  <a:cs typeface="+mn-cs"/>
                </a:rPr>
                <a:t>完成任务</a:t>
              </a:r>
              <a:endParaRPr lang="zh-CN" sz="1200" dirty="0">
                <a:solidFill>
                  <a:srgbClr val="FFF7E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249662" y="2011680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24</a:t>
              </a:r>
              <a:endPara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077450" y="2857500"/>
            <a:ext cx="1695450" cy="1181100"/>
            <a:chOff x="10077450" y="2857500"/>
            <a:chExt cx="1695450" cy="1181100"/>
          </a:xfrm>
        </p:grpSpPr>
        <p:sp>
          <p:nvSpPr>
            <p:cNvPr id="12" name="Rectangle 12"/>
            <p:cNvSpPr/>
            <p:nvPr/>
          </p:nvSpPr>
          <p:spPr>
            <a:xfrm>
              <a:off x="10077450" y="2857500"/>
              <a:ext cx="1695450" cy="1181100"/>
            </a:xfrm>
            <a:prstGeom prst="roundRect">
              <a:avLst>
                <a:gd name="adj" fmla="val 161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0308431" y="3140075"/>
              <a:ext cx="242888" cy="215901"/>
            </a:xfrm>
            <a:custGeom>
              <a:avLst/>
              <a:gdLst/>
              <a:ahLst/>
              <a:cxnLst/>
              <a:rect l="l" t="t" r="r" b="b"/>
              <a:pathLst>
                <a:path w="242888" h="215901">
                  <a:moveTo>
                    <a:pt x="0" y="107950"/>
                  </a:moveTo>
                  <a:lnTo>
                    <a:pt x="53975" y="107950"/>
                  </a:lnTo>
                  <a:lnTo>
                    <a:pt x="94456" y="215901"/>
                  </a:lnTo>
                  <a:lnTo>
                    <a:pt x="148432" y="0"/>
                  </a:lnTo>
                  <a:lnTo>
                    <a:pt x="188913" y="107950"/>
                  </a:lnTo>
                  <a:lnTo>
                    <a:pt x="242888" y="107950"/>
                  </a:lnTo>
                </a:path>
              </a:pathLst>
            </a:custGeom>
            <a:noFill/>
            <a:ln w="26988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260330" y="345757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多任务并行槽位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62235" y="37647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运行状态持续可见</a:t>
              </a:r>
              <a:endParaRPr lang="zh-CN" sz="1120" dirty="0">
                <a:solidFill>
                  <a:srgbClr val="E7F6F8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077450" y="4229100"/>
            <a:ext cx="1695450" cy="1809750"/>
            <a:chOff x="10077450" y="4229100"/>
            <a:chExt cx="1695450" cy="1809750"/>
          </a:xfrm>
        </p:grpSpPr>
        <p:sp>
          <p:nvSpPr>
            <p:cNvPr id="17" name="Rectangle 17"/>
            <p:cNvSpPr/>
            <p:nvPr/>
          </p:nvSpPr>
          <p:spPr>
            <a:xfrm>
              <a:off x="10077450" y="4229100"/>
              <a:ext cx="1695450" cy="1809750"/>
            </a:xfrm>
            <a:prstGeom prst="roundRect">
              <a:avLst>
                <a:gd name="adj" fmla="val 11236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0321925" y="4479131"/>
              <a:ext cx="215901" cy="242888"/>
              <a:chOff x="10321925" y="4479131"/>
              <a:chExt cx="215901" cy="242888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0321925" y="447913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0321925" y="451961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321925" y="460057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260330" y="48482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持久化队列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261092" y="51501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+</a:t>
              </a:r>
              <a:endParaRPr lang="en-US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260330" y="5419725"/>
              <a:ext cx="12565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独立 Worker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262235" y="57459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跨进程领取与持久化</a:t>
              </a:r>
              <a:endParaRPr lang="zh-CN" sz="112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554930" y="64589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10</a:t>
            </a:r>
            <a:endParaRPr lang="en-US" sz="1050" dirty="0">
              <a:solidFill>
                <a:srgbClr val="DDEAF2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356235"/>
            <a:ext cx="10491780" cy="733616"/>
            <a:chOff x="500634" y="356235"/>
            <a:chExt cx="10491780" cy="733616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356235"/>
              <a:ext cx="1049178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372 条真实交互事件把门控、定向再调和返回节点完整展开</a:t>
              </a:r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25818"/>
              <a:ext cx="8946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真实任务 run-eaae894d…：L1 门控失败后触发定向补证，完成再调并返回 L1，随后由主控 Agent 重算覆盖。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95300" y="1285875"/>
            <a:ext cx="5334000" cy="1695450"/>
            <a:chOff x="495300" y="1285875"/>
            <a:chExt cx="5334000" cy="1695450"/>
          </a:xfrm>
        </p:grpSpPr>
        <p:sp>
          <p:nvSpPr>
            <p:cNvPr id="5" name="Rectangle 5"/>
            <p:cNvSpPr/>
            <p:nvPr/>
          </p:nvSpPr>
          <p:spPr>
            <a:xfrm>
              <a:off x="495300" y="1285875"/>
              <a:ext cx="5334000" cy="1581150"/>
            </a:xfrm>
            <a:prstGeom prst="roundRect">
              <a:avLst>
                <a:gd name="adj" fmla="val 12048"/>
              </a:avLst>
            </a:prstGeom>
            <a:solidFill>
              <a:srgbClr val="FFFFFF"/>
            </a:solidFill>
            <a:ln w="19050">
              <a:solidFill>
                <a:schemeClr val="accent3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647700" y="1362075"/>
              <a:ext cx="1447800" cy="2476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682391" y="1428274"/>
              <a:ext cx="137841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真实 L1–L4 循环总览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51164" y="1600200"/>
              <a:ext cx="5022273" cy="1381125"/>
            </a:xfrm>
            <a:prstGeom prst="rect">
              <a:avLst/>
            </a:prstGeom>
          </p:spPr>
        </p:pic>
      </p:grpSp>
      <p:grpSp>
        <p:nvGrpSpPr>
          <p:cNvPr id="41" name="Group 41"/>
          <p:cNvGrpSpPr/>
          <p:nvPr/>
        </p:nvGrpSpPr>
        <p:grpSpPr>
          <a:xfrm>
            <a:off x="495300" y="3048000"/>
            <a:ext cx="5334000" cy="3619500"/>
            <a:chOff x="495300" y="3048000"/>
            <a:chExt cx="5334000" cy="3619500"/>
          </a:xfrm>
        </p:grpSpPr>
        <p:sp>
          <p:nvSpPr>
            <p:cNvPr id="10" name="Rectangle 10"/>
            <p:cNvSpPr/>
            <p:nvPr/>
          </p:nvSpPr>
          <p:spPr>
            <a:xfrm>
              <a:off x="495300" y="3048000"/>
              <a:ext cx="5334000" cy="3619500"/>
            </a:xfrm>
            <a:prstGeom prst="roundRect">
              <a:avLst>
                <a:gd name="adj" fmla="val 5789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16280" y="32099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真实运行口径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7239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12062" y="364331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372</a:t>
              </a:r>
              <a:endParaRPr lang="en-US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17067" y="403812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交互事件</a:t>
              </a:r>
              <a:endParaRPr lang="zh-CN" sz="98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621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37773" y="364331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22</a:t>
              </a:r>
              <a:endParaRPr lang="en-US" sz="22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96350" y="4038124"/>
              <a:ext cx="8555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EvidenceCard</a:t>
              </a:r>
              <a:endParaRPr lang="en-US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040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93150" y="3643312"/>
              <a:ext cx="7384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6 / 6</a:t>
              </a:r>
              <a:endParaRPr lang="en-US" sz="22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60892" y="4038124"/>
              <a:ext cx="802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专用 S Agent</a:t>
              </a:r>
              <a:endParaRPr lang="zh-CN" sz="98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4438650" y="3543300"/>
              <a:ext cx="1123950" cy="742950"/>
            </a:xfrm>
            <a:prstGeom prst="roundRect">
              <a:avLst>
                <a:gd name="adj" fmla="val 20513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901734" y="36433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2250" b="1" dirty="0">
                <a:solidFill>
                  <a:srgbClr val="C8791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56083" y="4038124"/>
              <a:ext cx="6890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真实 Recall</a:t>
              </a:r>
              <a:endParaRPr lang="zh-CN" sz="980" dirty="0">
                <a:solidFill>
                  <a:srgbClr val="6E5A3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17042" y="4502468"/>
              <a:ext cx="194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门控—再调—回溯审计链</a:t>
              </a:r>
              <a:endPara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1123950" y="50673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38100">
              <a:solidFill>
                <a:srgbClr val="D7E0EA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95350" y="4838700"/>
              <a:ext cx="457200" cy="457200"/>
            </a:xfrm>
            <a:prstGeom prst="ellipse">
              <a:avLst/>
            </a:prstGeom>
            <a:solidFill>
              <a:srgbClr val="B9474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84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  <a:endPara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Ellipse 28"/>
            <p:cNvSpPr/>
            <p:nvPr/>
          </p:nvSpPr>
          <p:spPr>
            <a:xfrm>
              <a:off x="2171700" y="4838700"/>
              <a:ext cx="457200" cy="457200"/>
            </a:xfrm>
            <a:prstGeom prst="ellipse">
              <a:avLst/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25682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再调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Ellipse 30"/>
            <p:cNvSpPr/>
            <p:nvPr/>
          </p:nvSpPr>
          <p:spPr>
            <a:xfrm>
              <a:off x="3448050" y="4838700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591196" y="5019199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L1</a:t>
              </a:r>
              <a:endParaRPr lang="en-US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Ellipse 32"/>
            <p:cNvSpPr/>
            <p:nvPr/>
          </p:nvSpPr>
          <p:spPr>
            <a:xfrm>
              <a:off x="4705350" y="4838700"/>
              <a:ext cx="457200" cy="457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790473" y="501919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覆盖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085" y="5362099"/>
              <a:ext cx="74173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B94747"/>
                  </a:solidFill>
                  <a:latin typeface="+mn-lt"/>
                  <a:ea typeface="+mn-ea"/>
                  <a:cs typeface="+mn-cs"/>
                </a:rPr>
                <a:t>gate=False</a:t>
              </a:r>
              <a:endParaRPr lang="en-US" sz="980" b="1" dirty="0">
                <a:solidFill>
                  <a:srgbClr val="B94747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1829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定向补证</a:t>
              </a:r>
              <a:endParaRPr lang="zh-CN" sz="98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135635" y="5362099"/>
              <a:ext cx="10820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return_node=L1</a:t>
              </a:r>
              <a:endParaRPr lang="en-US" sz="98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651949" y="5362099"/>
              <a:ext cx="56400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重新计算</a:t>
              </a:r>
              <a:endParaRPr lang="zh-CN" sz="98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23900" y="5753100"/>
              <a:ext cx="4838700" cy="6096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90016" y="5887402"/>
              <a:ext cx="3780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12 个推理节点 · compact 模式显示 80 / 372 个关键事件</a:t>
              </a:r>
              <a:endParaRPr lang="zh-CN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0016" y="6116002"/>
              <a:ext cx="48272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持久化 SSE 支持实时观察、断线重放和事后审计，不暴露原始模型消息。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057900" y="1285875"/>
            <a:ext cx="5638800" cy="2628900"/>
            <a:chOff x="6057900" y="1285875"/>
            <a:chExt cx="5638800" cy="2628900"/>
          </a:xfrm>
        </p:grpSpPr>
        <p:sp>
          <p:nvSpPr>
            <p:cNvPr id="42" name="Rectangle 42"/>
            <p:cNvSpPr/>
            <p:nvPr/>
          </p:nvSpPr>
          <p:spPr>
            <a:xfrm>
              <a:off x="6057900" y="1285875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91250" y="1362075"/>
              <a:ext cx="1790700" cy="247650"/>
            </a:xfrm>
            <a:prstGeom prst="roundRect">
              <a:avLst>
                <a:gd name="adj" fmla="val 50000"/>
              </a:avLst>
            </a:prstGeom>
            <a:solidFill>
              <a:srgbClr val="C87919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47367" y="1428274"/>
              <a:ext cx="16784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L1 门控失败 → 定向再调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7465" y="1600835"/>
              <a:ext cx="5172075" cy="2313940"/>
            </a:xfrm>
            <a:prstGeom prst="rect">
              <a:avLst/>
            </a:prstGeom>
          </p:spPr>
        </p:pic>
      </p:grpSp>
      <p:grpSp>
        <p:nvGrpSpPr>
          <p:cNvPr id="51" name="Group 51"/>
          <p:cNvGrpSpPr/>
          <p:nvPr/>
        </p:nvGrpSpPr>
        <p:grpSpPr>
          <a:xfrm>
            <a:off x="6057900" y="4038600"/>
            <a:ext cx="5638800" cy="2628900"/>
            <a:chOff x="6057900" y="4038600"/>
            <a:chExt cx="5638800" cy="2628900"/>
          </a:xfrm>
        </p:grpSpPr>
        <p:sp>
          <p:nvSpPr>
            <p:cNvPr id="47" name="Rectangle 47"/>
            <p:cNvSpPr/>
            <p:nvPr/>
          </p:nvSpPr>
          <p:spPr>
            <a:xfrm>
              <a:off x="6057900" y="4038600"/>
              <a:ext cx="5638800" cy="2628900"/>
            </a:xfrm>
            <a:prstGeom prst="roundRect">
              <a:avLst>
                <a:gd name="adj" fmla="val 724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191250" y="4114800"/>
              <a:ext cx="2381250" cy="24765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312117" y="4180999"/>
              <a:ext cx="21395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再调完成 → 返回 L1 → 覆盖重算</a:t>
              </a:r>
              <a:endParaRPr lang="zh-CN" sz="9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0" name="Image 5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7465" y="4353560"/>
              <a:ext cx="5172075" cy="2313940"/>
            </a:xfrm>
            <a:prstGeom prst="rect">
              <a:avLst/>
            </a:prstGeom>
          </p:spPr>
        </p:pic>
      </p:grpSp>
      <p:sp>
        <p:nvSpPr>
          <p:cNvPr id="52" name="TextBox 52"/>
          <p:cNvSpPr txBox="1"/>
          <p:nvPr/>
        </p:nvSpPr>
        <p:spPr>
          <a:xfrm>
            <a:off x="11726380" y="66684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0634" y="470535"/>
            <a:ext cx="8931910" cy="830580"/>
            <a:chOff x="500634" y="470535"/>
            <a:chExt cx="8931910" cy="830580"/>
          </a:xfrm>
        </p:grpSpPr>
        <p:sp>
          <p:nvSpPr>
            <p:cNvPr id="2" name="TextBox 2"/>
            <p:cNvSpPr txBox="1"/>
            <p:nvPr/>
          </p:nvSpPr>
          <p:spPr>
            <a:xfrm>
              <a:off x="500634" y="470535"/>
              <a:ext cx="8931910" cy="830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系统把研究结论沉淀为可评审、可追踪、可校验的研究报告</a:t>
              </a:r>
              <a:endParaRPr lang="zh-CN" sz="27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endParaRPr lang="zh-CN" sz="27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921068"/>
              <a:ext cx="60110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真实界面呈现能力成果；多形态交付覆盖甲方评审、过程复核与后续验证。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5" name="Rectangle 5"/>
          <p:cNvSpPr/>
          <p:nvPr/>
        </p:nvSpPr>
        <p:spPr>
          <a:xfrm>
            <a:off x="514350" y="1409700"/>
            <a:ext cx="5753100" cy="4476750"/>
          </a:xfrm>
          <a:prstGeom prst="roundRect">
            <a:avLst>
              <a:gd name="adj" fmla="val 4681"/>
            </a:avLst>
          </a:prstGeom>
          <a:solidFill>
            <a:srgbClr val="FFFFFF"/>
          </a:solidFill>
          <a:ln w="28575">
            <a:solidFill>
              <a:schemeClr val="accent2"/>
            </a:solidFill>
          </a:ln>
        </p:spPr>
      </p:sp>
      <p:grpSp>
        <p:nvGrpSpPr>
          <p:cNvPr id="30" name="Group 30"/>
          <p:cNvGrpSpPr/>
          <p:nvPr/>
        </p:nvGrpSpPr>
        <p:grpSpPr>
          <a:xfrm>
            <a:off x="6705600" y="1409700"/>
            <a:ext cx="4953000" cy="4476750"/>
            <a:chOff x="6705600" y="1409700"/>
            <a:chExt cx="4953000" cy="4476750"/>
          </a:xfrm>
        </p:grpSpPr>
        <p:sp>
          <p:nvSpPr>
            <p:cNvPr id="8" name="Rectangle 8"/>
            <p:cNvSpPr/>
            <p:nvPr/>
          </p:nvSpPr>
          <p:spPr>
            <a:xfrm>
              <a:off x="6705600" y="1409700"/>
              <a:ext cx="4953000" cy="4476750"/>
            </a:xfrm>
            <a:prstGeom prst="roundRect">
              <a:avLst>
                <a:gd name="adj" fmla="val 510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63156" y="16535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成果交付矩阵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6972300" y="2095500"/>
              <a:ext cx="4419600" cy="3371850"/>
              <a:chOff x="6972300" y="2095500"/>
              <a:chExt cx="4419600" cy="33718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972300" y="20955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9182100" y="20955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972300" y="28003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182100" y="28003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6972300" y="350520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9182100" y="350520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972300" y="4210050"/>
                <a:ext cx="203835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9182100" y="4210050"/>
                <a:ext cx="2209800" cy="552450"/>
              </a:xfrm>
              <a:prstGeom prst="roundRect">
                <a:avLst>
                  <a:gd name="adj" fmla="val 27586"/>
                </a:avLst>
              </a:prstGeom>
              <a:solidFill>
                <a:srgbClr val="FFFFFF">
                  <a:alpha val="12000"/>
                </a:srgbClr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8058150" y="4914900"/>
                <a:ext cx="2247900" cy="552450"/>
              </a:xfrm>
              <a:prstGeom prst="roundRect">
                <a:avLst>
                  <a:gd name="adj" fmla="val 27586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29" name="Group 29"/>
            <p:cNvGrpSpPr/>
            <p:nvPr/>
          </p:nvGrpSpPr>
          <p:grpSpPr>
            <a:xfrm>
              <a:off x="7174230" y="2276475"/>
              <a:ext cx="3073146" cy="3093085"/>
              <a:chOff x="7174230" y="2276475"/>
              <a:chExt cx="3073146" cy="3093085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71742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深度报告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384030" y="22764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需求卡片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174230" y="2981325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能力全景图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84030" y="29813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成果画像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1742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推理追溯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9384030" y="368617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证据索引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1742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质量门控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9384030" y="4391025"/>
                <a:ext cx="8633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交互审计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249285" y="5017770"/>
                <a:ext cx="1715770" cy="3517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交付 Manifest</a:t>
                </a:r>
                <a:endPara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39" name="Group 39"/>
          <p:cNvGrpSpPr/>
          <p:nvPr/>
        </p:nvGrpSpPr>
        <p:grpSpPr>
          <a:xfrm>
            <a:off x="1752600" y="6047740"/>
            <a:ext cx="7943850" cy="381000"/>
            <a:chOff x="3371850" y="6096000"/>
            <a:chExt cx="7943850" cy="381000"/>
          </a:xfrm>
        </p:grpSpPr>
        <p:sp>
          <p:nvSpPr>
            <p:cNvPr id="33" name="Rectangle 33"/>
            <p:cNvSpPr/>
            <p:nvPr/>
          </p:nvSpPr>
          <p:spPr>
            <a:xfrm>
              <a:off x="337185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875121" y="6206014"/>
              <a:ext cx="12794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项目过程可回溯</a:t>
              </a:r>
              <a:endParaRPr lang="zh-CN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867400" y="6096000"/>
              <a:ext cx="2286000" cy="381000"/>
            </a:xfrm>
            <a:prstGeom prst="roundRect">
              <a:avLst>
                <a:gd name="adj" fmla="val 50000"/>
              </a:avLst>
            </a:prstGeom>
            <a:solidFill>
              <a:srgbClr val="FFF3D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461135" y="6206014"/>
              <a:ext cx="10985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交付包可校验</a:t>
              </a:r>
              <a:endParaRPr lang="zh-CN" sz="128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62950" y="6096000"/>
              <a:ext cx="2952750" cy="3810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837737" y="6206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下一阶段可验证、可迭代</a:t>
              </a:r>
              <a:endParaRPr lang="zh-CN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05" y="1608455"/>
            <a:ext cx="5419090" cy="3829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20446" y="410528"/>
            <a:ext cx="10706800" cy="736473"/>
            <a:chOff x="520446" y="410528"/>
            <a:chExt cx="10706800" cy="736473"/>
          </a:xfrm>
        </p:grpSpPr>
        <p:sp>
          <p:nvSpPr>
            <p:cNvPr id="2" name="TextBox 2"/>
            <p:cNvSpPr txBox="1"/>
            <p:nvPr/>
          </p:nvSpPr>
          <p:spPr>
            <a:xfrm>
              <a:off x="520446" y="410528"/>
              <a:ext cx="1070680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正式 Benchmark：专家筛选约 100 条 Deep Research Query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6542" y="882968"/>
              <a:ext cx="80595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480 条保留为候选题库，不直接全部运行；正式集强调专家筛选、A–H 全分支覆盖与可复核性。</a:t>
              </a:r>
              <a:endPara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52550"/>
            <a:ext cx="2000250" cy="2209800"/>
            <a:chOff x="533400" y="1352550"/>
            <a:chExt cx="2000250" cy="2209800"/>
          </a:xfrm>
        </p:grpSpPr>
        <p:sp>
          <p:nvSpPr>
            <p:cNvPr id="5" name="Rectangle 5"/>
            <p:cNvSpPr/>
            <p:nvPr/>
          </p:nvSpPr>
          <p:spPr>
            <a:xfrm>
              <a:off x="533400" y="1352550"/>
              <a:ext cx="2000250" cy="22098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6" name="Rectangle 6"/>
            <p:cNvSpPr/>
            <p:nvPr/>
          </p:nvSpPr>
          <p:spPr>
            <a:xfrm>
              <a:off x="723900" y="1543050"/>
              <a:ext cx="800100" cy="2857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78612" y="16135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候选题库</a:t>
              </a:r>
              <a:endParaRPr lang="zh-CN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2063750" y="1564481"/>
              <a:ext cx="215901" cy="242888"/>
              <a:chOff x="2063750" y="1564481"/>
              <a:chExt cx="215901" cy="242888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2063750" y="1564481"/>
                <a:ext cx="215901" cy="80963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80963">
                    <a:moveTo>
                      <a:pt x="0" y="40481"/>
                    </a:moveTo>
                    <a:cubicBezTo>
                      <a:pt x="0" y="62839"/>
                      <a:pt x="48331" y="80963"/>
                      <a:pt x="107950" y="80963"/>
                    </a:cubicBezTo>
                    <a:cubicBezTo>
                      <a:pt x="167570" y="80963"/>
                      <a:pt x="215901" y="62839"/>
                      <a:pt x="215901" y="40481"/>
                    </a:cubicBezTo>
                    <a:cubicBezTo>
                      <a:pt x="215901" y="18124"/>
                      <a:pt x="167570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063750" y="1604963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063750" y="1685925"/>
                <a:ext cx="215901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1" h="121444">
                    <a:moveTo>
                      <a:pt x="0" y="0"/>
                    </a:moveTo>
                    <a:lnTo>
                      <a:pt x="0" y="80963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70" y="121444"/>
                      <a:pt x="215901" y="103320"/>
                      <a:pt x="215901" y="80963"/>
                    </a:cubicBezTo>
                    <a:lnTo>
                      <a:pt x="215901" y="0"/>
                    </a:lnTo>
                  </a:path>
                </a:pathLst>
              </a:custGeom>
              <a:noFill/>
              <a:ln w="26988">
                <a:solidFill>
                  <a:schemeClr val="accent1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632781" y="2009775"/>
              <a:ext cx="1801495" cy="4616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候选</a:t>
              </a:r>
              <a:r>
                <a:rPr lang="en-US" altLang="zh-CN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query</a:t>
              </a:r>
              <a:endParaRPr lang="zh-CN" sz="30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70029" y="2505075"/>
              <a:ext cx="127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14426" y="2842260"/>
              <a:ext cx="8382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A–H 每分支 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2950" y="3143250"/>
              <a:ext cx="1581150" cy="26670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08726" y="3220402"/>
              <a:ext cx="10495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87919"/>
                  </a:solidFill>
                  <a:latin typeface="+mn-lt"/>
                  <a:ea typeface="+mn-ea"/>
                  <a:cs typeface="+mn-cs"/>
                </a:rPr>
                <a:t>不直接全部运行</a:t>
              </a:r>
              <a:endParaRPr lang="zh-CN" sz="1050" b="1" dirty="0">
                <a:solidFill>
                  <a:srgbClr val="C87919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914650" y="1352550"/>
            <a:ext cx="2286000" cy="2209800"/>
            <a:chOff x="2914650" y="1352550"/>
            <a:chExt cx="2286000" cy="2209800"/>
          </a:xfrm>
        </p:grpSpPr>
        <p:sp>
          <p:nvSpPr>
            <p:cNvPr id="18" name="Rectangle 18"/>
            <p:cNvSpPr/>
            <p:nvPr/>
          </p:nvSpPr>
          <p:spPr>
            <a:xfrm>
              <a:off x="2914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05150" y="1543050"/>
              <a:ext cx="1143000" cy="285750"/>
            </a:xfrm>
            <a:prstGeom prst="roundRect">
              <a:avLst>
                <a:gd name="adj" fmla="val 50000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076880" y="16135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专家筛选与标注</a:t>
              </a:r>
              <a:endParaRPr lang="zh-CN" sz="1200" b="1" dirty="0">
                <a:solidFill>
                  <a:srgbClr val="174D79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717256" y="1564481"/>
              <a:ext cx="242888" cy="242888"/>
              <a:chOff x="4717256" y="1564481"/>
              <a:chExt cx="242888" cy="242888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811713" y="1672432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84725" y="1766888"/>
                <a:ext cx="107950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80963" y="0"/>
                    </a:lnTo>
                    <a:cubicBezTo>
                      <a:pt x="95868" y="0"/>
                      <a:pt x="107950" y="12083"/>
                      <a:pt x="107950" y="26988"/>
                    </a:cubicBezTo>
                    <a:lnTo>
                      <a:pt x="107950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879182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06169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0"/>
                    </a:moveTo>
                    <a:lnTo>
                      <a:pt x="26988" y="0"/>
                    </a:lnTo>
                    <a:cubicBezTo>
                      <a:pt x="41892" y="0"/>
                      <a:pt x="53975" y="12083"/>
                      <a:pt x="53975" y="26988"/>
                    </a:cubicBezTo>
                    <a:lnTo>
                      <a:pt x="53975" y="40481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744244" y="15644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717256" y="1658938"/>
                <a:ext cx="5397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40481">
                    <a:moveTo>
                      <a:pt x="0" y="40481"/>
                    </a:move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26988">
                <a:solidFill>
                  <a:schemeClr val="accent3"/>
                </a:solidFill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3124200" y="2057400"/>
              <a:ext cx="1866900" cy="323850"/>
            </a:xfrm>
            <a:prstGeom prst="roundRect">
              <a:avLst>
                <a:gd name="adj" fmla="val 35294"/>
              </a:avLst>
            </a:prstGeom>
            <a:solidFill>
              <a:srgbClr val="E7F6F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22029" y="2146935"/>
              <a:ext cx="10712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多源深研</a:t>
              </a:r>
              <a:r>
                <a:rPr lang="zh-CN" sz="12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的必要</a:t>
              </a:r>
              <a:endParaRPr lang="zh-CN" sz="1200" b="1" dirty="0">
                <a:solidFill>
                  <a:srgbClr val="174D7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57550" y="2476500"/>
              <a:ext cx="1733550" cy="323850"/>
            </a:xfrm>
            <a:prstGeom prst="roundRect">
              <a:avLst>
                <a:gd name="adj" fmla="val 35294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39744" y="2566035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业务相关且可复核</a:t>
              </a:r>
              <a:endParaRPr lang="zh-CN" sz="1200" b="1" dirty="0">
                <a:solidFill>
                  <a:srgbClr val="1F715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3390900" y="2895600"/>
              <a:ext cx="1600200" cy="323850"/>
            </a:xfrm>
            <a:prstGeom prst="roundRect">
              <a:avLst>
                <a:gd name="adj" fmla="val 35294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3591230" y="298513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标注完整且安全</a:t>
              </a:r>
              <a:endParaRPr lang="zh-CN" sz="120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105264" y="3306128"/>
              <a:ext cx="19047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剔除简单问答与不可核 Query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581650" y="1352550"/>
            <a:ext cx="2286000" cy="2209800"/>
            <a:chOff x="5581650" y="1352550"/>
            <a:chExt cx="2286000" cy="2209800"/>
          </a:xfrm>
        </p:grpSpPr>
        <p:sp>
          <p:nvSpPr>
            <p:cNvPr id="36" name="Rectangle 36"/>
            <p:cNvSpPr/>
            <p:nvPr/>
          </p:nvSpPr>
          <p:spPr>
            <a:xfrm>
              <a:off x="5581650" y="1352550"/>
              <a:ext cx="2286000" cy="2209800"/>
            </a:xfrm>
            <a:prstGeom prst="roundRect">
              <a:avLst>
                <a:gd name="adj" fmla="val 86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1543050"/>
              <a:ext cx="1066800" cy="28575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875401" y="1613535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正式评测集</a:t>
              </a:r>
              <a:endParaRPr lang="zh-CN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43" name="Group 43"/>
            <p:cNvGrpSpPr/>
            <p:nvPr/>
          </p:nvGrpSpPr>
          <p:grpSpPr>
            <a:xfrm>
              <a:off x="7384256" y="1577975"/>
              <a:ext cx="242889" cy="225426"/>
              <a:chOff x="7384256" y="1577975"/>
              <a:chExt cx="242889" cy="2254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4256" y="1685925"/>
                <a:ext cx="80963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07950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94456"/>
                    </a:lnTo>
                    <a:cubicBezTo>
                      <a:pt x="80963" y="101909"/>
                      <a:pt x="74921" y="107950"/>
                      <a:pt x="67469" y="107950"/>
                    </a:cubicBezTo>
                    <a:lnTo>
                      <a:pt x="13494" y="107950"/>
                    </a:lnTo>
                    <a:cubicBezTo>
                      <a:pt x="6041" y="107950"/>
                      <a:pt x="0" y="101909"/>
                      <a:pt x="0" y="94456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546182" y="1631950"/>
                <a:ext cx="80963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161925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148432"/>
                    </a:lnTo>
                    <a:cubicBezTo>
                      <a:pt x="80963" y="155884"/>
                      <a:pt x="74921" y="161925"/>
                      <a:pt x="67469" y="161925"/>
                    </a:cubicBezTo>
                    <a:lnTo>
                      <a:pt x="13494" y="161925"/>
                    </a:lnTo>
                    <a:cubicBezTo>
                      <a:pt x="6041" y="161925"/>
                      <a:pt x="0" y="155884"/>
                      <a:pt x="0" y="148432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465219" y="1577975"/>
                <a:ext cx="80963" cy="21590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215901">
                    <a:moveTo>
                      <a:pt x="0" y="13494"/>
                    </a:moveTo>
                    <a:cubicBezTo>
                      <a:pt x="0" y="6041"/>
                      <a:pt x="6041" y="0"/>
                      <a:pt x="13494" y="0"/>
                    </a:cubicBezTo>
                    <a:lnTo>
                      <a:pt x="67469" y="0"/>
                    </a:lnTo>
                    <a:cubicBezTo>
                      <a:pt x="74921" y="0"/>
                      <a:pt x="80963" y="6041"/>
                      <a:pt x="80963" y="13494"/>
                    </a:cubicBezTo>
                    <a:lnTo>
                      <a:pt x="80963" y="202407"/>
                    </a:lnTo>
                    <a:cubicBezTo>
                      <a:pt x="80963" y="209859"/>
                      <a:pt x="74921" y="215901"/>
                      <a:pt x="67469" y="215901"/>
                    </a:cubicBezTo>
                    <a:lnTo>
                      <a:pt x="13494" y="215901"/>
                    </a:lnTo>
                    <a:cubicBezTo>
                      <a:pt x="6041" y="215901"/>
                      <a:pt x="0" y="209859"/>
                      <a:pt x="0" y="202407"/>
                    </a:cubicBezTo>
                    <a:lnTo>
                      <a:pt x="0" y="13494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397750" y="1793876"/>
                <a:ext cx="18891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9525">
                    <a:moveTo>
                      <a:pt x="0" y="0"/>
                    </a:moveTo>
                    <a:lnTo>
                      <a:pt x="188913" y="0"/>
                    </a:lnTo>
                  </a:path>
                </a:pathLst>
              </a:custGeom>
              <a:noFill/>
              <a:ln w="26988">
                <a:solidFill>
                  <a:schemeClr val="accent2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5808297" y="2009775"/>
              <a:ext cx="183270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约 100 条</a:t>
              </a:r>
              <a:endParaRPr lang="zh-CN" sz="30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630247" y="2514600"/>
              <a:ext cx="2188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Deep Research Query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30062" y="2851785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最终数量以专家终审为准</a:t>
              </a:r>
              <a:endParaRPr lang="zh-CN" sz="12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86450" y="3143250"/>
              <a:ext cx="167640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903014" y="3220402"/>
              <a:ext cx="16432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全链路、全分支正式测试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8248650" y="1352550"/>
            <a:ext cx="3409950" cy="2209800"/>
            <a:chOff x="8248650" y="1352550"/>
            <a:chExt cx="3409950" cy="2209800"/>
          </a:xfrm>
        </p:grpSpPr>
        <p:sp>
          <p:nvSpPr>
            <p:cNvPr id="50" name="Rectangle 50"/>
            <p:cNvSpPr/>
            <p:nvPr/>
          </p:nvSpPr>
          <p:spPr>
            <a:xfrm>
              <a:off x="8248650" y="1352550"/>
              <a:ext cx="3409950" cy="2209800"/>
            </a:xfrm>
            <a:prstGeom prst="roundRect">
              <a:avLst>
                <a:gd name="adj" fmla="val 8621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8439150" y="1543050"/>
              <a:ext cx="1276350" cy="285750"/>
            </a:xfrm>
            <a:prstGeom prst="roundRect">
              <a:avLst>
                <a:gd name="adj" fmla="val 5000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448431" y="1613535"/>
              <a:ext cx="125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A–H 全分支测试</a:t>
              </a:r>
              <a:endParaRPr lang="zh-CN" sz="1200" b="1" dirty="0">
                <a:solidFill>
                  <a:srgbClr val="1F7156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59" name="Group 59"/>
            <p:cNvGrpSpPr/>
            <p:nvPr/>
          </p:nvGrpSpPr>
          <p:grpSpPr>
            <a:xfrm>
              <a:off x="11202194" y="1577975"/>
              <a:ext cx="202407" cy="215901"/>
              <a:chOff x="11202194" y="1577975"/>
              <a:chExt cx="202407" cy="21590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1202194" y="173990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1202194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1337132" y="1577975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8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8"/>
                    </a:cubicBez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229181" y="1631950"/>
                <a:ext cx="95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950">
                    <a:moveTo>
                      <a:pt x="0" y="0"/>
                    </a:moveTo>
                    <a:lnTo>
                      <a:pt x="0" y="10795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1256169" y="1672432"/>
                <a:ext cx="107950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4456">
                    <a:moveTo>
                      <a:pt x="0" y="94456"/>
                    </a:moveTo>
                    <a:lnTo>
                      <a:pt x="80963" y="94456"/>
                    </a:lnTo>
                    <a:cubicBezTo>
                      <a:pt x="95868" y="94456"/>
                      <a:pt x="107950" y="82374"/>
                      <a:pt x="107950" y="67469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23638" y="1672432"/>
                <a:ext cx="80963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40481">
                    <a:moveTo>
                      <a:pt x="0" y="40481"/>
                    </a:moveTo>
                    <a:lnTo>
                      <a:pt x="40481" y="0"/>
                    </a:lnTo>
                    <a:lnTo>
                      <a:pt x="80963" y="40481"/>
                    </a:lnTo>
                  </a:path>
                </a:pathLst>
              </a:custGeom>
              <a:noFill/>
              <a:ln w="26988">
                <a:solidFill>
                  <a:schemeClr val="accent6"/>
                </a:solidFill>
              </a:ln>
            </p:spPr>
          </p:sp>
        </p:grpSp>
        <p:sp>
          <p:nvSpPr>
            <p:cNvPr id="60" name="Rectangle 60"/>
            <p:cNvSpPr/>
            <p:nvPr/>
          </p:nvSpPr>
          <p:spPr>
            <a:xfrm>
              <a:off x="8458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12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9220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9474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en-US" sz="1500" b="1" dirty="0">
                <a:solidFill>
                  <a:srgbClr val="174D7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982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236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en-US" sz="1500" b="1" dirty="0">
                <a:solidFill>
                  <a:srgbClr val="1F715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0744200" y="203835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998822" y="216217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en-US" sz="150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458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12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E</a:t>
              </a:r>
              <a:endParaRPr lang="en-US" sz="150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220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474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F</a:t>
              </a:r>
              <a:endParaRPr lang="en-US" sz="1500" b="1" dirty="0">
                <a:solidFill>
                  <a:srgbClr val="1F715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9982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rgbClr val="DFF0F3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236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174D79"/>
                  </a:solidFill>
                  <a:latin typeface="+mn-lt"/>
                  <a:ea typeface="+mn-ea"/>
                  <a:cs typeface="+mn-cs"/>
                </a:rPr>
                <a:t>G</a:t>
              </a:r>
              <a:endParaRPr lang="en-US" sz="1500" b="1" dirty="0">
                <a:solidFill>
                  <a:srgbClr val="174D79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744200" y="2628900"/>
              <a:ext cx="647700" cy="457200"/>
            </a:xfrm>
            <a:prstGeom prst="roundRect">
              <a:avLst>
                <a:gd name="adj" fmla="val 291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998822" y="2752725"/>
              <a:ext cx="1384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</a:t>
              </a:r>
              <a:endParaRPr lang="en-US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069739" y="3242310"/>
              <a:ext cx="17677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预计每分支约 12–13 条</a:t>
              </a:r>
              <a:endParaRPr lang="zh-CN" sz="120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2625259" y="2290762"/>
            <a:ext cx="5531782" cy="440055"/>
            <a:chOff x="2625259" y="2290762"/>
            <a:chExt cx="5531782" cy="440055"/>
          </a:xfrm>
        </p:grpSpPr>
        <p:sp>
          <p:nvSpPr>
            <p:cNvPr id="78" name="TextBox 78"/>
            <p:cNvSpPr txBox="1"/>
            <p:nvPr/>
          </p:nvSpPr>
          <p:spPr>
            <a:xfrm>
              <a:off x="2625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92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7959259" y="229076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22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533400" y="3790950"/>
            <a:ext cx="5276850" cy="2305050"/>
            <a:chOff x="533400" y="3790950"/>
            <a:chExt cx="5276850" cy="2305050"/>
          </a:xfrm>
        </p:grpSpPr>
        <p:sp>
          <p:nvSpPr>
            <p:cNvPr id="82" name="Rectangle 82"/>
            <p:cNvSpPr/>
            <p:nvPr/>
          </p:nvSpPr>
          <p:spPr>
            <a:xfrm>
              <a:off x="533400" y="3790950"/>
              <a:ext cx="5276850" cy="2305050"/>
            </a:xfrm>
            <a:prstGeom prst="roundRect">
              <a:avLst>
                <a:gd name="adj" fmla="val 8264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825500" y="4032250"/>
              <a:ext cx="190500" cy="215899"/>
              <a:chOff x="825500" y="4032250"/>
              <a:chExt cx="190500" cy="215899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825500" y="4032250"/>
                <a:ext cx="152400" cy="203199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203199">
                    <a:moveTo>
                      <a:pt x="58610" y="203199"/>
                    </a:moveTo>
                    <a:lnTo>
                      <a:pt x="25400" y="203199"/>
                    </a:lnTo>
                    <a:cubicBezTo>
                      <a:pt x="11372" y="203199"/>
                      <a:pt x="0" y="191828"/>
                      <a:pt x="0" y="1778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12700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939800" y="4197349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876300" y="4083050"/>
                <a:ext cx="50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9525">
                    <a:moveTo>
                      <a:pt x="0" y="0"/>
                    </a:moveTo>
                    <a:lnTo>
                      <a:pt x="508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876300" y="4133850"/>
                <a:ext cx="25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9525">
                    <a:moveTo>
                      <a:pt x="0" y="0"/>
                    </a:moveTo>
                    <a:lnTo>
                      <a:pt x="25400" y="0"/>
                    </a:lnTo>
                  </a:path>
                </a:pathLst>
              </a:custGeom>
              <a:noFill/>
              <a:ln w="25400">
                <a:solidFill>
                  <a:schemeClr val="accent3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1192149" y="4040029"/>
              <a:ext cx="805180" cy="2425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入选门槛</a:t>
              </a:r>
              <a:endParaRPr lang="zh-CN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9" name="Ellipse 89"/>
            <p:cNvSpPr/>
            <p:nvPr/>
          </p:nvSpPr>
          <p:spPr>
            <a:xfrm>
              <a:off x="742950" y="4495800"/>
              <a:ext cx="266700" cy="26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830151" y="45729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US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36904" y="4556760"/>
              <a:ext cx="4007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 Research 必要：多源检索 / 跨源综合 / 机理分析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2" name="Ellipse 92"/>
            <p:cNvSpPr/>
            <p:nvPr/>
          </p:nvSpPr>
          <p:spPr>
            <a:xfrm>
              <a:off x="742950" y="489585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830151" y="49730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US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36904" y="4956810"/>
              <a:ext cx="34686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业务相关：服务 JS 装备能力—需求分析与决策</a:t>
              </a:r>
              <a:endParaRPr lang="zh-CN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12800" y="5373052"/>
              <a:ext cx="1270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endParaRPr lang="en-US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533400" y="6210300"/>
            <a:ext cx="10668000" cy="361950"/>
            <a:chOff x="533400" y="6210300"/>
            <a:chExt cx="10668000" cy="361950"/>
          </a:xfrm>
        </p:grpSpPr>
        <p:sp>
          <p:nvSpPr>
            <p:cNvPr id="120" name="Rectangle 120"/>
            <p:cNvSpPr/>
            <p:nvPr/>
          </p:nvSpPr>
          <p:spPr>
            <a:xfrm>
              <a:off x="533400" y="6210300"/>
              <a:ext cx="10668000" cy="361950"/>
            </a:xfrm>
            <a:prstGeom prst="roundRect">
              <a:avLst>
                <a:gd name="adj" fmla="val 50000"/>
              </a:avLst>
            </a:prstGeom>
            <a:solidFill>
              <a:srgbClr val="FFF4E2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755904" y="6318885"/>
              <a:ext cx="65341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不入选：简单事实问答 · 短检索即可回答 · 缺乏公开可核材料 · 越界或不安全操作请求</a:t>
              </a:r>
              <a:endParaRPr lang="zh-CN" sz="120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3" name="TextBox 123"/>
          <p:cNvSpPr txBox="1"/>
          <p:nvPr/>
        </p:nvSpPr>
        <p:spPr>
          <a:xfrm>
            <a:off x="11478730" y="649700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15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125" name="Group 125"/>
          <p:cNvGrpSpPr/>
          <p:nvPr/>
        </p:nvGrpSpPr>
        <p:grpSpPr>
          <a:xfrm>
            <a:off x="6000750" y="3790950"/>
            <a:ext cx="5657850" cy="2305050"/>
            <a:chOff x="6000750" y="3790950"/>
            <a:chExt cx="5657850" cy="2305050"/>
          </a:xfrm>
        </p:grpSpPr>
        <p:sp>
          <p:nvSpPr>
            <p:cNvPr id="124" name="Rectangle 102"/>
            <p:cNvSpPr/>
            <p:nvPr/>
          </p:nvSpPr>
          <p:spPr>
            <a:xfrm>
              <a:off x="6000750" y="3790950"/>
              <a:ext cx="5657850" cy="2305050"/>
            </a:xfrm>
            <a:prstGeom prst="roundRect">
              <a:avLst>
                <a:gd name="adj" fmla="val 826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6" name="TextBox 103"/>
            <p:cNvSpPr txBox="1"/>
            <p:nvPr/>
          </p:nvSpPr>
          <p:spPr>
            <a:xfrm>
              <a:off x="6259449" y="4001929"/>
              <a:ext cx="357054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Pairwise 对比方法｜匿名 A/B 盲评</a:t>
              </a:r>
              <a:endParaRPr lang="zh-CN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7" name="Rectangle 104"/>
            <p:cNvSpPr/>
            <p:nvPr/>
          </p:nvSpPr>
          <p:spPr>
            <a:xfrm>
              <a:off x="6267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28" name="TextBox 105"/>
            <p:cNvSpPr txBox="1"/>
            <p:nvPr/>
          </p:nvSpPr>
          <p:spPr>
            <a:xfrm>
              <a:off x="6443520" y="4458652"/>
              <a:ext cx="752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识别主路径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9" name="TextBox 106"/>
            <p:cNvSpPr txBox="1"/>
            <p:nvPr/>
          </p:nvSpPr>
          <p:spPr>
            <a:xfrm>
              <a:off x="6447092" y="4665345"/>
              <a:ext cx="74561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A–H / OTHER</a:t>
              </a:r>
              <a:endParaRPr lang="en-US" sz="9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0" name="TextBox 107"/>
            <p:cNvSpPr txBox="1"/>
            <p:nvPr/>
          </p:nvSpPr>
          <p:spPr>
            <a:xfrm>
              <a:off x="7420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1" name="Rectangle 108"/>
            <p:cNvSpPr/>
            <p:nvPr/>
          </p:nvSpPr>
          <p:spPr>
            <a:xfrm>
              <a:off x="76009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rgbClr val="FFFFFF">
                <a:alpha val="14000"/>
              </a:srgbClr>
            </a:solidFill>
            <a:ln>
              <a:noFill/>
            </a:ln>
          </p:spPr>
        </p:sp>
        <p:sp>
          <p:nvSpPr>
            <p:cNvPr id="132" name="TextBox 109"/>
            <p:cNvSpPr txBox="1"/>
            <p:nvPr/>
          </p:nvSpPr>
          <p:spPr>
            <a:xfrm>
              <a:off x="7702810" y="4458652"/>
              <a:ext cx="9011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检查规定产物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3" name="TextBox 110"/>
            <p:cNvSpPr txBox="1"/>
            <p:nvPr/>
          </p:nvSpPr>
          <p:spPr>
            <a:xfrm>
              <a:off x="7612513" y="4665345"/>
              <a:ext cx="108177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complete / partial</a:t>
              </a:r>
              <a:endParaRPr lang="en-US" sz="9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4" name="TextBox 111"/>
            <p:cNvSpPr txBox="1"/>
            <p:nvPr/>
          </p:nvSpPr>
          <p:spPr>
            <a:xfrm>
              <a:off x="87542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5" name="Rectangle 112"/>
            <p:cNvSpPr/>
            <p:nvPr/>
          </p:nvSpPr>
          <p:spPr>
            <a:xfrm>
              <a:off x="8934450" y="4362450"/>
              <a:ext cx="1104900" cy="4953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6" name="TextBox 113"/>
            <p:cNvSpPr txBox="1"/>
            <p:nvPr/>
          </p:nvSpPr>
          <p:spPr>
            <a:xfrm>
              <a:off x="9003266" y="4458652"/>
              <a:ext cx="967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九维 Pairwise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7" name="TextBox 114"/>
            <p:cNvSpPr txBox="1"/>
            <p:nvPr/>
          </p:nvSpPr>
          <p:spPr>
            <a:xfrm>
              <a:off x="9184775" y="4665345"/>
              <a:ext cx="60425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dirty="0">
                  <a:solidFill>
                    <a:srgbClr val="DDF3FA"/>
                  </a:solidFill>
                  <a:latin typeface="+mn-lt"/>
                  <a:ea typeface="+mn-ea"/>
                  <a:cs typeface="+mn-cs"/>
                </a:rPr>
                <a:t>A / B / tie</a:t>
              </a:r>
              <a:endParaRPr lang="en-US" sz="900" dirty="0">
                <a:solidFill>
                  <a:srgbClr val="DDF3FA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8" name="TextBox 115"/>
            <p:cNvSpPr txBox="1"/>
            <p:nvPr/>
          </p:nvSpPr>
          <p:spPr>
            <a:xfrm>
              <a:off x="10087723" y="45148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endParaRPr lang="en-US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9" name="Rectangle 116"/>
            <p:cNvSpPr/>
            <p:nvPr/>
          </p:nvSpPr>
          <p:spPr>
            <a:xfrm>
              <a:off x="10267950" y="4362450"/>
              <a:ext cx="1123950" cy="495300"/>
            </a:xfrm>
            <a:prstGeom prst="roundRect">
              <a:avLst>
                <a:gd name="adj" fmla="val 26923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40" name="TextBox 117"/>
            <p:cNvSpPr txBox="1"/>
            <p:nvPr/>
          </p:nvSpPr>
          <p:spPr>
            <a:xfrm>
              <a:off x="10527754" y="4458652"/>
              <a:ext cx="6043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输出结果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1" name="TextBox 118"/>
            <p:cNvSpPr txBox="1"/>
            <p:nvPr/>
          </p:nvSpPr>
          <p:spPr>
            <a:xfrm>
              <a:off x="10452602" y="4665345"/>
              <a:ext cx="75464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E9F6F1"/>
                  </a:solidFill>
                  <a:latin typeface="+mn-lt"/>
                  <a:ea typeface="+mn-ea"/>
                  <a:cs typeface="+mn-cs"/>
                </a:rPr>
                <a:t>置信度 + 仲裁</a:t>
              </a:r>
              <a:endParaRPr lang="zh-CN" sz="900" dirty="0">
                <a:solidFill>
                  <a:srgbClr val="E9F6F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2" name="TextBox 119"/>
            <p:cNvSpPr txBox="1"/>
            <p:nvPr/>
          </p:nvSpPr>
          <p:spPr>
            <a:xfrm>
              <a:off x="6261354" y="5013960"/>
              <a:ext cx="15642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五项核心维度各 15%</a:t>
              </a:r>
              <a:endParaRPr lang="zh-CN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3" name="TextBox 120"/>
            <p:cNvSpPr txBox="1"/>
            <p:nvPr/>
          </p:nvSpPr>
          <p:spPr>
            <a:xfrm>
              <a:off x="7900416" y="5030152"/>
              <a:ext cx="34879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任务完成 · 证据事实 · 机理深度 · 军事价值 · 能力映射</a:t>
              </a:r>
              <a:endParaRPr lang="zh-CN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4" name="TextBox 121"/>
            <p:cNvSpPr txBox="1"/>
            <p:nvPr/>
          </p:nvSpPr>
          <p:spPr>
            <a:xfrm>
              <a:off x="6262116" y="5315902"/>
              <a:ext cx="47741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不按篇幅、术语密度、标题数量或引用数量加分；核心质量实质相当才判 tie</a:t>
              </a:r>
              <a:endParaRPr lang="zh-CN" sz="105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5" name="Line 122"/>
            <p:cNvSpPr/>
            <p:nvPr/>
          </p:nvSpPr>
          <p:spPr>
            <a:xfrm>
              <a:off x="6267450" y="5581650"/>
              <a:ext cx="5124450" cy="9525"/>
            </a:xfrm>
            <a:custGeom>
              <a:avLst/>
              <a:gdLst/>
              <a:ahLst/>
              <a:cxnLst/>
              <a:rect l="l" t="t" r="r" b="b"/>
              <a:pathLst>
                <a:path w="5124450" h="9525">
                  <a:moveTo>
                    <a:pt x="0" y="0"/>
                  </a:moveTo>
                  <a:lnTo>
                    <a:pt x="5124450" y="0"/>
                  </a:lnTo>
                </a:path>
              </a:pathLst>
            </a:custGeom>
            <a:noFill/>
            <a:ln w="9525">
              <a:solidFill>
                <a:srgbClr val="DDEAF2">
                  <a:alpha val="35000"/>
                </a:srgbClr>
              </a:solidFill>
            </a:ln>
          </p:spPr>
        </p:sp>
        <p:sp>
          <p:nvSpPr>
            <p:cNvPr id="146" name="Rectangle 123"/>
            <p:cNvSpPr/>
            <p:nvPr/>
          </p:nvSpPr>
          <p:spPr>
            <a:xfrm>
              <a:off x="6267450" y="5695950"/>
              <a:ext cx="5124450" cy="2667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7" name="TextBox 124"/>
            <p:cNvSpPr txBox="1"/>
            <p:nvPr/>
          </p:nvSpPr>
          <p:spPr>
            <a:xfrm>
              <a:off x="7058160" y="5773102"/>
              <a:ext cx="35430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置信度 &lt; 0.65 · 引用待核 · 核心优势分化 → 人工仲裁</a:t>
              </a:r>
              <a:endParaRPr lang="zh-CN" sz="10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01396" y="277178"/>
            <a:ext cx="5126546" cy="986409"/>
            <a:chOff x="501396" y="277178"/>
            <a:chExt cx="5126546" cy="986409"/>
          </a:xfrm>
        </p:grpSpPr>
        <p:sp>
          <p:nvSpPr>
            <p:cNvPr id="2" name="TextBox 2"/>
            <p:cNvSpPr txBox="1"/>
            <p:nvPr/>
          </p:nvSpPr>
          <p:spPr>
            <a:xfrm>
              <a:off x="501396" y="277178"/>
              <a:ext cx="5126546" cy="84162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255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真实专家盲评验证七项专业优势，证据维度需结合正文展示口径解释</a:t>
              </a:r>
              <a:endParaRPr lang="zh-CN" sz="255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28066" y="1058228"/>
              <a:ext cx="49925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条专业 Query · 57/57 完成 · 2 名真实专家 Judge · 评测日期 2026-07-22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33400" y="1276350"/>
            <a:ext cx="3848100" cy="928307"/>
            <a:chOff x="533400" y="1276350"/>
            <a:chExt cx="3848100" cy="928307"/>
          </a:xfrm>
        </p:grpSpPr>
        <p:sp>
          <p:nvSpPr>
            <p:cNvPr id="5" name="Rectangle 5"/>
            <p:cNvSpPr/>
            <p:nvPr/>
          </p:nvSpPr>
          <p:spPr>
            <a:xfrm>
              <a:off x="533400" y="1276350"/>
              <a:ext cx="3848100" cy="857250"/>
            </a:xfrm>
            <a:prstGeom prst="roundRect">
              <a:avLst>
                <a:gd name="adj" fmla="val 2444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4954" y="1470660"/>
              <a:ext cx="15086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Baseline A · 纯 LLM</a:t>
              </a:r>
              <a:endParaRPr lang="zh-CN" sz="12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8096" y="1705928"/>
              <a:ext cx="33960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19胜 0平 0负 · 100%</a:t>
              </a:r>
              <a:endParaRPr lang="zh-CN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52950" y="1276350"/>
            <a:ext cx="4343400" cy="928307"/>
            <a:chOff x="4552950" y="1276350"/>
            <a:chExt cx="4343400" cy="928307"/>
          </a:xfrm>
        </p:grpSpPr>
        <p:sp>
          <p:nvSpPr>
            <p:cNvPr id="9" name="Rectangle 9"/>
            <p:cNvSpPr/>
            <p:nvPr/>
          </p:nvSpPr>
          <p:spPr>
            <a:xfrm>
              <a:off x="4552950" y="1276350"/>
              <a:ext cx="4343400" cy="857250"/>
            </a:xfrm>
            <a:prstGeom prst="roundRect">
              <a:avLst>
                <a:gd name="adj" fmla="val 2444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794504" y="1451610"/>
              <a:ext cx="23007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Baseline B · 通用 Codex Agent</a:t>
              </a:r>
              <a:endParaRPr lang="zh-CN" sz="1200" dirty="0">
                <a:solidFill>
                  <a:srgbClr val="E7F6F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68134" y="1467802"/>
              <a:ext cx="1466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E7F6F8"/>
                  </a:solidFill>
                  <a:latin typeface="+mn-lt"/>
                  <a:ea typeface="+mn-ea"/>
                  <a:cs typeface="+mn-cs"/>
                </a:rPr>
                <a:t>95% CI 86.84%–100%</a:t>
              </a:r>
              <a:endParaRPr lang="en-US" sz="1050" dirty="0">
                <a:solidFill>
                  <a:srgbClr val="E7F6F8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787646" y="1705928"/>
              <a:ext cx="37925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17胜 2平 0负 · 94.74%</a:t>
              </a:r>
              <a:endParaRPr lang="zh-CN" sz="25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33400" y="2286000"/>
            <a:ext cx="8096250" cy="3276600"/>
            <a:chOff x="533400" y="2286000"/>
            <a:chExt cx="8096250" cy="3276600"/>
          </a:xfrm>
        </p:grpSpPr>
        <p:sp>
          <p:nvSpPr>
            <p:cNvPr id="14" name="Rectangle 14"/>
            <p:cNvSpPr/>
            <p:nvPr/>
          </p:nvSpPr>
          <p:spPr>
            <a:xfrm>
              <a:off x="533400" y="2286000"/>
              <a:ext cx="8096250" cy="3276600"/>
            </a:xfrm>
            <a:prstGeom prst="roundRect">
              <a:avLst>
                <a:gd name="adj" fmla="val 6395"/>
              </a:avLst>
            </a:prstGeom>
            <a:solidFill>
              <a:srgbClr val="FFFFFF"/>
            </a:solidFill>
            <a:ln w="9525">
              <a:solidFill>
                <a:srgbClr val="D7E0EA"/>
              </a:solidFill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665607" y="2381250"/>
              <a:ext cx="7931188" cy="3092387"/>
              <a:chOff x="665607" y="2381250"/>
              <a:chExt cx="7931188" cy="3092387"/>
            </a:xfrm>
          </p:grpSpPr>
          <p:sp>
            <p:nvSpPr>
              <p:cNvPr id="15" name="Line 15"/>
              <p:cNvSpPr/>
              <p:nvPr/>
            </p:nvSpPr>
            <p:spPr>
              <a:xfrm>
                <a:off x="209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400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5905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EAF0F7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7810500" y="2381250"/>
                <a:ext cx="9525" cy="2838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838450">
                    <a:moveTo>
                      <a:pt x="0" y="0"/>
                    </a:moveTo>
                    <a:lnTo>
                      <a:pt x="0" y="2838450"/>
                    </a:lnTo>
                  </a:path>
                </a:pathLst>
              </a:custGeom>
              <a:noFill/>
              <a:ln w="9525">
                <a:solidFill>
                  <a:srgbClr val="D7E0EA"/>
                </a:solidFill>
              </a:ln>
            </p:spPr>
          </p:sp>
          <p:grpSp>
            <p:nvGrpSpPr>
              <p:cNvPr id="24" name="Group 24"/>
              <p:cNvGrpSpPr/>
              <p:nvPr/>
            </p:nvGrpSpPr>
            <p:grpSpPr>
              <a:xfrm>
                <a:off x="665607" y="2381250"/>
                <a:ext cx="7849558" cy="272987"/>
                <a:chOff x="665607" y="2381250"/>
                <a:chExt cx="7849558" cy="272987"/>
              </a:xfrm>
            </p:grpSpPr>
            <p:sp>
              <p:nvSpPr>
                <p:cNvPr id="19" name="TextBox 19"/>
                <p:cNvSpPr txBox="1"/>
                <p:nvPr/>
              </p:nvSpPr>
              <p:spPr>
                <a:xfrm>
                  <a:off x="665607" y="24488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能力映射与需求质量</a:t>
                  </a:r>
                  <a:endPara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0" name="Rectangle 20"/>
                <p:cNvSpPr/>
                <p:nvPr/>
              </p:nvSpPr>
              <p:spPr>
                <a:xfrm>
                  <a:off x="2095500" y="23812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1" name="Rectangle 21"/>
                <p:cNvSpPr/>
                <p:nvPr/>
              </p:nvSpPr>
              <p:spPr>
                <a:xfrm>
                  <a:off x="7255192" y="23812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2" name="Rectangle 22"/>
                <p:cNvSpPr/>
                <p:nvPr/>
              </p:nvSpPr>
              <p:spPr>
                <a:xfrm>
                  <a:off x="7414260" y="2381250"/>
                  <a:ext cx="39624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014716" y="24488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65:2:5</a:t>
                  </a:r>
                  <a:endPara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roup 30"/>
              <p:cNvGrpSpPr/>
              <p:nvPr/>
            </p:nvGrpSpPr>
            <p:grpSpPr>
              <a:xfrm>
                <a:off x="948309" y="2724150"/>
                <a:ext cx="7566856" cy="272987"/>
                <a:chOff x="948309" y="2724150"/>
                <a:chExt cx="7566856" cy="272987"/>
              </a:xfrm>
            </p:grpSpPr>
            <p:sp>
              <p:nvSpPr>
                <p:cNvPr id="25" name="TextBox 25"/>
                <p:cNvSpPr txBox="1"/>
                <p:nvPr/>
              </p:nvSpPr>
              <p:spPr>
                <a:xfrm>
                  <a:off x="948309" y="27917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因果与机理深度</a:t>
                  </a:r>
                  <a:endPara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26" name="Rectangle 26"/>
                <p:cNvSpPr/>
                <p:nvPr/>
              </p:nvSpPr>
              <p:spPr>
                <a:xfrm>
                  <a:off x="2095500" y="2724150"/>
                  <a:ext cx="5476875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27" name="Rectangle 27"/>
                <p:cNvSpPr/>
                <p:nvPr/>
              </p:nvSpPr>
              <p:spPr>
                <a:xfrm>
                  <a:off x="7572375" y="2724150"/>
                  <a:ext cx="159068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Rectangle 28"/>
                <p:cNvSpPr/>
                <p:nvPr/>
              </p:nvSpPr>
              <p:spPr>
                <a:xfrm>
                  <a:off x="7731442" y="27241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8014716" y="27917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69:2:1</a:t>
                  </a:r>
                  <a:endPara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089660" y="3067050"/>
                <a:ext cx="7425505" cy="272987"/>
                <a:chOff x="1089660" y="3067050"/>
                <a:chExt cx="7425505" cy="272987"/>
              </a:xfrm>
            </p:grpSpPr>
            <p:sp>
              <p:nvSpPr>
                <p:cNvPr id="31" name="TextBox 31"/>
                <p:cNvSpPr txBox="1"/>
                <p:nvPr/>
              </p:nvSpPr>
              <p:spPr>
                <a:xfrm>
                  <a:off x="1089660" y="31346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军事运用价值</a:t>
                  </a:r>
                  <a:endPara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Rectangle 32"/>
                <p:cNvSpPr/>
                <p:nvPr/>
              </p:nvSpPr>
              <p:spPr>
                <a:xfrm>
                  <a:off x="2095500" y="3067050"/>
                  <a:ext cx="515969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3" name="Rectangle 33"/>
                <p:cNvSpPr/>
                <p:nvPr/>
              </p:nvSpPr>
              <p:spPr>
                <a:xfrm>
                  <a:off x="7255192" y="3067050"/>
                  <a:ext cx="476250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7731442" y="3067050"/>
                  <a:ext cx="79058" cy="228600"/>
                </a:xfrm>
                <a:prstGeom prst="roundRect">
                  <a:avLst>
                    <a:gd name="adj" fmla="val 48193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8014716" y="31346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65:6:1</a:t>
                  </a:r>
                  <a:endPara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1231011" y="3409950"/>
                <a:ext cx="7365784" cy="272987"/>
                <a:chOff x="1231011" y="3409950"/>
                <a:chExt cx="7365784" cy="272987"/>
              </a:xfrm>
            </p:grpSpPr>
            <p:sp>
              <p:nvSpPr>
                <p:cNvPr id="37" name="TextBox 37"/>
                <p:cNvSpPr txBox="1"/>
                <p:nvPr/>
              </p:nvSpPr>
              <p:spPr>
                <a:xfrm>
                  <a:off x="1231011" y="347757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前瞻新颖性</a:t>
                  </a:r>
                  <a:endPara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38" name="Rectangle 38"/>
                <p:cNvSpPr/>
                <p:nvPr/>
              </p:nvSpPr>
              <p:spPr>
                <a:xfrm>
                  <a:off x="2095500" y="3409950"/>
                  <a:ext cx="492156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7017068" y="3409950"/>
                  <a:ext cx="7934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014716" y="3477578"/>
                  <a:ext cx="58207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62:10:0</a:t>
                  </a:r>
                  <a:endPara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948309" y="3752850"/>
                <a:ext cx="7566856" cy="272987"/>
                <a:chOff x="948309" y="3752850"/>
                <a:chExt cx="7566856" cy="272987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948309" y="38204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路径与任务完成</a:t>
                  </a:r>
                  <a:endPara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3752850"/>
                  <a:ext cx="476250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6858000" y="37528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7175182" y="3752850"/>
                  <a:ext cx="63531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8014716" y="38204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60:4:8</a:t>
                  </a:r>
                  <a:endPara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65607" y="4095750"/>
                <a:ext cx="7849558" cy="272987"/>
                <a:chOff x="665607" y="4095750"/>
                <a:chExt cx="7849558" cy="272987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665607" y="4163378"/>
                  <a:ext cx="1282827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体系与跨场景稳健性</a:t>
                  </a:r>
                  <a:endPara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49" name="Rectangle 49"/>
                <p:cNvSpPr/>
                <p:nvPr/>
              </p:nvSpPr>
              <p:spPr>
                <a:xfrm>
                  <a:off x="2095500" y="4095750"/>
                  <a:ext cx="5555932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0" name="Rectangle 50"/>
                <p:cNvSpPr/>
                <p:nvPr/>
              </p:nvSpPr>
              <p:spPr>
                <a:xfrm>
                  <a:off x="7651432" y="40957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8014716" y="41633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70:2:0</a:t>
                  </a:r>
                  <a:endPara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948309" y="4438650"/>
                <a:ext cx="7566856" cy="272987"/>
                <a:chOff x="948309" y="4438650"/>
                <a:chExt cx="7566856" cy="272987"/>
              </a:xfrm>
            </p:grpSpPr>
            <p:sp>
              <p:nvSpPr>
                <p:cNvPr id="53" name="TextBox 53"/>
                <p:cNvSpPr txBox="1"/>
                <p:nvPr/>
              </p:nvSpPr>
              <p:spPr>
                <a:xfrm>
                  <a:off x="948309" y="4506278"/>
                  <a:ext cx="100012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不确定性与验证</a:t>
                  </a:r>
                  <a:endPara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54" name="Rectangle 54"/>
                <p:cNvSpPr/>
                <p:nvPr/>
              </p:nvSpPr>
              <p:spPr>
                <a:xfrm>
                  <a:off x="2095500" y="4438650"/>
                  <a:ext cx="5238750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55" name="Rectangle 55"/>
                <p:cNvSpPr/>
                <p:nvPr/>
              </p:nvSpPr>
              <p:spPr>
                <a:xfrm>
                  <a:off x="7334250" y="4438650"/>
                  <a:ext cx="317182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56" name="Rectangle 56"/>
                <p:cNvSpPr/>
                <p:nvPr/>
              </p:nvSpPr>
              <p:spPr>
                <a:xfrm>
                  <a:off x="7651432" y="4438650"/>
                  <a:ext cx="159068" cy="228600"/>
                </a:xfrm>
                <a:prstGeom prst="roundRect">
                  <a:avLst>
                    <a:gd name="adj" fmla="val 35928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8014716" y="45062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66:4:2</a:t>
                  </a:r>
                  <a:endParaRPr lang="en-US" sz="10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4" name="Group 64"/>
              <p:cNvGrpSpPr/>
              <p:nvPr/>
            </p:nvGrpSpPr>
            <p:grpSpPr>
              <a:xfrm>
                <a:off x="750418" y="4781550"/>
                <a:ext cx="7764747" cy="272987"/>
                <a:chOff x="750418" y="4781550"/>
                <a:chExt cx="7764747" cy="272987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750418" y="4849178"/>
                  <a:ext cx="1198016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证据与事实可靠性</a:t>
                  </a:r>
                  <a:endParaRPr lang="zh-CN" sz="1050" b="1" dirty="0">
                    <a:solidFill>
                      <a:srgbClr val="B94747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  <p:sp>
              <p:nvSpPr>
                <p:cNvPr id="60" name="Rectangle 60"/>
                <p:cNvSpPr/>
                <p:nvPr/>
              </p:nvSpPr>
              <p:spPr>
                <a:xfrm>
                  <a:off x="2095500" y="4781550"/>
                  <a:ext cx="159068" cy="228600"/>
                </a:xfrm>
                <a:prstGeom prst="roundRect">
                  <a:avLst>
                    <a:gd name="adj" fmla="val 23952"/>
                  </a:avLst>
                </a:prstGeom>
                <a:solidFill>
                  <a:schemeClr val="accent6"/>
                </a:solidFill>
                <a:ln>
                  <a:noFill/>
                </a:ln>
              </p:spPr>
            </p:sp>
            <p:sp>
              <p:nvSpPr>
                <p:cNvPr id="61" name="Rectangle 61"/>
                <p:cNvSpPr/>
                <p:nvPr/>
              </p:nvSpPr>
              <p:spPr>
                <a:xfrm>
                  <a:off x="2254568" y="4781550"/>
                  <a:ext cx="238125" cy="228600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62" name="Rectangle 62"/>
                <p:cNvSpPr/>
                <p:nvPr/>
              </p:nvSpPr>
              <p:spPr>
                <a:xfrm>
                  <a:off x="2492692" y="4781550"/>
                  <a:ext cx="5317808" cy="228600"/>
                </a:xfrm>
                <a:prstGeom prst="roundRect">
                  <a:avLst>
                    <a:gd name="adj" fmla="val 25000"/>
                  </a:avLst>
                </a:prstGeom>
                <a:solidFill>
                  <a:srgbClr val="B94747"/>
                </a:solidFill>
                <a:ln>
                  <a:noFill/>
                </a:ln>
              </p:spPr>
            </p:sp>
            <p:sp>
              <p:nvSpPr>
                <p:cNvPr id="63" name="TextBox 63"/>
                <p:cNvSpPr txBox="1"/>
                <p:nvPr/>
              </p:nvSpPr>
              <p:spPr>
                <a:xfrm>
                  <a:off x="8014716" y="4849178"/>
                  <a:ext cx="500449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050" b="1" dirty="0">
                      <a:solidFill>
                        <a:srgbClr val="B94747"/>
                      </a:solidFill>
                      <a:latin typeface="+mn-lt"/>
                      <a:ea typeface="+mn-ea"/>
                      <a:cs typeface="+mn-cs"/>
                    </a:rPr>
                    <a:t>2:3:67</a:t>
                  </a:r>
                  <a:endParaRPr lang="en-US" sz="1050" b="1" dirty="0">
                    <a:solidFill>
                      <a:srgbClr val="B94747"/>
                    </a:solidFill>
                    <a:latin typeface="+mn-lt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65" name="Ellipse 65"/>
              <p:cNvSpPr/>
              <p:nvPr/>
            </p:nvSpPr>
            <p:spPr>
              <a:xfrm>
                <a:off x="2324100" y="5276850"/>
                <a:ext cx="114300" cy="1143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2509266" y="5268278"/>
                <a:ext cx="5760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完整方法</a:t>
                </a:r>
                <a:endPara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7" name="Ellipse 67"/>
              <p:cNvSpPr/>
              <p:nvPr/>
            </p:nvSpPr>
            <p:spPr>
              <a:xfrm>
                <a:off x="3486150" y="5276850"/>
                <a:ext cx="114300" cy="114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3671316" y="5268278"/>
                <a:ext cx="152019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平</a:t>
                </a:r>
                <a:endPara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9" name="Ellipse 69"/>
              <p:cNvSpPr/>
              <p:nvPr/>
            </p:nvSpPr>
            <p:spPr>
              <a:xfrm>
                <a:off x="4114800" y="5276850"/>
                <a:ext cx="114300" cy="114300"/>
              </a:xfrm>
              <a:prstGeom prst="ellipse">
                <a:avLst/>
              </a:prstGeom>
              <a:solidFill>
                <a:srgbClr val="B94747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4299966" y="5268278"/>
                <a:ext cx="73257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通用 Agent</a:t>
                </a:r>
                <a:endPara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76" name="Group 76"/>
          <p:cNvGrpSpPr/>
          <p:nvPr/>
        </p:nvGrpSpPr>
        <p:grpSpPr>
          <a:xfrm>
            <a:off x="9048750" y="2247900"/>
            <a:ext cx="2533650" cy="3349561"/>
            <a:chOff x="9048750" y="2247900"/>
            <a:chExt cx="2533650" cy="3349561"/>
          </a:xfrm>
        </p:grpSpPr>
        <p:sp>
          <p:nvSpPr>
            <p:cNvPr id="73" name="Rectangle 73"/>
            <p:cNvSpPr/>
            <p:nvPr/>
          </p:nvSpPr>
          <p:spPr>
            <a:xfrm>
              <a:off x="9048750" y="2247900"/>
              <a:ext cx="2533650" cy="3314700"/>
            </a:xfrm>
            <a:prstGeom prst="roundRect">
              <a:avLst>
                <a:gd name="adj" fmla="val 8271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pic>
          <p:nvPicPr>
            <p:cNvPr id="74" name="Image 7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791179" y="2362200"/>
              <a:ext cx="1048792" cy="3086100"/>
            </a:xfrm>
            <a:prstGeom prst="rect">
              <a:avLst/>
            </a:prstGeom>
          </p:spPr>
        </p:pic>
        <p:sp>
          <p:nvSpPr>
            <p:cNvPr id="75" name="TextBox 75"/>
            <p:cNvSpPr txBox="1"/>
            <p:nvPr/>
          </p:nvSpPr>
          <p:spPr>
            <a:xfrm>
              <a:off x="9474581" y="5392102"/>
              <a:ext cx="1681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真实 Benchmark 结果界面</a:t>
              </a:r>
              <a:endPara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33400" y="5810250"/>
            <a:ext cx="11049000" cy="685482"/>
            <a:chOff x="533400" y="5810250"/>
            <a:chExt cx="11049000" cy="685482"/>
          </a:xfrm>
        </p:grpSpPr>
        <p:sp>
          <p:nvSpPr>
            <p:cNvPr id="77" name="Rectangle 77"/>
            <p:cNvSpPr/>
            <p:nvPr/>
          </p:nvSpPr>
          <p:spPr>
            <a:xfrm>
              <a:off x="533400" y="5810250"/>
              <a:ext cx="5334000" cy="609600"/>
            </a:xfrm>
            <a:prstGeom prst="roundRect">
              <a:avLst>
                <a:gd name="adj" fmla="val 31250"/>
              </a:avLst>
            </a:prstGeom>
            <a:solidFill>
              <a:srgbClr val="FFF7E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74192" y="5921692"/>
              <a:ext cx="31623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A5D10"/>
                  </a:solidFill>
                  <a:latin typeface="+mn-lt"/>
                  <a:ea typeface="+mn-ea"/>
                  <a:cs typeface="+mn-cs"/>
                </a:rPr>
                <a:t>该票型反映正文展示口径：2 : 3 : 67</a:t>
              </a:r>
              <a:endParaRPr lang="zh-CN" sz="1350" b="1" dirty="0">
                <a:solidFill>
                  <a:srgbClr val="8A5D1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5716" y="6173152"/>
              <a:ext cx="3822700" cy="3225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报告声明 19 项正式证据，但正文未完整展开；不等同于证据不足</a:t>
              </a:r>
              <a:endParaRPr lang="zh-CN" sz="1050" dirty="0">
                <a:solidFill>
                  <a:srgbClr val="6E5A34"/>
                </a:solidFill>
                <a:latin typeface="+mn-lt"/>
                <a:ea typeface="+mn-ea"/>
                <a:cs typeface="+mn-cs"/>
              </a:endParaRPr>
            </a:p>
            <a:p>
              <a:pPr algn="l"/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撰写报告时候未把证据</a:t>
              </a:r>
              <a:r>
                <a:rPr lang="zh-CN" sz="1050" dirty="0">
                  <a:solidFill>
                    <a:srgbClr val="6E5A34"/>
                  </a:solidFill>
                  <a:latin typeface="+mn-lt"/>
                  <a:ea typeface="+mn-ea"/>
                  <a:cs typeface="+mn-cs"/>
                </a:rPr>
                <a:t>写入</a:t>
              </a:r>
              <a:endParaRPr lang="zh-CN" sz="1050" dirty="0">
                <a:solidFill>
                  <a:srgbClr val="6E5A34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038850" y="5810250"/>
              <a:ext cx="5543550" cy="609600"/>
            </a:xfrm>
            <a:prstGeom prst="roundRect">
              <a:avLst>
                <a:gd name="adj" fmla="val 31250"/>
              </a:avLst>
            </a:prstGeom>
            <a:solidFill>
              <a:srgbClr val="E9F6F1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279642" y="5921692"/>
              <a:ext cx="36514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7156"/>
                  </a:solidFill>
                  <a:latin typeface="+mn-lt"/>
                  <a:ea typeface="+mn-ea"/>
                  <a:cs typeface="+mn-cs"/>
                </a:rPr>
                <a:t>盲评覆盖完整：19 条 Query · 57/57 完成</a:t>
              </a:r>
              <a:endParaRPr lang="zh-CN" sz="1350" b="1" dirty="0">
                <a:solidFill>
                  <a:srgbClr val="1F715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281166" y="6173152"/>
              <a:ext cx="37767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56B5C"/>
                  </a:solidFill>
                  <a:latin typeface="+mn-lt"/>
                  <a:ea typeface="+mn-ea"/>
                  <a:cs typeface="+mn-cs"/>
                </a:rPr>
                <a:t>2 名真实专家 Judge · 对通用 Agent 95% CI 86.84%–100%</a:t>
              </a:r>
              <a:endParaRPr lang="zh-CN" sz="1050" dirty="0">
                <a:solidFill>
                  <a:srgbClr val="456B5C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84" name="TextBox 84"/>
          <p:cNvSpPr txBox="1"/>
          <p:nvPr/>
        </p:nvSpPr>
        <p:spPr>
          <a:xfrm>
            <a:off x="11478730" y="65922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16</a:t>
            </a:r>
            <a:endParaRPr lang="en-US" sz="105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10000"/>
          </a:blip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11516830" y="6516052"/>
            <a:ext cx="1661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DDEAF2"/>
                </a:solidFill>
                <a:latin typeface="+mn-lt"/>
                <a:ea typeface="+mn-ea"/>
                <a:cs typeface="+mn-cs"/>
              </a:rPr>
              <a:t>17</a:t>
            </a:r>
            <a:endParaRPr lang="en-US" sz="1050" dirty="0">
              <a:solidFill>
                <a:srgbClr val="DDEAF2"/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519684" y="451485"/>
            <a:ext cx="9708802" cy="813435"/>
            <a:chOff x="519684" y="451485"/>
            <a:chExt cx="9708802" cy="813435"/>
          </a:xfrm>
        </p:grpSpPr>
        <p:sp>
          <p:nvSpPr>
            <p:cNvPr id="82" name="TextBox 5"/>
            <p:cNvSpPr txBox="1"/>
            <p:nvPr/>
          </p:nvSpPr>
          <p:spPr>
            <a:xfrm>
              <a:off x="519684" y="451485"/>
              <a:ext cx="9708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下一阶段重点：智能体编排、业务流程与 Benchmark</a:t>
              </a:r>
              <a:endParaRPr lang="zh-CN" sz="270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83" name="TextBox 6"/>
            <p:cNvSpPr txBox="1"/>
            <p:nvPr/>
          </p:nvSpPr>
          <p:spPr>
            <a:xfrm>
              <a:off x="544830" y="971550"/>
              <a:ext cx="64770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DDEAF2"/>
                  </a:solidFill>
                  <a:latin typeface="+mn-lt"/>
                  <a:ea typeface="+mn-ea"/>
                  <a:cs typeface="+mn-cs"/>
                </a:rPr>
                <a:t>在现有功能闭环基础上，集中做好三项持续优化，不扩散新的建设主题。</a:t>
              </a:r>
              <a:endParaRPr lang="zh-CN" sz="1500" dirty="0">
                <a:solidFill>
                  <a:srgbClr val="DDEAF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4" name="Group 26"/>
          <p:cNvGrpSpPr/>
          <p:nvPr/>
        </p:nvGrpSpPr>
        <p:grpSpPr>
          <a:xfrm>
            <a:off x="533400" y="1619250"/>
            <a:ext cx="3429000" cy="3676650"/>
            <a:chOff x="533400" y="1619250"/>
            <a:chExt cx="3429000" cy="3676650"/>
          </a:xfrm>
        </p:grpSpPr>
        <p:sp>
          <p:nvSpPr>
            <p:cNvPr id="85" name="Rectangle 8"/>
            <p:cNvSpPr/>
            <p:nvPr/>
          </p:nvSpPr>
          <p:spPr>
            <a:xfrm>
              <a:off x="5334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86" name="Rectangle 9"/>
            <p:cNvSpPr/>
            <p:nvPr/>
          </p:nvSpPr>
          <p:spPr>
            <a:xfrm>
              <a:off x="533400" y="1619250"/>
              <a:ext cx="3429000" cy="8572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7" name="Ellipse 10"/>
            <p:cNvSpPr/>
            <p:nvPr/>
          </p:nvSpPr>
          <p:spPr>
            <a:xfrm>
              <a:off x="742950" y="1866900"/>
              <a:ext cx="495300" cy="495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8" name="TextBox 11"/>
            <p:cNvSpPr txBox="1"/>
            <p:nvPr/>
          </p:nvSpPr>
          <p:spPr>
            <a:xfrm>
              <a:off x="8663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89" name="Group 21"/>
            <p:cNvGrpSpPr/>
            <p:nvPr/>
          </p:nvGrpSpPr>
          <p:grpSpPr>
            <a:xfrm>
              <a:off x="3355975" y="1917700"/>
              <a:ext cx="222250" cy="301625"/>
              <a:chOff x="3355975" y="1917700"/>
              <a:chExt cx="222250" cy="301625"/>
            </a:xfrm>
          </p:grpSpPr>
          <p:sp>
            <p:nvSpPr>
              <p:cNvPr id="90" name="Freeform 12"/>
              <p:cNvSpPr/>
              <p:nvPr/>
            </p:nvSpPr>
            <p:spPr>
              <a:xfrm>
                <a:off x="3371850" y="194945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1" name="Freeform 13"/>
              <p:cNvSpPr/>
              <p:nvPr/>
            </p:nvSpPr>
            <p:spPr>
              <a:xfrm>
                <a:off x="3467100" y="191770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2" name="Freeform 14"/>
              <p:cNvSpPr/>
              <p:nvPr/>
            </p:nvSpPr>
            <p:spPr>
              <a:xfrm>
                <a:off x="341947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3" name="Freeform 15"/>
              <p:cNvSpPr/>
              <p:nvPr/>
            </p:nvSpPr>
            <p:spPr>
              <a:xfrm>
                <a:off x="3514725" y="207645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4" name="Freeform 16"/>
              <p:cNvSpPr/>
              <p:nvPr/>
            </p:nvSpPr>
            <p:spPr>
              <a:xfrm>
                <a:off x="335597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5" name="Freeform 17"/>
              <p:cNvSpPr/>
              <p:nvPr/>
            </p:nvSpPr>
            <p:spPr>
              <a:xfrm>
                <a:off x="3514725" y="210820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6" name="Freeform 18"/>
              <p:cNvSpPr/>
              <p:nvPr/>
            </p:nvSpPr>
            <p:spPr>
              <a:xfrm>
                <a:off x="3419475" y="217170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7" name="Freeform 19"/>
              <p:cNvSpPr/>
              <p:nvPr/>
            </p:nvSpPr>
            <p:spPr>
              <a:xfrm>
                <a:off x="34353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  <p:sp>
            <p:nvSpPr>
              <p:cNvPr id="98" name="Freeform 20"/>
              <p:cNvSpPr/>
              <p:nvPr/>
            </p:nvSpPr>
            <p:spPr>
              <a:xfrm>
                <a:off x="3498850" y="20129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chemeClr val="accent2"/>
                </a:solidFill>
              </a:ln>
            </p:spPr>
          </p:sp>
        </p:grpSp>
        <p:sp>
          <p:nvSpPr>
            <p:cNvPr id="99" name="TextBox 22"/>
            <p:cNvSpPr txBox="1"/>
            <p:nvPr/>
          </p:nvSpPr>
          <p:spPr>
            <a:xfrm>
              <a:off x="829056" y="2453640"/>
              <a:ext cx="229235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优化智能体设计与编排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0" name="TextBox 23"/>
            <p:cNvSpPr txBox="1"/>
            <p:nvPr/>
          </p:nvSpPr>
          <p:spPr>
            <a:xfrm>
              <a:off x="832104" y="2880360"/>
              <a:ext cx="28467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优化 Agent 职责、协作关系与动态调度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1" name="Line 24"/>
            <p:cNvSpPr/>
            <p:nvPr/>
          </p:nvSpPr>
          <p:spPr>
            <a:xfrm>
              <a:off x="8382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02" name="TextBox 25"/>
            <p:cNvSpPr txBox="1"/>
            <p:nvPr/>
          </p:nvSpPr>
          <p:spPr>
            <a:xfrm>
              <a:off x="8313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细化主控、专用与业务 Agent 边界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优化分支选择、并行协同与动态路由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完善回溯再调和输入输出契约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3" name="Group 39"/>
          <p:cNvGrpSpPr/>
          <p:nvPr/>
        </p:nvGrpSpPr>
        <p:grpSpPr>
          <a:xfrm>
            <a:off x="4381500" y="1619250"/>
            <a:ext cx="3429000" cy="3676650"/>
            <a:chOff x="4381500" y="1619250"/>
            <a:chExt cx="3429000" cy="3676650"/>
          </a:xfrm>
        </p:grpSpPr>
        <p:sp>
          <p:nvSpPr>
            <p:cNvPr id="104" name="Rectangle 27"/>
            <p:cNvSpPr/>
            <p:nvPr/>
          </p:nvSpPr>
          <p:spPr>
            <a:xfrm>
              <a:off x="43815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105" name="Rectangle 28"/>
            <p:cNvSpPr/>
            <p:nvPr/>
          </p:nvSpPr>
          <p:spPr>
            <a:xfrm>
              <a:off x="4381500" y="1619250"/>
              <a:ext cx="3429000" cy="8572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6" name="Ellipse 29"/>
            <p:cNvSpPr/>
            <p:nvPr/>
          </p:nvSpPr>
          <p:spPr>
            <a:xfrm>
              <a:off x="4591050" y="1866900"/>
              <a:ext cx="495300" cy="495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07" name="TextBox 30"/>
            <p:cNvSpPr txBox="1"/>
            <p:nvPr/>
          </p:nvSpPr>
          <p:spPr>
            <a:xfrm>
              <a:off x="47144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8" name="Group 34"/>
            <p:cNvGrpSpPr/>
            <p:nvPr/>
          </p:nvGrpSpPr>
          <p:grpSpPr>
            <a:xfrm>
              <a:off x="7172325" y="1933575"/>
              <a:ext cx="285751" cy="285751"/>
              <a:chOff x="7172325" y="1933575"/>
              <a:chExt cx="285751" cy="285751"/>
            </a:xfrm>
          </p:grpSpPr>
          <p:sp>
            <p:nvSpPr>
              <p:cNvPr id="109" name="Freeform 31"/>
              <p:cNvSpPr/>
              <p:nvPr/>
            </p:nvSpPr>
            <p:spPr>
              <a:xfrm>
                <a:off x="7172325" y="2155826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10" name="Freeform 32"/>
              <p:cNvSpPr/>
              <p:nvPr/>
            </p:nvSpPr>
            <p:spPr>
              <a:xfrm>
                <a:off x="7394576" y="1933575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31750" y="63500"/>
                    </a:move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  <a:cubicBezTo>
                      <a:pt x="0" y="49285"/>
                      <a:pt x="14215" y="63500"/>
                      <a:pt x="31750" y="6350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  <p:sp>
            <p:nvSpPr>
              <p:cNvPr id="111" name="Freeform 33"/>
              <p:cNvSpPr/>
              <p:nvPr/>
            </p:nvSpPr>
            <p:spPr>
              <a:xfrm>
                <a:off x="7283450" y="1965325"/>
                <a:ext cx="6350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222250">
                    <a:moveTo>
                      <a:pt x="63500" y="0"/>
                    </a:moveTo>
                    <a:cubicBezTo>
                      <a:pt x="45965" y="0"/>
                      <a:pt x="31750" y="14215"/>
                      <a:pt x="31750" y="31750"/>
                    </a:cubicBezTo>
                    <a:lnTo>
                      <a:pt x="31750" y="190500"/>
                    </a:lnTo>
                    <a:cubicBezTo>
                      <a:pt x="31750" y="208035"/>
                      <a:pt x="17535" y="222250"/>
                      <a:pt x="0" y="222250"/>
                    </a:cubicBezTo>
                  </a:path>
                </a:pathLst>
              </a:custGeom>
              <a:noFill/>
              <a:ln w="31750">
                <a:solidFill>
                  <a:schemeClr val="accent3"/>
                </a:solidFill>
              </a:ln>
            </p:spPr>
          </p:sp>
        </p:grpSp>
        <p:sp>
          <p:nvSpPr>
            <p:cNvPr id="112" name="TextBox 35"/>
            <p:cNvSpPr txBox="1"/>
            <p:nvPr/>
          </p:nvSpPr>
          <p:spPr>
            <a:xfrm>
              <a:off x="4677156" y="24536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业务执行流程完善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3" name="TextBox 36"/>
            <p:cNvSpPr txBox="1"/>
            <p:nvPr/>
          </p:nvSpPr>
          <p:spPr>
            <a:xfrm>
              <a:off x="4680204" y="28803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让前端展示、后台执行与业务规则一致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4" name="Line 37"/>
            <p:cNvSpPr/>
            <p:nvPr/>
          </p:nvSpPr>
          <p:spPr>
            <a:xfrm>
              <a:off x="46863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15" name="TextBox 38"/>
            <p:cNvSpPr txBox="1"/>
            <p:nvPr/>
          </p:nvSpPr>
          <p:spPr>
            <a:xfrm>
              <a:off x="4679442" y="3492818"/>
              <a:ext cx="2902648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梳理任务入口到成果交付的全流程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补齐异常处理、人工介入与结果复核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完善状态回放与关键节点可追溯性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16" name="Group 53"/>
          <p:cNvGrpSpPr/>
          <p:nvPr/>
        </p:nvGrpSpPr>
        <p:grpSpPr>
          <a:xfrm>
            <a:off x="8229600" y="1619250"/>
            <a:ext cx="3429000" cy="3676650"/>
            <a:chOff x="8229600" y="1619250"/>
            <a:chExt cx="3429000" cy="3676650"/>
          </a:xfrm>
        </p:grpSpPr>
        <p:sp>
          <p:nvSpPr>
            <p:cNvPr id="117" name="Rectangle 40"/>
            <p:cNvSpPr/>
            <p:nvPr/>
          </p:nvSpPr>
          <p:spPr>
            <a:xfrm>
              <a:off x="8229600" y="1619250"/>
              <a:ext cx="3429000" cy="3676650"/>
            </a:xfrm>
            <a:prstGeom prst="roundRect">
              <a:avLst>
                <a:gd name="adj" fmla="val 7222"/>
              </a:avLst>
            </a:prstGeom>
            <a:solidFill>
              <a:srgbClr val="FFFFFF">
                <a:alpha val="97000"/>
              </a:srgbClr>
            </a:solidFill>
            <a:ln>
              <a:noFill/>
            </a:ln>
          </p:spPr>
        </p:sp>
        <p:sp>
          <p:nvSpPr>
            <p:cNvPr id="118" name="Rectangle 41"/>
            <p:cNvSpPr/>
            <p:nvPr/>
          </p:nvSpPr>
          <p:spPr>
            <a:xfrm>
              <a:off x="8229600" y="1619250"/>
              <a:ext cx="3429000" cy="8572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19" name="Ellipse 42"/>
            <p:cNvSpPr/>
            <p:nvPr/>
          </p:nvSpPr>
          <p:spPr>
            <a:xfrm>
              <a:off x="8439150" y="1866900"/>
              <a:ext cx="495300" cy="4953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20" name="TextBox 43"/>
            <p:cNvSpPr txBox="1"/>
            <p:nvPr/>
          </p:nvSpPr>
          <p:spPr>
            <a:xfrm>
              <a:off x="8562565" y="20288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  <a:endPara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21" name="Group 48"/>
            <p:cNvGrpSpPr/>
            <p:nvPr/>
          </p:nvGrpSpPr>
          <p:grpSpPr>
            <a:xfrm>
              <a:off x="11020425" y="1949450"/>
              <a:ext cx="285750" cy="263526"/>
              <a:chOff x="11020425" y="1949450"/>
              <a:chExt cx="285750" cy="263526"/>
            </a:xfrm>
          </p:grpSpPr>
          <p:sp>
            <p:nvSpPr>
              <p:cNvPr id="122" name="Freeform 44"/>
              <p:cNvSpPr/>
              <p:nvPr/>
            </p:nvSpPr>
            <p:spPr>
              <a:xfrm>
                <a:off x="11020425" y="207645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123" name="Freeform 45"/>
              <p:cNvSpPr/>
              <p:nvPr/>
            </p:nvSpPr>
            <p:spPr>
              <a:xfrm>
                <a:off x="11210925" y="201295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124" name="Freeform 46"/>
              <p:cNvSpPr/>
              <p:nvPr/>
            </p:nvSpPr>
            <p:spPr>
              <a:xfrm>
                <a:off x="11115675" y="1949450"/>
                <a:ext cx="95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1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1"/>
                      <a:pt x="79375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  <p:sp>
            <p:nvSpPr>
              <p:cNvPr id="125" name="Freeform 47"/>
              <p:cNvSpPr/>
              <p:nvPr/>
            </p:nvSpPr>
            <p:spPr>
              <a:xfrm>
                <a:off x="11036300" y="2203451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chemeClr val="accent6"/>
                </a:solidFill>
              </a:ln>
            </p:spPr>
          </p:sp>
        </p:grpSp>
        <p:sp>
          <p:nvSpPr>
            <p:cNvPr id="126" name="TextBox 49"/>
            <p:cNvSpPr txBox="1"/>
            <p:nvPr/>
          </p:nvSpPr>
          <p:spPr>
            <a:xfrm>
              <a:off x="8525256" y="2453640"/>
              <a:ext cx="268351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Benchmar</a:t>
              </a:r>
              <a:r>
                <a:rPr lang="en-US" alt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</a:t>
              </a:r>
              <a:r>
                <a:rPr lang="zh-CN" alt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测试</a:t>
              </a:r>
              <a:r>
                <a:rPr lang="en-US" alt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消融实验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7" name="TextBox 50"/>
            <p:cNvSpPr txBox="1"/>
            <p:nvPr/>
          </p:nvSpPr>
          <p:spPr>
            <a:xfrm>
              <a:off x="8528304" y="28803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用对比实验量化各模块的真实贡献</a:t>
              </a:r>
              <a:endPara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8" name="Line 51"/>
            <p:cNvSpPr/>
            <p:nvPr/>
          </p:nvSpPr>
          <p:spPr>
            <a:xfrm>
              <a:off x="8534400" y="3238500"/>
              <a:ext cx="2819400" cy="9525"/>
            </a:xfrm>
            <a:custGeom>
              <a:avLst/>
              <a:gdLst/>
              <a:ahLst/>
              <a:cxnLst/>
              <a:rect l="l" t="t" r="r" b="b"/>
              <a:pathLst>
                <a:path w="2819400" h="9525">
                  <a:moveTo>
                    <a:pt x="0" y="0"/>
                  </a:moveTo>
                  <a:lnTo>
                    <a:pt x="2819400" y="0"/>
                  </a:lnTo>
                </a:path>
              </a:pathLst>
            </a:custGeom>
            <a:noFill/>
            <a:ln w="9525">
              <a:solidFill>
                <a:srgbClr val="D7E0EA"/>
              </a:solidFill>
            </a:ln>
          </p:spPr>
        </p:sp>
        <p:sp>
          <p:nvSpPr>
            <p:cNvPr id="129" name="TextBox 52"/>
            <p:cNvSpPr txBox="1"/>
            <p:nvPr/>
          </p:nvSpPr>
          <p:spPr>
            <a:xfrm>
              <a:off x="8527542" y="3492818"/>
              <a:ext cx="3099816" cy="10641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扩充专家标注 Deep Research Query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完善 Pairwise 盲评与人工仲裁机制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45415" indent="-145415" algn="l">
                <a:lnSpc>
                  <a:spcPts val="3150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增加 Agent、门控、Recall 等消融实验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js_equipment_client_report_20260722">
  <a:themeElements>
    <a:clrScheme name="js_equipment_client_report_20260722">
      <a:dk1>
        <a:srgbClr val="17212B"/>
      </a:dk1>
      <a:lt1>
        <a:srgbClr val="F7F9FC"/>
      </a:lt1>
      <a:dk2>
        <a:srgbClr val="1F497D"/>
      </a:dk2>
      <a:lt2>
        <a:srgbClr val="EAF0F7"/>
      </a:lt2>
      <a:accent1>
        <a:srgbClr val="123B63"/>
      </a:accent1>
      <a:accent2>
        <a:srgbClr val="D59A24"/>
      </a:accent2>
      <a:accent3>
        <a:srgbClr val="2A7F9E"/>
      </a:accent3>
      <a:accent4>
        <a:srgbClr val="123B63"/>
      </a:accent4>
      <a:accent5>
        <a:srgbClr val="5B6B7C"/>
      </a:accent5>
      <a:accent6>
        <a:srgbClr val="2E8B6D"/>
      </a:accent6>
      <a:hlink>
        <a:srgbClr val="D59A24"/>
      </a:hlink>
      <a:folHlink>
        <a:srgbClr val="2A7F9E"/>
      </a:folHlink>
    </a:clrScheme>
    <a:fontScheme name="js_equipment_client_report_20260722">
      <a:majorFont>
        <a:latin typeface="Georgia"/>
        <a:ea typeface="SimSun"/>
        <a:cs typeface="Georg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js_equipment_client_report_2026072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4064</Words>
  <Application>WPS 文字</Application>
  <PresentationFormat>On-screen Show (16:9)</PresentationFormat>
  <Paragraphs>756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Arial</vt:lpstr>
      <vt:lpstr>宋体</vt:lpstr>
      <vt:lpstr>汉仪书宋二KW</vt:lpstr>
      <vt:lpstr>Georgia</vt:lpstr>
      <vt:lpstr>微软雅黑</vt:lpstr>
      <vt:lpstr>汉仪旗黑</vt:lpstr>
      <vt:lpstr>微软雅黑</vt:lpstr>
      <vt:lpstr>Arial Unicode MS</vt:lpstr>
      <vt:lpstr>Calibri</vt:lpstr>
      <vt:lpstr>Helvetica Neue</vt:lpstr>
      <vt:lpstr>微软雅黑</vt:lpstr>
      <vt:lpstr>宋体</vt:lpstr>
      <vt:lpstr>js_equipment_client_report_20260722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WPS_1781090227</cp:lastModifiedBy>
  <cp:revision>19</cp:revision>
  <dcterms:created xsi:type="dcterms:W3CDTF">2026-07-24T06:48:56Z</dcterms:created>
  <dcterms:modified xsi:type="dcterms:W3CDTF">2026-07-24T06:48:56Z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2052-12.1.26026.26026</vt:lpwstr>
  </property>
  <property fmtid="{D5CDD505-2E9C-101B-9397-08002B2CF9AE}" pid="3" name="ICV">
    <vt:lpwstr>B29768513C843E4F3BAC616A706A0EDB_42</vt:lpwstr>
  </property>
</Properties>
</file>