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本次汇报围绕基于多智能体协作的 JS 装备市场需求深度挖掘系统，重点展示已经完成的落地功能、工程验收和 Benchmark Baseline 结果。项目已经从架构设计进入可运行、可追溯、可评测的系统初版阶段。下面先用一页概览说明项目完成度。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当前项目已经形成业务、工程和评测三类闭环。核心功能覆盖三路线与 A 到 H 动态编排、S 一到 S 六专业推理链、证据门控与交互审计，以及成果矩阵和交付 Manifest；全量回归达到四百四十六项通过，对通用 Codex Agent 的真实专家盲评为十七胜、两平、零负。接下来我们从端到端业务流程看这些能力如何串联。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把传统的资料检索和人工归纳，升级为七阶段可追溯研究闭环。任务从解析和路线选择开始，经过多智能体研究、证据治理和专业机理推理，最终形成成果画像与审计交付，并通过验证回流再次核查证据。这个闭环保证交付不是简单清单，而是带有背景、约束、证据和验证路径的结构化成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这一页用 Codex 原生绘制的可编辑架构图，把项目业务和功能收敛为一条清晰主线路。任务入口经过三路线和 A 到 H 分支形成研究蓝图，主控 Agent 调度路线与分支专用 Agent，再进入 S 一到 S 六推理链；证据治理层在门控未通过时定向回溯到相关 Agent，企业运行层最终通过接口、队列、Worker、工作台、Trace 与 Manifest 完成交付。下面进一步展开三路线和动态分支的编排机制。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系统已经落地新制胜机理、传统能力缺口和局部战争案例三条稳定路线，同时以 A 到 H 八个分支形成目标架构扩展面。主控 Agent 根据任务主题、交互模式和覆盖缺口选择专业 Agent，并生成差异化研究蓝图。这样既保证成熟路径稳定执行，也保留面向新任务的动态发现能力。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多智能体在本项目中不是简单地重复调用模型，而是运行在受控 Harness 中。Agent 角色可通过 Registry 动态选择或替换，每个 Agent 拥有独立 Session、上下文、工具权限、预算、Checkpoint 和输出目录，并通过有界 Wave 并发和结构化交接实现可恢复协作。接下来介绍这些 Agent 所固化的专业推理链。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 一到 S 六把研究材料逐级转化为机理分析和能力成果。六个节点分别覆盖对手分析、运用审查、突破口思考、能力映射、现状差距和综合输出，使规律、场景、因果、能力需求、指标边界和验证建议形成连续链路。专业推理链之外，系统还设计了分层质量循环来处理证据不足和阶段矛盾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 一到 L 四按照缺口大小触发不同范围的纠偏。系统可以在当前节点补证、回溯相邻阶段、跨阶段重新门控，并在收敛后进行有界复核；所有调整都受到 Harness 边界约束并保留触发和动作记录。这样既能提高质量，又避免无限反思和不可控重编排。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证据治理贯穿检索、材料化、质量评分、引用和最终交付。只有通过安全约束和质量门控的来源才能进入正式支撑链，低质量或材料化失败的来源会被明确分流；报告、成果画像、推理追溯、交互事件和 Manifest 则共同构成可复核交付栈。下面通过真实系统界面展示这些能力已经如何产品化。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研究指挥台已经承载真实任务创建、排队、执行、筛选、归档和历史查看。接口创建任务后由持久化队列和独立 Worker 跨进程执行，应用重启后仍可读取摘要、证据、专业节点、成果、报告、追溯与 Manifest。它证明项目已经从算法流程进入可操作的企业工作台形态。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真实任务已经记录三百七十二条交互事件、二十二张证据卡、六个专用 S Agent、十二个推理节点和一次真实 Recall。页面中的真实审计链清楚显示 L 一门控未通过，系统发起定向补证，完成再调后返回 L 一，并由主控 Agent 合并结果、重新计算能力覆盖。持久化事件流同时支持实时观察、断线重放和事后审计，下一页进一步看专业推理结果在产品中的呈现。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这一页用真实前端展示架构执行总览。顶部六个状态块对应任务理解、多源基线研究、发现结果收敛、S 一到 S 六专用 Agent、独立审计和报告交付；中部完整列出六个专用 Agent 及其本轮结果，下部展示 L 一到 L 四步骤门控、因果复核、残差回溯和元循环的执行次数与最近状态。页面最下方还展示本次由主控 Agent 根据 A 到 H 分支和当前输入动态选取的业务 Agent，因此从发现蓝图到专用推理、循环治理和业务协作的执行状态都能够被查看和回放。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系统已经把研究结论沉淀为甲方可直接评审的多形态成果交付包。真实能力成果界面之外，交付矩阵还包括深度报告、需求卡片、能力全景、推理追溯、证据索引、质量门控、交互审计和 Manifest。整个交付包既支持当前评审，也为后续验证和迭代保留依据。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工程侧全量回归达到四百四十六项通过，生产构建、配置和代码检查均通过。三条真实路线均达到完成、运行闭环、可发布、审计批准和正式证据存在的验收状态，代表性闭环还覆盖四路 Agent、六个推理节点、七十一条事件、十五项工具结果和三十个 Manifest 文件。除了工程验收，项目还建设了可持续扩展的 Benchmark 数据资产。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正式 Benchmark 不会把四百八十条候选题库直接全部运行，而是由专家从中筛选并标注约一百条真正适合 Deep Research 的 Query，最终数量以专家终审为准。评测采用同题匿名 A/B Pairwise 盲评：Judge 不推测系统身份，先独立识别 A 到 H 或 OTHER 主路径并检查该路径规定产物，再从任务完成、证据事实、机理深度、军事价值、能力映射、前瞻性、跨场景稳健性、不确定性与验证、沟通效率九个维度比较两个回答。前五项核心维度各占百分之十五，总体胜者不按篇幅、术语密度或维度票数机械决定；只有核心质量实质相当才判平局。总体或路径置信度低于零点六五、引用需要核验、双方在不同核心维度各有明显优势或疑似严重失败时，结果自动进入人工仲裁，并以结构化 JSON 留存胜者、置信度、缺项、引用问题和仲裁原因。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这一页是本次汇报的核心实证。十九条专业 Query 全部完成，经过两名真实专家盲评，完整方法对纯 LLM 为十九胜、零平、零负，对通用 Codex Agent 为十七胜、两平、零负；八维票型显示能力映射、机理深度、军事价值、前瞻性、任务完成、跨场景稳健性和不确定性处理七项优势。证据与事实可靠性的票型为二比三比六十七，但结合报告声明十九项正式证据而正文没有完整展开的情况，这一结果更应理解为正文证据展示、评测输入口径和 Judge 可见信息的差异，不能直接推导为底层证据不足。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对照架构设计和现有代码，三条研究路线、A 到 H 元编排、专用 Agent、S1 到 S6、循环门控和能力画像已经形成完整运行闭环，下一阶段不必把证据数量或前置 Agent 效率作为当前主线。第一项重点是专业知识底座实装，把现有 Knowledge Pack、增量记忆和专业 Agent 契约进一步对接甲方装备、条令、案例与技术数据，形成可版本化、可复用、可维护的专业知识资产。第二项重点是推演仿真与需求验证，把体系对抗和能力卡片从定性研判推进到场景参数化、效果链、蒙特卡洛、敏感性分析和失效注入，形成从假设、指标、仿真到优先级调整的闭环。第三项重点是持续研判与专家运营，把单次任务升级为主题订阅、变化基线、增量重跑、预警触发和专家裁决流程；模块消融 Baseline 与约一百条专家标注、适合 Deep Research 的 Query 匿名 A/B Pairwise 盲评继续保留为横向验证机制，请甲方共同确认首批知识库、首个仿真场景、监测主题和专家治理流程。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s_equipment_client_report_2026072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s_equipment_client_report_2026072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984a66e3ff13d0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e5f62ee3d21bfd7.jpg"/>
  <Relationship Id="rId3" Type="http://schemas.openxmlformats.org/officeDocument/2006/relationships/image" Target="../media/image_2be54e6882bbd590.jpg"/>
  <Relationship Id="rId4" Type="http://schemas.openxmlformats.org/officeDocument/2006/relationships/image" Target="../media/image_f73d0c2d319088b2.jpg"/>
  <Relationship Id="rId5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da44f57cd037ad2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436b6e00a825a5f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db34167c23e866a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" name="Rectangle 4"/>
          <p:cNvSpPr/>
          <p:nvPr/>
        </p:nvSpPr>
        <p:spPr>
          <a:xfrm>
            <a:off x="6819900" y="914400"/>
            <a:ext cx="5086350" cy="4895850"/>
          </a:xfrm>
          <a:prstGeom prst="roundRect">
            <a:avLst>
              <a:gd name="adj" fmla="val 6226"/>
            </a:avLst>
          </a:prstGeom>
          <a:solidFill>
            <a:srgbClr val="FFFFFF">
              <a:alpha val="88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224522" y="1444942"/>
            <a:ext cx="5121592" cy="2521459"/>
            <a:chOff x="7224522" y="1444942"/>
            <a:chExt cx="5121592" cy="2521459"/>
          </a:xfrm>
        </p:grpSpPr>
        <p:sp>
          <p:nvSpPr>
            <p:cNvPr id="5" name="TextBox 5"/>
            <p:cNvSpPr txBox="1"/>
            <p:nvPr/>
          </p:nvSpPr>
          <p:spPr>
            <a:xfrm>
              <a:off x="7224522" y="1444942"/>
              <a:ext cx="512159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050"/>
                </a:lnSpc>
              </a:pPr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基于多智能体协作的JS 装备市场需求深度挖掘系统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239000" y="2724150"/>
              <a:ext cx="70485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27570" y="307181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项目阶段成果汇报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32142" y="3702368"/>
              <a:ext cx="4825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落地功能 · 工程验收 · Benchmark Baseline · 2026-07-22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239000" y="4953000"/>
            <a:ext cx="4114800" cy="476250"/>
            <a:chOff x="7239000" y="4953000"/>
            <a:chExt cx="4114800" cy="476250"/>
          </a:xfrm>
        </p:grpSpPr>
        <p:sp>
          <p:nvSpPr>
            <p:cNvPr id="10" name="Rectangle 10"/>
            <p:cNvSpPr/>
            <p:nvPr/>
          </p:nvSpPr>
          <p:spPr>
            <a:xfrm>
              <a:off x="72390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73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66775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2606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0965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548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478730" y="64017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1318443" cy="695516"/>
            <a:chOff x="500634" y="489585"/>
            <a:chExt cx="11318443" cy="6955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13184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三类闭环与核心功能已落地，真实验收和专家盲评形成双重验证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8014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结论先行：业务研究、工程运行、成果交付和 Benchmark 评测已形成可展示、可复核的项目初版。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32967" y="1333500"/>
            <a:ext cx="4665112" cy="4239006"/>
            <a:chOff x="1032967" y="1333500"/>
            <a:chExt cx="4665112" cy="4239006"/>
          </a:xfrm>
        </p:grpSpPr>
        <p:sp>
          <p:nvSpPr>
            <p:cNvPr id="5" name="Freeform 5"/>
            <p:cNvSpPr/>
            <p:nvPr/>
          </p:nvSpPr>
          <p:spPr>
            <a:xfrm>
              <a:off x="1181100" y="1333500"/>
              <a:ext cx="4076700" cy="3714750"/>
            </a:xfrm>
            <a:custGeom>
              <a:avLst/>
              <a:gdLst/>
              <a:ahLst/>
              <a:cxnLst/>
              <a:rect l="l" t="t" r="r" b="b"/>
              <a:pathLst>
                <a:path w="4076700" h="3714750">
                  <a:moveTo>
                    <a:pt x="533400" y="971550"/>
                  </a:moveTo>
                  <a:cubicBezTo>
                    <a:pt x="1466850" y="0"/>
                    <a:pt x="3067050" y="247650"/>
                    <a:pt x="3581400" y="1447800"/>
                  </a:cubicBezTo>
                  <a:cubicBezTo>
                    <a:pt x="4076700" y="2609850"/>
                    <a:pt x="3152775" y="3714750"/>
                    <a:pt x="1866900" y="3562350"/>
                  </a:cubicBezTo>
                  <a:cubicBezTo>
                    <a:pt x="647700" y="3429000"/>
                    <a:pt x="0" y="2381250"/>
                    <a:pt x="476250" y="1314450"/>
                  </a:cubicBezTo>
                </a:path>
              </a:pathLst>
            </a:custGeom>
            <a:noFill/>
            <a:ln w="209550" cap="rnd">
              <a:solidFill>
                <a:srgbClr val="D7E0EA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714500" y="1333500"/>
              <a:ext cx="3048000" cy="1447800"/>
            </a:xfrm>
            <a:custGeom>
              <a:avLst/>
              <a:gdLst/>
              <a:ahLst/>
              <a:cxnLst/>
              <a:rect l="l" t="t" r="r" b="b"/>
              <a:pathLst>
                <a:path w="3048000" h="1447800">
                  <a:moveTo>
                    <a:pt x="0" y="971550"/>
                  </a:moveTo>
                  <a:cubicBezTo>
                    <a:pt x="933450" y="0"/>
                    <a:pt x="2533650" y="247650"/>
                    <a:pt x="3048000" y="1447800"/>
                  </a:cubicBezTo>
                </a:path>
              </a:pathLst>
            </a:custGeom>
            <a:noFill/>
            <a:ln w="209550" cap="rnd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048000" y="2781300"/>
              <a:ext cx="2209800" cy="2266950"/>
            </a:xfrm>
            <a:custGeom>
              <a:avLst/>
              <a:gdLst/>
              <a:ahLst/>
              <a:cxnLst/>
              <a:rect l="l" t="t" r="r" b="b"/>
              <a:pathLst>
                <a:path w="2209800" h="2266950">
                  <a:moveTo>
                    <a:pt x="1714500" y="0"/>
                  </a:moveTo>
                  <a:cubicBezTo>
                    <a:pt x="2209800" y="1162050"/>
                    <a:pt x="1285875" y="2266950"/>
                    <a:pt x="0" y="2114550"/>
                  </a:cubicBezTo>
                </a:path>
              </a:pathLst>
            </a:custGeom>
            <a:noFill/>
            <a:ln w="209550" cap="rnd">
              <a:solidFill>
                <a:schemeClr val="accent3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81100" y="2647950"/>
              <a:ext cx="1866900" cy="2247900"/>
            </a:xfrm>
            <a:custGeom>
              <a:avLst/>
              <a:gdLst/>
              <a:ahLst/>
              <a:cxnLst/>
              <a:rect l="l" t="t" r="r" b="b"/>
              <a:pathLst>
                <a:path w="1866900" h="2247900">
                  <a:moveTo>
                    <a:pt x="1866900" y="2247900"/>
                  </a:moveTo>
                  <a:cubicBezTo>
                    <a:pt x="647700" y="2114550"/>
                    <a:pt x="0" y="1066800"/>
                    <a:pt x="476250" y="0"/>
                  </a:cubicBezTo>
                </a:path>
              </a:pathLst>
            </a:custGeom>
            <a:noFill/>
            <a:ln w="209550" cap="rnd">
              <a:solidFill>
                <a:schemeClr val="accent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343025" y="159067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81163" y="1814513"/>
              <a:ext cx="371475" cy="371475"/>
              <a:chOff x="1681163" y="1814513"/>
              <a:chExt cx="371475" cy="3714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681163" y="2103438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970088" y="18145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41275" y="82550"/>
                    </a:move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  <a:cubicBezTo>
                      <a:pt x="0" y="64071"/>
                      <a:pt x="18479" y="82550"/>
                      <a:pt x="41275" y="82550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5" y="1855788"/>
                <a:ext cx="8255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88925">
                    <a:moveTo>
                      <a:pt x="82550" y="0"/>
                    </a:moveTo>
                    <a:cubicBezTo>
                      <a:pt x="59755" y="0"/>
                      <a:pt x="41275" y="18479"/>
                      <a:pt x="41275" y="41275"/>
                    </a:cubicBezTo>
                    <a:lnTo>
                      <a:pt x="41275" y="247650"/>
                    </a:lnTo>
                    <a:cubicBezTo>
                      <a:pt x="41275" y="270446"/>
                      <a:pt x="22796" y="288925"/>
                      <a:pt x="0" y="28892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92060" y="2317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2967" y="2651760"/>
              <a:ext cx="1667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三路线 · A–H · S1–S6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162425" y="24860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521200" y="2709863"/>
              <a:ext cx="330201" cy="371475"/>
              <a:chOff x="4521200" y="2709863"/>
              <a:chExt cx="330201" cy="3714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521200" y="2709863"/>
                <a:ext cx="330201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23825">
                    <a:moveTo>
                      <a:pt x="0" y="61913"/>
                    </a:moveTo>
                    <a:cubicBezTo>
                      <a:pt x="0" y="96106"/>
                      <a:pt x="73918" y="123825"/>
                      <a:pt x="165100" y="123825"/>
                    </a:cubicBezTo>
                    <a:cubicBezTo>
                      <a:pt x="256283" y="123825"/>
                      <a:pt x="330201" y="96106"/>
                      <a:pt x="330201" y="61913"/>
                    </a:cubicBezTo>
                    <a:cubicBezTo>
                      <a:pt x="330201" y="27719"/>
                      <a:pt x="256283" y="0"/>
                      <a:pt x="165100" y="0"/>
                    </a:cubicBezTo>
                    <a:cubicBezTo>
                      <a:pt x="73918" y="0"/>
                      <a:pt x="0" y="27719"/>
                      <a:pt x="0" y="61913"/>
                    </a:cubicBez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21200" y="2771775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21200" y="2895600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211460" y="3212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4521" y="3547110"/>
              <a:ext cx="2023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API · Queue · Worker · UI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2333625" y="42767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671763" y="4521200"/>
              <a:ext cx="371475" cy="339726"/>
              <a:chOff x="2671763" y="4521200"/>
              <a:chExt cx="371475" cy="3397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2671763" y="4686300"/>
                <a:ext cx="1238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10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144463"/>
                    </a:lnTo>
                    <a:cubicBezTo>
                      <a:pt x="123825" y="155861"/>
                      <a:pt x="114585" y="165100"/>
                      <a:pt x="103188" y="165100"/>
                    </a:cubicBezTo>
                    <a:lnTo>
                      <a:pt x="20638" y="165100"/>
                    </a:lnTo>
                    <a:cubicBezTo>
                      <a:pt x="9240" y="165100"/>
                      <a:pt x="0" y="155861"/>
                      <a:pt x="0" y="1444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919413" y="4603750"/>
                <a:ext cx="12382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24765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227013"/>
                    </a:lnTo>
                    <a:cubicBezTo>
                      <a:pt x="123825" y="238411"/>
                      <a:pt x="114585" y="247650"/>
                      <a:pt x="103188" y="247650"/>
                    </a:cubicBezTo>
                    <a:lnTo>
                      <a:pt x="20638" y="247650"/>
                    </a:lnTo>
                    <a:cubicBezTo>
                      <a:pt x="9240" y="247650"/>
                      <a:pt x="0" y="238411"/>
                      <a:pt x="0" y="22701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795588" y="4521200"/>
                <a:ext cx="123825" cy="330201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330201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309563"/>
                    </a:lnTo>
                    <a:cubicBezTo>
                      <a:pt x="123825" y="320961"/>
                      <a:pt x="114585" y="330201"/>
                      <a:pt x="103188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692400" y="4851401"/>
                <a:ext cx="288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9525">
                    <a:moveTo>
                      <a:pt x="0" y="0"/>
                    </a:moveTo>
                    <a:lnTo>
                      <a:pt x="288925" y="0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382660" y="5003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9A6A12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54835" y="5337810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案例 · 真实专家盲评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5582" y="3109912"/>
              <a:ext cx="622935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850"/>
                </a:lnSpc>
              </a:pPr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闭环初版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91250" y="1466850"/>
            <a:ext cx="2609850" cy="1809750"/>
            <a:chOff x="6191250" y="1466850"/>
            <a:chExt cx="2609850" cy="1809750"/>
          </a:xfrm>
        </p:grpSpPr>
        <p:sp>
          <p:nvSpPr>
            <p:cNvPr id="33" name="Rectangle 33"/>
            <p:cNvSpPr/>
            <p:nvPr/>
          </p:nvSpPr>
          <p:spPr>
            <a:xfrm>
              <a:off x="6191250" y="1466850"/>
              <a:ext cx="2609850" cy="1809750"/>
            </a:xfrm>
            <a:prstGeom prst="roundRect">
              <a:avLst>
                <a:gd name="adj" fmla="val 1157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533356" y="1774825"/>
              <a:ext cx="226218" cy="256381"/>
              <a:chOff x="6533356" y="1774825"/>
              <a:chExt cx="226218" cy="25638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33356" y="1774825"/>
                <a:ext cx="180975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41299">
                    <a:moveTo>
                      <a:pt x="69600" y="241299"/>
                    </a:moveTo>
                    <a:lnTo>
                      <a:pt x="30162" y="241299"/>
                    </a:lnTo>
                    <a:cubicBezTo>
                      <a:pt x="13504" y="241299"/>
                      <a:pt x="0" y="227795"/>
                      <a:pt x="0" y="211137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69087" y="197088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93681" y="1835150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93681" y="1895475"/>
                <a:ext cx="30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9525">
                    <a:moveTo>
                      <a:pt x="0" y="0"/>
                    </a:moveTo>
                    <a:lnTo>
                      <a:pt x="30162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53200" y="217265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4206" y="237744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5392" y="2845118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2026-07-17 全量回归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991600" y="1466850"/>
            <a:ext cx="2724150" cy="1809750"/>
            <a:chOff x="8991600" y="1466850"/>
            <a:chExt cx="2724150" cy="1809750"/>
          </a:xfrm>
        </p:grpSpPr>
        <p:sp>
          <p:nvSpPr>
            <p:cNvPr id="43" name="Rectangle 43"/>
            <p:cNvSpPr/>
            <p:nvPr/>
          </p:nvSpPr>
          <p:spPr>
            <a:xfrm>
              <a:off x="8991600" y="1466850"/>
              <a:ext cx="2724150" cy="1809750"/>
            </a:xfrm>
            <a:prstGeom prst="roundRect">
              <a:avLst>
                <a:gd name="adj" fmla="val 11579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322594" y="1774825"/>
              <a:ext cx="271461" cy="250824"/>
              <a:chOff x="9322594" y="1774825"/>
              <a:chExt cx="271461" cy="25082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22594" y="1895475"/>
                <a:ext cx="904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2065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05569"/>
                    </a:lnTo>
                    <a:cubicBezTo>
                      <a:pt x="90487" y="113898"/>
                      <a:pt x="83735" y="120650"/>
                      <a:pt x="75406" y="120650"/>
                    </a:cubicBezTo>
                    <a:lnTo>
                      <a:pt x="15081" y="120650"/>
                    </a:lnTo>
                    <a:cubicBezTo>
                      <a:pt x="6752" y="120650"/>
                      <a:pt x="0" y="113898"/>
                      <a:pt x="0" y="10556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503568" y="1835150"/>
                <a:ext cx="90487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80975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65893"/>
                    </a:lnTo>
                    <a:cubicBezTo>
                      <a:pt x="90487" y="174223"/>
                      <a:pt x="83735" y="180975"/>
                      <a:pt x="75406" y="180975"/>
                    </a:cubicBezTo>
                    <a:lnTo>
                      <a:pt x="15081" y="180975"/>
                    </a:lnTo>
                    <a:cubicBezTo>
                      <a:pt x="6752" y="180975"/>
                      <a:pt x="0" y="174223"/>
                      <a:pt x="0" y="165893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413081" y="1774825"/>
                <a:ext cx="9048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241299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226218"/>
                    </a:lnTo>
                    <a:cubicBezTo>
                      <a:pt x="90487" y="234547"/>
                      <a:pt x="83735" y="241299"/>
                      <a:pt x="75406" y="241299"/>
                    </a:cubicBezTo>
                    <a:lnTo>
                      <a:pt x="15081" y="241299"/>
                    </a:lnTo>
                    <a:cubicBezTo>
                      <a:pt x="6752" y="241299"/>
                      <a:pt x="0" y="234547"/>
                      <a:pt x="0" y="226218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337675" y="2016124"/>
                <a:ext cx="2111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9525">
                    <a:moveTo>
                      <a:pt x="0" y="0"/>
                    </a:moveTo>
                    <a:lnTo>
                      <a:pt x="211137" y="0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128760" y="2286000"/>
              <a:ext cx="24899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37904" y="2861310"/>
              <a:ext cx="2258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对通用 Codex Agent · 94.74%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91250" y="3486150"/>
            <a:ext cx="5524500" cy="2057400"/>
            <a:chOff x="6191250" y="3486150"/>
            <a:chExt cx="5524500" cy="2057400"/>
          </a:xfrm>
        </p:grpSpPr>
        <p:sp>
          <p:nvSpPr>
            <p:cNvPr id="52" name="Rectangle 52"/>
            <p:cNvSpPr/>
            <p:nvPr/>
          </p:nvSpPr>
          <p:spPr>
            <a:xfrm>
              <a:off x="6191250" y="3486150"/>
              <a:ext cx="5524500" cy="2057400"/>
            </a:xfrm>
            <a:prstGeom prst="roundRect">
              <a:avLst>
                <a:gd name="adj" fmla="val 1018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521439" y="3778250"/>
              <a:ext cx="254011" cy="254000"/>
              <a:chOff x="6521439" y="3778250"/>
              <a:chExt cx="254011" cy="254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584950" y="3841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74625" y="4255"/>
                    </a:moveTo>
                    <a:cubicBezTo>
                      <a:pt x="184449" y="9926"/>
                      <a:pt x="190500" y="20407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793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21439" y="3778250"/>
                <a:ext cx="19051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11" h="190500">
                    <a:moveTo>
                      <a:pt x="15886" y="186278"/>
                    </a:moveTo>
                    <a:cubicBezTo>
                      <a:pt x="6053" y="180600"/>
                      <a:pt x="0" y="170105"/>
                      <a:pt x="11" y="158750"/>
                    </a:cubicBezTo>
                    <a:lnTo>
                      <a:pt x="11" y="31750"/>
                    </a:lnTo>
                    <a:cubicBezTo>
                      <a:pt x="11" y="14215"/>
                      <a:pt x="14226" y="0"/>
                      <a:pt x="31761" y="0"/>
                    </a:cubicBezTo>
                    <a:lnTo>
                      <a:pt x="158761" y="0"/>
                    </a:lnTo>
                    <a:cubicBezTo>
                      <a:pt x="176296" y="0"/>
                      <a:pt x="190511" y="14215"/>
                      <a:pt x="190511" y="31750"/>
                    </a:cubicBezTo>
                    <a:lnTo>
                      <a:pt x="190511" y="158750"/>
                    </a:lnTo>
                    <a:cubicBezTo>
                      <a:pt x="190511" y="176285"/>
                      <a:pt x="176296" y="190500"/>
                      <a:pt x="158761" y="190500"/>
                    </a:cubicBezTo>
                    <a:lnTo>
                      <a:pt x="111136" y="190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82206" y="37871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核心功能已形成可运行闭环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960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95737" y="4415314"/>
              <a:ext cx="1943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三路线 + A–H 动态编排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0106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06286" y="4415314"/>
              <a:ext cx="15518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S1–S6 专业推理链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960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33397" y="5005864"/>
              <a:ext cx="1668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证据门控 + 交互审计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0106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10253" y="5005864"/>
              <a:ext cx="1743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成果矩阵 + Manifest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81050" y="5886450"/>
            <a:ext cx="10629900" cy="457200"/>
            <a:chOff x="781050" y="5886450"/>
            <a:chExt cx="10629900" cy="457200"/>
          </a:xfrm>
        </p:grpSpPr>
        <p:sp>
          <p:nvSpPr>
            <p:cNvPr id="66" name="Rectangle 66"/>
            <p:cNvSpPr/>
            <p:nvPr/>
          </p:nvSpPr>
          <p:spPr>
            <a:xfrm>
              <a:off x="781050" y="5886450"/>
              <a:ext cx="106299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713863" y="6003608"/>
              <a:ext cx="6764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项目初版已具备甲方演示、工程复核与 Benchmark 对比验证条件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0612755" cy="714566"/>
            <a:chOff x="500634" y="489585"/>
            <a:chExt cx="10612755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06127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系统把“资料检索 + 人工归纳”升级为七阶段可追溯研究闭环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最终交付不是装备清单，而是从任务背景到验证路径均可回溯的能力画像。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33171" y="1924050"/>
            <a:ext cx="11232719" cy="2705100"/>
            <a:chOff x="533171" y="1924050"/>
            <a:chExt cx="11232719" cy="2705100"/>
          </a:xfrm>
        </p:grpSpPr>
        <p:sp>
          <p:nvSpPr>
            <p:cNvPr id="5" name="Freeform 5"/>
            <p:cNvSpPr/>
            <p:nvPr/>
          </p:nvSpPr>
          <p:spPr>
            <a:xfrm>
              <a:off x="1866900" y="2628900"/>
              <a:ext cx="8362950" cy="9525"/>
            </a:xfrm>
            <a:custGeom>
              <a:avLst/>
              <a:gdLst/>
              <a:ahLst/>
              <a:cxnLst/>
              <a:rect l="l" t="t" r="r" b="b"/>
              <a:pathLst>
                <a:path w="8362950" h="9525">
                  <a:moveTo>
                    <a:pt x="0" y="0"/>
                  </a:moveTo>
                  <a:lnTo>
                    <a:pt x="552450" y="0"/>
                  </a:lnTo>
                  <a:moveTo>
                    <a:pt x="1562100" y="0"/>
                  </a:moveTo>
                  <a:lnTo>
                    <a:pt x="2114550" y="0"/>
                  </a:lnTo>
                  <a:moveTo>
                    <a:pt x="3124200" y="0"/>
                  </a:moveTo>
                  <a:lnTo>
                    <a:pt x="3676650" y="0"/>
                  </a:lnTo>
                  <a:moveTo>
                    <a:pt x="4686300" y="0"/>
                  </a:moveTo>
                  <a:lnTo>
                    <a:pt x="5238750" y="0"/>
                  </a:lnTo>
                  <a:moveTo>
                    <a:pt x="6248400" y="0"/>
                  </a:moveTo>
                  <a:lnTo>
                    <a:pt x="6800850" y="0"/>
                  </a:lnTo>
                  <a:moveTo>
                    <a:pt x="7810500" y="0"/>
                  </a:moveTo>
                  <a:lnTo>
                    <a:pt x="836295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  <a:tailEnd type="triangle" w="lg" len="lg"/>
            </a:ln>
          </p:spPr>
        </p:sp>
        <p:sp>
          <p:nvSpPr>
            <p:cNvPr id="6" name="Freeform 6"/>
            <p:cNvSpPr/>
            <p:nvPr/>
          </p:nvSpPr>
          <p:spPr>
            <a:xfrm>
              <a:off x="6134100" y="3028950"/>
              <a:ext cx="4486275" cy="1600200"/>
            </a:xfrm>
            <a:custGeom>
              <a:avLst/>
              <a:gdLst/>
              <a:ahLst/>
              <a:cxnLst/>
              <a:rect l="l" t="t" r="r" b="b"/>
              <a:pathLst>
                <a:path w="4486275" h="1600200">
                  <a:moveTo>
                    <a:pt x="4381500" y="190500"/>
                  </a:moveTo>
                  <a:cubicBezTo>
                    <a:pt x="4486275" y="1276350"/>
                    <a:pt x="2305050" y="1600200"/>
                    <a:pt x="933450" y="1104900"/>
                  </a:cubicBezTo>
                  <a:cubicBezTo>
                    <a:pt x="57150" y="781050"/>
                    <a:pt x="0" y="304800"/>
                    <a:pt x="76200" y="0"/>
                  </a:cubicBezTo>
                </a:path>
              </a:pathLst>
            </a:custGeom>
            <a:noFill/>
            <a:ln w="28575">
              <a:solidFill>
                <a:srgbClr val="7AA2B5"/>
              </a:solidFill>
              <a:custDash>
                <a:ds d="266667" sp="200000"/>
              </a:custDash>
              <a:tailEnd type="triangle" w="lg" len="lg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33171" y="1924050"/>
              <a:ext cx="1353007" cy="1409700"/>
              <a:chOff x="533171" y="1924050"/>
              <a:chExt cx="1353007" cy="14097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524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810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070070" y="2171158"/>
                <a:ext cx="273413" cy="273436"/>
                <a:chOff x="1070070" y="2171158"/>
                <a:chExt cx="273413" cy="273436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195388" y="2290762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14288"/>
                      </a:moveTo>
                      <a:cubicBezTo>
                        <a:pt x="0" y="22178"/>
                        <a:pt x="6397" y="28575"/>
                        <a:pt x="14288" y="28575"/>
                      </a:cubicBezTo>
                      <a:cubicBezTo>
                        <a:pt x="22178" y="28575"/>
                        <a:pt x="28575" y="22178"/>
                        <a:pt x="28575" y="14288"/>
                      </a:cubicBezTo>
                      <a:cubicBezTo>
                        <a:pt x="28575" y="6397"/>
                        <a:pt x="22178" y="0"/>
                        <a:pt x="14288" y="0"/>
                      </a:cubicBezTo>
                      <a:cubicBezTo>
                        <a:pt x="6397" y="0"/>
                        <a:pt x="0" y="6397"/>
                        <a:pt x="0" y="1428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138238" y="22336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71438" y="0"/>
                      </a:moveTo>
                      <a:cubicBezTo>
                        <a:pt x="31984" y="0"/>
                        <a:pt x="0" y="31984"/>
                        <a:pt x="0" y="71438"/>
                      </a:cubicBez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70070" y="2171158"/>
                  <a:ext cx="273413" cy="27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413" h="273436">
                      <a:moveTo>
                        <a:pt x="153893" y="6090"/>
                      </a:moveTo>
                      <a:cubicBezTo>
                        <a:pt x="99604" y="0"/>
                        <a:pt x="47394" y="28876"/>
                        <a:pt x="23697" y="78097"/>
                      </a:cubicBezTo>
                      <a:cubicBezTo>
                        <a:pt x="0" y="127319"/>
                        <a:pt x="9990" y="186140"/>
                        <a:pt x="48609" y="224779"/>
                      </a:cubicBezTo>
                      <a:cubicBezTo>
                        <a:pt x="87227" y="263417"/>
                        <a:pt x="146044" y="273436"/>
                        <a:pt x="195277" y="249764"/>
                      </a:cubicBezTo>
                      <a:cubicBezTo>
                        <a:pt x="244511" y="226092"/>
                        <a:pt x="273413" y="173896"/>
                        <a:pt x="267350" y="11960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52538" y="217646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lnTo>
                        <a:pt x="0" y="85725"/>
                      </a:lnTo>
                      <a:lnTo>
                        <a:pt x="42862" y="85725"/>
                      </a:lnTo>
                      <a:lnTo>
                        <a:pt x="85725" y="42862"/>
                      </a:lnTo>
                      <a:lnTo>
                        <a:pt x="42862" y="42862"/>
                      </a:lnTo>
                      <a:lnTo>
                        <a:pt x="42862" y="0"/>
                      </a:ln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09675" y="2262188"/>
                  <a:ext cx="42862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42862">
                      <a:moveTo>
                        <a:pt x="42862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7348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任务解析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3171" y="3013710"/>
                <a:ext cx="13530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 · 边界 · 模式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114550" y="1924050"/>
              <a:ext cx="1314450" cy="1409700"/>
              <a:chOff x="2114550" y="1924050"/>
              <a:chExt cx="1314450" cy="14097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1145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25431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2643188" y="2176462"/>
                <a:ext cx="257174" cy="257176"/>
                <a:chOff x="2643188" y="2176462"/>
                <a:chExt cx="257174" cy="257176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2643188" y="237648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843212" y="217646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28575" y="57150"/>
                      </a:move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743200" y="2205038"/>
                  <a:ext cx="5715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00025">
                      <a:moveTo>
                        <a:pt x="57150" y="0"/>
                      </a:moveTo>
                      <a:cubicBezTo>
                        <a:pt x="41368" y="0"/>
                        <a:pt x="28575" y="12793"/>
                        <a:pt x="28575" y="28575"/>
                      </a:cubicBezTo>
                      <a:lnTo>
                        <a:pt x="28575" y="171450"/>
                      </a:lnTo>
                      <a:cubicBezTo>
                        <a:pt x="28575" y="187232"/>
                        <a:pt x="15782" y="200025"/>
                        <a:pt x="0" y="2000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22969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路径选择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270684" y="3013710"/>
                <a:ext cx="10021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三路线 · A–H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520916" y="1924050"/>
              <a:ext cx="1625918" cy="1409700"/>
              <a:chOff x="3520916" y="1924050"/>
              <a:chExt cx="1625918" cy="14097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6766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1052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233862" y="2162175"/>
                <a:ext cx="200026" cy="271463"/>
                <a:chOff x="4233862" y="2162175"/>
                <a:chExt cx="200026" cy="271463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248150" y="2190750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85725"/>
                      </a:lnTo>
                      <a:cubicBezTo>
                        <a:pt x="171450" y="101507"/>
                        <a:pt x="158657" y="114300"/>
                        <a:pt x="142875" y="114300"/>
                      </a:cubicBezTo>
                      <a:lnTo>
                        <a:pt x="28575" y="114300"/>
                      </a:lnTo>
                      <a:cubicBezTo>
                        <a:pt x="12793" y="114300"/>
                        <a:pt x="0" y="101507"/>
                        <a:pt x="0" y="857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333875" y="2162175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291012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376738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233862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28575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376738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0"/>
                      </a:moveTo>
                      <a:lnTo>
                        <a:pt x="5715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291012" y="2390775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30530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36245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36258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多智能体研究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520916" y="3013710"/>
                <a:ext cx="16259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独立会话 · 并发 Wave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231587" y="1924050"/>
              <a:ext cx="1328776" cy="1409700"/>
              <a:chOff x="5231587" y="1924050"/>
              <a:chExt cx="1328776" cy="14097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2387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667375" y="2076450"/>
                <a:ext cx="457200" cy="4572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5748106" y="2176462"/>
                <a:ext cx="279010" cy="257176"/>
                <a:chOff x="5748106" y="2176462"/>
                <a:chExt cx="279010" cy="257176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5748106" y="2176462"/>
                  <a:ext cx="279010" cy="25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010" h="254975">
                      <a:moveTo>
                        <a:pt x="140154" y="254975"/>
                      </a:moveTo>
                      <a:cubicBezTo>
                        <a:pt x="50649" y="227230"/>
                        <a:pt x="0" y="132765"/>
                        <a:pt x="26425" y="42862"/>
                      </a:cubicBezTo>
                      <a:cubicBezTo>
                        <a:pt x="70939" y="44899"/>
                        <a:pt x="114496" y="29526"/>
                        <a:pt x="147869" y="0"/>
                      </a:cubicBezTo>
                      <a:cubicBezTo>
                        <a:pt x="181242" y="29526"/>
                        <a:pt x="224800" y="44899"/>
                        <a:pt x="269313" y="42862"/>
                      </a:cubicBezTo>
                      <a:cubicBezTo>
                        <a:pt x="279010" y="75854"/>
                        <a:pt x="278561" y="110999"/>
                        <a:pt x="268027" y="143732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938838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4211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证据治理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231587" y="301371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材料化 · 质量门控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750006" y="1924050"/>
              <a:ext cx="1416139" cy="1409700"/>
              <a:chOff x="6750006" y="1924050"/>
              <a:chExt cx="1416139" cy="14097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8008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72294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7329488" y="2176462"/>
                <a:ext cx="257174" cy="271463"/>
                <a:chOff x="7329488" y="2176462"/>
                <a:chExt cx="257174" cy="271463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372350" y="2176462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458075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0" y="0"/>
                      </a:moveTo>
                      <a:cubicBezTo>
                        <a:pt x="19045" y="4758"/>
                        <a:pt x="28575" y="33333"/>
                        <a:pt x="28575" y="85725"/>
                      </a:cubicBezTo>
                      <a:cubicBezTo>
                        <a:pt x="28575" y="138117"/>
                        <a:pt x="19045" y="166692"/>
                        <a:pt x="0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429500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28575" y="0"/>
                      </a:moveTo>
                      <a:cubicBezTo>
                        <a:pt x="9530" y="4758"/>
                        <a:pt x="0" y="33333"/>
                        <a:pt x="0" y="85725"/>
                      </a:cubicBezTo>
                      <a:cubicBezTo>
                        <a:pt x="0" y="138117"/>
                        <a:pt x="9530" y="166692"/>
                        <a:pt x="28575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7372350" y="2262188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329488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486650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429500" y="23907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458075" y="2347912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67500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制胜机理推理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84441" y="3013710"/>
                <a:ext cx="11472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S1–S6 · L1–L4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362950" y="1924050"/>
              <a:ext cx="1314450" cy="1409700"/>
              <a:chOff x="8362950" y="1924050"/>
              <a:chExt cx="1314450" cy="14097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83629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8791575" y="2076450"/>
                <a:ext cx="457200" cy="457200"/>
              </a:xfrm>
              <a:prstGeom prst="ellipse">
                <a:avLst/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8920162" y="2176462"/>
                <a:ext cx="200026" cy="257175"/>
                <a:chOff x="8920162" y="2176462"/>
                <a:chExt cx="200026" cy="257175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9048750" y="2176462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65041"/>
                        <a:pt x="6397" y="71438"/>
                        <a:pt x="14288" y="71438"/>
                      </a:cubicBezTo>
                      <a:lnTo>
                        <a:pt x="71438" y="71438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920162" y="2176462"/>
                  <a:ext cx="20002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57175">
                      <a:moveTo>
                        <a:pt x="171450" y="257175"/>
                      </a:move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28588" y="0"/>
                      </a:lnTo>
                      <a:lnTo>
                        <a:pt x="200025" y="71438"/>
                      </a:lnTo>
                      <a:lnTo>
                        <a:pt x="200025" y="228600"/>
                      </a:lnTo>
                      <a:cubicBezTo>
                        <a:pt x="200025" y="244382"/>
                        <a:pt x="187232" y="257175"/>
                        <a:pt x="171450" y="257175"/>
                      </a:cubicBez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977312" y="231933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85453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448675" y="30137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结构化成果交付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9925050" y="1924050"/>
              <a:ext cx="1314450" cy="1409700"/>
              <a:chOff x="9925050" y="1924050"/>
              <a:chExt cx="1314450" cy="14097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9250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103536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22000"/>
                </a:srgbClr>
              </a:solidFill>
              <a:ln>
                <a:noFill/>
              </a:ln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10482262" y="2190750"/>
                <a:ext cx="214313" cy="242888"/>
                <a:chOff x="10482262" y="2190750"/>
                <a:chExt cx="214313" cy="242888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10482262" y="2190750"/>
                  <a:ext cx="17145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28600">
                      <a:moveTo>
                        <a:pt x="65937" y="228600"/>
                      </a:moveTo>
                      <a:lnTo>
                        <a:pt x="28575" y="228600"/>
                      </a:lnTo>
                      <a:cubicBezTo>
                        <a:pt x="12793" y="228600"/>
                        <a:pt x="0" y="215807"/>
                        <a:pt x="0" y="2000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1428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0610850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0539412" y="22479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0539412" y="2305050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101074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审计交付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966103" y="3013710"/>
                <a:ext cx="1232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报告 · Manifest</a:t>
                </a:r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8698992" y="40643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87312"/>
                  </a:solidFill>
                  <a:latin typeface="+mn-lt"/>
                  <a:ea typeface="+mn-ea"/>
                  <a:cs typeface="+mn-cs"/>
                </a:rPr>
                <a:t>验证回流：能力结论返回证据链复核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52450" y="4972050"/>
            <a:ext cx="11068050" cy="1066800"/>
            <a:chOff x="552450" y="4972050"/>
            <a:chExt cx="11068050" cy="1066800"/>
          </a:xfrm>
        </p:grpSpPr>
        <p:sp>
          <p:nvSpPr>
            <p:cNvPr id="85" name="Rectangle 85"/>
            <p:cNvSpPr/>
            <p:nvPr/>
          </p:nvSpPr>
          <p:spPr>
            <a:xfrm>
              <a:off x="552450" y="4972050"/>
              <a:ext cx="2819400" cy="1066800"/>
            </a:xfrm>
            <a:prstGeom prst="roundRect">
              <a:avLst>
                <a:gd name="adj" fmla="val 160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741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71906" y="5501640"/>
              <a:ext cx="43436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公开、非操作性、任务级与能力级问题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3543300" y="4972050"/>
              <a:ext cx="3505200" cy="1066800"/>
            </a:xfrm>
            <a:prstGeom prst="roundRect">
              <a:avLst>
                <a:gd name="adj" fmla="val 16071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76504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过程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762756" y="550164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受控协作、证据治理、分层质量循环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219950" y="4972050"/>
              <a:ext cx="4400550" cy="1066800"/>
            </a:xfrm>
            <a:prstGeom prst="roundRect">
              <a:avLst>
                <a:gd name="adj" fmla="val 16071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416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440168" y="5460682"/>
              <a:ext cx="41565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背景 · 效果 · 功能 · 约束 · 接口 · 形态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441692" y="5759768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优先级 · 证据链 · 验证路径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75285"/>
            <a:ext cx="10856145" cy="743140"/>
            <a:chOff x="500634" y="375285"/>
            <a:chExt cx="10856145" cy="743140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75285"/>
              <a:ext cx="108561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项目架构沿一条主线路贯通业务、Agent、门控与成果交付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54392"/>
              <a:ext cx="851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四层可编辑架构：任务入口 → 三路线 / A–H → 主控与专用 Agent → S1–S6 → 证据门控回路 → 企业成果包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57200" y="1314450"/>
            <a:ext cx="11277600" cy="1104900"/>
            <a:chOff x="457200" y="1314450"/>
            <a:chExt cx="11277600" cy="1104900"/>
          </a:xfrm>
        </p:grpSpPr>
        <p:sp>
          <p:nvSpPr>
            <p:cNvPr id="5" name="Rectangle 5"/>
            <p:cNvSpPr/>
            <p:nvPr/>
          </p:nvSpPr>
          <p:spPr>
            <a:xfrm>
              <a:off x="457200" y="13144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chemeClr val="lt2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90550" y="14478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781050" y="1676400"/>
              <a:ext cx="228599" cy="228599"/>
              <a:chOff x="781050" y="1676400"/>
              <a:chExt cx="228599" cy="22859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81050" y="18541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58849" y="1676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9950" y="1701800"/>
                <a:ext cx="50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77800">
                    <a:moveTo>
                      <a:pt x="50800" y="0"/>
                    </a:moveTo>
                    <a:cubicBezTo>
                      <a:pt x="36772" y="0"/>
                      <a:pt x="25400" y="11372"/>
                      <a:pt x="25400" y="25400"/>
                    </a:cubicBezTo>
                    <a:lnTo>
                      <a:pt x="25400" y="152400"/>
                    </a:lnTo>
                    <a:cubicBezTo>
                      <a:pt x="25400" y="166428"/>
                      <a:pt x="14028" y="177800"/>
                      <a:pt x="0" y="177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37285" y="15740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业务流程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18026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与编排层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8188" y="20554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任务解析 · 路线 · 蓝图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62200" y="1562100"/>
              <a:ext cx="100965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4854" y="16964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任务入口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88547" y="1912620"/>
              <a:ext cx="7569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Query / 模式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371850" y="1866900"/>
              <a:ext cx="31432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Ellipse 18"/>
            <p:cNvSpPr/>
            <p:nvPr/>
          </p:nvSpPr>
          <p:spPr>
            <a:xfrm>
              <a:off x="3695700" y="16192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860006" y="1771650"/>
              <a:ext cx="178594" cy="190500"/>
              <a:chOff x="3860006" y="1771650"/>
              <a:chExt cx="178594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860006" y="19145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60006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979069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883819" y="18192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907631" y="1854994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967162" y="1854994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684156" y="21412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路线选择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191000" y="16383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228600"/>
                  </a:moveTo>
                  <a:cubicBezTo>
                    <a:pt x="171450" y="228600"/>
                    <a:pt x="171450" y="0"/>
                    <a:pt x="323850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8" name="Freeform 28"/>
            <p:cNvSpPr/>
            <p:nvPr/>
          </p:nvSpPr>
          <p:spPr>
            <a:xfrm>
              <a:off x="4191000" y="1866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9" name="Freeform 29"/>
            <p:cNvSpPr/>
            <p:nvPr/>
          </p:nvSpPr>
          <p:spPr>
            <a:xfrm>
              <a:off x="4191000" y="18669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0"/>
                  </a:moveTo>
                  <a:cubicBezTo>
                    <a:pt x="171450" y="0"/>
                    <a:pt x="171450" y="228600"/>
                    <a:pt x="323850" y="228600"/>
                  </a:cubicBezTo>
                </a:path>
              </a:pathLst>
            </a:cu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72000" y="14382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95695" y="15725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72000" y="1885950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1485" y="20202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29300" y="16668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78785" y="18011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72150" y="1638300"/>
              <a:ext cx="1419225" cy="114300"/>
            </a:xfrm>
            <a:custGeom>
              <a:avLst/>
              <a:gdLst/>
              <a:ahLst/>
              <a:cxnLst/>
              <a:rect l="l" t="t" r="r" b="b"/>
              <a:pathLst>
                <a:path w="1419225" h="114300">
                  <a:moveTo>
                    <a:pt x="0" y="0"/>
                  </a:moveTo>
                  <a:lnTo>
                    <a:pt x="1419225" y="11430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772150" y="1981200"/>
              <a:ext cx="1419225" cy="104775"/>
            </a:xfrm>
            <a:custGeom>
              <a:avLst/>
              <a:gdLst/>
              <a:ahLst/>
              <a:cxnLst/>
              <a:rect l="l" t="t" r="r" b="b"/>
              <a:pathLst>
                <a:path w="1419225" h="104775">
                  <a:moveTo>
                    <a:pt x="0" y="104775"/>
                  </a:moveTo>
                  <a:lnTo>
                    <a:pt x="141922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029450" y="18669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4288">
              <a:solidFill>
                <a:srgbClr val="7658B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91375" y="1428750"/>
              <a:ext cx="2190750" cy="85725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46361" y="1513999"/>
              <a:ext cx="880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分支网络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818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830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581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592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3343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355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8106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117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3818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830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8581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592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83343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355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8106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117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9382125" y="1866900"/>
              <a:ext cx="3333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91700" y="1562100"/>
              <a:ext cx="1619250" cy="6096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41514" y="1697831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差异化研究蓝图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72599" y="1950720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路线 + 分支 + 执行强度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457200" y="2571750"/>
            <a:ext cx="11277600" cy="1295400"/>
            <a:chOff x="457200" y="2571750"/>
            <a:chExt cx="11277600" cy="1295400"/>
          </a:xfrm>
        </p:grpSpPr>
        <p:sp>
          <p:nvSpPr>
            <p:cNvPr id="62" name="Rectangle 62"/>
            <p:cNvSpPr/>
            <p:nvPr/>
          </p:nvSpPr>
          <p:spPr>
            <a:xfrm>
              <a:off x="457200" y="2571750"/>
              <a:ext cx="11277600" cy="1295400"/>
            </a:xfrm>
            <a:prstGeom prst="roundRect">
              <a:avLst>
                <a:gd name="adj" fmla="val 14706"/>
              </a:avLst>
            </a:prstGeom>
            <a:solidFill>
              <a:srgbClr val="DFF0F3"/>
            </a:solidFill>
            <a:ln w="9525">
              <a:solidFill>
                <a:srgbClr val="BFDC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90550" y="2705100"/>
              <a:ext cx="1562100" cy="10287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06450" y="2921000"/>
              <a:ext cx="177800" cy="241300"/>
              <a:chOff x="806450" y="2921000"/>
              <a:chExt cx="177800" cy="2413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19150" y="29464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95350" y="29210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572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334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06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33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57250" y="31241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99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207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137285" y="2831306"/>
              <a:ext cx="892607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Agent 协作与 S1–S6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3350895"/>
              <a:ext cx="13296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独立 Session · Wave权限 · 预算 · Checkpoint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362200" y="2819400"/>
              <a:ext cx="1219200" cy="781050"/>
            </a:xfrm>
            <a:prstGeom prst="roundRect">
              <a:avLst>
                <a:gd name="adj" fmla="val 21951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2532063" y="2955925"/>
              <a:ext cx="155575" cy="211138"/>
              <a:chOff x="2532063" y="2955925"/>
              <a:chExt cx="155575" cy="211138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2543175" y="29781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2609850" y="29559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2576513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2643188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2532063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2643188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2576513" y="313372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258762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263207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2852166" y="2991802"/>
              <a:ext cx="768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534856" y="3273266"/>
              <a:ext cx="873887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275"/>
                </a:lnSpc>
              </a:pPr>
              <a:r>
                <a:rPr lang="zh-CN" sz="82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解析 · 选择 · 调度收敛 · 回溯 · 交付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3581400" y="3209925"/>
              <a:ext cx="2476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0" name="Rectangle 90"/>
            <p:cNvSpPr/>
            <p:nvPr/>
          </p:nvSpPr>
          <p:spPr>
            <a:xfrm>
              <a:off x="3905250" y="2762250"/>
              <a:ext cx="2114550" cy="895350"/>
            </a:xfrm>
            <a:prstGeom prst="roundRect">
              <a:avLst>
                <a:gd name="adj" fmla="val 19149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191687" y="2848928"/>
              <a:ext cx="1541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 / 分支专用 Agent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0576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4229672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作战场景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49720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144071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057650" y="337185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229672" y="34366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武器装备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4953000" y="3371850"/>
              <a:ext cx="914400" cy="238125"/>
            </a:xfrm>
            <a:prstGeom prst="roundRect">
              <a:avLst>
                <a:gd name="adj" fmla="val 48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009706" y="3444716"/>
              <a:ext cx="8009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动态 Agent</a:t>
              </a:r>
            </a:p>
          </p:txBody>
        </p:sp>
        <p:sp>
          <p:nvSpPr>
            <p:cNvPr id="100" name="Line 100"/>
            <p:cNvSpPr/>
            <p:nvPr/>
          </p:nvSpPr>
          <p:spPr>
            <a:xfrm>
              <a:off x="6019800" y="3209925"/>
              <a:ext cx="2095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3055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783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4368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对手分析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3793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体系 / 假设</a:t>
              </a:r>
            </a:p>
          </p:txBody>
        </p:sp>
        <p:sp>
          <p:nvSpPr>
            <p:cNvPr id="105" name="Line 105"/>
            <p:cNvSpPr/>
            <p:nvPr/>
          </p:nvSpPr>
          <p:spPr>
            <a:xfrm>
              <a:off x="70866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2771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5498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4084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3508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 / 协同</a:t>
              </a:r>
            </a:p>
          </p:txBody>
        </p:sp>
        <p:sp>
          <p:nvSpPr>
            <p:cNvPr id="110" name="Line 110"/>
            <p:cNvSpPr/>
            <p:nvPr/>
          </p:nvSpPr>
          <p:spPr>
            <a:xfrm>
              <a:off x="80581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2486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5214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3799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突破机理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3224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 / 因果</a:t>
              </a:r>
            </a:p>
          </p:txBody>
        </p:sp>
        <p:sp>
          <p:nvSpPr>
            <p:cNvPr id="115" name="Line 115"/>
            <p:cNvSpPr/>
            <p:nvPr/>
          </p:nvSpPr>
          <p:spPr>
            <a:xfrm>
              <a:off x="90297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2202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4929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3515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能力映射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2939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功能 / 指标</a:t>
              </a:r>
            </a:p>
          </p:txBody>
        </p:sp>
        <p:sp>
          <p:nvSpPr>
            <p:cNvPr id="120" name="Line 120"/>
            <p:cNvSpPr/>
            <p:nvPr/>
          </p:nvSpPr>
          <p:spPr>
            <a:xfrm>
              <a:off x="100012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10191750" y="2781300"/>
              <a:ext cx="666750" cy="857250"/>
            </a:xfrm>
            <a:prstGeom prst="roundRect">
              <a:avLst>
                <a:gd name="adj" fmla="val 22857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04073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S5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2659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装备差距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278046" y="3369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五档比较</a:t>
              </a:r>
            </a:p>
          </p:txBody>
        </p:sp>
        <p:sp>
          <p:nvSpPr>
            <p:cNvPr id="125" name="Line 125"/>
            <p:cNvSpPr/>
            <p:nvPr/>
          </p:nvSpPr>
          <p:spPr>
            <a:xfrm>
              <a:off x="108585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1049000" y="2781300"/>
              <a:ext cx="552450" cy="857250"/>
            </a:xfrm>
            <a:prstGeom prst="roundRect">
              <a:avLst>
                <a:gd name="adj" fmla="val 275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112074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S6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193247" y="316992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193247" y="334137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画像</a:t>
              </a:r>
            </a:p>
          </p:txBody>
        </p:sp>
      </p:grpSp>
      <p:grpSp>
        <p:nvGrpSpPr>
          <p:cNvPr id="184" name="Group 184"/>
          <p:cNvGrpSpPr/>
          <p:nvPr/>
        </p:nvGrpSpPr>
        <p:grpSpPr>
          <a:xfrm>
            <a:off x="457200" y="3657600"/>
            <a:ext cx="11277600" cy="1600200"/>
            <a:chOff x="457200" y="3657600"/>
            <a:chExt cx="11277600" cy="1600200"/>
          </a:xfrm>
        </p:grpSpPr>
        <p:sp>
          <p:nvSpPr>
            <p:cNvPr id="131" name="Rectangle 131"/>
            <p:cNvSpPr/>
            <p:nvPr/>
          </p:nvSpPr>
          <p:spPr>
            <a:xfrm>
              <a:off x="457200" y="400050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2EEFA"/>
            </a:solidFill>
            <a:ln w="9525">
              <a:solidFill>
                <a:srgbClr val="D8CCE9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590550" y="413385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rgbClr val="7658B5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763911" y="4352925"/>
              <a:ext cx="248008" cy="228599"/>
              <a:chOff x="763911" y="4352925"/>
              <a:chExt cx="248008" cy="228599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763911" y="4352925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1" y="201982"/>
                      <a:pt x="0" y="118013"/>
                      <a:pt x="23489" y="38100"/>
                    </a:cubicBezTo>
                    <a:cubicBezTo>
                      <a:pt x="63056" y="39910"/>
                      <a:pt x="101774" y="26245"/>
                      <a:pt x="131439" y="0"/>
                    </a:cubicBezTo>
                    <a:cubicBezTo>
                      <a:pt x="161104" y="26245"/>
                      <a:pt x="199822" y="39910"/>
                      <a:pt x="239389" y="38100"/>
                    </a:cubicBezTo>
                    <a:cubicBezTo>
                      <a:pt x="248008" y="67426"/>
                      <a:pt x="247610" y="98665"/>
                      <a:pt x="238246" y="127762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933450" y="4530724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36" name="TextBox 136"/>
            <p:cNvSpPr txBox="1"/>
            <p:nvPr/>
          </p:nvSpPr>
          <p:spPr>
            <a:xfrm>
              <a:off x="1137285" y="4260056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证据与质量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137285" y="44886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治理层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38188" y="47415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FE7F8"/>
                  </a:solidFill>
                  <a:latin typeface="+mn-lt"/>
                  <a:ea typeface="+mn-ea"/>
                  <a:cs typeface="+mn-cs"/>
                </a:rPr>
                <a:t>补证 · 回溯 · 审计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2362200" y="4267200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2507456" y="4431506"/>
              <a:ext cx="185737" cy="185737"/>
              <a:chOff x="2507456" y="4431506"/>
              <a:chExt cx="185737" cy="185737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2507456" y="4431506"/>
                <a:ext cx="144462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44462">
                    <a:moveTo>
                      <a:pt x="0" y="72231"/>
                    </a:moveTo>
                    <a:cubicBezTo>
                      <a:pt x="0" y="112123"/>
                      <a:pt x="32339" y="144462"/>
                      <a:pt x="72231" y="144462"/>
                    </a:cubicBezTo>
                    <a:cubicBezTo>
                      <a:pt x="112123" y="144462"/>
                      <a:pt x="144462" y="112123"/>
                      <a:pt x="144462" y="72231"/>
                    </a:cubicBezTo>
                    <a:cubicBezTo>
                      <a:pt x="144462" y="32339"/>
                      <a:pt x="112123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2631281" y="455533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2795397" y="44857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检索</a:t>
              </a:r>
            </a:p>
          </p:txBody>
        </p:sp>
        <p:sp>
          <p:nvSpPr>
            <p:cNvPr id="144" name="Line 144"/>
            <p:cNvSpPr/>
            <p:nvPr/>
          </p:nvSpPr>
          <p:spPr>
            <a:xfrm>
              <a:off x="32385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348615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9" name="Group 149"/>
            <p:cNvGrpSpPr/>
            <p:nvPr/>
          </p:nvGrpSpPr>
          <p:grpSpPr>
            <a:xfrm>
              <a:off x="3641725" y="4431506"/>
              <a:ext cx="165099" cy="185737"/>
              <a:chOff x="3641725" y="4431506"/>
              <a:chExt cx="165099" cy="185737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3641725" y="4431506"/>
                <a:ext cx="165099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099" y="48053"/>
                      <a:pt x="165099" y="30956"/>
                    </a:cubicBezTo>
                    <a:cubicBezTo>
                      <a:pt x="165099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7" name="Freeform 147"/>
              <p:cNvSpPr/>
              <p:nvPr/>
            </p:nvSpPr>
            <p:spPr>
              <a:xfrm>
                <a:off x="3641725" y="4462462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8" name="Freeform 148"/>
              <p:cNvSpPr/>
              <p:nvPr/>
            </p:nvSpPr>
            <p:spPr>
              <a:xfrm>
                <a:off x="3641725" y="4524375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0" name="TextBox 150"/>
            <p:cNvSpPr txBox="1"/>
            <p:nvPr/>
          </p:nvSpPr>
          <p:spPr>
            <a:xfrm>
              <a:off x="3919347" y="448579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材料化</a:t>
              </a:r>
            </a:p>
          </p:txBody>
        </p:sp>
        <p:sp>
          <p:nvSpPr>
            <p:cNvPr id="151" name="Line 151"/>
            <p:cNvSpPr/>
            <p:nvPr/>
          </p:nvSpPr>
          <p:spPr>
            <a:xfrm>
              <a:off x="447675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472440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57" name="Group 157"/>
            <p:cNvGrpSpPr/>
            <p:nvPr/>
          </p:nvGrpSpPr>
          <p:grpSpPr>
            <a:xfrm>
              <a:off x="4890294" y="4441825"/>
              <a:ext cx="154780" cy="175418"/>
              <a:chOff x="4890294" y="4441825"/>
              <a:chExt cx="154780" cy="175418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4890294" y="4441825"/>
                <a:ext cx="123825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099">
                    <a:moveTo>
                      <a:pt x="47621" y="165099"/>
                    </a:move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103187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4" name="Freeform 154"/>
              <p:cNvSpPr/>
              <p:nvPr/>
            </p:nvSpPr>
            <p:spPr>
              <a:xfrm>
                <a:off x="4983162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5" name="Freeform 155"/>
              <p:cNvSpPr/>
              <p:nvPr/>
            </p:nvSpPr>
            <p:spPr>
              <a:xfrm>
                <a:off x="4931568" y="44831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6" name="Freeform 156"/>
              <p:cNvSpPr/>
              <p:nvPr/>
            </p:nvSpPr>
            <p:spPr>
              <a:xfrm>
                <a:off x="4931568" y="4524375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8" name="TextBox 158"/>
            <p:cNvSpPr txBox="1"/>
            <p:nvPr/>
          </p:nvSpPr>
          <p:spPr>
            <a:xfrm>
              <a:off x="5157597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证据评分</a:t>
              </a:r>
            </a:p>
          </p:txBody>
        </p:sp>
        <p:sp>
          <p:nvSpPr>
            <p:cNvPr id="159" name="Line 159"/>
            <p:cNvSpPr/>
            <p:nvPr/>
          </p:nvSpPr>
          <p:spPr>
            <a:xfrm>
              <a:off x="57150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0" name="Ellipse 160"/>
            <p:cNvSpPr/>
            <p:nvPr/>
          </p:nvSpPr>
          <p:spPr>
            <a:xfrm>
              <a:off x="58864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60234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62" name="Line 162"/>
            <p:cNvSpPr/>
            <p:nvPr/>
          </p:nvSpPr>
          <p:spPr>
            <a:xfrm>
              <a:off x="63436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3" name="Ellipse 163"/>
            <p:cNvSpPr/>
            <p:nvPr/>
          </p:nvSpPr>
          <p:spPr>
            <a:xfrm>
              <a:off x="65341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66711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165" name="Line 165"/>
            <p:cNvSpPr/>
            <p:nvPr/>
          </p:nvSpPr>
          <p:spPr>
            <a:xfrm>
              <a:off x="69913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6" name="Ellipse 166"/>
            <p:cNvSpPr/>
            <p:nvPr/>
          </p:nvSpPr>
          <p:spPr>
            <a:xfrm>
              <a:off x="71818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73188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L3</a:t>
              </a:r>
            </a:p>
          </p:txBody>
        </p:sp>
        <p:sp>
          <p:nvSpPr>
            <p:cNvPr id="168" name="Line 168"/>
            <p:cNvSpPr/>
            <p:nvPr/>
          </p:nvSpPr>
          <p:spPr>
            <a:xfrm>
              <a:off x="76390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9" name="Ellipse 169"/>
            <p:cNvSpPr/>
            <p:nvPr/>
          </p:nvSpPr>
          <p:spPr>
            <a:xfrm>
              <a:off x="7829550" y="4314825"/>
              <a:ext cx="457200" cy="457200"/>
            </a:xfrm>
            <a:prstGeom prst="ellipse">
              <a:avLst/>
            </a:prstGeom>
            <a:solidFill>
              <a:srgbClr val="FFF3D8"/>
            </a:solidFill>
            <a:ln w="19050">
              <a:solidFill>
                <a:srgbClr val="C87919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79665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46110"/>
                  </a:solidFill>
                  <a:latin typeface="+mn-lt"/>
                  <a:ea typeface="+mn-ea"/>
                  <a:cs typeface="+mn-cs"/>
                </a:rPr>
                <a:t>L4</a:t>
              </a:r>
            </a:p>
          </p:txBody>
        </p:sp>
        <p:sp>
          <p:nvSpPr>
            <p:cNvPr id="171" name="Line 171"/>
            <p:cNvSpPr/>
            <p:nvPr/>
          </p:nvSpPr>
          <p:spPr>
            <a:xfrm>
              <a:off x="8286750" y="4543425"/>
              <a:ext cx="238125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8601075" y="4267200"/>
              <a:ext cx="11049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175" name="Group 175"/>
            <p:cNvGrpSpPr/>
            <p:nvPr/>
          </p:nvGrpSpPr>
          <p:grpSpPr>
            <a:xfrm>
              <a:off x="8741931" y="4431506"/>
              <a:ext cx="201506" cy="185737"/>
              <a:chOff x="8741931" y="4431506"/>
              <a:chExt cx="201506" cy="185737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8741931" y="443150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  <p:sp>
            <p:nvSpPr>
              <p:cNvPr id="174" name="Freeform 174"/>
              <p:cNvSpPr/>
              <p:nvPr/>
            </p:nvSpPr>
            <p:spPr>
              <a:xfrm>
                <a:off x="8879681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</p:grpSp>
        <p:sp>
          <p:nvSpPr>
            <p:cNvPr id="176" name="TextBox 176"/>
            <p:cNvSpPr txBox="1"/>
            <p:nvPr/>
          </p:nvSpPr>
          <p:spPr>
            <a:xfrm>
              <a:off x="9053322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独立审计</a:t>
              </a:r>
            </a:p>
          </p:txBody>
        </p:sp>
        <p:sp>
          <p:nvSpPr>
            <p:cNvPr id="177" name="Line 177"/>
            <p:cNvSpPr/>
            <p:nvPr/>
          </p:nvSpPr>
          <p:spPr>
            <a:xfrm>
              <a:off x="9705975" y="4543425"/>
              <a:ext cx="190500" cy="1"/>
            </a:xfrm>
            <a:prstGeom prst="line">
              <a:avLst/>
            </a:prstGeom>
            <a:noFill/>
            <a:ln w="1905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9972675" y="4267200"/>
              <a:ext cx="1571625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10144243" y="4382452"/>
              <a:ext cx="1218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质量与交付 Agent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9930135" y="4598670"/>
              <a:ext cx="16471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门控结果 · Trace · Manifest</a:t>
              </a:r>
            </a:p>
          </p:txBody>
        </p:sp>
        <p:sp>
          <p:nvSpPr>
            <p:cNvPr id="181" name="Freeform 181"/>
            <p:cNvSpPr/>
            <p:nvPr/>
          </p:nvSpPr>
          <p:spPr>
            <a:xfrm>
              <a:off x="4953000" y="3657600"/>
              <a:ext cx="3105150" cy="1600200"/>
            </a:xfrm>
            <a:custGeom>
              <a:avLst/>
              <a:gdLst/>
              <a:ahLst/>
              <a:cxnLst/>
              <a:rect l="l" t="t" r="r" b="b"/>
              <a:pathLst>
                <a:path w="3105150" h="1600200">
                  <a:moveTo>
                    <a:pt x="3105150" y="1200150"/>
                  </a:moveTo>
                  <a:cubicBezTo>
                    <a:pt x="2857500" y="1562100"/>
                    <a:pt x="1466850" y="1600200"/>
                    <a:pt x="762000" y="1390650"/>
                  </a:cubicBezTo>
                  <a:cubicBezTo>
                    <a:pt x="266700" y="1238250"/>
                    <a:pt x="76200" y="400050"/>
                    <a:pt x="0" y="0"/>
                  </a:cubicBezTo>
                </a:path>
              </a:pathLst>
            </a:custGeom>
            <a:noFill/>
            <a:ln w="19050">
              <a:solidFill>
                <a:srgbClr val="C87919"/>
              </a:solidFill>
              <a:tailEnd type="triangle" w="lg" len="lg"/>
            </a:ln>
          </p:spPr>
        </p:sp>
        <p:sp>
          <p:nvSpPr>
            <p:cNvPr id="182" name="Rectangle 182"/>
            <p:cNvSpPr/>
            <p:nvPr/>
          </p:nvSpPr>
          <p:spPr>
            <a:xfrm>
              <a:off x="5486400" y="4914900"/>
              <a:ext cx="2743200" cy="2286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 w="9525">
              <a:solidFill>
                <a:srgbClr val="C87919"/>
              </a:solidFill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5351178" y="4979670"/>
              <a:ext cx="30136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门控未通过：定向补证 / 回溯再调 / 返回指定 Agent</a:t>
              </a:r>
            </a:p>
          </p:txBody>
        </p:sp>
      </p:grpSp>
      <p:grpSp>
        <p:nvGrpSpPr>
          <p:cNvPr id="224" name="Group 224"/>
          <p:cNvGrpSpPr/>
          <p:nvPr/>
        </p:nvGrpSpPr>
        <p:grpSpPr>
          <a:xfrm>
            <a:off x="457200" y="5238750"/>
            <a:ext cx="11277600" cy="1104900"/>
            <a:chOff x="457200" y="5238750"/>
            <a:chExt cx="11277600" cy="1104900"/>
          </a:xfrm>
        </p:grpSpPr>
        <p:sp>
          <p:nvSpPr>
            <p:cNvPr id="185" name="Rectangle 185"/>
            <p:cNvSpPr/>
            <p:nvPr/>
          </p:nvSpPr>
          <p:spPr>
            <a:xfrm>
              <a:off x="457200" y="52387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FF7E8"/>
            </a:solidFill>
            <a:ln w="9525">
              <a:solidFill>
                <a:srgbClr val="ECD6A9"/>
              </a:solidFill>
            </a:ln>
          </p:spPr>
        </p:sp>
        <p:sp>
          <p:nvSpPr>
            <p:cNvPr id="186" name="Rectangle 186"/>
            <p:cNvSpPr/>
            <p:nvPr/>
          </p:nvSpPr>
          <p:spPr>
            <a:xfrm>
              <a:off x="590550" y="53721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89" name="Group 189"/>
            <p:cNvGrpSpPr/>
            <p:nvPr/>
          </p:nvGrpSpPr>
          <p:grpSpPr>
            <a:xfrm>
              <a:off x="793741" y="5603875"/>
              <a:ext cx="203209" cy="203200"/>
              <a:chOff x="793741" y="5603875"/>
              <a:chExt cx="203209" cy="2032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844550" y="56546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39700" y="3404"/>
                    </a:moveTo>
                    <a:cubicBezTo>
                      <a:pt x="147558" y="7941"/>
                      <a:pt x="152399" y="16326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88" name="Freeform 188"/>
              <p:cNvSpPr/>
              <p:nvPr/>
            </p:nvSpPr>
            <p:spPr>
              <a:xfrm>
                <a:off x="793741" y="5603875"/>
                <a:ext cx="152408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8" h="152400">
                    <a:moveTo>
                      <a:pt x="12709" y="149021"/>
                    </a:moveTo>
                    <a:cubicBezTo>
                      <a:pt x="4842" y="144480"/>
                      <a:pt x="0" y="136083"/>
                      <a:pt x="9" y="127000"/>
                    </a:cubicBezTo>
                    <a:lnTo>
                      <a:pt x="9" y="25400"/>
                    </a:lnTo>
                    <a:cubicBezTo>
                      <a:pt x="9" y="11372"/>
                      <a:pt x="11381" y="0"/>
                      <a:pt x="25409" y="0"/>
                    </a:cubicBezTo>
                    <a:lnTo>
                      <a:pt x="127009" y="0"/>
                    </a:lnTo>
                    <a:cubicBezTo>
                      <a:pt x="141037" y="0"/>
                      <a:pt x="152408" y="11372"/>
                      <a:pt x="152408" y="25400"/>
                    </a:cubicBezTo>
                    <a:lnTo>
                      <a:pt x="152408" y="127000"/>
                    </a:lnTo>
                    <a:cubicBezTo>
                      <a:pt x="152408" y="141028"/>
                      <a:pt x="141037" y="152400"/>
                      <a:pt x="127009" y="152400"/>
                    </a:cubicBezTo>
                    <a:lnTo>
                      <a:pt x="88909" y="152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90" name="TextBox 190"/>
            <p:cNvSpPr txBox="1"/>
            <p:nvPr/>
          </p:nvSpPr>
          <p:spPr>
            <a:xfrm>
              <a:off x="1137285" y="54983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企业运行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1137285" y="572690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与成果交付层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738188" y="59797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6DF"/>
                  </a:solidFill>
                  <a:latin typeface="+mn-lt"/>
                  <a:ea typeface="+mn-ea"/>
                  <a:cs typeface="+mn-cs"/>
                </a:rPr>
                <a:t>运行 · 工作台 · 成果包</a:t>
              </a:r>
            </a:p>
          </p:txBody>
        </p:sp>
        <p:sp>
          <p:nvSpPr>
            <p:cNvPr id="193" name="Rectangle 193"/>
            <p:cNvSpPr/>
            <p:nvPr/>
          </p:nvSpPr>
          <p:spPr>
            <a:xfrm>
              <a:off x="2362200" y="5514975"/>
              <a:ext cx="78105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2637617" y="5630228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API</a:t>
              </a:r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2505646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任务接口</a:t>
              </a:r>
            </a:p>
          </p:txBody>
        </p:sp>
        <p:sp>
          <p:nvSpPr>
            <p:cNvPr id="196" name="Line 196"/>
            <p:cNvSpPr/>
            <p:nvPr/>
          </p:nvSpPr>
          <p:spPr>
            <a:xfrm>
              <a:off x="31432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97" name="Rectangle 197"/>
            <p:cNvSpPr/>
            <p:nvPr/>
          </p:nvSpPr>
          <p:spPr>
            <a:xfrm>
              <a:off x="335280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8" name="TextBox 198"/>
            <p:cNvSpPr txBox="1"/>
            <p:nvPr/>
          </p:nvSpPr>
          <p:spPr>
            <a:xfrm>
              <a:off x="3564220" y="5630228"/>
              <a:ext cx="453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Queue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348329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00" name="Line 200"/>
            <p:cNvSpPr/>
            <p:nvPr/>
          </p:nvSpPr>
          <p:spPr>
            <a:xfrm>
              <a:off x="42291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1" name="Rectangle 201"/>
            <p:cNvSpPr/>
            <p:nvPr/>
          </p:nvSpPr>
          <p:spPr>
            <a:xfrm>
              <a:off x="44386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2" name="TextBox 202"/>
            <p:cNvSpPr txBox="1"/>
            <p:nvPr/>
          </p:nvSpPr>
          <p:spPr>
            <a:xfrm>
              <a:off x="4609283" y="5630228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Worker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456914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跨进程执行</a:t>
              </a:r>
            </a:p>
          </p:txBody>
        </p:sp>
        <p:sp>
          <p:nvSpPr>
            <p:cNvPr id="204" name="Line 204"/>
            <p:cNvSpPr/>
            <p:nvPr/>
          </p:nvSpPr>
          <p:spPr>
            <a:xfrm>
              <a:off x="53149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5524500" y="5514975"/>
              <a:ext cx="11430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5667268" y="5638324"/>
              <a:ext cx="857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React 工作台</a:t>
              </a:r>
            </a:p>
          </p:txBody>
        </p:sp>
        <p:sp>
          <p:nvSpPr>
            <p:cNvPr id="207" name="TextBox 207"/>
            <p:cNvSpPr txBox="1"/>
            <p:nvPr/>
          </p:nvSpPr>
          <p:spPr>
            <a:xfrm>
              <a:off x="5588432" y="58464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 / 交互 / 评审</a:t>
              </a:r>
            </a:p>
          </p:txBody>
        </p:sp>
        <p:sp>
          <p:nvSpPr>
            <p:cNvPr id="208" name="Line 208"/>
            <p:cNvSpPr/>
            <p:nvPr/>
          </p:nvSpPr>
          <p:spPr>
            <a:xfrm>
              <a:off x="66675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9" name="Rectangle 209"/>
            <p:cNvSpPr/>
            <p:nvPr/>
          </p:nvSpPr>
          <p:spPr>
            <a:xfrm>
              <a:off x="68770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7171723" y="5638324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报告</a:t>
              </a:r>
            </a:p>
          </p:txBody>
        </p:sp>
        <p:sp>
          <p:nvSpPr>
            <p:cNvPr id="211" name="TextBox 211"/>
            <p:cNvSpPr txBox="1"/>
            <p:nvPr/>
          </p:nvSpPr>
          <p:spPr>
            <a:xfrm>
              <a:off x="706812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深度研究</a:t>
              </a:r>
            </a:p>
          </p:txBody>
        </p:sp>
        <p:sp>
          <p:nvSpPr>
            <p:cNvPr id="212" name="Line 212"/>
            <p:cNvSpPr/>
            <p:nvPr/>
          </p:nvSpPr>
          <p:spPr>
            <a:xfrm>
              <a:off x="77533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3" name="Rectangle 213"/>
            <p:cNvSpPr/>
            <p:nvPr/>
          </p:nvSpPr>
          <p:spPr>
            <a:xfrm>
              <a:off x="7962900" y="5514975"/>
              <a:ext cx="952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4" name="TextBox 214"/>
            <p:cNvSpPr txBox="1"/>
            <p:nvPr/>
          </p:nvSpPr>
          <p:spPr>
            <a:xfrm>
              <a:off x="8157149" y="56383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成果矩阵</a:t>
              </a:r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819207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216" name="Line 216"/>
            <p:cNvSpPr/>
            <p:nvPr/>
          </p:nvSpPr>
          <p:spPr>
            <a:xfrm>
              <a:off x="89154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9124950" y="5514975"/>
              <a:ext cx="8382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9346470" y="5638324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Trace</a:t>
              </a:r>
            </a:p>
          </p:txBody>
        </p:sp>
        <p:sp>
          <p:nvSpPr>
            <p:cNvPr id="219" name="TextBox 219"/>
            <p:cNvSpPr txBox="1"/>
            <p:nvPr/>
          </p:nvSpPr>
          <p:spPr>
            <a:xfrm>
              <a:off x="9296972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全链追溯</a:t>
              </a:r>
            </a:p>
          </p:txBody>
        </p:sp>
        <p:sp>
          <p:nvSpPr>
            <p:cNvPr id="220" name="Line 220"/>
            <p:cNvSpPr/>
            <p:nvPr/>
          </p:nvSpPr>
          <p:spPr>
            <a:xfrm>
              <a:off x="99631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1" name="Rectangle 221"/>
            <p:cNvSpPr/>
            <p:nvPr/>
          </p:nvSpPr>
          <p:spPr>
            <a:xfrm>
              <a:off x="10172700" y="5514975"/>
              <a:ext cx="1371600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2" name="TextBox 222"/>
            <p:cNvSpPr txBox="1"/>
            <p:nvPr/>
          </p:nvSpPr>
          <p:spPr>
            <a:xfrm>
              <a:off x="10192618" y="5638324"/>
              <a:ext cx="13317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Manifest / SHA-256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10369105" y="58464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可校验成果交付包</a:t>
              </a:r>
            </a:p>
          </p:txBody>
        </p:sp>
      </p:grpSp>
      <p:sp>
        <p:nvSpPr>
          <p:cNvPr id="225" name="TextBox 225"/>
          <p:cNvSpPr txBox="1"/>
          <p:nvPr/>
        </p:nvSpPr>
        <p:spPr>
          <a:xfrm>
            <a:off x="114977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505778"/>
            <a:ext cx="11101772" cy="698373"/>
            <a:chOff x="501396" y="505778"/>
            <a:chExt cx="11101772" cy="698373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505778"/>
              <a:ext cx="111017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三条已落地路线提供稳定入口，A–H 八分支提供扩展面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成熟路线保证稳定执行，动态分支根据任务主题、交互模式与覆盖缺口生成差异化研究蓝图。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" y="1428750"/>
            <a:ext cx="11410950" cy="1238250"/>
            <a:chOff x="552450" y="1428750"/>
            <a:chExt cx="11410950" cy="1238250"/>
          </a:xfrm>
        </p:grpSpPr>
        <p:sp>
          <p:nvSpPr>
            <p:cNvPr id="5" name="Rectangle 5"/>
            <p:cNvSpPr/>
            <p:nvPr/>
          </p:nvSpPr>
          <p:spPr>
            <a:xfrm>
              <a:off x="5524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850106" y="1783556"/>
              <a:ext cx="300038" cy="300038"/>
              <a:chOff x="850106" y="1783556"/>
              <a:chExt cx="300038" cy="3000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501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834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667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381125" y="1683544"/>
              <a:ext cx="13477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3792" y="20640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从新战法与体系效应推导能力需求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679156" y="1783556"/>
              <a:ext cx="300038" cy="300038"/>
              <a:chOff x="4679156" y="1783556"/>
              <a:chExt cx="300038" cy="30003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67915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251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9583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1017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284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从现有能力与任务约束识别发展缺口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2105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508206" y="1783556"/>
              <a:ext cx="300038" cy="300038"/>
              <a:chOff x="8508206" y="1783556"/>
              <a:chExt cx="300038" cy="3000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5082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415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6248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03922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4189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从案例规律与未来场景映射新兴装备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266950" y="2609850"/>
            <a:ext cx="9124950" cy="3638550"/>
            <a:chOff x="2266950" y="2609850"/>
            <a:chExt cx="9124950" cy="3638550"/>
          </a:xfrm>
        </p:grpSpPr>
        <p:sp>
          <p:nvSpPr>
            <p:cNvPr id="27" name="Freeform 27"/>
            <p:cNvSpPr/>
            <p:nvPr/>
          </p:nvSpPr>
          <p:spPr>
            <a:xfrm>
              <a:off x="2266950" y="2952750"/>
              <a:ext cx="7658100" cy="2095500"/>
            </a:xfrm>
            <a:custGeom>
              <a:avLst/>
              <a:gdLst/>
              <a:ahLst/>
              <a:cxnLst/>
              <a:rect l="l" t="t" r="r" b="b"/>
              <a:pathLst>
                <a:path w="7658100" h="2095500">
                  <a:moveTo>
                    <a:pt x="0" y="2095500"/>
                  </a:moveTo>
                  <a:cubicBezTo>
                    <a:pt x="552450" y="533400"/>
                    <a:pt x="2171700" y="0"/>
                    <a:pt x="3829050" y="381000"/>
                  </a:cubicBezTo>
                  <a:cubicBezTo>
                    <a:pt x="5505450" y="0"/>
                    <a:pt x="7124700" y="552450"/>
                    <a:pt x="7658100" y="2095500"/>
                  </a:cubicBezTo>
                </a:path>
              </a:pathLst>
            </a:custGeom>
            <a:noFill/>
            <a:ln w="57150">
              <a:solidFill>
                <a:srgbClr val="D7E0E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314950" y="3505200"/>
              <a:ext cx="1562100" cy="15621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1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907087" y="3749675"/>
              <a:ext cx="377825" cy="512762"/>
              <a:chOff x="5907087" y="3749675"/>
              <a:chExt cx="377825" cy="5127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934075" y="3803650"/>
                <a:ext cx="3238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215900">
                    <a:moveTo>
                      <a:pt x="0" y="53975"/>
                    </a:moveTo>
                    <a:cubicBezTo>
                      <a:pt x="0" y="24165"/>
                      <a:pt x="24165" y="0"/>
                      <a:pt x="53975" y="0"/>
                    </a:cubicBezTo>
                    <a:lnTo>
                      <a:pt x="269875" y="0"/>
                    </a:lnTo>
                    <a:cubicBezTo>
                      <a:pt x="299684" y="0"/>
                      <a:pt x="323850" y="24165"/>
                      <a:pt x="323850" y="53975"/>
                    </a:cubicBezTo>
                    <a:lnTo>
                      <a:pt x="323850" y="161925"/>
                    </a:lnTo>
                    <a:cubicBezTo>
                      <a:pt x="323850" y="191734"/>
                      <a:pt x="299684" y="215900"/>
                      <a:pt x="269875" y="215900"/>
                    </a:cubicBezTo>
                    <a:lnTo>
                      <a:pt x="53975" y="215900"/>
                    </a:lnTo>
                    <a:cubicBezTo>
                      <a:pt x="24165" y="215900"/>
                      <a:pt x="0" y="191734"/>
                      <a:pt x="0" y="161925"/>
                    </a:cubicBez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096000" y="374967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15037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176962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07087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107950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176962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0"/>
                    </a:moveTo>
                    <a:lnTo>
                      <a:pt x="10795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15037" y="418147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04202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14997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437143" y="4472940"/>
              <a:ext cx="1317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19496" y="480441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选择 · 补齐 · 编排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181350" y="3048000"/>
              <a:ext cx="5829300" cy="2667000"/>
            </a:xfrm>
            <a:custGeom>
              <a:avLst/>
              <a:gdLst/>
              <a:ahLst/>
              <a:cxnLst/>
              <a:rect l="l" t="t" r="r" b="b"/>
              <a:pathLst>
                <a:path w="5829300" h="2667000">
                  <a:moveTo>
                    <a:pt x="2438400" y="762000"/>
                  </a:moveTo>
                  <a:lnTo>
                    <a:pt x="0" y="266700"/>
                  </a:lnTo>
                  <a:moveTo>
                    <a:pt x="2724150" y="495300"/>
                  </a:moveTo>
                  <a:lnTo>
                    <a:pt x="1676400" y="0"/>
                  </a:lnTo>
                  <a:moveTo>
                    <a:pt x="3105150" y="495300"/>
                  </a:moveTo>
                  <a:lnTo>
                    <a:pt x="4152900" y="0"/>
                  </a:lnTo>
                  <a:moveTo>
                    <a:pt x="3390900" y="762000"/>
                  </a:moveTo>
                  <a:lnTo>
                    <a:pt x="5829300" y="266700"/>
                  </a:lnTo>
                  <a:moveTo>
                    <a:pt x="2228850" y="1409700"/>
                  </a:moveTo>
                  <a:lnTo>
                    <a:pt x="133350" y="2209800"/>
                  </a:lnTo>
                  <a:moveTo>
                    <a:pt x="2533650" y="1809750"/>
                  </a:moveTo>
                  <a:lnTo>
                    <a:pt x="1828800" y="2667000"/>
                  </a:lnTo>
                  <a:moveTo>
                    <a:pt x="3295650" y="1809750"/>
                  </a:moveTo>
                  <a:lnTo>
                    <a:pt x="4000500" y="2667000"/>
                  </a:lnTo>
                  <a:moveTo>
                    <a:pt x="3600450" y="1409700"/>
                  </a:moveTo>
                  <a:lnTo>
                    <a:pt x="5695950" y="2209800"/>
                  </a:lnTo>
                </a:path>
              </a:pathLst>
            </a:custGeom>
            <a:noFill/>
            <a:ln w="19050">
              <a:solidFill>
                <a:srgbClr val="7AA2B5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2495550" y="2819400"/>
              <a:ext cx="800100" cy="800100"/>
              <a:chOff x="2495550" y="2819400"/>
              <a:chExt cx="800100" cy="8001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24955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28194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647188" y="331851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新战法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4286250" y="2609850"/>
              <a:ext cx="800100" cy="800100"/>
              <a:chOff x="4286250" y="2609850"/>
              <a:chExt cx="800100" cy="80010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4286250" y="260985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6101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3571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传统缺口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105650" y="2609850"/>
              <a:ext cx="800100" cy="800100"/>
              <a:chOff x="7105650" y="2609850"/>
              <a:chExt cx="800100" cy="8001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7105650" y="2609850"/>
                <a:ext cx="800100" cy="800100"/>
              </a:xfrm>
              <a:prstGeom prst="ellipse">
                <a:avLst/>
              </a:prstGeom>
              <a:solidFill>
                <a:srgbClr val="FFF3D8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4295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A87312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1765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案例经验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896350" y="2819400"/>
              <a:ext cx="800100" cy="800100"/>
              <a:chOff x="8896350" y="2819400"/>
              <a:chExt cx="800100" cy="80010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88963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2202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967216" y="33185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技术驱动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609850" y="5029200"/>
              <a:ext cx="800100" cy="800100"/>
              <a:chOff x="2609850" y="5029200"/>
              <a:chExt cx="800100" cy="8001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26098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29337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680716" y="55283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对手动向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4457700" y="5448300"/>
              <a:ext cx="800100" cy="800100"/>
              <a:chOff x="4457700" y="5448300"/>
              <a:chExt cx="800100" cy="800100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44577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7816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F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5285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体系对抗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6934200" y="5448300"/>
              <a:ext cx="800100" cy="800100"/>
              <a:chOff x="6934200" y="5448300"/>
              <a:chExt cx="800100" cy="800100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69342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2581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G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0050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跨域融合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772144" y="5029200"/>
              <a:ext cx="819912" cy="800100"/>
              <a:chOff x="8772144" y="5029200"/>
              <a:chExt cx="819912" cy="800100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87820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91059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H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772144" y="55283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非传统安全</a:t>
                </a:r>
              </a:p>
            </p:txBody>
          </p:sp>
        </p:grpSp>
        <p:sp>
          <p:nvSpPr>
            <p:cNvPr id="74" name="Rectangle 74"/>
            <p:cNvSpPr/>
            <p:nvPr/>
          </p:nvSpPr>
          <p:spPr>
            <a:xfrm>
              <a:off x="9906000" y="4210050"/>
              <a:ext cx="1485900" cy="819150"/>
            </a:xfrm>
            <a:prstGeom prst="roundRect">
              <a:avLst>
                <a:gd name="adj" fmla="val 209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481310" y="4366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111264" y="4600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差异化蓝图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078212" y="48587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覆盖缺口显式披露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1176164" cy="706470"/>
            <a:chOff x="501015" y="497681"/>
            <a:chExt cx="11176164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1176164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动态 Registry 与独立受控会话让协作可替换、可并发、可恢复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754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多智能体不是“多次调用”，而是一套具备隔离、预算、权限、并发和恢复边界的运行 Harness。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466850"/>
            <a:ext cx="2743200" cy="4095750"/>
            <a:chOff x="533400" y="1466850"/>
            <a:chExt cx="2743200" cy="4095750"/>
          </a:xfrm>
        </p:grpSpPr>
        <p:sp>
          <p:nvSpPr>
            <p:cNvPr id="5" name="Rectangle 5"/>
            <p:cNvSpPr/>
            <p:nvPr/>
          </p:nvSpPr>
          <p:spPr>
            <a:xfrm>
              <a:off x="533400" y="1466850"/>
              <a:ext cx="2743200" cy="4095750"/>
            </a:xfrm>
            <a:prstGeom prst="roundRect">
              <a:avLst>
                <a:gd name="adj" fmla="val 8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68362" y="1749425"/>
              <a:ext cx="244475" cy="331787"/>
              <a:chOff x="868362" y="1749425"/>
              <a:chExt cx="244475" cy="33178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85825" y="178435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3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3"/>
                      <a:pt x="193913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3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90600" y="174942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8212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42987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8362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42987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8212" y="2028824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567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2552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88161" y="1827371"/>
              <a:ext cx="1937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 Agent Registry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192" y="23117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角色不写死在编排器中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1050" y="27241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2924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默认角色可全选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81050" y="346710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667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按任务选择子集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" y="42100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4100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通过配置替换角色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954" y="5090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缺失 coverage 明确呈现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600450" y="1466850"/>
            <a:ext cx="4019550" cy="4095750"/>
            <a:chOff x="3600450" y="1466850"/>
            <a:chExt cx="4019550" cy="4095750"/>
          </a:xfrm>
        </p:grpSpPr>
        <p:sp>
          <p:nvSpPr>
            <p:cNvPr id="26" name="Rectangle 26"/>
            <p:cNvSpPr/>
            <p:nvPr/>
          </p:nvSpPr>
          <p:spPr>
            <a:xfrm>
              <a:off x="3600450" y="1466850"/>
              <a:ext cx="4019550" cy="4095750"/>
            </a:xfrm>
            <a:prstGeom prst="roundRect">
              <a:avLst>
                <a:gd name="adj" fmla="val 5687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38575" y="1683544"/>
              <a:ext cx="333809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 Agent 的独立受控沙箱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848100" y="2152650"/>
              <a:ext cx="3562807" cy="819150"/>
              <a:chOff x="3848100" y="2152650"/>
              <a:chExt cx="3562807" cy="8191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848100" y="21526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000500" y="23336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129712" y="25088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01718" y="2298382"/>
                <a:ext cx="2414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上下文与 Session 隔离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04004" y="2632710"/>
                <a:ext cx="28069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独立投影 · 独立追加 · 原始会话不外泄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848100" y="3124200"/>
              <a:ext cx="3377032" cy="819150"/>
              <a:chOff x="3848100" y="3124200"/>
              <a:chExt cx="3377032" cy="8191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48100" y="312420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000500" y="3305175"/>
                <a:ext cx="457200" cy="45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129712" y="34804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01718" y="3269932"/>
                <a:ext cx="21158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工具权限与预算约束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04004" y="3604260"/>
                <a:ext cx="26211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执行层强制最小权限 · 有界资源消耗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848100" y="4095750"/>
              <a:ext cx="3276600" cy="819150"/>
              <a:chOff x="3848100" y="4095750"/>
              <a:chExt cx="3276600" cy="8191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848100" y="40957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000500" y="427672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129712" y="44519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601718" y="4241482"/>
                <a:ext cx="24912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Checkpoint 与输出目录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04004" y="4575810"/>
                <a:ext cx="1837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可恢复 · 可交接 · 可审计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7943850" y="1466850"/>
            <a:ext cx="3714750" cy="4095750"/>
            <a:chOff x="7943850" y="1466850"/>
            <a:chExt cx="3714750" cy="4095750"/>
          </a:xfrm>
        </p:grpSpPr>
        <p:sp>
          <p:nvSpPr>
            <p:cNvPr id="47" name="Rectangle 47"/>
            <p:cNvSpPr/>
            <p:nvPr/>
          </p:nvSpPr>
          <p:spPr>
            <a:xfrm>
              <a:off x="7943850" y="1466850"/>
              <a:ext cx="3714750" cy="409575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81975" y="1683544"/>
              <a:ext cx="182470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有界并发 Wave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496300" y="25336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477250" y="224790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250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505950" y="2247900"/>
              <a:ext cx="571500" cy="571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537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10534650" y="2247900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824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305800" y="314325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562975" y="3371850"/>
              <a:ext cx="285751" cy="285751"/>
              <a:chOff x="8562975" y="3371850"/>
              <a:chExt cx="285751" cy="28575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674100" y="3498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642350" y="3609976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95250" y="0"/>
                    </a:lnTo>
                    <a:cubicBezTo>
                      <a:pt x="112785" y="0"/>
                      <a:pt x="127000" y="14215"/>
                      <a:pt x="127000" y="31750"/>
                    </a:cubicBezTo>
                    <a:lnTo>
                      <a:pt x="1270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5347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85226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0"/>
                    </a:moveTo>
                    <a:lnTo>
                      <a:pt x="31750" y="0"/>
                    </a:lnTo>
                    <a:cubicBezTo>
                      <a:pt x="49285" y="0"/>
                      <a:pt x="63500" y="14215"/>
                      <a:pt x="63500" y="31750"/>
                    </a:cubicBezTo>
                    <a:lnTo>
                      <a:pt x="635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59472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562975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040749" y="3278029"/>
              <a:ext cx="23464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Subagent map-reduce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42654" y="3604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并行研究后结构化汇聚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305800" y="407670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594725" y="4321175"/>
              <a:ext cx="238125" cy="254001"/>
              <a:chOff x="8594725" y="4321175"/>
              <a:chExt cx="238125" cy="25400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594725" y="45116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59472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5347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626475" y="4384675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58225" y="4432300"/>
                <a:ext cx="1270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11125">
                    <a:moveTo>
                      <a:pt x="0" y="111125"/>
                    </a:moveTo>
                    <a:lnTo>
                      <a:pt x="95250" y="111125"/>
                    </a:lnTo>
                    <a:cubicBezTo>
                      <a:pt x="112785" y="111125"/>
                      <a:pt x="127000" y="96910"/>
                      <a:pt x="127000" y="7937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37600" y="4432300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47625" y="0"/>
                    </a:lnTo>
                    <a:lnTo>
                      <a:pt x="95250" y="4762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040749" y="4211479"/>
              <a:ext cx="16128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结构化 handoff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42654" y="45377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失败恢复 · 定向续跑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71550" y="5829300"/>
            <a:ext cx="10248900" cy="457200"/>
            <a:chOff x="971550" y="5829300"/>
            <a:chExt cx="10248900" cy="457200"/>
          </a:xfrm>
        </p:grpSpPr>
        <p:sp>
          <p:nvSpPr>
            <p:cNvPr id="77" name="Rectangle 77"/>
            <p:cNvSpPr/>
            <p:nvPr/>
          </p:nvSpPr>
          <p:spPr>
            <a:xfrm>
              <a:off x="971550" y="5829300"/>
              <a:ext cx="10248900" cy="4572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420090" y="5946458"/>
              <a:ext cx="7351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可替换角色 + 独立受控会话 + 有界并发与恢复 = 可治理的多智能体协作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6750" y="1695450"/>
            <a:ext cx="10687050" cy="3638550"/>
          </a:xfrm>
          <a:custGeom>
            <a:avLst/>
            <a:gdLst/>
            <a:ahLst/>
            <a:cxnLst/>
            <a:rect l="l" t="t" r="r" b="b"/>
            <a:pathLst>
              <a:path w="10687050" h="3638550">
                <a:moveTo>
                  <a:pt x="0" y="3638550"/>
                </a:moveTo>
                <a:lnTo>
                  <a:pt x="1524000" y="2305050"/>
                </a:lnTo>
                <a:lnTo>
                  <a:pt x="3162300" y="2914650"/>
                </a:lnTo>
                <a:lnTo>
                  <a:pt x="4705350" y="1295400"/>
                </a:lnTo>
                <a:lnTo>
                  <a:pt x="6457950" y="2114550"/>
                </a:lnTo>
                <a:lnTo>
                  <a:pt x="8115300" y="571500"/>
                </a:lnTo>
                <a:lnTo>
                  <a:pt x="10687050" y="1447800"/>
                </a:lnTo>
                <a:moveTo>
                  <a:pt x="571500" y="685800"/>
                </a:moveTo>
                <a:lnTo>
                  <a:pt x="2095500" y="1504950"/>
                </a:lnTo>
                <a:lnTo>
                  <a:pt x="3810000" y="457200"/>
                </a:lnTo>
                <a:lnTo>
                  <a:pt x="5524500" y="1085850"/>
                </a:lnTo>
                <a:lnTo>
                  <a:pt x="7334250" y="0"/>
                </a:lnTo>
                <a:lnTo>
                  <a:pt x="9906000" y="342900"/>
                </a:lnTo>
              </a:path>
            </a:pathLst>
          </a:custGeom>
          <a:noFill/>
          <a:ln w="19050">
            <a:solidFill>
              <a:srgbClr val="D7E0EA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00634" y="489585"/>
            <a:ext cx="10824461" cy="714566"/>
            <a:chOff x="500634" y="489585"/>
            <a:chExt cx="10824461" cy="714566"/>
          </a:xfrm>
        </p:grpSpPr>
        <p:sp>
          <p:nvSpPr>
            <p:cNvPr id="3" name="TextBox 3"/>
            <p:cNvSpPr txBox="1"/>
            <p:nvPr/>
          </p:nvSpPr>
          <p:spPr>
            <a:xfrm>
              <a:off x="500634" y="489585"/>
              <a:ext cx="108244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S1–S6 将研究材料逐级转化为制胜机理与能力画像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6594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六类专业 Agent 固化行业推理链，而不是在通用 Deep Research 外层简单套壳。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45592" y="1187768"/>
            <a:ext cx="10503408" cy="4327588"/>
            <a:chOff x="545592" y="1187768"/>
            <a:chExt cx="10503408" cy="4327588"/>
          </a:xfrm>
        </p:grpSpPr>
        <p:sp>
          <p:nvSpPr>
            <p:cNvPr id="6" name="Freeform 6"/>
            <p:cNvSpPr/>
            <p:nvPr/>
          </p:nvSpPr>
          <p:spPr>
            <a:xfrm>
              <a:off x="1238250" y="1790700"/>
              <a:ext cx="9658350" cy="2781300"/>
            </a:xfrm>
            <a:custGeom>
              <a:avLst/>
              <a:gdLst/>
              <a:ahLst/>
              <a:cxnLst/>
              <a:rect l="l" t="t" r="r" b="b"/>
              <a:pathLst>
                <a:path w="9658350" h="2781300">
                  <a:moveTo>
                    <a:pt x="0" y="2781300"/>
                  </a:moveTo>
                  <a:cubicBezTo>
                    <a:pt x="1562100" y="2686050"/>
                    <a:pt x="2152650" y="2305050"/>
                    <a:pt x="3048000" y="1885950"/>
                  </a:cubicBezTo>
                  <a:cubicBezTo>
                    <a:pt x="4324350" y="1295400"/>
                    <a:pt x="5429250" y="1162050"/>
                    <a:pt x="6515100" y="876300"/>
                  </a:cubicBezTo>
                  <a:cubicBezTo>
                    <a:pt x="7620000" y="590550"/>
                    <a:pt x="8477250" y="400050"/>
                    <a:pt x="9658350" y="0"/>
                  </a:cubicBezTo>
                </a:path>
              </a:pathLst>
            </a:custGeom>
            <a:noFill/>
            <a:ln w="171450" cap="rnd">
              <a:solidFill>
                <a:srgbClr val="D7E0EA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47700" y="3981450"/>
              <a:ext cx="1181100" cy="1533906"/>
              <a:chOff x="647700" y="3981450"/>
              <a:chExt cx="1181100" cy="1533906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47700" y="3981450"/>
                <a:ext cx="1181100" cy="1181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41997" y="42148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67918" y="46358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对手分析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6178" y="52806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威胁 · 约束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457450" y="3676650"/>
              <a:ext cx="1181100" cy="1533906"/>
              <a:chOff x="2457450" y="3676650"/>
              <a:chExt cx="1181100" cy="1533906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457450" y="3676650"/>
                <a:ext cx="1181100" cy="1181100"/>
              </a:xfrm>
              <a:prstGeom prst="ellipse">
                <a:avLst/>
              </a:prstGeom>
              <a:solidFill>
                <a:srgbClr val="174D7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851747" y="3910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77668" y="43310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运用审查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25928" y="4975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任务 · 场景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267200" y="2914650"/>
              <a:ext cx="1181100" cy="1533906"/>
              <a:chOff x="4267200" y="2914650"/>
              <a:chExt cx="1181100" cy="1533906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4267200" y="2914650"/>
                <a:ext cx="1181100" cy="1181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661497" y="3148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96550" y="35690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E7F6F8"/>
                    </a:solidFill>
                    <a:latin typeface="+mn-lt"/>
                    <a:ea typeface="+mn-ea"/>
                    <a:cs typeface="+mn-cs"/>
                  </a:rPr>
                  <a:t>突破口思考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35678" y="4213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规律 · 因果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076950" y="2400300"/>
              <a:ext cx="1181100" cy="1533906"/>
              <a:chOff x="6076950" y="2400300"/>
              <a:chExt cx="1181100" cy="153390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076950" y="2400300"/>
                <a:ext cx="1181100" cy="1181100"/>
              </a:xfrm>
              <a:prstGeom prst="ellipse">
                <a:avLst/>
              </a:prstGeom>
              <a:solidFill>
                <a:srgbClr val="3E95A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471247" y="263366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297168" y="30546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0FBFC"/>
                    </a:solidFill>
                    <a:latin typeface="+mn-lt"/>
                    <a:ea typeface="+mn-ea"/>
                    <a:cs typeface="+mn-cs"/>
                  </a:rPr>
                  <a:t>能力映射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45428" y="369951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效果 → 功能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86700" y="1885950"/>
              <a:ext cx="1181100" cy="1533906"/>
              <a:chOff x="7886700" y="1885950"/>
              <a:chExt cx="1181100" cy="153390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886700" y="1885950"/>
                <a:ext cx="1181100" cy="1181100"/>
              </a:xfrm>
              <a:prstGeom prst="ellipse">
                <a:avLst/>
              </a:prstGeom>
              <a:solidFill>
                <a:srgbClr val="B9822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80997" y="21193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16049" y="25403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现状与差距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55178" y="31851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边界 · 缺口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620250" y="1276350"/>
              <a:ext cx="1333500" cy="1686306"/>
              <a:chOff x="9620250" y="1276350"/>
              <a:chExt cx="1333500" cy="1686306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9620250" y="1276350"/>
                <a:ext cx="1333500" cy="1333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077663" y="1550670"/>
                <a:ext cx="41867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77606" y="1998821"/>
                <a:ext cx="12187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能力图像综合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22612" y="272796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优先级 · 验证建议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45592" y="2102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研究材料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52450" y="24003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55642" y="1759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制胜机理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4762500" y="20574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13292" y="1187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820150" y="148590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2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895350" y="5619750"/>
            <a:ext cx="10401300" cy="697039"/>
            <a:chOff x="895350" y="5619750"/>
            <a:chExt cx="10401300" cy="697039"/>
          </a:xfrm>
        </p:grpSpPr>
        <p:sp>
          <p:nvSpPr>
            <p:cNvPr id="44" name="Rectangle 44"/>
            <p:cNvSpPr/>
            <p:nvPr/>
          </p:nvSpPr>
          <p:spPr>
            <a:xfrm>
              <a:off x="895350" y="5619750"/>
              <a:ext cx="10401300" cy="647700"/>
            </a:xfrm>
            <a:prstGeom prst="roundRect">
              <a:avLst>
                <a:gd name="adj" fmla="val 32353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25668" y="575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链路产出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84228" y="5994082"/>
              <a:ext cx="7223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规律 · 场景 · 因果机制 · 能力需求 · 指标边界 · 装备形态 · 验证建议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0978940" cy="706470"/>
            <a:chOff x="501015" y="497681"/>
            <a:chExt cx="10978940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0978940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L1–L4 把补证、回溯和强度调整限制在可审计边界内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系统不是无限自我反思，而是按缺口触发分层、定向、有上限的纠偏。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5207" y="1204332"/>
            <a:ext cx="4925586" cy="4925586"/>
            <a:chOff x="585207" y="1204332"/>
            <a:chExt cx="4925586" cy="4925586"/>
          </a:xfrm>
        </p:grpSpPr>
        <p:sp>
          <p:nvSpPr>
            <p:cNvPr id="5" name="Ellipse 5"/>
            <p:cNvSpPr/>
            <p:nvPr/>
          </p:nvSpPr>
          <p:spPr>
            <a:xfrm rot="-4680000">
              <a:off x="971550" y="1590675"/>
              <a:ext cx="4152900" cy="4152900"/>
            </a:xfrm>
            <a:prstGeom prst="ellipse">
              <a:avLst/>
            </a:prstGeom>
            <a:solidFill>
              <a:srgbClr val="FFFFFF"/>
            </a:solidFill>
            <a:ln w="285750">
              <a:solidFill>
                <a:schemeClr val="accent2"/>
              </a:solidFill>
              <a:custDash>
                <a:ds d="3933333" sp="633333"/>
              </a:custDash>
            </a:ln>
          </p:spPr>
        </p:sp>
        <p:sp>
          <p:nvSpPr>
            <p:cNvPr id="6" name="Ellipse 6"/>
            <p:cNvSpPr/>
            <p:nvPr/>
          </p:nvSpPr>
          <p:spPr>
            <a:xfrm rot="-3240000">
              <a:off x="1466850" y="2085975"/>
              <a:ext cx="3162300" cy="3162300"/>
            </a:xfrm>
            <a:prstGeom prst="ellipse">
              <a:avLst/>
            </a:prstGeom>
            <a:solidFill>
              <a:srgbClr val="FFFFFF"/>
            </a:solidFill>
            <a:ln w="266700">
              <a:solidFill>
                <a:schemeClr val="accent3"/>
              </a:solidFill>
              <a:custDash>
                <a:ds d="3142857" sp="585714"/>
              </a:custDash>
            </a:ln>
          </p:spPr>
        </p:sp>
        <p:sp>
          <p:nvSpPr>
            <p:cNvPr id="7" name="Ellipse 7"/>
            <p:cNvSpPr/>
            <p:nvPr/>
          </p:nvSpPr>
          <p:spPr>
            <a:xfrm rot="-1800000">
              <a:off x="1943100" y="2562225"/>
              <a:ext cx="2209800" cy="2209800"/>
            </a:xfrm>
            <a:prstGeom prst="ellipse">
              <a:avLst/>
            </a:prstGeom>
            <a:solidFill>
              <a:srgbClr val="FFFFFF"/>
            </a:solidFill>
            <a:ln w="247650">
              <a:solidFill>
                <a:srgbClr val="7AA2B5"/>
              </a:solidFill>
              <a:custDash>
                <a:ds d="2230769" sp="569231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2409825" y="3028950"/>
              <a:ext cx="1276350" cy="1276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51747" y="33385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6896" y="3729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节点自检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24250" y="2809875"/>
              <a:ext cx="8763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12779" y="2930842"/>
              <a:ext cx="699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L2 回溯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33550" y="1943100"/>
              <a:ext cx="1104900" cy="4000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567" y="20640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L3 外循环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48075" y="5257800"/>
              <a:ext cx="1162050" cy="40005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78667" y="53787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L4 元循环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154" y="55473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由内到外：补证 → 回溯 → 跨阶段门控 → 收敛后复核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477000" y="1428750"/>
            <a:ext cx="5181600" cy="4133850"/>
            <a:chOff x="6477000" y="1428750"/>
            <a:chExt cx="5181600" cy="4133850"/>
          </a:xfrm>
        </p:grpSpPr>
        <p:sp>
          <p:nvSpPr>
            <p:cNvPr id="19" name="Rectangle 19"/>
            <p:cNvSpPr/>
            <p:nvPr/>
          </p:nvSpPr>
          <p:spPr>
            <a:xfrm>
              <a:off x="6477000" y="1428750"/>
              <a:ext cx="5181600" cy="4133850"/>
            </a:xfrm>
            <a:prstGeom prst="roundRect">
              <a:avLst>
                <a:gd name="adj" fmla="val 55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648450" y="1707832"/>
              <a:ext cx="4853650" cy="585121"/>
              <a:chOff x="6648450" y="1707832"/>
              <a:chExt cx="4853650" cy="585121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6648450" y="173355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784479" y="19197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25868" y="1707832"/>
                <a:ext cx="18825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单节点自检与补证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27773" y="2043589"/>
                <a:ext cx="417432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触发：证据不足 / 输出缺项　动作：当前节点定向补齐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6819900" y="24574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648450" y="2698432"/>
              <a:ext cx="4483176" cy="585121"/>
              <a:chOff x="6648450" y="2698432"/>
              <a:chExt cx="4483176" cy="585121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6648450" y="2724150"/>
                <a:ext cx="495300" cy="495300"/>
              </a:xfrm>
              <a:prstGeom prst="ellipse">
                <a:avLst/>
              </a:prstGeom>
              <a:solidFill>
                <a:srgbClr val="7AA2B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84479" y="29103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25868" y="26984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相邻阶段回溯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327773" y="3034189"/>
                <a:ext cx="38038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触发：上下游矛盾　动作：回到相关阶段修正交接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6819900" y="34480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48450" y="3689032"/>
              <a:ext cx="4310863" cy="585121"/>
              <a:chOff x="6648450" y="3689032"/>
              <a:chExt cx="4310863" cy="585121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648450" y="3714750"/>
                <a:ext cx="495300" cy="49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784479" y="39009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325868" y="36890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跨阶段质量门控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327773" y="4024789"/>
                <a:ext cx="36315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触发：关键质量门失败　动作：跨阶段定向再调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6819900" y="44386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48450" y="4679632"/>
              <a:ext cx="4288104" cy="585121"/>
              <a:chOff x="6648450" y="4679632"/>
              <a:chExt cx="4288104" cy="585121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6648450" y="470535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784479" y="48915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325868" y="46796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收敛后有界复核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27773" y="5015389"/>
                <a:ext cx="36087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最多调整 2 个 A–H 次分支与 S1–S6 执行强度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047750" y="5810250"/>
            <a:ext cx="10096500" cy="495300"/>
            <a:chOff x="1047750" y="5810250"/>
            <a:chExt cx="10096500" cy="495300"/>
          </a:xfrm>
        </p:grpSpPr>
        <p:sp>
          <p:nvSpPr>
            <p:cNvPr id="44" name="Rectangle 44"/>
            <p:cNvSpPr/>
            <p:nvPr/>
          </p:nvSpPr>
          <p:spPr>
            <a:xfrm>
              <a:off x="1047750" y="5810250"/>
              <a:ext cx="10096500" cy="495300"/>
            </a:xfrm>
            <a:prstGeom prst="roundRect">
              <a:avLst>
                <a:gd name="adj" fmla="val 50000"/>
              </a:avLst>
            </a:prstGeom>
            <a:solidFill>
              <a:srgbClr val="FFF0F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1315051" y="5960269"/>
              <a:ext cx="232508" cy="214312"/>
              <a:chOff x="1315051" y="5960269"/>
              <a:chExt cx="232508" cy="21431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315051" y="59602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473994" y="61269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763649" y="5954554"/>
              <a:ext cx="75469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非法调整由 Harness 拒绝并保留原蓝图；所有回路均记录触发、动作与边界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110" y="457200"/>
            <a:ext cx="8991600" cy="746951"/>
            <a:chOff x="499110" y="457200"/>
            <a:chExt cx="8991600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99110" y="457200"/>
              <a:ext cx="89916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证据治理贯穿检索、材料化、引用和交付校验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8619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只有通过安全、材料化与质量门控的来源进入正式支撑链，交付结果可通过 Manifest 与 SHA-256 复核。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350" y="1428750"/>
            <a:ext cx="5391150" cy="4362450"/>
            <a:chOff x="514350" y="1428750"/>
            <a:chExt cx="5391150" cy="4362450"/>
          </a:xfrm>
        </p:grpSpPr>
        <p:sp>
          <p:nvSpPr>
            <p:cNvPr id="5" name="Rectangle 5"/>
            <p:cNvSpPr/>
            <p:nvPr/>
          </p:nvSpPr>
          <p:spPr>
            <a:xfrm>
              <a:off x="514350" y="1428750"/>
              <a:ext cx="5391150" cy="4362450"/>
            </a:xfrm>
            <a:prstGeom prst="roundRect">
              <a:avLst>
                <a:gd name="adj" fmla="val 524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525" y="1645444"/>
              <a:ext cx="347366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来源进入正式支撑链的四道门</a:t>
              </a:r>
            </a:p>
          </p:txBody>
        </p:sp>
        <p:sp>
          <p:nvSpPr>
            <p:cNvPr id="7" name="Polygon 7"/>
            <p:cNvSpPr/>
            <p:nvPr/>
          </p:nvSpPr>
          <p:spPr>
            <a:xfrm>
              <a:off x="933450" y="2209800"/>
              <a:ext cx="4533900" cy="628650"/>
            </a:xfrm>
            <a:custGeom>
              <a:avLst/>
              <a:gdLst/>
              <a:ahLst/>
              <a:cxnLst/>
              <a:rect l="l" t="t" r="r" b="b"/>
              <a:pathLst>
                <a:path w="4533900" h="628650">
                  <a:moveTo>
                    <a:pt x="0" y="0"/>
                  </a:moveTo>
                  <a:lnTo>
                    <a:pt x="4533900" y="0"/>
                  </a:lnTo>
                  <a:lnTo>
                    <a:pt x="4019550" y="628650"/>
                  </a:lnTo>
                  <a:lnTo>
                    <a:pt x="514350" y="6286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5306" y="2420779"/>
              <a:ext cx="4110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网络安全：SSRF 防护与公开来源约束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1447800" y="3009900"/>
              <a:ext cx="3505200" cy="628650"/>
            </a:xfrm>
            <a:custGeom>
              <a:avLst/>
              <a:gdLst/>
              <a:ahLst/>
              <a:cxnLst/>
              <a:rect l="l" t="t" r="r" b="b"/>
              <a:pathLst>
                <a:path w="3505200" h="628650">
                  <a:moveTo>
                    <a:pt x="0" y="0"/>
                  </a:moveTo>
                  <a:lnTo>
                    <a:pt x="3505200" y="0"/>
                  </a:lnTo>
                  <a:lnTo>
                    <a:pt x="3028950" y="628650"/>
                  </a:lnTo>
                  <a:lnTo>
                    <a:pt x="476250" y="628650"/>
                  </a:lnTo>
                  <a:close/>
                </a:path>
              </a:pathLst>
            </a:custGeom>
            <a:solidFill>
              <a:srgbClr val="DFF0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45807" y="3220879"/>
              <a:ext cx="31091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材料化：正文简化与位置索引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1924050" y="3810000"/>
              <a:ext cx="2552700" cy="628650"/>
            </a:xfrm>
            <a:custGeom>
              <a:avLst/>
              <a:gdLst/>
              <a:ahLst/>
              <a:cxnLst/>
              <a:rect l="l" t="t" r="r" b="b"/>
              <a:pathLst>
                <a:path w="2552700" h="628650">
                  <a:moveTo>
                    <a:pt x="0" y="0"/>
                  </a:moveTo>
                  <a:lnTo>
                    <a:pt x="2552700" y="0"/>
                  </a:lnTo>
                  <a:lnTo>
                    <a:pt x="2133600" y="628650"/>
                  </a:lnTo>
                  <a:lnTo>
                    <a:pt x="419100" y="628650"/>
                  </a:lnTo>
                  <a:close/>
                </a:path>
              </a:pathLst>
            </a:custGeom>
            <a:solidFill>
              <a:srgbClr val="FFF3D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69142" y="4020979"/>
              <a:ext cx="26625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③ 质量评分与正式证据门控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2343150" y="4610100"/>
              <a:ext cx="1714500" cy="628650"/>
            </a:xfrm>
            <a:custGeom>
              <a:avLst/>
              <a:gdLst/>
              <a:ahLst/>
              <a:cxnLst/>
              <a:rect l="l" t="t" r="r" b="b"/>
              <a:pathLst>
                <a:path w="1714500" h="628650">
                  <a:moveTo>
                    <a:pt x="0" y="0"/>
                  </a:moveTo>
                  <a:lnTo>
                    <a:pt x="1714500" y="0"/>
                  </a:lnTo>
                  <a:lnTo>
                    <a:pt x="1390650" y="628650"/>
                  </a:lnTo>
                  <a:lnTo>
                    <a:pt x="323850" y="628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10732" y="482917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事实 / 推断 / 假设分离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552950" y="3905250"/>
              <a:ext cx="704850" cy="1352550"/>
            </a:xfrm>
            <a:custGeom>
              <a:avLst/>
              <a:gdLst/>
              <a:ahLst/>
              <a:cxnLst/>
              <a:rect l="l" t="t" r="r" b="b"/>
              <a:pathLst>
                <a:path w="704850" h="1352550">
                  <a:moveTo>
                    <a:pt x="0" y="0"/>
                  </a:moveTo>
                  <a:cubicBezTo>
                    <a:pt x="666750" y="171450"/>
                    <a:pt x="704850" y="857250"/>
                    <a:pt x="533400" y="1352550"/>
                  </a:cubicBezTo>
                </a:path>
              </a:pathLst>
            </a:custGeom>
            <a:noFill/>
            <a:ln w="38100">
              <a:solidFill>
                <a:srgbClr val="B94747"/>
              </a:solidFill>
              <a:custDash>
                <a:ds d="200000" sp="125000"/>
              </a:custDash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00550" y="5048250"/>
              <a:ext cx="1257300" cy="514350"/>
            </a:xfrm>
            <a:prstGeom prst="roundRect">
              <a:avLst>
                <a:gd name="adj" fmla="val 29630"/>
              </a:avLst>
            </a:prstGeom>
            <a:solidFill>
              <a:srgbClr val="FFF0F0"/>
            </a:solidFill>
            <a:ln w="9525">
              <a:solidFill>
                <a:srgbClr val="B9474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78359" y="5145881"/>
              <a:ext cx="1301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低质量 / 失败材料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58462" y="53444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拒绝进入正式支撑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1428750"/>
            <a:ext cx="5372100" cy="4362450"/>
            <a:chOff x="6286500" y="1428750"/>
            <a:chExt cx="5372100" cy="4362450"/>
          </a:xfrm>
        </p:grpSpPr>
        <p:sp>
          <p:nvSpPr>
            <p:cNvPr id="20" name="Rectangle 20"/>
            <p:cNvSpPr/>
            <p:nvPr/>
          </p:nvSpPr>
          <p:spPr>
            <a:xfrm>
              <a:off x="6286500" y="1428750"/>
              <a:ext cx="5372100" cy="4362450"/>
            </a:xfrm>
            <a:prstGeom prst="roundRect">
              <a:avLst>
                <a:gd name="adj" fmla="val 524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3675" y="1645444"/>
              <a:ext cx="29421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可审计、可校验的交付栈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667500" y="2152650"/>
              <a:ext cx="4095750" cy="514350"/>
              <a:chOff x="6667500" y="2152650"/>
              <a:chExt cx="4095750" cy="5143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667500" y="21526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6902450" y="2295525"/>
                <a:ext cx="177800" cy="228599"/>
                <a:chOff x="6902450" y="2295525"/>
                <a:chExt cx="177800" cy="228599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7016750" y="22955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902450" y="2295525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953250" y="2422525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307580" y="2314575"/>
                <a:ext cx="1955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深度报告 + 需求卡片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877050" y="2819400"/>
              <a:ext cx="4095750" cy="514350"/>
              <a:chOff x="6877050" y="2819400"/>
              <a:chExt cx="4095750" cy="5143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877050" y="28194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086600" y="2962275"/>
                <a:ext cx="228600" cy="241299"/>
                <a:chOff x="7086600" y="2962275"/>
                <a:chExt cx="228600" cy="241299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124700" y="2962275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0" y="76200"/>
                      </a:moveTo>
                      <a:cubicBezTo>
                        <a:pt x="0" y="118284"/>
                        <a:pt x="34116" y="152400"/>
                        <a:pt x="76200" y="152400"/>
                      </a:cubicBezTo>
                      <a:cubicBezTo>
                        <a:pt x="118284" y="152400"/>
                        <a:pt x="152400" y="118284"/>
                        <a:pt x="152400" y="76200"/>
                      </a:cubicBezTo>
                      <a:cubicBezTo>
                        <a:pt x="152400" y="34116"/>
                        <a:pt x="118284" y="0"/>
                        <a:pt x="76200" y="0"/>
                      </a:cubicBezTo>
                      <a:cubicBezTo>
                        <a:pt x="34116" y="0"/>
                        <a:pt x="0" y="34116"/>
                        <a:pt x="0" y="762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2009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0" y="0"/>
                      </a:moveTo>
                      <a:cubicBezTo>
                        <a:pt x="16929" y="4229"/>
                        <a:pt x="25400" y="29629"/>
                        <a:pt x="25400" y="76200"/>
                      </a:cubicBezTo>
                      <a:cubicBezTo>
                        <a:pt x="25400" y="122771"/>
                        <a:pt x="16929" y="148171"/>
                        <a:pt x="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1755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25400" y="0"/>
                      </a:moveTo>
                      <a:cubicBezTo>
                        <a:pt x="8471" y="4229"/>
                        <a:pt x="0" y="29629"/>
                        <a:pt x="0" y="76200"/>
                      </a:cubicBezTo>
                      <a:cubicBezTo>
                        <a:pt x="0" y="122771"/>
                        <a:pt x="8471" y="148171"/>
                        <a:pt x="2540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124700" y="3038475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0866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2263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175500" y="3152774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200900" y="31146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517130" y="2981325"/>
                <a:ext cx="216730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能力全景图 + 能力画像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086600" y="3486150"/>
              <a:ext cx="4095750" cy="514350"/>
              <a:chOff x="7086600" y="3486150"/>
              <a:chExt cx="4095750" cy="5143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086600" y="34861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296150" y="3679825"/>
                <a:ext cx="228599" cy="127000"/>
                <a:chOff x="7296150" y="3679825"/>
                <a:chExt cx="228599" cy="12700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7308850" y="3692525"/>
                  <a:ext cx="2031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01600">
                      <a:moveTo>
                        <a:pt x="0" y="101600"/>
                      </a:moveTo>
                      <a:lnTo>
                        <a:pt x="76200" y="12700"/>
                      </a:lnTo>
                      <a:lnTo>
                        <a:pt x="139700" y="76200"/>
                      </a:ln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435850" y="37560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372350" y="36925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296150" y="37814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499349" y="36798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7726680" y="3648075"/>
                <a:ext cx="237933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推理追溯 + 质量门控记录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296150" y="4152900"/>
              <a:ext cx="4095750" cy="514350"/>
              <a:chOff x="7296150" y="4152900"/>
              <a:chExt cx="4095750" cy="5143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296150" y="41529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505700" y="4308475"/>
                <a:ext cx="2285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3199">
                    <a:moveTo>
                      <a:pt x="0" y="101600"/>
                    </a:moveTo>
                    <a:lnTo>
                      <a:pt x="50800" y="101600"/>
                    </a:lnTo>
                    <a:lnTo>
                      <a:pt x="88900" y="203199"/>
                    </a:lnTo>
                    <a:lnTo>
                      <a:pt x="139700" y="0"/>
                    </a:lnTo>
                    <a:lnTo>
                      <a:pt x="177800" y="101600"/>
                    </a:lnTo>
                    <a:lnTo>
                      <a:pt x="228599" y="1016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936230" y="4314825"/>
                <a:ext cx="22779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持久化 SSE + 断线重放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7505700" y="4819650"/>
              <a:ext cx="3886200" cy="628650"/>
              <a:chOff x="7505700" y="4819650"/>
              <a:chExt cx="3886200" cy="6286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7505700" y="4819650"/>
                <a:ext cx="3886200" cy="628650"/>
              </a:xfrm>
              <a:prstGeom prst="roundRect">
                <a:avLst>
                  <a:gd name="adj" fmla="val 24242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7699421" y="5012531"/>
                <a:ext cx="263510" cy="242888"/>
                <a:chOff x="7699421" y="5012531"/>
                <a:chExt cx="263510" cy="242888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7699421" y="5012531"/>
                  <a:ext cx="263510" cy="240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10" h="240810">
                      <a:moveTo>
                        <a:pt x="132368" y="240810"/>
                      </a:moveTo>
                      <a:cubicBezTo>
                        <a:pt x="47836" y="214607"/>
                        <a:pt x="0" y="125390"/>
                        <a:pt x="24957" y="40481"/>
                      </a:cubicBezTo>
                      <a:cubicBezTo>
                        <a:pt x="66998" y="42405"/>
                        <a:pt x="108135" y="27886"/>
                        <a:pt x="139655" y="0"/>
                      </a:cubicBezTo>
                      <a:cubicBezTo>
                        <a:pt x="171174" y="27886"/>
                        <a:pt x="212311" y="42405"/>
                        <a:pt x="254352" y="40481"/>
                      </a:cubicBezTo>
                      <a:cubicBezTo>
                        <a:pt x="263510" y="71640"/>
                        <a:pt x="263086" y="104832"/>
                        <a:pt x="253137" y="135747"/>
                      </a:cubicBez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879557" y="5201444"/>
                  <a:ext cx="80963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53975">
                      <a:moveTo>
                        <a:pt x="0" y="26988"/>
                      </a:moveTo>
                      <a:lnTo>
                        <a:pt x="26988" y="53975"/>
                      </a:ln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164449" y="4925854"/>
                <a:ext cx="30872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Delivery Manifest + SHA-256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166735" y="521255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完整性可机器复核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2808732" y="6045518"/>
            <a:ext cx="6574536" cy="264033"/>
            <a:chOff x="2808732" y="6045518"/>
            <a:chExt cx="6574536" cy="264033"/>
          </a:xfrm>
        </p:grpSpPr>
        <p:sp>
          <p:nvSpPr>
            <p:cNvPr id="62" name="TextBox 62"/>
            <p:cNvSpPr txBox="1"/>
            <p:nvPr/>
          </p:nvSpPr>
          <p:spPr>
            <a:xfrm>
              <a:off x="2808732" y="6045518"/>
              <a:ext cx="6574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 RBAC · 最小权限 · Agent 原始会话隔离 · 正式证据与低质量材料严格分流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80060" y="400050"/>
            <a:ext cx="9887712" cy="746951"/>
            <a:chOff x="480060" y="400050"/>
            <a:chExt cx="9887712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80060" y="400050"/>
              <a:ext cx="98877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研究指挥台已承载真实任务管理与跨进程运行闭环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7492" y="8829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真实工作台覆盖研究创建、草稿、筛选、归档、执行历史与真实运行产物。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0050" y="1352550"/>
            <a:ext cx="9486900" cy="5334000"/>
            <a:chOff x="400050" y="1352550"/>
            <a:chExt cx="9486900" cy="5334000"/>
          </a:xfrm>
        </p:grpSpPr>
        <p:sp>
          <p:nvSpPr>
            <p:cNvPr id="5" name="Rectangle 5"/>
            <p:cNvSpPr/>
            <p:nvPr/>
          </p:nvSpPr>
          <p:spPr>
            <a:xfrm>
              <a:off x="400050" y="1352550"/>
              <a:ext cx="9486900" cy="5334000"/>
            </a:xfrm>
            <a:prstGeom prst="roundRect">
              <a:avLst>
                <a:gd name="adj" fmla="val 3929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1929" y="1466850"/>
              <a:ext cx="9243141" cy="52006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0077450" y="1485900"/>
            <a:ext cx="1695450" cy="1229868"/>
            <a:chOff x="10077450" y="1485900"/>
            <a:chExt cx="1695450" cy="1229868"/>
          </a:xfrm>
        </p:grpSpPr>
        <p:sp>
          <p:nvSpPr>
            <p:cNvPr id="8" name="Rectangle 8"/>
            <p:cNvSpPr/>
            <p:nvPr/>
          </p:nvSpPr>
          <p:spPr>
            <a:xfrm>
              <a:off x="10077450" y="14859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1854" y="1737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完成任务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49662" y="20116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77450" y="2857500"/>
            <a:ext cx="1695450" cy="1181100"/>
            <a:chOff x="10077450" y="2857500"/>
            <a:chExt cx="1695450" cy="1181100"/>
          </a:xfrm>
        </p:grpSpPr>
        <p:sp>
          <p:nvSpPr>
            <p:cNvPr id="12" name="Rectangle 12"/>
            <p:cNvSpPr/>
            <p:nvPr/>
          </p:nvSpPr>
          <p:spPr>
            <a:xfrm>
              <a:off x="10077450" y="28575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308431" y="314007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60330" y="34575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多任务并行槽位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62235" y="37647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运行状态持续可见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77450" y="4229100"/>
            <a:ext cx="1695450" cy="1809750"/>
            <a:chOff x="10077450" y="4229100"/>
            <a:chExt cx="1695450" cy="1809750"/>
          </a:xfrm>
        </p:grpSpPr>
        <p:sp>
          <p:nvSpPr>
            <p:cNvPr id="17" name="Rectangle 17"/>
            <p:cNvSpPr/>
            <p:nvPr/>
          </p:nvSpPr>
          <p:spPr>
            <a:xfrm>
              <a:off x="10077450" y="4229100"/>
              <a:ext cx="1695450" cy="1809750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321925" y="4479131"/>
              <a:ext cx="215901" cy="242888"/>
              <a:chOff x="10321925" y="4479131"/>
              <a:chExt cx="215901" cy="24288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321925" y="44791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321925" y="45196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321925" y="46005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260330" y="48482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61092" y="51501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60330" y="5419725"/>
              <a:ext cx="1256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 Worker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62235" y="57459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跨进程领取与持久化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5493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56235"/>
            <a:ext cx="10491780" cy="733616"/>
            <a:chOff x="500634" y="356235"/>
            <a:chExt cx="10491780" cy="7336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56235"/>
              <a:ext cx="104917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372 条真实交互事件把门控、定向再调和返回节点完整展开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25818"/>
              <a:ext cx="8946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真实任务 run-eaae894d…：L1 门控失败后触发定向补证，完成再调并返回 L1，随后由主控 Agent 重算覆盖。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5300" y="1285875"/>
            <a:ext cx="5334000" cy="1695450"/>
            <a:chOff x="495300" y="1285875"/>
            <a:chExt cx="5334000" cy="1695450"/>
          </a:xfrm>
        </p:grpSpPr>
        <p:sp>
          <p:nvSpPr>
            <p:cNvPr id="5" name="Rectangle 5"/>
            <p:cNvSpPr/>
            <p:nvPr/>
          </p:nvSpPr>
          <p:spPr>
            <a:xfrm>
              <a:off x="495300" y="1285875"/>
              <a:ext cx="5334000" cy="1581150"/>
            </a:xfrm>
            <a:prstGeom prst="roundRect">
              <a:avLst>
                <a:gd name="adj" fmla="val 12048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362075"/>
              <a:ext cx="1447800" cy="247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2391" y="1428274"/>
              <a:ext cx="1378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 L1–L4 循环总览</a:t>
              </a: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164" y="1600200"/>
              <a:ext cx="5022273" cy="1381125"/>
            </a:xfrm>
            <a:prstGeom prst="rect">
              <a:avLst/>
            </a:prstGeom>
          </p:spPr>
        </p:pic>
      </p:grpSp>
      <p:grpSp>
        <p:nvGrpSpPr>
          <p:cNvPr id="41" name="Group 41"/>
          <p:cNvGrpSpPr/>
          <p:nvPr/>
        </p:nvGrpSpPr>
        <p:grpSpPr>
          <a:xfrm>
            <a:off x="495300" y="3048000"/>
            <a:ext cx="5334000" cy="3619500"/>
            <a:chOff x="495300" y="3048000"/>
            <a:chExt cx="53340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495300" y="3048000"/>
              <a:ext cx="5334000" cy="3619500"/>
            </a:xfrm>
            <a:prstGeom prst="roundRect">
              <a:avLst>
                <a:gd name="adj" fmla="val 578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6280" y="32099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真实运行口径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2062" y="364331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372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7067" y="4038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交互事件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621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37773" y="36433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6350" y="4038124"/>
              <a:ext cx="8555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EvidenceCard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004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93150" y="3643312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 / 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0892" y="4038124"/>
              <a:ext cx="802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专用 S Agent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386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01734" y="3643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6083" y="4038124"/>
              <a:ext cx="689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真实 Recall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7042" y="4502468"/>
              <a:ext cx="194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门控—再调—回溯审计链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123950" y="50673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38100">
              <a:solidFill>
                <a:srgbClr val="D7E0E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5350" y="4838700"/>
              <a:ext cx="457200" cy="457200"/>
            </a:xfrm>
            <a:prstGeom prst="ellipse">
              <a:avLst/>
            </a:prstGeom>
            <a:solidFill>
              <a:srgbClr val="B9474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84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2171700" y="4838700"/>
              <a:ext cx="457200" cy="457200"/>
            </a:xfrm>
            <a:prstGeom prst="ellipse">
              <a:avLst/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5682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再调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448050" y="48387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911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705350" y="4838700"/>
              <a:ext cx="457200" cy="457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9047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覆盖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085" y="5362099"/>
              <a:ext cx="741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gate=False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1829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定向补证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35635" y="5362099"/>
              <a:ext cx="1082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return_node=L1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5194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重新计算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" y="5753100"/>
              <a:ext cx="48387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0016" y="5887402"/>
              <a:ext cx="3780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个推理节点 · compact 模式显示 80 / 372 个关键事件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0016" y="6116002"/>
              <a:ext cx="4827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持久化 SSE 支持实时观察、断线重放和事后审计，不暴露原始模型消息。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57900" y="1285875"/>
            <a:ext cx="5638800" cy="2628900"/>
            <a:chOff x="6057900" y="1285875"/>
            <a:chExt cx="5638800" cy="2628900"/>
          </a:xfrm>
        </p:grpSpPr>
        <p:sp>
          <p:nvSpPr>
            <p:cNvPr id="42" name="Rectangle 42"/>
            <p:cNvSpPr/>
            <p:nvPr/>
          </p:nvSpPr>
          <p:spPr>
            <a:xfrm>
              <a:off x="6057900" y="1285875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91250" y="1362075"/>
              <a:ext cx="1790700" cy="247650"/>
            </a:xfrm>
            <a:prstGeom prst="roundRect">
              <a:avLst>
                <a:gd name="adj" fmla="val 50000"/>
              </a:avLst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7367" y="1428274"/>
              <a:ext cx="1678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L1 门控失败 → 定向再调</a:t>
              </a: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4612" y="1514475"/>
              <a:ext cx="5365376" cy="2400300"/>
            </a:xfrm>
            <a:prstGeom prst="rect">
              <a:avLst/>
            </a:prstGeom>
          </p:spPr>
        </p:pic>
      </p:grpSp>
      <p:grpSp>
        <p:nvGrpSpPr>
          <p:cNvPr id="51" name="Group 51"/>
          <p:cNvGrpSpPr/>
          <p:nvPr/>
        </p:nvGrpSpPr>
        <p:grpSpPr>
          <a:xfrm>
            <a:off x="6057900" y="4038600"/>
            <a:ext cx="5638800" cy="2628900"/>
            <a:chOff x="6057900" y="4038600"/>
            <a:chExt cx="5638800" cy="2628900"/>
          </a:xfrm>
        </p:grpSpPr>
        <p:sp>
          <p:nvSpPr>
            <p:cNvPr id="47" name="Rectangle 47"/>
            <p:cNvSpPr/>
            <p:nvPr/>
          </p:nvSpPr>
          <p:spPr>
            <a:xfrm>
              <a:off x="6057900" y="4038600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91250" y="4114800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12117" y="4180999"/>
              <a:ext cx="21395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再调完成 → 返回 L1 → 覆盖重算</a:t>
              </a:r>
            </a:p>
          </p:txBody>
        </p:sp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4612" y="4267200"/>
              <a:ext cx="5365376" cy="2400300"/>
            </a:xfrm>
            <a:prstGeom prst="rect">
              <a:avLst/>
            </a:prstGeom>
          </p:spPr>
        </p:pic>
      </p:grpSp>
      <p:sp>
        <p:nvSpPr>
          <p:cNvPr id="52" name="TextBox 52"/>
          <p:cNvSpPr txBox="1"/>
          <p:nvPr/>
        </p:nvSpPr>
        <p:spPr>
          <a:xfrm>
            <a:off x="117263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2158" y="407670"/>
            <a:ext cx="10994928" cy="710755"/>
            <a:chOff x="502158" y="407670"/>
            <a:chExt cx="10994928" cy="710755"/>
          </a:xfrm>
        </p:grpSpPr>
        <p:sp>
          <p:nvSpPr>
            <p:cNvPr id="2" name="TextBox 2"/>
            <p:cNvSpPr txBox="1"/>
            <p:nvPr/>
          </p:nvSpPr>
          <p:spPr>
            <a:xfrm>
              <a:off x="502158" y="407670"/>
              <a:ext cx="109949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架构执行总览将 A–H 蓝图、S1–S6 Agent 与四层循环完整展开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54392"/>
              <a:ext cx="6832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真实前端集中呈现发现蓝图、专用 Agent、循环门控状态与动态参与的业务 Agent。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133725" y="1371600"/>
            <a:ext cx="5924550" cy="5029200"/>
            <a:chOff x="3133725" y="1371600"/>
            <a:chExt cx="5924550" cy="5029200"/>
          </a:xfrm>
        </p:grpSpPr>
        <p:sp>
          <p:nvSpPr>
            <p:cNvPr id="5" name="Rectangle 5"/>
            <p:cNvSpPr/>
            <p:nvPr/>
          </p:nvSpPr>
          <p:spPr>
            <a:xfrm>
              <a:off x="3133725" y="1371600"/>
              <a:ext cx="5924550" cy="5029200"/>
            </a:xfrm>
            <a:prstGeom prst="roundRect">
              <a:avLst>
                <a:gd name="adj" fmla="val 2652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1825" y="1409700"/>
              <a:ext cx="5848350" cy="4953000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266700" y="1543050"/>
            <a:ext cx="4286250" cy="857250"/>
            <a:chOff x="266700" y="1543050"/>
            <a:chExt cx="4286250" cy="857250"/>
          </a:xfrm>
        </p:grpSpPr>
        <p:sp>
          <p:nvSpPr>
            <p:cNvPr id="8" name="Rectangle 8"/>
            <p:cNvSpPr/>
            <p:nvPr/>
          </p:nvSpPr>
          <p:spPr>
            <a:xfrm>
              <a:off x="266700" y="15430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9575" y="1685925"/>
              <a:ext cx="323850" cy="3238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4536" y="1791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723" y="1672114"/>
              <a:ext cx="11504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A–H 发现蓝图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104" y="19469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EAF6"/>
                  </a:solidFill>
                  <a:latin typeface="+mn-lt"/>
                  <a:ea typeface="+mn-ea"/>
                  <a:cs typeface="+mn-cs"/>
                </a:rPr>
                <a:t>六阶段执行状态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838450" y="1885950"/>
              <a:ext cx="1638300" cy="85725"/>
            </a:xfrm>
            <a:custGeom>
              <a:avLst/>
              <a:gdLst/>
              <a:ahLst/>
              <a:cxnLst/>
              <a:rect l="l" t="t" r="r" b="b"/>
              <a:pathLst>
                <a:path w="1638300" h="85725">
                  <a:moveTo>
                    <a:pt x="0" y="85725"/>
                  </a:moveTo>
                  <a:cubicBezTo>
                    <a:pt x="171450" y="85725"/>
                    <a:pt x="190500" y="0"/>
                    <a:pt x="333375" y="0"/>
                  </a:cubicBezTo>
                  <a:lnTo>
                    <a:pt x="1638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14" name="Ellipse 14"/>
            <p:cNvSpPr/>
            <p:nvPr/>
          </p:nvSpPr>
          <p:spPr>
            <a:xfrm>
              <a:off x="4400550" y="18097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448175" y="18573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829550" y="2457450"/>
            <a:ext cx="4095750" cy="857250"/>
            <a:chOff x="7829550" y="2457450"/>
            <a:chExt cx="4095750" cy="857250"/>
          </a:xfrm>
        </p:grpSpPr>
        <p:sp>
          <p:nvSpPr>
            <p:cNvPr id="17" name="Rectangle 17"/>
            <p:cNvSpPr/>
            <p:nvPr/>
          </p:nvSpPr>
          <p:spPr>
            <a:xfrm>
              <a:off x="9353550" y="24574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496425" y="2600325"/>
              <a:ext cx="323850" cy="3238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71386" y="2706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18573" y="2586514"/>
              <a:ext cx="1514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S1–S6 专用 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18954" y="2861310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F3FA"/>
                  </a:solidFill>
                  <a:latin typeface="+mn-lt"/>
                  <a:ea typeface="+mn-ea"/>
                  <a:cs typeface="+mn-cs"/>
                </a:rPr>
                <a:t>6 / 6 已完成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905750" y="2781300"/>
              <a:ext cx="1447800" cy="104775"/>
            </a:xfrm>
            <a:custGeom>
              <a:avLst/>
              <a:gdLst/>
              <a:ahLst/>
              <a:cxnLst/>
              <a:rect l="l" t="t" r="r" b="b"/>
              <a:pathLst>
                <a:path w="1447800" h="104775">
                  <a:moveTo>
                    <a:pt x="1447800" y="104775"/>
                  </a:moveTo>
                  <a:cubicBezTo>
                    <a:pt x="1295400" y="104775"/>
                    <a:pt x="1266825" y="0"/>
                    <a:pt x="1114425" y="0"/>
                  </a:cubicBez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chemeClr val="accent3"/>
              </a:solidFill>
              <a:round/>
            </a:ln>
          </p:spPr>
        </p:sp>
        <p:sp>
          <p:nvSpPr>
            <p:cNvPr id="23" name="Ellipse 23"/>
            <p:cNvSpPr/>
            <p:nvPr/>
          </p:nvSpPr>
          <p:spPr>
            <a:xfrm>
              <a:off x="7829550" y="27051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877175" y="275272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66700" y="4305300"/>
            <a:ext cx="4286250" cy="857250"/>
            <a:chOff x="266700" y="4305300"/>
            <a:chExt cx="4286250" cy="857250"/>
          </a:xfrm>
        </p:grpSpPr>
        <p:sp>
          <p:nvSpPr>
            <p:cNvPr id="26" name="Rectangle 26"/>
            <p:cNvSpPr/>
            <p:nvPr/>
          </p:nvSpPr>
          <p:spPr>
            <a:xfrm>
              <a:off x="266700" y="430530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rgbClr val="FFF3D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09575" y="4448175"/>
              <a:ext cx="323850" cy="323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4536" y="4553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723" y="4434364"/>
              <a:ext cx="1360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L1–L4 循环门控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7091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次数与最近状态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2838450" y="4733925"/>
              <a:ext cx="1638300" cy="28575"/>
            </a:xfrm>
            <a:custGeom>
              <a:avLst/>
              <a:gdLst/>
              <a:ahLst/>
              <a:cxnLst/>
              <a:rect l="l" t="t" r="r" b="b"/>
              <a:pathLst>
                <a:path w="1638300" h="28575">
                  <a:moveTo>
                    <a:pt x="0" y="0"/>
                  </a:moveTo>
                  <a:cubicBezTo>
                    <a:pt x="171450" y="0"/>
                    <a:pt x="190500" y="28575"/>
                    <a:pt x="333375" y="28575"/>
                  </a:cubicBezTo>
                  <a:lnTo>
                    <a:pt x="1638300" y="28575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32" name="Ellipse 32"/>
            <p:cNvSpPr/>
            <p:nvPr/>
          </p:nvSpPr>
          <p:spPr>
            <a:xfrm>
              <a:off x="4400550" y="46863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448175" y="47339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7829550" y="5429250"/>
            <a:ext cx="4095750" cy="857250"/>
            <a:chOff x="7829550" y="5429250"/>
            <a:chExt cx="4095750" cy="857250"/>
          </a:xfrm>
        </p:grpSpPr>
        <p:sp>
          <p:nvSpPr>
            <p:cNvPr id="35" name="Rectangle 35"/>
            <p:cNvSpPr/>
            <p:nvPr/>
          </p:nvSpPr>
          <p:spPr>
            <a:xfrm>
              <a:off x="9353550" y="54292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496425" y="5572125"/>
              <a:ext cx="323850" cy="3238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71386" y="56778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18573" y="5558314"/>
              <a:ext cx="1302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参与业务 Agent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18954" y="58331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主控动态编排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7905750" y="5810250"/>
              <a:ext cx="1447800" cy="47625"/>
            </a:xfrm>
            <a:custGeom>
              <a:avLst/>
              <a:gdLst/>
              <a:ahLst/>
              <a:cxnLst/>
              <a:rect l="l" t="t" r="r" b="b"/>
              <a:pathLst>
                <a:path w="1447800" h="47625">
                  <a:moveTo>
                    <a:pt x="1447800" y="47625"/>
                  </a:moveTo>
                  <a:cubicBezTo>
                    <a:pt x="1295400" y="47625"/>
                    <a:pt x="1266825" y="0"/>
                    <a:pt x="1114425" y="0"/>
                  </a:cubicBez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chemeClr val="accent6"/>
              </a:solidFill>
              <a:round/>
            </a:ln>
          </p:spPr>
        </p:sp>
        <p:sp>
          <p:nvSpPr>
            <p:cNvPr id="41" name="Ellipse 41"/>
            <p:cNvSpPr/>
            <p:nvPr/>
          </p:nvSpPr>
          <p:spPr>
            <a:xfrm>
              <a:off x="7829550" y="57340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877175" y="5781675"/>
              <a:ext cx="57150" cy="571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115739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70535"/>
            <a:ext cx="10915193" cy="714566"/>
            <a:chOff x="500634" y="470535"/>
            <a:chExt cx="10915193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70535"/>
              <a:ext cx="109151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系统把研究结论沉淀为可评审、可追踪、可校验的成果交付包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真实界面呈现能力成果；多形态交付覆盖甲方评审、过程复核与后续验证。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" y="1409700"/>
            <a:ext cx="5753100" cy="4476750"/>
            <a:chOff x="514350" y="1409700"/>
            <a:chExt cx="5753100" cy="4476750"/>
          </a:xfrm>
        </p:grpSpPr>
        <p:sp>
          <p:nvSpPr>
            <p:cNvPr id="5" name="Rectangle 5"/>
            <p:cNvSpPr/>
            <p:nvPr/>
          </p:nvSpPr>
          <p:spPr>
            <a:xfrm>
              <a:off x="514350" y="1409700"/>
              <a:ext cx="5753100" cy="4476750"/>
            </a:xfrm>
            <a:prstGeom prst="roundRect">
              <a:avLst>
                <a:gd name="adj" fmla="val 468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9147" y="1581150"/>
              <a:ext cx="4383507" cy="413385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6705600" y="1409700"/>
            <a:ext cx="4953000" cy="4476750"/>
            <a:chOff x="6705600" y="1409700"/>
            <a:chExt cx="4953000" cy="4476750"/>
          </a:xfrm>
        </p:grpSpPr>
        <p:sp>
          <p:nvSpPr>
            <p:cNvPr id="8" name="Rectangle 8"/>
            <p:cNvSpPr/>
            <p:nvPr/>
          </p:nvSpPr>
          <p:spPr>
            <a:xfrm>
              <a:off x="6705600" y="1409700"/>
              <a:ext cx="4953000" cy="4476750"/>
            </a:xfrm>
            <a:prstGeom prst="roundRect">
              <a:avLst>
                <a:gd name="adj" fmla="val 510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63156" y="1653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成果交付矩阵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972300" y="2095500"/>
              <a:ext cx="4419600" cy="3371850"/>
              <a:chOff x="6972300" y="2095500"/>
              <a:chExt cx="4419600" cy="33718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972300" y="20955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9182100" y="20955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972300" y="28003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9182100" y="28003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972300" y="35052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9182100" y="35052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972300" y="42100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9182100" y="42100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058150" y="4914900"/>
                <a:ext cx="2247900" cy="552450"/>
              </a:xfrm>
              <a:prstGeom prst="roundRect">
                <a:avLst>
                  <a:gd name="adj" fmla="val 2758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7174230" y="2276475"/>
              <a:ext cx="3073146" cy="3112770"/>
              <a:chOff x="7174230" y="2276475"/>
              <a:chExt cx="3073146" cy="31127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1742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深度报告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840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需求卡片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74230" y="298132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能力全景图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84030" y="29813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1742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推理追溯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840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证据索引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1742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质量门控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3840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交互审计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26354" y="5095875"/>
                <a:ext cx="14351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交付 Manifest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876300" y="6096000"/>
            <a:ext cx="10439400" cy="381000"/>
            <a:chOff x="876300" y="6096000"/>
            <a:chExt cx="10439400" cy="381000"/>
          </a:xfrm>
        </p:grpSpPr>
        <p:sp>
          <p:nvSpPr>
            <p:cNvPr id="31" name="Rectangle 31"/>
            <p:cNvSpPr/>
            <p:nvPr/>
          </p:nvSpPr>
          <p:spPr>
            <a:xfrm>
              <a:off x="8763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7957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甲方可直接评审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37185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7512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项目过程可回溯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674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61135" y="620601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交付包可校验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62950" y="6096000"/>
              <a:ext cx="295275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37737" y="620601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下一阶段可验证、可迭代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872" y="454342"/>
            <a:ext cx="11095939" cy="730759"/>
            <a:chOff x="499872" y="454342"/>
            <a:chExt cx="11095939" cy="730759"/>
          </a:xfrm>
        </p:grpSpPr>
        <p:sp>
          <p:nvSpPr>
            <p:cNvPr id="2" name="TextBox 2"/>
            <p:cNvSpPr txBox="1"/>
            <p:nvPr/>
          </p:nvSpPr>
          <p:spPr>
            <a:xfrm>
              <a:off x="499872" y="454342"/>
              <a:ext cx="1109593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全量回归与三路线验收表明初版已达到可交付、可复核状态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1019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验收口径：2026-07-17；回归、生产构建、配置与真实三路线运行均通过。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447800"/>
            <a:ext cx="3238500" cy="2952750"/>
            <a:chOff x="533400" y="1447800"/>
            <a:chExt cx="3238500" cy="2952750"/>
          </a:xfrm>
        </p:grpSpPr>
        <p:sp>
          <p:nvSpPr>
            <p:cNvPr id="5" name="Rectangle 5"/>
            <p:cNvSpPr/>
            <p:nvPr/>
          </p:nvSpPr>
          <p:spPr>
            <a:xfrm>
              <a:off x="533400" y="1447800"/>
              <a:ext cx="3238500" cy="2952750"/>
            </a:xfrm>
            <a:prstGeom prst="roundRect">
              <a:avLst>
                <a:gd name="adj" fmla="val 7742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99319" y="1812925"/>
              <a:ext cx="297655" cy="337343"/>
              <a:chOff x="899319" y="1812925"/>
              <a:chExt cx="297655" cy="33734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99319" y="1812925"/>
                <a:ext cx="238125" cy="317499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317499">
                    <a:moveTo>
                      <a:pt x="91579" y="317499"/>
                    </a:moveTo>
                    <a:lnTo>
                      <a:pt x="39687" y="317499"/>
                    </a:lnTo>
                    <a:cubicBezTo>
                      <a:pt x="17769" y="317499"/>
                      <a:pt x="0" y="299731"/>
                      <a:pt x="0" y="277812"/>
                    </a:cubicBezTo>
                    <a:lnTo>
                      <a:pt x="0" y="39687"/>
                    </a:lnTo>
                    <a:cubicBezTo>
                      <a:pt x="0" y="17769"/>
                      <a:pt x="17769" y="0"/>
                      <a:pt x="39687" y="0"/>
                    </a:cubicBezTo>
                    <a:lnTo>
                      <a:pt x="198437" y="0"/>
                    </a:lnTo>
                    <a:cubicBezTo>
                      <a:pt x="220356" y="0"/>
                      <a:pt x="238125" y="17769"/>
                      <a:pt x="238125" y="39687"/>
                    </a:cubicBezTo>
                    <a:lnTo>
                      <a:pt x="238125" y="198437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77912" y="2070893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78693" y="1892300"/>
                <a:ext cx="79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9525">
                    <a:moveTo>
                      <a:pt x="0" y="0"/>
                    </a:moveTo>
                    <a:lnTo>
                      <a:pt x="79375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78693" y="1971675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0" y="0"/>
                    </a:moveTo>
                    <a:lnTo>
                      <a:pt x="39687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00100" y="2313622"/>
              <a:ext cx="1542428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4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6008" y="320802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3797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全量回归 · 0 个阻断错误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095750" y="1447800"/>
            <a:ext cx="7562850" cy="2952750"/>
            <a:chOff x="4095750" y="1447800"/>
            <a:chExt cx="7562850" cy="2952750"/>
          </a:xfrm>
        </p:grpSpPr>
        <p:sp>
          <p:nvSpPr>
            <p:cNvPr id="15" name="Rectangle 15"/>
            <p:cNvSpPr/>
            <p:nvPr/>
          </p:nvSpPr>
          <p:spPr>
            <a:xfrm>
              <a:off x="4095750" y="1447800"/>
              <a:ext cx="7562850" cy="2952750"/>
            </a:xfrm>
            <a:prstGeom prst="roundRect">
              <a:avLst>
                <a:gd name="adj" fmla="val 7742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53306" y="16535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真实三路线多模型验收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4354449" y="2095500"/>
              <a:ext cx="7118641" cy="385668"/>
              <a:chOff x="4354449" y="2095500"/>
              <a:chExt cx="7118641" cy="38566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354449" y="2173129"/>
                <a:ext cx="113267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新制胜机理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5905500" y="2095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052566" y="2229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354449" y="2857500"/>
              <a:ext cx="7118641" cy="385668"/>
              <a:chOff x="4354449" y="2857500"/>
              <a:chExt cx="7118641" cy="385668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4354449" y="2935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传统能力缺口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905500" y="2857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052566" y="2991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354449" y="3619500"/>
              <a:ext cx="7118641" cy="385668"/>
              <a:chOff x="4354449" y="3619500"/>
              <a:chExt cx="7118641" cy="385668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4354449" y="3697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局部战争案例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905500" y="3619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052566" y="3753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648200"/>
            <a:ext cx="11125200" cy="685800"/>
            <a:chOff x="533400" y="4648200"/>
            <a:chExt cx="11125200" cy="685800"/>
          </a:xfrm>
        </p:grpSpPr>
        <p:sp>
          <p:nvSpPr>
            <p:cNvPr id="30" name="Rectangle 30"/>
            <p:cNvSpPr/>
            <p:nvPr/>
          </p:nvSpPr>
          <p:spPr>
            <a:xfrm>
              <a:off x="533400" y="4648200"/>
              <a:ext cx="111252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0580" y="4886325"/>
              <a:ext cx="1789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 生产构建通过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35680" y="4886325"/>
              <a:ext cx="1799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Compose 配置通过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1730" y="4886325"/>
              <a:ext cx="19074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本轮 Ruff 检查通过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7280" y="4886325"/>
              <a:ext cx="2075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Manifest 完整性校验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5543550"/>
            <a:ext cx="11125200" cy="742950"/>
            <a:chOff x="533400" y="5543550"/>
            <a:chExt cx="11125200" cy="742950"/>
          </a:xfrm>
        </p:grpSpPr>
        <p:sp>
          <p:nvSpPr>
            <p:cNvPr id="36" name="Rectangle 36"/>
            <p:cNvSpPr/>
            <p:nvPr/>
          </p:nvSpPr>
          <p:spPr>
            <a:xfrm>
              <a:off x="533400" y="5543550"/>
              <a:ext cx="11125200" cy="742950"/>
            </a:xfrm>
            <a:prstGeom prst="roundRect">
              <a:avLst>
                <a:gd name="adj" fmla="val 2820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4573" y="56916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代表性闭环验收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954" y="5985510"/>
              <a:ext cx="1004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路 Agent　·　6 个推理节点　·　L1/L2/L3　·　2 项结构化画像　·　71 条事件　·　15/15 工具结果　·　30 个 Manifest 文件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1208" y="426720"/>
            <a:ext cx="10704584" cy="720281"/>
            <a:chOff x="521208" y="426720"/>
            <a:chExt cx="10704584" cy="720281"/>
          </a:xfrm>
        </p:grpSpPr>
        <p:sp>
          <p:nvSpPr>
            <p:cNvPr id="2" name="TextBox 2"/>
            <p:cNvSpPr txBox="1"/>
            <p:nvPr/>
          </p:nvSpPr>
          <p:spPr>
            <a:xfrm>
              <a:off x="521208" y="426720"/>
              <a:ext cx="10704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正式 Benchmark：约 100 条专家标注 Query 采用 Pairwise 盲评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82968"/>
              <a:ext cx="7785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条作为候选池；正式集先覆盖研究路径，再对同一 Query 的匿名 A/B 回答进行九维比较。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352550"/>
            <a:ext cx="2000250" cy="2209800"/>
            <a:chOff x="533400" y="1352550"/>
            <a:chExt cx="2000250" cy="2209800"/>
          </a:xfrm>
        </p:grpSpPr>
        <p:sp>
          <p:nvSpPr>
            <p:cNvPr id="5" name="Rectangle 5"/>
            <p:cNvSpPr/>
            <p:nvPr/>
          </p:nvSpPr>
          <p:spPr>
            <a:xfrm>
              <a:off x="533400" y="1352550"/>
              <a:ext cx="2000250" cy="22098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23900" y="1543050"/>
              <a:ext cx="8001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8612" y="16135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候选题库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2063750" y="1564481"/>
              <a:ext cx="215901" cy="242888"/>
              <a:chOff x="2063750" y="1564481"/>
              <a:chExt cx="215901" cy="24288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063750" y="156448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063750" y="160496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63750" y="168592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92807" y="2009775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480 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3035" y="2505075"/>
              <a:ext cx="1140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 Query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4547" y="2842260"/>
              <a:ext cx="1317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A–H 每分支 60 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3143250"/>
              <a:ext cx="1581150" cy="26670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8726" y="32204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不直接全部运行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914650" y="1352550"/>
            <a:ext cx="2286000" cy="2209800"/>
            <a:chOff x="2914650" y="1352550"/>
            <a:chExt cx="2286000" cy="2209800"/>
          </a:xfrm>
        </p:grpSpPr>
        <p:sp>
          <p:nvSpPr>
            <p:cNvPr id="18" name="Rectangle 18"/>
            <p:cNvSpPr/>
            <p:nvPr/>
          </p:nvSpPr>
          <p:spPr>
            <a:xfrm>
              <a:off x="2914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105150" y="154305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76880" y="16135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专家筛选与标注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4717256" y="1564481"/>
              <a:ext cx="242888" cy="242888"/>
              <a:chOff x="4717256" y="1564481"/>
              <a:chExt cx="242888" cy="2428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811713" y="167243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84725" y="1766888"/>
                <a:ext cx="107950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879182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906169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0"/>
                    </a:moveTo>
                    <a:lnTo>
                      <a:pt x="26988" y="0"/>
                    </a:lnTo>
                    <a:cubicBezTo>
                      <a:pt x="41892" y="0"/>
                      <a:pt x="53975" y="12083"/>
                      <a:pt x="53975" y="26988"/>
                    </a:cubicBezTo>
                    <a:lnTo>
                      <a:pt x="53975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44244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17256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3124200" y="2057400"/>
              <a:ext cx="1866900" cy="323850"/>
            </a:xfrm>
            <a:prstGeom prst="roundRect">
              <a:avLst>
                <a:gd name="adj" fmla="val 35294"/>
              </a:avLst>
            </a:prstGeom>
            <a:solidFill>
              <a:srgbClr val="E7F6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73069" y="21469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多源深研确有必要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257550" y="2476500"/>
              <a:ext cx="1733550" cy="323850"/>
            </a:xfrm>
            <a:prstGeom prst="roundRect">
              <a:avLst>
                <a:gd name="adj" fmla="val 35294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39744" y="25660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业务相关且可复核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390900" y="2895600"/>
              <a:ext cx="1600200" cy="323850"/>
            </a:xfrm>
            <a:prstGeom prst="roundRect">
              <a:avLst>
                <a:gd name="adj" fmla="val 35294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91230" y="29851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标注完整且安全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05264" y="3306128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剔除简单问答与不可核 Query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81650" y="1352550"/>
            <a:ext cx="2286000" cy="2209800"/>
            <a:chOff x="5581650" y="1352550"/>
            <a:chExt cx="2286000" cy="2209800"/>
          </a:xfrm>
        </p:grpSpPr>
        <p:sp>
          <p:nvSpPr>
            <p:cNvPr id="36" name="Rectangle 36"/>
            <p:cNvSpPr/>
            <p:nvPr/>
          </p:nvSpPr>
          <p:spPr>
            <a:xfrm>
              <a:off x="5581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72150" y="154305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75401" y="161353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正式评测集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384256" y="1577975"/>
              <a:ext cx="242889" cy="225426"/>
              <a:chOff x="7384256" y="1577975"/>
              <a:chExt cx="242889" cy="2254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4256" y="1685925"/>
                <a:ext cx="80963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07950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94456"/>
                    </a:lnTo>
                    <a:cubicBezTo>
                      <a:pt x="80963" y="101909"/>
                      <a:pt x="74921" y="107950"/>
                      <a:pt x="67469" y="107950"/>
                    </a:cubicBezTo>
                    <a:lnTo>
                      <a:pt x="13494" y="107950"/>
                    </a:lnTo>
                    <a:cubicBezTo>
                      <a:pt x="6041" y="107950"/>
                      <a:pt x="0" y="101909"/>
                      <a:pt x="0" y="94456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546182" y="1631950"/>
                <a:ext cx="80963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61925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148432"/>
                    </a:lnTo>
                    <a:cubicBezTo>
                      <a:pt x="80963" y="155884"/>
                      <a:pt x="74921" y="161925"/>
                      <a:pt x="67469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465219" y="1577975"/>
                <a:ext cx="8096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215901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202407"/>
                    </a:lnTo>
                    <a:cubicBezTo>
                      <a:pt x="80963" y="209859"/>
                      <a:pt x="74921" y="215901"/>
                      <a:pt x="67469" y="215901"/>
                    </a:cubicBezTo>
                    <a:lnTo>
                      <a:pt x="13494" y="215901"/>
                    </a:lnTo>
                    <a:cubicBezTo>
                      <a:pt x="6041" y="215901"/>
                      <a:pt x="0" y="209859"/>
                      <a:pt x="0" y="202407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397750" y="1793876"/>
                <a:ext cx="1889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9525">
                    <a:moveTo>
                      <a:pt x="0" y="0"/>
                    </a:moveTo>
                    <a:lnTo>
                      <a:pt x="188913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808297" y="2009775"/>
              <a:ext cx="183270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约 100 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30247" y="2514600"/>
              <a:ext cx="21888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Deep Research Query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30062" y="285178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最终数量以专家终审为准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86450" y="3143250"/>
              <a:ext cx="16764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64628" y="3220402"/>
              <a:ext cx="1920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同题匿名 A/B Pairwise 盲评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246836" y="1352550"/>
            <a:ext cx="3411764" cy="2209800"/>
            <a:chOff x="8246836" y="1352550"/>
            <a:chExt cx="3411764" cy="2209800"/>
          </a:xfrm>
        </p:grpSpPr>
        <p:sp>
          <p:nvSpPr>
            <p:cNvPr id="50" name="Rectangle 50"/>
            <p:cNvSpPr/>
            <p:nvPr/>
          </p:nvSpPr>
          <p:spPr>
            <a:xfrm>
              <a:off x="8248650" y="1352550"/>
              <a:ext cx="340995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439150" y="1543050"/>
              <a:ext cx="1276350" cy="285750"/>
            </a:xfrm>
            <a:prstGeom prst="roundRect">
              <a:avLst>
                <a:gd name="adj" fmla="val 5000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46836" y="1613535"/>
              <a:ext cx="1813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A–H / OTHER 路径覆盖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11202194" y="1577975"/>
              <a:ext cx="202407" cy="215901"/>
              <a:chOff x="11202194" y="1577975"/>
              <a:chExt cx="202407" cy="21590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1202194" y="173990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02194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337132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229181" y="163195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256169" y="1672432"/>
                <a:ext cx="107950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4456">
                    <a:moveTo>
                      <a:pt x="0" y="94456"/>
                    </a:moveTo>
                    <a:lnTo>
                      <a:pt x="80963" y="94456"/>
                    </a:lnTo>
                    <a:cubicBezTo>
                      <a:pt x="95868" y="94456"/>
                      <a:pt x="107950" y="82374"/>
                      <a:pt x="107950" y="67469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323638" y="1672432"/>
                <a:ext cx="80963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40481">
                    <a:moveTo>
                      <a:pt x="0" y="40481"/>
                    </a:moveTo>
                    <a:lnTo>
                      <a:pt x="40481" y="0"/>
                    </a:lnTo>
                    <a:lnTo>
                      <a:pt x="80963" y="40481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</p:grpSp>
        <p:sp>
          <p:nvSpPr>
            <p:cNvPr id="60" name="Rectangle 60"/>
            <p:cNvSpPr/>
            <p:nvPr/>
          </p:nvSpPr>
          <p:spPr>
            <a:xfrm>
              <a:off x="8458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12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220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474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982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236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744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998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458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12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220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74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982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236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744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998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742450" y="3242310"/>
              <a:ext cx="2422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Judge 先判主路径，再比较回答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625259" y="2290762"/>
            <a:ext cx="5531782" cy="440055"/>
            <a:chOff x="2625259" y="2290762"/>
            <a:chExt cx="5531782" cy="440055"/>
          </a:xfrm>
        </p:grpSpPr>
        <p:sp>
          <p:nvSpPr>
            <p:cNvPr id="78" name="TextBox 78"/>
            <p:cNvSpPr txBox="1"/>
            <p:nvPr/>
          </p:nvSpPr>
          <p:spPr>
            <a:xfrm>
              <a:off x="2625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292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959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33400" y="3790950"/>
            <a:ext cx="5276850" cy="2305050"/>
            <a:chOff x="533400" y="3790950"/>
            <a:chExt cx="5276850" cy="2305050"/>
          </a:xfrm>
        </p:grpSpPr>
        <p:sp>
          <p:nvSpPr>
            <p:cNvPr id="82" name="Rectangle 82"/>
            <p:cNvSpPr/>
            <p:nvPr/>
          </p:nvSpPr>
          <p:spPr>
            <a:xfrm>
              <a:off x="533400" y="3790950"/>
              <a:ext cx="5276850" cy="2305050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825500" y="4032250"/>
              <a:ext cx="190500" cy="215899"/>
              <a:chOff x="825500" y="4032250"/>
              <a:chExt cx="190500" cy="215899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25500" y="403225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39800" y="419734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76300" y="40830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76300" y="41338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192149" y="404002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四项入选门槛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742950" y="44958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30151" y="4572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36904" y="4556760"/>
              <a:ext cx="4007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 Research 必要：多源检索 / 跨源综合 / 机理分析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42950" y="48958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30151" y="49730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36904" y="4956810"/>
              <a:ext cx="3468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业务相关：服务 JS 装备能力—需求分析与决策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742950" y="5295900"/>
              <a:ext cx="266700" cy="266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30151" y="5373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36904" y="53568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专家标注完整：分支 / 模式 / 预期输出 / 评分规则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742950" y="56959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30151" y="5773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36904" y="57569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可复核：证据包、公开材料与安全边界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6000750" y="3790950"/>
            <a:ext cx="5657850" cy="2305050"/>
            <a:chOff x="6000750" y="3790950"/>
            <a:chExt cx="5657850" cy="2305050"/>
          </a:xfrm>
        </p:grpSpPr>
        <p:sp>
          <p:nvSpPr>
            <p:cNvPr id="102" name="Rectangle 102"/>
            <p:cNvSpPr/>
            <p:nvPr/>
          </p:nvSpPr>
          <p:spPr>
            <a:xfrm>
              <a:off x="6000750" y="3790950"/>
              <a:ext cx="5657850" cy="2305050"/>
            </a:xfrm>
            <a:prstGeom prst="roundRect">
              <a:avLst>
                <a:gd name="adj" fmla="val 826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259449" y="4001929"/>
              <a:ext cx="35705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Pairwise 对比方法｜匿名 A/B 盲评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2674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443520" y="44586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识别主路径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447092" y="4665345"/>
              <a:ext cx="7456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A–H / OTHER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4207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76009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702810" y="44586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检查规定产物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612513" y="4665345"/>
              <a:ext cx="10817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complete / partial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7542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89344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9003266" y="4458652"/>
              <a:ext cx="967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九维 Pairwise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184775" y="4665345"/>
              <a:ext cx="6042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F3FA"/>
                  </a:solidFill>
                  <a:latin typeface="+mn-lt"/>
                  <a:ea typeface="+mn-ea"/>
                  <a:cs typeface="+mn-cs"/>
                </a:rPr>
                <a:t>A / B / tie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0877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10267950" y="4362450"/>
              <a:ext cx="1123950" cy="495300"/>
            </a:xfrm>
            <a:prstGeom prst="roundRect">
              <a:avLst>
                <a:gd name="adj" fmla="val 2692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10527754" y="44586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0452602" y="4665345"/>
              <a:ext cx="7546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F6F1"/>
                  </a:solidFill>
                  <a:latin typeface="+mn-lt"/>
                  <a:ea typeface="+mn-ea"/>
                  <a:cs typeface="+mn-cs"/>
                </a:rPr>
                <a:t>置信度 + 仲裁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261354" y="5013960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五项核心维度各 15%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900416" y="5030152"/>
              <a:ext cx="3487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任务完成 · 证据事实 · 机理深度 · 军事价值 · 能力映射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6262116" y="5315902"/>
              <a:ext cx="477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不按篇幅、术语密度、标题数量或引用数量加分；核心质量实质相当才判 tie</a:t>
              </a:r>
            </a:p>
          </p:txBody>
        </p:sp>
        <p:sp>
          <p:nvSpPr>
            <p:cNvPr id="122" name="Line 122"/>
            <p:cNvSpPr/>
            <p:nvPr/>
          </p:nvSpPr>
          <p:spPr>
            <a:xfrm>
              <a:off x="6267450" y="5581650"/>
              <a:ext cx="5124450" cy="9525"/>
            </a:xfrm>
            <a:custGeom>
              <a:avLst/>
              <a:gdLst/>
              <a:ahLst/>
              <a:cxnLst/>
              <a:rect l="l" t="t" r="r" b="b"/>
              <a:pathLst>
                <a:path w="5124450" h="9525">
                  <a:moveTo>
                    <a:pt x="0" y="0"/>
                  </a:moveTo>
                  <a:lnTo>
                    <a:pt x="5124450" y="0"/>
                  </a:lnTo>
                </a:path>
              </a:pathLst>
            </a:custGeom>
            <a:noFill/>
            <a:ln w="9525">
              <a:solidFill>
                <a:srgbClr val="DDEAF2">
                  <a:alpha val="35000"/>
                </a:srgbClr>
              </a:solidFill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6267450" y="5695950"/>
              <a:ext cx="51244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7058160" y="5773102"/>
              <a:ext cx="35430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置信度 &lt; 0.65 · 引用待核 · 核心优势分化 → 人工仲裁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533400" y="6210300"/>
            <a:ext cx="10668000" cy="361950"/>
            <a:chOff x="533400" y="6210300"/>
            <a:chExt cx="10668000" cy="361950"/>
          </a:xfrm>
        </p:grpSpPr>
        <p:sp>
          <p:nvSpPr>
            <p:cNvPr id="126" name="Rectangle 126"/>
            <p:cNvSpPr/>
            <p:nvPr/>
          </p:nvSpPr>
          <p:spPr>
            <a:xfrm>
              <a:off x="533400" y="6210300"/>
              <a:ext cx="10668000" cy="36195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755904" y="6318885"/>
              <a:ext cx="6534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不入选：简单事实问答 · 短检索即可回答 · 缺乏公开可核材料 · 越界或不安全操作请求</a:t>
              </a:r>
            </a:p>
          </p:txBody>
        </p:sp>
      </p:grpSp>
      <p:sp>
        <p:nvSpPr>
          <p:cNvPr id="129" name="TextBox 129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277178"/>
            <a:ext cx="5126546" cy="986409"/>
            <a:chOff x="501396" y="277178"/>
            <a:chExt cx="5126546" cy="986409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277178"/>
              <a:ext cx="5126546" cy="8416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真实专家盲评验证七项专业优势，证据维度需结合正文展示口径解释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8066" y="1058228"/>
              <a:ext cx="4992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条专业 Query · 57/57 完成 · 2 名真实专家 Judge · 评测日期 2026-07-22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276350"/>
            <a:ext cx="3848100" cy="928307"/>
            <a:chOff x="533400" y="1276350"/>
            <a:chExt cx="3848100" cy="928307"/>
          </a:xfrm>
        </p:grpSpPr>
        <p:sp>
          <p:nvSpPr>
            <p:cNvPr id="5" name="Rectangle 5"/>
            <p:cNvSpPr/>
            <p:nvPr/>
          </p:nvSpPr>
          <p:spPr>
            <a:xfrm>
              <a:off x="533400" y="1276350"/>
              <a:ext cx="3848100" cy="857250"/>
            </a:xfrm>
            <a:prstGeom prst="roundRect">
              <a:avLst>
                <a:gd name="adj" fmla="val 2444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4954" y="1470660"/>
              <a:ext cx="1508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Baseline A · 纯 LLM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8096" y="1705928"/>
              <a:ext cx="33960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19胜 0平 0负 · 100%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52950" y="1276350"/>
            <a:ext cx="4343400" cy="928307"/>
            <a:chOff x="4552950" y="1276350"/>
            <a:chExt cx="4343400" cy="928307"/>
          </a:xfrm>
        </p:grpSpPr>
        <p:sp>
          <p:nvSpPr>
            <p:cNvPr id="9" name="Rectangle 9"/>
            <p:cNvSpPr/>
            <p:nvPr/>
          </p:nvSpPr>
          <p:spPr>
            <a:xfrm>
              <a:off x="4552950" y="1276350"/>
              <a:ext cx="4343400" cy="857250"/>
            </a:xfrm>
            <a:prstGeom prst="roundRect">
              <a:avLst>
                <a:gd name="adj" fmla="val 2444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94504" y="1451610"/>
              <a:ext cx="2300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Baseline B · 通用 Codex 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68134" y="1467802"/>
              <a:ext cx="1466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95% CI 86.84%–100%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87646" y="1705928"/>
              <a:ext cx="37925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 · 94.74%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33400" y="2286000"/>
            <a:ext cx="8096250" cy="3276600"/>
            <a:chOff x="533400" y="2286000"/>
            <a:chExt cx="8096250" cy="3276600"/>
          </a:xfrm>
        </p:grpSpPr>
        <p:sp>
          <p:nvSpPr>
            <p:cNvPr id="14" name="Rectangle 14"/>
            <p:cNvSpPr/>
            <p:nvPr/>
          </p:nvSpPr>
          <p:spPr>
            <a:xfrm>
              <a:off x="533400" y="2286000"/>
              <a:ext cx="8096250" cy="3276600"/>
            </a:xfrm>
            <a:prstGeom prst="roundRect">
              <a:avLst>
                <a:gd name="adj" fmla="val 639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5607" y="2381250"/>
              <a:ext cx="7931188" cy="3092387"/>
              <a:chOff x="665607" y="2381250"/>
              <a:chExt cx="7931188" cy="3092387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209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400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590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781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665607" y="2381250"/>
                <a:ext cx="7849558" cy="272987"/>
                <a:chOff x="665607" y="2381250"/>
                <a:chExt cx="7849558" cy="272987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665607" y="24488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能力映射与需求质量</a:t>
                  </a:r>
                </a:p>
              </p:txBody>
            </p:sp>
            <p:sp>
              <p:nvSpPr>
                <p:cNvPr id="20" name="Rectangle 20"/>
                <p:cNvSpPr/>
                <p:nvPr/>
              </p:nvSpPr>
              <p:spPr>
                <a:xfrm>
                  <a:off x="2095500" y="23812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1" name="Rectangle 21"/>
                <p:cNvSpPr/>
                <p:nvPr/>
              </p:nvSpPr>
              <p:spPr>
                <a:xfrm>
                  <a:off x="7255192" y="23812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2" name="Rectangle 22"/>
                <p:cNvSpPr/>
                <p:nvPr/>
              </p:nvSpPr>
              <p:spPr>
                <a:xfrm>
                  <a:off x="7414260" y="2381250"/>
                  <a:ext cx="39624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014716" y="24488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65:2:5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948309" y="2724150"/>
                <a:ext cx="7566856" cy="272987"/>
                <a:chOff x="948309" y="2724150"/>
                <a:chExt cx="7566856" cy="272987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948309" y="27917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因果与机理深度</a:t>
                  </a:r>
                </a:p>
              </p:txBody>
            </p:sp>
            <p:sp>
              <p:nvSpPr>
                <p:cNvPr id="26" name="Rectangle 26"/>
                <p:cNvSpPr/>
                <p:nvPr/>
              </p:nvSpPr>
              <p:spPr>
                <a:xfrm>
                  <a:off x="2095500" y="2724150"/>
                  <a:ext cx="5476875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7" name="Rectangle 27"/>
                <p:cNvSpPr/>
                <p:nvPr/>
              </p:nvSpPr>
              <p:spPr>
                <a:xfrm>
                  <a:off x="7572375" y="27241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Rectangle 28"/>
                <p:cNvSpPr/>
                <p:nvPr/>
              </p:nvSpPr>
              <p:spPr>
                <a:xfrm>
                  <a:off x="7731442" y="27241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8014716" y="27917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69:2:1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1089660" y="3067050"/>
                <a:ext cx="7425505" cy="272987"/>
                <a:chOff x="1089660" y="3067050"/>
                <a:chExt cx="7425505" cy="272987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1089660" y="313467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军事运用价值</a:t>
                  </a:r>
                </a:p>
              </p:txBody>
            </p:sp>
            <p:sp>
              <p:nvSpPr>
                <p:cNvPr id="32" name="Rectangle 32"/>
                <p:cNvSpPr/>
                <p:nvPr/>
              </p:nvSpPr>
              <p:spPr>
                <a:xfrm>
                  <a:off x="2095500" y="30670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3" name="Rectangle 33"/>
                <p:cNvSpPr/>
                <p:nvPr/>
              </p:nvSpPr>
              <p:spPr>
                <a:xfrm>
                  <a:off x="7255192" y="3067050"/>
                  <a:ext cx="476250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Rectangle 34"/>
                <p:cNvSpPr/>
                <p:nvPr/>
              </p:nvSpPr>
              <p:spPr>
                <a:xfrm>
                  <a:off x="7731442" y="30670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014716" y="31346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65:6:1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1231011" y="3409950"/>
                <a:ext cx="7365784" cy="272987"/>
                <a:chOff x="1231011" y="3409950"/>
                <a:chExt cx="7365784" cy="272987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1231011" y="347757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前瞻新颖性</a:t>
                  </a:r>
                </a:p>
              </p:txBody>
            </p:sp>
            <p:sp>
              <p:nvSpPr>
                <p:cNvPr id="38" name="Rectangle 38"/>
                <p:cNvSpPr/>
                <p:nvPr/>
              </p:nvSpPr>
              <p:spPr>
                <a:xfrm>
                  <a:off x="2095500" y="3409950"/>
                  <a:ext cx="492156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9" name="Rectangle 39"/>
                <p:cNvSpPr/>
                <p:nvPr/>
              </p:nvSpPr>
              <p:spPr>
                <a:xfrm>
                  <a:off x="7017068" y="3409950"/>
                  <a:ext cx="7934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014716" y="3477578"/>
                  <a:ext cx="58207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62:10:0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948309" y="3752850"/>
                <a:ext cx="7566856" cy="272987"/>
                <a:chOff x="948309" y="3752850"/>
                <a:chExt cx="7566856" cy="272987"/>
              </a:xfrm>
            </p:grpSpPr>
            <p:sp>
              <p:nvSpPr>
                <p:cNvPr id="42" name="TextBox 42"/>
                <p:cNvSpPr txBox="1"/>
                <p:nvPr/>
              </p:nvSpPr>
              <p:spPr>
                <a:xfrm>
                  <a:off x="948309" y="38204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路径与任务完成</a:t>
                  </a:r>
                </a:p>
              </p:txBody>
            </p:sp>
            <p:sp>
              <p:nvSpPr>
                <p:cNvPr id="43" name="Rectangle 43"/>
                <p:cNvSpPr/>
                <p:nvPr/>
              </p:nvSpPr>
              <p:spPr>
                <a:xfrm>
                  <a:off x="2095500" y="3752850"/>
                  <a:ext cx="476250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6858000" y="37528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5" name="Rectangle 45"/>
                <p:cNvSpPr/>
                <p:nvPr/>
              </p:nvSpPr>
              <p:spPr>
                <a:xfrm>
                  <a:off x="7175182" y="3752850"/>
                  <a:ext cx="63531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014716" y="38204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60:4:8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665607" y="4095750"/>
                <a:ext cx="7849558" cy="272987"/>
                <a:chOff x="665607" y="4095750"/>
                <a:chExt cx="7849558" cy="272987"/>
              </a:xfrm>
            </p:grpSpPr>
            <p:sp>
              <p:nvSpPr>
                <p:cNvPr id="48" name="TextBox 48"/>
                <p:cNvSpPr txBox="1"/>
                <p:nvPr/>
              </p:nvSpPr>
              <p:spPr>
                <a:xfrm>
                  <a:off x="665607" y="41633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体系与跨场景稳健性</a:t>
                  </a:r>
                </a:p>
              </p:txBody>
            </p:sp>
            <p:sp>
              <p:nvSpPr>
                <p:cNvPr id="49" name="Rectangle 49"/>
                <p:cNvSpPr/>
                <p:nvPr/>
              </p:nvSpPr>
              <p:spPr>
                <a:xfrm>
                  <a:off x="2095500" y="4095750"/>
                  <a:ext cx="55559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0" name="Rectangle 50"/>
                <p:cNvSpPr/>
                <p:nvPr/>
              </p:nvSpPr>
              <p:spPr>
                <a:xfrm>
                  <a:off x="7651432" y="40957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8014716" y="41633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70:2:0</a:t>
                  </a:r>
                </a:p>
              </p:txBody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948309" y="4438650"/>
                <a:ext cx="7566856" cy="272987"/>
                <a:chOff x="948309" y="4438650"/>
                <a:chExt cx="7566856" cy="272987"/>
              </a:xfrm>
            </p:grpSpPr>
            <p:sp>
              <p:nvSpPr>
                <p:cNvPr id="53" name="TextBox 53"/>
                <p:cNvSpPr txBox="1"/>
                <p:nvPr/>
              </p:nvSpPr>
              <p:spPr>
                <a:xfrm>
                  <a:off x="948309" y="45062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不确定性与验证</a:t>
                  </a:r>
                </a:p>
              </p:txBody>
            </p:sp>
            <p:sp>
              <p:nvSpPr>
                <p:cNvPr id="54" name="Rectangle 54"/>
                <p:cNvSpPr/>
                <p:nvPr/>
              </p:nvSpPr>
              <p:spPr>
                <a:xfrm>
                  <a:off x="2095500" y="4438650"/>
                  <a:ext cx="523875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5" name="Rectangle 55"/>
                <p:cNvSpPr/>
                <p:nvPr/>
              </p:nvSpPr>
              <p:spPr>
                <a:xfrm>
                  <a:off x="7334250" y="44386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6" name="Rectangle 56"/>
                <p:cNvSpPr/>
                <p:nvPr/>
              </p:nvSpPr>
              <p:spPr>
                <a:xfrm>
                  <a:off x="7651432" y="44386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014716" y="45062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66:4:2</a:t>
                  </a:r>
                </a:p>
              </p:txBody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750418" y="4781550"/>
                <a:ext cx="7764747" cy="272987"/>
                <a:chOff x="750418" y="4781550"/>
                <a:chExt cx="7764747" cy="272987"/>
              </a:xfrm>
            </p:grpSpPr>
            <p:sp>
              <p:nvSpPr>
                <p:cNvPr id="59" name="TextBox 59"/>
                <p:cNvSpPr txBox="1"/>
                <p:nvPr/>
              </p:nvSpPr>
              <p:spPr>
                <a:xfrm>
                  <a:off x="750418" y="4849178"/>
                  <a:ext cx="119801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证据与事实可靠性</a:t>
                  </a:r>
                </a:p>
              </p:txBody>
            </p:sp>
            <p:sp>
              <p:nvSpPr>
                <p:cNvPr id="60" name="Rectangle 60"/>
                <p:cNvSpPr/>
                <p:nvPr/>
              </p:nvSpPr>
              <p:spPr>
                <a:xfrm>
                  <a:off x="2095500" y="4781550"/>
                  <a:ext cx="159068" cy="228600"/>
                </a:xfrm>
                <a:prstGeom prst="roundRect">
                  <a:avLst>
                    <a:gd name="adj" fmla="val 23952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61" name="Rectangle 61"/>
                <p:cNvSpPr/>
                <p:nvPr/>
              </p:nvSpPr>
              <p:spPr>
                <a:xfrm>
                  <a:off x="2254568" y="4781550"/>
                  <a:ext cx="238125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2" name="Rectangle 62"/>
                <p:cNvSpPr/>
                <p:nvPr/>
              </p:nvSpPr>
              <p:spPr>
                <a:xfrm>
                  <a:off x="2492692" y="4781550"/>
                  <a:ext cx="531780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8014716" y="48491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2:3:67</a:t>
                  </a:r>
                </a:p>
              </p:txBody>
            </p:sp>
          </p:grpSp>
          <p:sp>
            <p:nvSpPr>
              <p:cNvPr id="65" name="Ellipse 65"/>
              <p:cNvSpPr/>
              <p:nvPr/>
            </p:nvSpPr>
            <p:spPr>
              <a:xfrm>
                <a:off x="2324100" y="5276850"/>
                <a:ext cx="114300" cy="1143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2509266" y="5268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完整方法</a:t>
                </a:r>
              </a:p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3486150" y="5276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3671316" y="5268278"/>
                <a:ext cx="1520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</a:t>
                </a:r>
              </a:p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4114800" y="5276850"/>
                <a:ext cx="114300" cy="114300"/>
              </a:xfrm>
              <a:prstGeom prst="ellipse">
                <a:avLst/>
              </a:prstGeom>
              <a:solidFill>
                <a:srgbClr val="B94747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4299966" y="5268278"/>
                <a:ext cx="7325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通用 Agent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9048750" y="2247900"/>
            <a:ext cx="2533650" cy="3349561"/>
            <a:chOff x="9048750" y="2247900"/>
            <a:chExt cx="2533650" cy="3349561"/>
          </a:xfrm>
        </p:grpSpPr>
        <p:sp>
          <p:nvSpPr>
            <p:cNvPr id="73" name="Rectangle 73"/>
            <p:cNvSpPr/>
            <p:nvPr/>
          </p:nvSpPr>
          <p:spPr>
            <a:xfrm>
              <a:off x="9048750" y="2247900"/>
              <a:ext cx="2533650" cy="3314700"/>
            </a:xfrm>
            <a:prstGeom prst="roundRect">
              <a:avLst>
                <a:gd name="adj" fmla="val 827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74" name="Image 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179" y="2362200"/>
              <a:ext cx="1048792" cy="3086100"/>
            </a:xfrm>
            <a:prstGeom prst="rect">
              <a:avLst/>
            </a:prstGeom>
          </p:spPr>
        </p:pic>
        <p:sp>
          <p:nvSpPr>
            <p:cNvPr id="75" name="TextBox 75"/>
            <p:cNvSpPr txBox="1"/>
            <p:nvPr/>
          </p:nvSpPr>
          <p:spPr>
            <a:xfrm>
              <a:off x="9474581" y="5392102"/>
              <a:ext cx="16819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 Benchmark 结果界面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33400" y="5810250"/>
            <a:ext cx="11049000" cy="609600"/>
            <a:chOff x="533400" y="5810250"/>
            <a:chExt cx="11049000" cy="609600"/>
          </a:xfrm>
        </p:grpSpPr>
        <p:sp>
          <p:nvSpPr>
            <p:cNvPr id="77" name="Rectangle 77"/>
            <p:cNvSpPr/>
            <p:nvPr/>
          </p:nvSpPr>
          <p:spPr>
            <a:xfrm>
              <a:off x="533400" y="5810250"/>
              <a:ext cx="5334000" cy="609600"/>
            </a:xfrm>
            <a:prstGeom prst="roundRect">
              <a:avLst>
                <a:gd name="adj" fmla="val 31250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74192" y="5921692"/>
              <a:ext cx="3162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该票型反映正文展示口径：2 : 3 : 67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5716" y="6173152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报告声明 19 项正式证据，但正文未完整展开；不等同于证据不足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8850" y="5810250"/>
              <a:ext cx="5543550" cy="609600"/>
            </a:xfrm>
            <a:prstGeom prst="roundRect">
              <a:avLst>
                <a:gd name="adj" fmla="val 3125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279642" y="5921692"/>
              <a:ext cx="3651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盲评覆盖完整：19 条 Query · 57/57 完成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166" y="6173152"/>
              <a:ext cx="3776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56B5C"/>
                  </a:solidFill>
                  <a:latin typeface="+mn-lt"/>
                  <a:ea typeface="+mn-ea"/>
                  <a:cs typeface="+mn-cs"/>
                </a:rPr>
                <a:t>2 名真实专家 Judge · 对通用 Agent 95% CI 86.84%–100%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0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667750" y="-1828800"/>
            <a:ext cx="4381500" cy="4381500"/>
          </a:xfrm>
          <a:prstGeom prst="ellipse">
            <a:avLst/>
          </a:prstGeom>
          <a:solidFill>
            <a:schemeClr val="accent3">
              <a:alpha val="22000"/>
            </a:scheme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19684" y="361950"/>
            <a:ext cx="11138916" cy="1194625"/>
            <a:chOff x="519684" y="361950"/>
            <a:chExt cx="11138916" cy="1194625"/>
          </a:xfrm>
        </p:grpSpPr>
        <p:sp>
          <p:nvSpPr>
            <p:cNvPr id="5" name="TextBox 5"/>
            <p:cNvSpPr txBox="1"/>
            <p:nvPr/>
          </p:nvSpPr>
          <p:spPr>
            <a:xfrm>
              <a:off x="519684" y="394335"/>
              <a:ext cx="4744022" cy="928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27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下一阶段从“功能闭环”走向：专业能力资产化与可验证运行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810750" y="361950"/>
              <a:ext cx="1847850" cy="3238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FFFFFF">
                  <a:alpha val="28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78898" y="451485"/>
              <a:ext cx="1311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CODEX 架构对照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5592" y="1292542"/>
              <a:ext cx="62933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已落地：三路线 · A–H 元编排 · 专用 Agent · S1–S6 · 循环门控 · 能力画像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1676400"/>
            <a:ext cx="3390900" cy="3752850"/>
            <a:chOff x="533400" y="1676400"/>
            <a:chExt cx="3390900" cy="3752850"/>
          </a:xfrm>
        </p:grpSpPr>
        <p:sp>
          <p:nvSpPr>
            <p:cNvPr id="10" name="Rectangle 10"/>
            <p:cNvSpPr/>
            <p:nvPr/>
          </p:nvSpPr>
          <p:spPr>
            <a:xfrm>
              <a:off x="533400" y="1676400"/>
              <a:ext cx="3390900" cy="3752850"/>
            </a:xfrm>
            <a:prstGeom prst="roundRect">
              <a:avLst>
                <a:gd name="adj" fmla="val 674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33400" y="1676400"/>
              <a:ext cx="33909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59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499" y="1915954"/>
              <a:ext cx="1802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专业知识底座实装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3422650" y="1914525"/>
              <a:ext cx="203199" cy="228600"/>
              <a:chOff x="3422650" y="1914525"/>
              <a:chExt cx="203199" cy="228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422650" y="1914525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422650" y="19526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422650" y="20288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756666" y="2248852"/>
              <a:ext cx="2724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架构目标：知识操作层由“契约”走向“实装”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476500"/>
              <a:ext cx="2933700" cy="628650"/>
            </a:xfrm>
            <a:prstGeom prst="roundRect">
              <a:avLst>
                <a:gd name="adj" fmla="val 24242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96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7542" y="2816542"/>
              <a:ext cx="281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Knowledge Pack → 业务知识资产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9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3517106"/>
              <a:ext cx="2777998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接入装备、条令、案例与前沿技术数据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型号 / 批次 / 参数 / 接口 / 时间版本建模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冲突保留、权限分域、变更追溯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610100"/>
              <a:ext cx="2933700" cy="647700"/>
            </a:xfrm>
            <a:prstGeom prst="roundRect">
              <a:avLst>
                <a:gd name="adj" fmla="val 23529"/>
              </a:avLst>
            </a:prstGeom>
            <a:solidFill>
              <a:srgbClr val="FFF7E8"/>
            </a:solidFill>
            <a:ln w="952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90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8685" y="4917281"/>
              <a:ext cx="25919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跨任务可检索 · 可复用 · 可版本对比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9066" y="511587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专家可维护术语、规则与实体关系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114800" y="1676400"/>
            <a:ext cx="3390900" cy="3752850"/>
            <a:chOff x="4114800" y="1676400"/>
            <a:chExt cx="3390900" cy="3752850"/>
          </a:xfrm>
        </p:grpSpPr>
        <p:sp>
          <p:nvSpPr>
            <p:cNvPr id="30" name="Rectangle 30"/>
            <p:cNvSpPr/>
            <p:nvPr/>
          </p:nvSpPr>
          <p:spPr>
            <a:xfrm>
              <a:off x="4114800" y="1676400"/>
              <a:ext cx="3390900" cy="3752850"/>
            </a:xfrm>
            <a:prstGeom prst="roundRect">
              <a:avLst>
                <a:gd name="adj" fmla="val 674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114800" y="1676400"/>
              <a:ext cx="339090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434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673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06899" y="1915954"/>
              <a:ext cx="20260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推演仿真与需求验证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991350" y="1927225"/>
              <a:ext cx="228599" cy="203199"/>
            </a:xfrm>
            <a:custGeom>
              <a:avLst/>
              <a:gdLst/>
              <a:ahLst/>
              <a:cxnLst/>
              <a:rect l="l" t="t" r="r" b="b"/>
              <a:pathLst>
                <a:path w="228599" h="203199">
                  <a:moveTo>
                    <a:pt x="0" y="101600"/>
                  </a:moveTo>
                  <a:lnTo>
                    <a:pt x="50800" y="101600"/>
                  </a:lnTo>
                  <a:lnTo>
                    <a:pt x="88900" y="203199"/>
                  </a:lnTo>
                  <a:lnTo>
                    <a:pt x="139700" y="0"/>
                  </a:lnTo>
                  <a:lnTo>
                    <a:pt x="177800" y="101600"/>
                  </a:lnTo>
                  <a:lnTo>
                    <a:pt x="228599" y="10160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338066" y="224885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架构目标：体系仿真、效果链与蒙特卡洛推演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43400" y="2476500"/>
              <a:ext cx="2933700" cy="628650"/>
            </a:xfrm>
            <a:prstGeom prst="roundRect">
              <a:avLst>
                <a:gd name="adj" fmla="val 24242"/>
              </a:avLst>
            </a:prstGeom>
            <a:solidFill>
              <a:srgbClr val="E7F6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910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87418" y="2784158"/>
              <a:ext cx="2384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定性研判 → 参数化验证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373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37685" y="3517106"/>
              <a:ext cx="2415286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场景、红蓝体系依赖与任务链参数化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效果链 / Monte Carlo / 敏感性分析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失效注入、半实物联试与演训校准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343400" y="4610100"/>
              <a:ext cx="2933700" cy="64770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904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90085" y="4917281"/>
              <a:ext cx="222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每项重点需求形成可复核验证卡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90466" y="5115878"/>
              <a:ext cx="24984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假设 → 指标 → 仿真 → 结论 → 优先级调整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96200" y="1676400"/>
            <a:ext cx="3962400" cy="3752850"/>
            <a:chOff x="7696200" y="1676400"/>
            <a:chExt cx="3962400" cy="3752850"/>
          </a:xfrm>
        </p:grpSpPr>
        <p:sp>
          <p:nvSpPr>
            <p:cNvPr id="47" name="Rectangle 47"/>
            <p:cNvSpPr/>
            <p:nvPr/>
          </p:nvSpPr>
          <p:spPr>
            <a:xfrm>
              <a:off x="7696200" y="1676400"/>
              <a:ext cx="3962400" cy="3752850"/>
            </a:xfrm>
            <a:prstGeom prst="roundRect">
              <a:avLst>
                <a:gd name="adj" fmla="val 6091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96200" y="1676400"/>
              <a:ext cx="3962400" cy="76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9248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487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88299" y="1915954"/>
              <a:ext cx="20260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持续研判与专家运营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1182350" y="1965325"/>
              <a:ext cx="228599" cy="127000"/>
              <a:chOff x="11182350" y="1965325"/>
              <a:chExt cx="228599" cy="1270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11195050" y="1978025"/>
                <a:ext cx="2031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322050" y="20415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58550" y="19780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182350" y="20669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385549" y="19653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919466" y="22488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架构目标：态势、对手、技术持续扫描与循环发现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924800" y="2476500"/>
              <a:ext cx="3505200" cy="628650"/>
            </a:xfrm>
            <a:prstGeom prst="roundRect">
              <a:avLst>
                <a:gd name="adj" fmla="val 24242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0724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68818" y="2784158"/>
              <a:ext cx="26172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单次研究 → 持续能力运营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187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19085" y="3517106"/>
              <a:ext cx="2408174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主题订阅、变化基线与预警触发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增量检索、差异重跑、结论版本管理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专家批注 / 裁决 / 立项 / 回退闭环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924800" y="4610100"/>
              <a:ext cx="3505200" cy="647700"/>
            </a:xfrm>
            <a:prstGeom prst="roundRect">
              <a:avLst>
                <a:gd name="adj" fmla="val 23529"/>
              </a:avLst>
            </a:prstGeom>
            <a:solidFill>
              <a:srgbClr val="E9F6F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718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71485" y="4917281"/>
              <a:ext cx="2629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变化自动触发相关 Agent 与需求复核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71866" y="5115878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形成月度态势、专题预警、能力组合路线图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33400" y="5619750"/>
            <a:ext cx="11125200" cy="723900"/>
            <a:chOff x="533400" y="5619750"/>
            <a:chExt cx="11125200" cy="723900"/>
          </a:xfrm>
        </p:grpSpPr>
        <p:sp>
          <p:nvSpPr>
            <p:cNvPr id="69" name="Rectangle 69"/>
            <p:cNvSpPr/>
            <p:nvPr/>
          </p:nvSpPr>
          <p:spPr>
            <a:xfrm>
              <a:off x="533400" y="5619750"/>
              <a:ext cx="11125200" cy="723900"/>
            </a:xfrm>
            <a:prstGeom prst="roundRect">
              <a:avLst>
                <a:gd name="adj" fmla="val 31579"/>
              </a:avLst>
            </a:prstGeom>
            <a:solidFill>
              <a:srgbClr val="FFFFFF">
                <a:alpha val="13000"/>
              </a:srgbClr>
            </a:solidFill>
            <a:ln w="9525">
              <a:solidFill>
                <a:srgbClr val="FFFFFF">
                  <a:alpha val="26000"/>
                </a:srgbClr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92076" y="5855246"/>
              <a:ext cx="258224" cy="258246"/>
              <a:chOff x="792076" y="5855246"/>
              <a:chExt cx="258224" cy="25824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10432" y="5968207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56456" y="5914231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67469" y="0"/>
                    </a:moveTo>
                    <a:cubicBezTo>
                      <a:pt x="30207" y="0"/>
                      <a:pt x="0" y="30207"/>
                      <a:pt x="0" y="67469"/>
                    </a:cubicBez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92076" y="5855246"/>
                <a:ext cx="258224" cy="258246"/>
              </a:xfrm>
              <a:custGeom>
                <a:avLst/>
                <a:gdLst/>
                <a:ahLst/>
                <a:cxnLst/>
                <a:rect l="l" t="t" r="r" b="b"/>
                <a:pathLst>
                  <a:path w="258224" h="258246">
                    <a:moveTo>
                      <a:pt x="145343" y="5752"/>
                    </a:moveTo>
                    <a:cubicBezTo>
                      <a:pt x="94071" y="0"/>
                      <a:pt x="44761" y="27272"/>
                      <a:pt x="22381" y="73759"/>
                    </a:cubicBezTo>
                    <a:cubicBezTo>
                      <a:pt x="0" y="120246"/>
                      <a:pt x="9435" y="175800"/>
                      <a:pt x="45908" y="212291"/>
                    </a:cubicBezTo>
                    <a:cubicBezTo>
                      <a:pt x="82382" y="248783"/>
                      <a:pt x="137930" y="258246"/>
                      <a:pt x="184429" y="235889"/>
                    </a:cubicBezTo>
                    <a:cubicBezTo>
                      <a:pt x="230927" y="213532"/>
                      <a:pt x="258224" y="164235"/>
                      <a:pt x="252498" y="112960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64407" y="5860256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40481"/>
                    </a:moveTo>
                    <a:lnTo>
                      <a:pt x="0" y="80963"/>
                    </a:lnTo>
                    <a:lnTo>
                      <a:pt x="40481" y="80963"/>
                    </a:lnTo>
                    <a:lnTo>
                      <a:pt x="80963" y="40481"/>
                    </a:lnTo>
                    <a:lnTo>
                      <a:pt x="40481" y="40481"/>
                    </a:lnTo>
                    <a:lnTo>
                      <a:pt x="40481" y="0"/>
                    </a:ln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23925" y="5941219"/>
                <a:ext cx="40481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40481">
                    <a:moveTo>
                      <a:pt x="40481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251966" y="5763578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建议本轮共同确认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249680" y="5991225"/>
              <a:ext cx="6715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首批知识库范围 · 首个仿真场景 · 监测主题 · 专家治理 · 消融验证矩阵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28638" y="6532245"/>
            <a:ext cx="6006487" cy="176212"/>
            <a:chOff x="528638" y="6532245"/>
            <a:chExt cx="6006487" cy="176212"/>
          </a:xfrm>
        </p:grpSpPr>
        <p:sp>
          <p:nvSpPr>
            <p:cNvPr id="79" name="TextBox 79"/>
            <p:cNvSpPr txBox="1"/>
            <p:nvPr/>
          </p:nvSpPr>
          <p:spPr>
            <a:xfrm>
              <a:off x="528638" y="6532245"/>
              <a:ext cx="60064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依据：架构设计与已落地功能对照 · 横向验证采用约100条专家标注 Query Pairwise 盲评 + 模块消融 Baseline</a:t>
              </a: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151683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2026-07-23T09:05:20Z</dcterms:created>
  <dcterms:modified xsi:type="dcterms:W3CDTF">2026-07-23T09:05:20Z</dcterms:modified>
  <cp:category/>
  <cp:contentStatus/>
</cp:coreProperties>
</file>