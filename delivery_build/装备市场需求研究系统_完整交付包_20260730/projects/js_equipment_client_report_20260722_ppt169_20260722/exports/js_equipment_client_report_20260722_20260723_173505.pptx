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证据治理贯穿检索、材料化、质量评分、引用和最终交付。只有通过安全约束和质量门控的来源才能进入正式支撑链，低质量或材料化失败的来源会被明确分流；报告、成果画像、推理追溯、交互事件和 Manifest 则共同构成可复核交付栈。下面通过真实系统界面展示这些能力已经如何产品化。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这一页用真实前端展示架构执行总览。顶部六个状态块对应任务理解、多源基线研究、发现结果收敛、S 一到 S 六专用 Agent、独立审计和报告交付；中部完整列出六个专用 Agent 及其本轮结果，下部展示 L 一到 L 四步骤门控、因果复核、残差回溯和元循环的执行次数与最近状态。页面最下方还展示本次由主控 Agent 根据 A 到 H 分支和当前输入动态选取的业务 Agent，因此从发现蓝图到专用推理、循环治理和业务协作的执行状态都能够被查看和回放。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工程侧全量回归达到四百四十六项通过，生产构建、配置和代码检查均通过。三条真实路线均达到完成、运行闭环、可发布、审计批准和正式证据存在的验收状态，代表性闭环还覆盖四路 Agent、六个推理节点、七十一条事件、十五项工具结果和三十个 Manifest 文件。除了工程验收，项目还建设了可持续扩展的 Benchmark 数据资产。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Query，最终数量以专家终审为准。评测采用同题匿名 A/B Pairwise 盲评：Judge 不推测系统身份，先独立识别 A 到 H 或 OTHER 主路径并检查该路径规定产物，再从任务完成、证据事实、机理深度、军事价值、能力映射、前瞻性、跨场景稳健性、不确定性与验证、沟通效率九个维度比较两个回答。前五项核心维度各占百分之十五，总体胜者不按篇幅、术语密度或维度票数机械决定；只有核心质量实质相当才判平局。总体或路径置信度低于零点六五、引用需要核验、双方在不同核心维度各有明显优势或疑似严重失败时，结果自动进入人工仲裁，并以结构化 JSON 留存胜者、置信度、缺项、引用问题和仲裁原因。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下一阶段重点集中在三件事。第一，继续优化智能体设计和协作编排，细化主控、专用 Agent、业务 Agent 与 S1 到 S6 的职责边界，完善动态路由、并行协同、回溯再调和输入输出契约。第二，进一步梳理和完善端到端业务执行流程，让任务入口、三路线、A 到 H 分支、六步推理、证据门控、人工复核和成果交付保持一致，并补齐异常处理与状态回放。第三，持续完善 Benchmark 测试，扩充专家标注 Query，优化匿名 Pairwise 盲评和人工仲裁，同时增加主控编排、专用 Agent、S1 到 S6、证据门控、Recall 与工具链等模块的消融实验，量化各模块的实际贡献。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js_equipment_client_report_2026072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c984a66e3ff13d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e5f62ee3d21bfd7.jpg"/>
  <Relationship Id="rId3" Type="http://schemas.openxmlformats.org/officeDocument/2006/relationships/image" Target="../media/image_2be54e6882bbd590.jpg"/>
  <Relationship Id="rId4" Type="http://schemas.openxmlformats.org/officeDocument/2006/relationships/image" Target="../media/image_f73d0c2d319088b2.jp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a44f57cd037ad2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36b6e00a825a5f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b34167c23e866a.jp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83dd0d1e9599512.jpg"/>
  <Relationship Id="rId3" Type="http://schemas.openxmlformats.org/officeDocument/2006/relationships/notesSlide" Target="../notesSlides/notesSlide1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0" t="27" r="0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819900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464309"/>
            <a:chOff x="7224522" y="1444942"/>
            <a:chExt cx="5121592" cy="2464309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645218"/>
              <a:ext cx="36086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232142" y="3950018"/>
            <a:ext cx="1921954" cy="264033"/>
            <a:chOff x="7232142" y="3950018"/>
            <a:chExt cx="1921954" cy="264033"/>
          </a:xfrm>
        </p:grpSpPr>
        <p:sp>
          <p:nvSpPr>
            <p:cNvPr id="10" name="TextBox 10"/>
            <p:cNvSpPr txBox="1"/>
            <p:nvPr/>
          </p:nvSpPr>
          <p:spPr>
            <a:xfrm>
              <a:off x="7232142" y="39500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汇报日期：2026-07-23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2" name="Rectangle 12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1318443" cy="695516"/>
            <a:chOff x="500634" y="489585"/>
            <a:chExt cx="11318443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131844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三类闭环与核心功能已落地，真实验收和专家盲评形成双重验证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7947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2026-07-17 全量回归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695737" y="4415314"/>
              <a:ext cx="1943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三路线 + A–H 动态编排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70684" y="3013710"/>
                <a:ext cx="100218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三路线 · A–H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211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证据治理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743140"/>
            <a:chOff x="500634" y="375285"/>
            <a:chExt cx="10856145" cy="74314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51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四层可编辑架构：任务入口 → 三路线 / A–H → 主控与专用 Agent → S1–S6 → 证据门控回路 → 企业成果包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57200" y="1314450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795695" y="15725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457200" y="2571750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457200" y="3657600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</a:p>
          </p:txBody>
        </p:sp>
      </p:grpSp>
      <p:grpSp>
        <p:nvGrpSpPr>
          <p:cNvPr id="224" name="Group 224"/>
          <p:cNvGrpSpPr/>
          <p:nvPr/>
        </p:nvGrpSpPr>
        <p:grpSpPr>
          <a:xfrm>
            <a:off x="457200" y="5238750"/>
            <a:ext cx="11277600" cy="1104900"/>
            <a:chOff x="457200" y="5238750"/>
            <a:chExt cx="11277600" cy="1104900"/>
          </a:xfrm>
        </p:grpSpPr>
        <p:sp>
          <p:nvSpPr>
            <p:cNvPr id="185" name="Rectangle 185"/>
            <p:cNvSpPr/>
            <p:nvPr/>
          </p:nvSpPr>
          <p:spPr>
            <a:xfrm>
              <a:off x="457200" y="52387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FF7E8"/>
            </a:solidFill>
            <a:ln w="9525">
              <a:solidFill>
                <a:srgbClr val="ECD6A9"/>
              </a:solidFill>
            </a:ln>
          </p:spPr>
        </p:sp>
        <p:sp>
          <p:nvSpPr>
            <p:cNvPr id="186" name="Rectangle 186"/>
            <p:cNvSpPr/>
            <p:nvPr/>
          </p:nvSpPr>
          <p:spPr>
            <a:xfrm>
              <a:off x="590550" y="53721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89" name="Group 189"/>
            <p:cNvGrpSpPr/>
            <p:nvPr/>
          </p:nvGrpSpPr>
          <p:grpSpPr>
            <a:xfrm>
              <a:off x="793741" y="5603875"/>
              <a:ext cx="203209" cy="203200"/>
              <a:chOff x="793741" y="5603875"/>
              <a:chExt cx="203209" cy="2032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844550" y="5654675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139700" y="3404"/>
                    </a:moveTo>
                    <a:cubicBezTo>
                      <a:pt x="147558" y="7941"/>
                      <a:pt x="152399" y="16326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88" name="Freeform 188"/>
              <p:cNvSpPr/>
              <p:nvPr/>
            </p:nvSpPr>
            <p:spPr>
              <a:xfrm>
                <a:off x="793741" y="5603875"/>
                <a:ext cx="152408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8" h="152400">
                    <a:moveTo>
                      <a:pt x="12709" y="149021"/>
                    </a:moveTo>
                    <a:cubicBezTo>
                      <a:pt x="4842" y="144480"/>
                      <a:pt x="0" y="136083"/>
                      <a:pt x="9" y="127000"/>
                    </a:cubicBezTo>
                    <a:lnTo>
                      <a:pt x="9" y="25400"/>
                    </a:lnTo>
                    <a:cubicBezTo>
                      <a:pt x="9" y="11372"/>
                      <a:pt x="11381" y="0"/>
                      <a:pt x="25409" y="0"/>
                    </a:cubicBezTo>
                    <a:lnTo>
                      <a:pt x="127009" y="0"/>
                    </a:lnTo>
                    <a:cubicBezTo>
                      <a:pt x="141037" y="0"/>
                      <a:pt x="152408" y="11372"/>
                      <a:pt x="152408" y="25400"/>
                    </a:cubicBezTo>
                    <a:lnTo>
                      <a:pt x="152408" y="127000"/>
                    </a:lnTo>
                    <a:cubicBezTo>
                      <a:pt x="152408" y="141028"/>
                      <a:pt x="141037" y="152400"/>
                      <a:pt x="127009" y="152400"/>
                    </a:cubicBezTo>
                    <a:lnTo>
                      <a:pt x="88909" y="152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90" name="TextBox 190"/>
            <p:cNvSpPr txBox="1"/>
            <p:nvPr/>
          </p:nvSpPr>
          <p:spPr>
            <a:xfrm>
              <a:off x="1137285" y="54983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企业运行</a:t>
              </a:r>
            </a:p>
          </p:txBody>
        </p:sp>
        <p:sp>
          <p:nvSpPr>
            <p:cNvPr id="191" name="TextBox 191"/>
            <p:cNvSpPr txBox="1"/>
            <p:nvPr/>
          </p:nvSpPr>
          <p:spPr>
            <a:xfrm>
              <a:off x="1137285" y="572690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与成果交付层</a:t>
              </a:r>
            </a:p>
          </p:txBody>
        </p:sp>
        <p:sp>
          <p:nvSpPr>
            <p:cNvPr id="192" name="TextBox 192"/>
            <p:cNvSpPr txBox="1"/>
            <p:nvPr/>
          </p:nvSpPr>
          <p:spPr>
            <a:xfrm>
              <a:off x="738188" y="59797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6DF"/>
                  </a:solidFill>
                  <a:latin typeface="+mn-lt"/>
                  <a:ea typeface="+mn-ea"/>
                  <a:cs typeface="+mn-cs"/>
                </a:rPr>
                <a:t>运行 · 工作台 · 成果包</a:t>
              </a:r>
            </a:p>
          </p:txBody>
        </p:sp>
        <p:sp>
          <p:nvSpPr>
            <p:cNvPr id="193" name="Rectangle 193"/>
            <p:cNvSpPr/>
            <p:nvPr/>
          </p:nvSpPr>
          <p:spPr>
            <a:xfrm>
              <a:off x="2362200" y="5514975"/>
              <a:ext cx="7810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4" name="TextBox 194"/>
            <p:cNvSpPr txBox="1"/>
            <p:nvPr/>
          </p:nvSpPr>
          <p:spPr>
            <a:xfrm>
              <a:off x="2637617" y="5630228"/>
              <a:ext cx="2302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95" name="TextBox 195"/>
            <p:cNvSpPr txBox="1"/>
            <p:nvPr/>
          </p:nvSpPr>
          <p:spPr>
            <a:xfrm>
              <a:off x="2505646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任务接口</a:t>
              </a:r>
            </a:p>
          </p:txBody>
        </p:sp>
        <p:sp>
          <p:nvSpPr>
            <p:cNvPr id="196" name="Line 196"/>
            <p:cNvSpPr/>
            <p:nvPr/>
          </p:nvSpPr>
          <p:spPr>
            <a:xfrm>
              <a:off x="31432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97" name="Rectangle 197"/>
            <p:cNvSpPr/>
            <p:nvPr/>
          </p:nvSpPr>
          <p:spPr>
            <a:xfrm>
              <a:off x="335280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198" name="TextBox 198"/>
            <p:cNvSpPr txBox="1"/>
            <p:nvPr/>
          </p:nvSpPr>
          <p:spPr>
            <a:xfrm>
              <a:off x="3564220" y="563022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Queue</a:t>
              </a:r>
            </a:p>
          </p:txBody>
        </p:sp>
        <p:sp>
          <p:nvSpPr>
            <p:cNvPr id="199" name="TextBox 199"/>
            <p:cNvSpPr txBox="1"/>
            <p:nvPr/>
          </p:nvSpPr>
          <p:spPr>
            <a:xfrm>
              <a:off x="348329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00" name="Line 200"/>
            <p:cNvSpPr/>
            <p:nvPr/>
          </p:nvSpPr>
          <p:spPr>
            <a:xfrm>
              <a:off x="42291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1" name="Rectangle 201"/>
            <p:cNvSpPr/>
            <p:nvPr/>
          </p:nvSpPr>
          <p:spPr>
            <a:xfrm>
              <a:off x="44386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2" name="TextBox 202"/>
            <p:cNvSpPr txBox="1"/>
            <p:nvPr/>
          </p:nvSpPr>
          <p:spPr>
            <a:xfrm>
              <a:off x="4609283" y="5630228"/>
              <a:ext cx="535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Worker</a:t>
              </a:r>
            </a:p>
          </p:txBody>
        </p:sp>
        <p:sp>
          <p:nvSpPr>
            <p:cNvPr id="203" name="TextBox 203"/>
            <p:cNvSpPr txBox="1"/>
            <p:nvPr/>
          </p:nvSpPr>
          <p:spPr>
            <a:xfrm>
              <a:off x="4569142" y="584644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跨进程执行</a:t>
              </a:r>
            </a:p>
          </p:txBody>
        </p:sp>
        <p:sp>
          <p:nvSpPr>
            <p:cNvPr id="204" name="Line 204"/>
            <p:cNvSpPr/>
            <p:nvPr/>
          </p:nvSpPr>
          <p:spPr>
            <a:xfrm>
              <a:off x="53149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5" name="Rectangle 205"/>
            <p:cNvSpPr/>
            <p:nvPr/>
          </p:nvSpPr>
          <p:spPr>
            <a:xfrm>
              <a:off x="5524500" y="5514975"/>
              <a:ext cx="11430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06" name="TextBox 206"/>
            <p:cNvSpPr txBox="1"/>
            <p:nvPr/>
          </p:nvSpPr>
          <p:spPr>
            <a:xfrm>
              <a:off x="5667268" y="5638324"/>
              <a:ext cx="857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React 工作台</a:t>
              </a:r>
            </a:p>
          </p:txBody>
        </p:sp>
        <p:sp>
          <p:nvSpPr>
            <p:cNvPr id="207" name="TextBox 207"/>
            <p:cNvSpPr txBox="1"/>
            <p:nvPr/>
          </p:nvSpPr>
          <p:spPr>
            <a:xfrm>
              <a:off x="5588432" y="58464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任务 / 交互 / 评审</a:t>
              </a:r>
            </a:p>
          </p:txBody>
        </p:sp>
        <p:sp>
          <p:nvSpPr>
            <p:cNvPr id="208" name="Line 208"/>
            <p:cNvSpPr/>
            <p:nvPr/>
          </p:nvSpPr>
          <p:spPr>
            <a:xfrm>
              <a:off x="66675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09" name="Rectangle 209"/>
            <p:cNvSpPr/>
            <p:nvPr/>
          </p:nvSpPr>
          <p:spPr>
            <a:xfrm>
              <a:off x="6877050" y="5514975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0" name="TextBox 210"/>
            <p:cNvSpPr txBox="1"/>
            <p:nvPr/>
          </p:nvSpPr>
          <p:spPr>
            <a:xfrm>
              <a:off x="7171723" y="563832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报告</a:t>
              </a:r>
            </a:p>
          </p:txBody>
        </p:sp>
        <p:sp>
          <p:nvSpPr>
            <p:cNvPr id="211" name="TextBox 211"/>
            <p:cNvSpPr txBox="1"/>
            <p:nvPr/>
          </p:nvSpPr>
          <p:spPr>
            <a:xfrm>
              <a:off x="706812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深度研究</a:t>
              </a:r>
            </a:p>
          </p:txBody>
        </p:sp>
        <p:sp>
          <p:nvSpPr>
            <p:cNvPr id="212" name="Line 212"/>
            <p:cNvSpPr/>
            <p:nvPr/>
          </p:nvSpPr>
          <p:spPr>
            <a:xfrm>
              <a:off x="77533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3" name="Rectangle 213"/>
            <p:cNvSpPr/>
            <p:nvPr/>
          </p:nvSpPr>
          <p:spPr>
            <a:xfrm>
              <a:off x="7962900" y="5514975"/>
              <a:ext cx="9525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4" name="TextBox 214"/>
            <p:cNvSpPr txBox="1"/>
            <p:nvPr/>
          </p:nvSpPr>
          <p:spPr>
            <a:xfrm>
              <a:off x="8157149" y="5638324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成果矩阵</a:t>
              </a:r>
            </a:p>
          </p:txBody>
        </p:sp>
        <p:sp>
          <p:nvSpPr>
            <p:cNvPr id="215" name="TextBox 215"/>
            <p:cNvSpPr txBox="1"/>
            <p:nvPr/>
          </p:nvSpPr>
          <p:spPr>
            <a:xfrm>
              <a:off x="8192071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216" name="Line 216"/>
            <p:cNvSpPr/>
            <p:nvPr/>
          </p:nvSpPr>
          <p:spPr>
            <a:xfrm>
              <a:off x="891540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17" name="Rectangle 217"/>
            <p:cNvSpPr/>
            <p:nvPr/>
          </p:nvSpPr>
          <p:spPr>
            <a:xfrm>
              <a:off x="9124950" y="5514975"/>
              <a:ext cx="838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</p:sp>
        <p:sp>
          <p:nvSpPr>
            <p:cNvPr id="218" name="TextBox 218"/>
            <p:cNvSpPr txBox="1"/>
            <p:nvPr/>
          </p:nvSpPr>
          <p:spPr>
            <a:xfrm>
              <a:off x="9346470" y="5638324"/>
              <a:ext cx="3951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Trace</a:t>
              </a:r>
            </a:p>
          </p:txBody>
        </p:sp>
        <p:sp>
          <p:nvSpPr>
            <p:cNvPr id="219" name="TextBox 219"/>
            <p:cNvSpPr txBox="1"/>
            <p:nvPr/>
          </p:nvSpPr>
          <p:spPr>
            <a:xfrm>
              <a:off x="9296972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全链追溯</a:t>
              </a:r>
            </a:p>
          </p:txBody>
        </p:sp>
        <p:sp>
          <p:nvSpPr>
            <p:cNvPr id="220" name="Line 220"/>
            <p:cNvSpPr/>
            <p:nvPr/>
          </p:nvSpPr>
          <p:spPr>
            <a:xfrm>
              <a:off x="9963150" y="5791200"/>
              <a:ext cx="1333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21" name="Rectangle 221"/>
            <p:cNvSpPr/>
            <p:nvPr/>
          </p:nvSpPr>
          <p:spPr>
            <a:xfrm>
              <a:off x="10172700" y="5514975"/>
              <a:ext cx="1371600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2" name="TextBox 222"/>
            <p:cNvSpPr txBox="1"/>
            <p:nvPr/>
          </p:nvSpPr>
          <p:spPr>
            <a:xfrm>
              <a:off x="10192618" y="5638324"/>
              <a:ext cx="13317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Manifest / SHA-256</a:t>
              </a:r>
            </a:p>
          </p:txBody>
        </p:sp>
        <p:sp>
          <p:nvSpPr>
            <p:cNvPr id="223" name="TextBox 223"/>
            <p:cNvSpPr txBox="1"/>
            <p:nvPr/>
          </p:nvSpPr>
          <p:spPr>
            <a:xfrm>
              <a:off x="10369105" y="5846445"/>
              <a:ext cx="9787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可校验成果交付包</a:t>
              </a: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新制胜机理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78212" y="48587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覆盖缺口显式披露</a:t>
              </a: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5207" y="1204332"/>
            <a:ext cx="4925586" cy="4925586"/>
            <a:chOff x="585207" y="1204332"/>
            <a:chExt cx="4925586" cy="492558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51154" y="55473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1047750" y="5810250"/>
            <a:ext cx="10096500" cy="495300"/>
            <a:chOff x="1047750" y="5810250"/>
            <a:chExt cx="10096500" cy="495300"/>
          </a:xfrm>
        </p:grpSpPr>
        <p:sp>
          <p:nvSpPr>
            <p:cNvPr id="44" name="Rectangle 44"/>
            <p:cNvSpPr/>
            <p:nvPr/>
          </p:nvSpPr>
          <p:spPr>
            <a:xfrm>
              <a:off x="1047750" y="5810250"/>
              <a:ext cx="10096500" cy="495300"/>
            </a:xfrm>
            <a:prstGeom prst="roundRect">
              <a:avLst>
                <a:gd name="adj" fmla="val 50000"/>
              </a:avLst>
            </a:prstGeom>
            <a:solidFill>
              <a:srgbClr val="FFF0F0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315051" y="5960269"/>
              <a:ext cx="232508" cy="214312"/>
              <a:chOff x="1315051" y="5960269"/>
              <a:chExt cx="232508" cy="21431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1315051" y="5960269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473994" y="6126956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23812">
                <a:solidFill>
                  <a:srgbClr val="B9474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763649" y="5954554"/>
              <a:ext cx="75469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非法调整由 Harness 拒绝并保留原蓝图；所有回路均记录触发、动作与边界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110" y="457200"/>
            <a:ext cx="8991600" cy="746951"/>
            <a:chOff x="499110" y="457200"/>
            <a:chExt cx="8991600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99110" y="457200"/>
              <a:ext cx="89916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证据治理贯穿检索、材料化、引用和交付校验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8619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只有通过安全、材料化与质量门控的来源进入正式支撑链，交付结果可通过 Manifest 与 SHA-256 复核。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4350" y="1428750"/>
            <a:ext cx="5391150" cy="4362450"/>
            <a:chOff x="514350" y="1428750"/>
            <a:chExt cx="5391150" cy="4362450"/>
          </a:xfrm>
        </p:grpSpPr>
        <p:sp>
          <p:nvSpPr>
            <p:cNvPr id="5" name="Rectangle 5"/>
            <p:cNvSpPr/>
            <p:nvPr/>
          </p:nvSpPr>
          <p:spPr>
            <a:xfrm>
              <a:off x="514350" y="1428750"/>
              <a:ext cx="5391150" cy="4362450"/>
            </a:xfrm>
            <a:prstGeom prst="roundRect">
              <a:avLst>
                <a:gd name="adj" fmla="val 524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525" y="1645444"/>
              <a:ext cx="347366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来源进入正式支撑链的四道门</a:t>
              </a:r>
            </a:p>
          </p:txBody>
        </p:sp>
        <p:sp>
          <p:nvSpPr>
            <p:cNvPr id="7" name="Polygon 7"/>
            <p:cNvSpPr/>
            <p:nvPr/>
          </p:nvSpPr>
          <p:spPr>
            <a:xfrm>
              <a:off x="933450" y="2209800"/>
              <a:ext cx="4533900" cy="628650"/>
            </a:xfrm>
            <a:custGeom>
              <a:avLst/>
              <a:gdLst/>
              <a:ahLst/>
              <a:cxnLst/>
              <a:rect l="l" t="t" r="r" b="b"/>
              <a:pathLst>
                <a:path w="4533900" h="628650">
                  <a:moveTo>
                    <a:pt x="0" y="0"/>
                  </a:moveTo>
                  <a:lnTo>
                    <a:pt x="4533900" y="0"/>
                  </a:lnTo>
                  <a:lnTo>
                    <a:pt x="4019550" y="628650"/>
                  </a:lnTo>
                  <a:lnTo>
                    <a:pt x="514350" y="62865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45306" y="2420779"/>
              <a:ext cx="41101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网络安全：SSRF 防护与公开来源约束</a:t>
              </a:r>
            </a:p>
          </p:txBody>
        </p:sp>
        <p:sp>
          <p:nvSpPr>
            <p:cNvPr id="9" name="Polygon 9"/>
            <p:cNvSpPr/>
            <p:nvPr/>
          </p:nvSpPr>
          <p:spPr>
            <a:xfrm>
              <a:off x="1447800" y="3009900"/>
              <a:ext cx="3505200" cy="628650"/>
            </a:xfrm>
            <a:custGeom>
              <a:avLst/>
              <a:gdLst/>
              <a:ahLst/>
              <a:cxnLst/>
              <a:rect l="l" t="t" r="r" b="b"/>
              <a:pathLst>
                <a:path w="3505200" h="628650">
                  <a:moveTo>
                    <a:pt x="0" y="0"/>
                  </a:moveTo>
                  <a:lnTo>
                    <a:pt x="3505200" y="0"/>
                  </a:lnTo>
                  <a:lnTo>
                    <a:pt x="3028950" y="628650"/>
                  </a:lnTo>
                  <a:lnTo>
                    <a:pt x="476250" y="628650"/>
                  </a:lnTo>
                  <a:close/>
                </a:path>
              </a:pathLst>
            </a:custGeom>
            <a:solidFill>
              <a:srgbClr val="DFF0F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45807" y="3220879"/>
              <a:ext cx="3109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材料化：正文简化与位置索引</a:t>
              </a:r>
            </a:p>
          </p:txBody>
        </p:sp>
        <p:sp>
          <p:nvSpPr>
            <p:cNvPr id="11" name="Polygon 11"/>
            <p:cNvSpPr/>
            <p:nvPr/>
          </p:nvSpPr>
          <p:spPr>
            <a:xfrm>
              <a:off x="1924050" y="3810000"/>
              <a:ext cx="2552700" cy="628650"/>
            </a:xfrm>
            <a:custGeom>
              <a:avLst/>
              <a:gdLst/>
              <a:ahLst/>
              <a:cxnLst/>
              <a:rect l="l" t="t" r="r" b="b"/>
              <a:pathLst>
                <a:path w="2552700" h="628650">
                  <a:moveTo>
                    <a:pt x="0" y="0"/>
                  </a:moveTo>
                  <a:lnTo>
                    <a:pt x="2552700" y="0"/>
                  </a:lnTo>
                  <a:lnTo>
                    <a:pt x="2133600" y="628650"/>
                  </a:lnTo>
                  <a:lnTo>
                    <a:pt x="419100" y="628650"/>
                  </a:lnTo>
                  <a:close/>
                </a:path>
              </a:pathLst>
            </a:custGeom>
            <a:solidFill>
              <a:srgbClr val="FFF3D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869142" y="4020979"/>
              <a:ext cx="26625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③ 质量评分与正式证据门控</a:t>
              </a:r>
            </a:p>
          </p:txBody>
        </p:sp>
        <p:sp>
          <p:nvSpPr>
            <p:cNvPr id="13" name="Polygon 13"/>
            <p:cNvSpPr/>
            <p:nvPr/>
          </p:nvSpPr>
          <p:spPr>
            <a:xfrm>
              <a:off x="2343150" y="4610100"/>
              <a:ext cx="1714500" cy="628650"/>
            </a:xfrm>
            <a:custGeom>
              <a:avLst/>
              <a:gdLst/>
              <a:ahLst/>
              <a:cxnLst/>
              <a:rect l="l" t="t" r="r" b="b"/>
              <a:pathLst>
                <a:path w="1714500" h="628650">
                  <a:moveTo>
                    <a:pt x="0" y="0"/>
                  </a:moveTo>
                  <a:lnTo>
                    <a:pt x="1714500" y="0"/>
                  </a:lnTo>
                  <a:lnTo>
                    <a:pt x="1390650" y="628650"/>
                  </a:lnTo>
                  <a:lnTo>
                    <a:pt x="323850" y="6286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10732" y="4829175"/>
              <a:ext cx="23793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事实 / 推断 / 假设分离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552950" y="3905250"/>
              <a:ext cx="704850" cy="1352550"/>
            </a:xfrm>
            <a:custGeom>
              <a:avLst/>
              <a:gdLst/>
              <a:ahLst/>
              <a:cxnLst/>
              <a:rect l="l" t="t" r="r" b="b"/>
              <a:pathLst>
                <a:path w="704850" h="1352550">
                  <a:moveTo>
                    <a:pt x="0" y="0"/>
                  </a:moveTo>
                  <a:cubicBezTo>
                    <a:pt x="666750" y="171450"/>
                    <a:pt x="704850" y="857250"/>
                    <a:pt x="533400" y="1352550"/>
                  </a:cubicBezTo>
                </a:path>
              </a:pathLst>
            </a:custGeom>
            <a:noFill/>
            <a:ln w="38100">
              <a:solidFill>
                <a:srgbClr val="B94747"/>
              </a:solidFill>
              <a:custDash>
                <a:ds d="200000" sp="125000"/>
              </a:custDash>
            </a:ln>
          </p:spPr>
        </p:sp>
        <p:sp>
          <p:nvSpPr>
            <p:cNvPr id="16" name="Rectangle 16"/>
            <p:cNvSpPr/>
            <p:nvPr/>
          </p:nvSpPr>
          <p:spPr>
            <a:xfrm>
              <a:off x="4400550" y="5048250"/>
              <a:ext cx="1257300" cy="514350"/>
            </a:xfrm>
            <a:prstGeom prst="roundRect">
              <a:avLst>
                <a:gd name="adj" fmla="val 29630"/>
              </a:avLst>
            </a:prstGeom>
            <a:solidFill>
              <a:srgbClr val="FFF0F0"/>
            </a:solidFill>
            <a:ln w="9525">
              <a:solidFill>
                <a:srgbClr val="B94747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378359" y="5145881"/>
              <a:ext cx="1301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低质量 / 失败材料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58462" y="53444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C3232"/>
                  </a:solidFill>
                  <a:latin typeface="+mn-lt"/>
                  <a:ea typeface="+mn-ea"/>
                  <a:cs typeface="+mn-cs"/>
                </a:rPr>
                <a:t>拒绝进入正式支撑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1428750"/>
            <a:ext cx="5372100" cy="4362450"/>
            <a:chOff x="6286500" y="1428750"/>
            <a:chExt cx="5372100" cy="43624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428750"/>
              <a:ext cx="5372100" cy="4362450"/>
            </a:xfrm>
            <a:prstGeom prst="roundRect">
              <a:avLst>
                <a:gd name="adj" fmla="val 52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543675" y="1645444"/>
              <a:ext cx="29421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可审计、可校验的交付栈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6667500" y="2152650"/>
              <a:ext cx="4095750" cy="514350"/>
              <a:chOff x="6667500" y="2152650"/>
              <a:chExt cx="4095750" cy="514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0" y="21526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902450" y="2295525"/>
                <a:ext cx="177800" cy="228599"/>
                <a:chOff x="6902450" y="2295525"/>
                <a:chExt cx="177800" cy="2285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7016750" y="229552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0"/>
                      </a:moveTo>
                      <a:lnTo>
                        <a:pt x="0" y="50800"/>
                      </a:lnTo>
                      <a:cubicBezTo>
                        <a:pt x="0" y="57814"/>
                        <a:pt x="5686" y="63500"/>
                        <a:pt x="12700" y="63500"/>
                      </a:cubicBezTo>
                      <a:lnTo>
                        <a:pt x="63500" y="6350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902450" y="2295525"/>
                  <a:ext cx="177800" cy="2285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228599">
                      <a:moveTo>
                        <a:pt x="152400" y="228599"/>
                      </a:moveTo>
                      <a:lnTo>
                        <a:pt x="25400" y="228599"/>
                      </a:lnTo>
                      <a:cubicBezTo>
                        <a:pt x="11372" y="228599"/>
                        <a:pt x="0" y="217227"/>
                        <a:pt x="0" y="203199"/>
                      </a:cubicBezTo>
                      <a:lnTo>
                        <a:pt x="0" y="25400"/>
                      </a:lnTo>
                      <a:cubicBezTo>
                        <a:pt x="0" y="11372"/>
                        <a:pt x="11372" y="0"/>
                        <a:pt x="25400" y="0"/>
                      </a:cubicBezTo>
                      <a:lnTo>
                        <a:pt x="114300" y="0"/>
                      </a:lnTo>
                      <a:lnTo>
                        <a:pt x="177800" y="63500"/>
                      </a:lnTo>
                      <a:lnTo>
                        <a:pt x="177800" y="203199"/>
                      </a:lnTo>
                      <a:cubicBezTo>
                        <a:pt x="177800" y="217227"/>
                        <a:pt x="166428" y="228599"/>
                        <a:pt x="152400" y="228599"/>
                      </a:cubicBez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953250" y="2422525"/>
                  <a:ext cx="762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50800">
                      <a:moveTo>
                        <a:pt x="0" y="25400"/>
                      </a:moveTo>
                      <a:lnTo>
                        <a:pt x="25400" y="50800"/>
                      </a:lnTo>
                      <a:lnTo>
                        <a:pt x="76200" y="0"/>
                      </a:lnTo>
                    </a:path>
                  </a:pathLst>
                </a:custGeom>
                <a:noFill/>
                <a:ln w="25400">
                  <a:solidFill>
                    <a:schemeClr val="accent1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7580" y="2314575"/>
                <a:ext cx="1955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深度报告 + 需求卡片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877050" y="2819400"/>
              <a:ext cx="4095750" cy="514350"/>
              <a:chOff x="6877050" y="2819400"/>
              <a:chExt cx="4095750" cy="514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877050" y="28194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7086600" y="2962275"/>
                <a:ext cx="228600" cy="241299"/>
                <a:chOff x="7086600" y="2962275"/>
                <a:chExt cx="228600" cy="241299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124700" y="29622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cubicBezTo>
                        <a:pt x="0" y="118284"/>
                        <a:pt x="34116" y="152400"/>
                        <a:pt x="76200" y="152400"/>
                      </a:cubicBezTo>
                      <a:cubicBezTo>
                        <a:pt x="118284" y="152400"/>
                        <a:pt x="152400" y="118284"/>
                        <a:pt x="152400" y="76200"/>
                      </a:cubicBezTo>
                      <a:cubicBezTo>
                        <a:pt x="152400" y="34116"/>
                        <a:pt x="118284" y="0"/>
                        <a:pt x="76200" y="0"/>
                      </a:cubicBezTo>
                      <a:cubicBezTo>
                        <a:pt x="34116" y="0"/>
                        <a:pt x="0" y="34116"/>
                        <a:pt x="0" y="762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72009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0" y="0"/>
                      </a:moveTo>
                      <a:cubicBezTo>
                        <a:pt x="16929" y="4229"/>
                        <a:pt x="25400" y="29629"/>
                        <a:pt x="25400" y="76200"/>
                      </a:cubicBezTo>
                      <a:cubicBezTo>
                        <a:pt x="25400" y="122771"/>
                        <a:pt x="16929" y="148171"/>
                        <a:pt x="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7175500" y="2962275"/>
                  <a:ext cx="25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152400">
                      <a:moveTo>
                        <a:pt x="25400" y="0"/>
                      </a:moveTo>
                      <a:cubicBezTo>
                        <a:pt x="8471" y="4229"/>
                        <a:pt x="0" y="29629"/>
                        <a:pt x="0" y="76200"/>
                      </a:cubicBezTo>
                      <a:cubicBezTo>
                        <a:pt x="0" y="122771"/>
                        <a:pt x="8471" y="148171"/>
                        <a:pt x="25400" y="152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124700" y="3038475"/>
                  <a:ext cx="1524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9525">
                      <a:moveTo>
                        <a:pt x="0" y="0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0866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7226300" y="3178174"/>
                  <a:ext cx="889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9525">
                      <a:moveTo>
                        <a:pt x="0" y="0"/>
                      </a:moveTo>
                      <a:lnTo>
                        <a:pt x="88900" y="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7175500" y="3152774"/>
                  <a:ext cx="50800" cy="50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00" h="50800">
                      <a:moveTo>
                        <a:pt x="0" y="25400"/>
                      </a:moveTo>
                      <a:cubicBezTo>
                        <a:pt x="0" y="39428"/>
                        <a:pt x="11372" y="50800"/>
                        <a:pt x="25400" y="50800"/>
                      </a:cubicBezTo>
                      <a:cubicBezTo>
                        <a:pt x="39428" y="50800"/>
                        <a:pt x="50800" y="39428"/>
                        <a:pt x="50800" y="25400"/>
                      </a:cubicBezTo>
                      <a:cubicBezTo>
                        <a:pt x="50800" y="11372"/>
                        <a:pt x="39428" y="0"/>
                        <a:pt x="25400" y="0"/>
                      </a:cubicBezTo>
                      <a:cubicBezTo>
                        <a:pt x="11372" y="0"/>
                        <a:pt x="0" y="11372"/>
                        <a:pt x="0" y="25400"/>
                      </a:cubicBez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7200900" y="31146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25400">
                  <a:solidFill>
                    <a:schemeClr val="accent3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7517130" y="2981325"/>
                <a:ext cx="216730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能力全景图 + 能力画像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7086600" y="3486150"/>
              <a:ext cx="4095750" cy="514350"/>
              <a:chOff x="7086600" y="3486150"/>
              <a:chExt cx="4095750" cy="51435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086600" y="348615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7296150" y="3679825"/>
                <a:ext cx="228599" cy="127000"/>
                <a:chOff x="7296150" y="3679825"/>
                <a:chExt cx="228599" cy="127000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7308850" y="3692525"/>
                  <a:ext cx="203199" cy="101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199" h="101600">
                      <a:moveTo>
                        <a:pt x="0" y="101600"/>
                      </a:moveTo>
                      <a:lnTo>
                        <a:pt x="76200" y="12700"/>
                      </a:lnTo>
                      <a:lnTo>
                        <a:pt x="139700" y="76200"/>
                      </a:lnTo>
                      <a:lnTo>
                        <a:pt x="203199" y="0"/>
                      </a:ln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7435850" y="37560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7372350" y="36925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7296150" y="37814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7499349" y="3679825"/>
                  <a:ext cx="25400" cy="2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00" h="25400">
                      <a:moveTo>
                        <a:pt x="0" y="12700"/>
                      </a:moveTo>
                      <a:cubicBezTo>
                        <a:pt x="0" y="19714"/>
                        <a:pt x="5686" y="25400"/>
                        <a:pt x="12700" y="25400"/>
                      </a:cubicBezTo>
                      <a:cubicBezTo>
                        <a:pt x="19714" y="25400"/>
                        <a:pt x="25400" y="19714"/>
                        <a:pt x="25400" y="12700"/>
                      </a:cubicBezTo>
                      <a:cubicBezTo>
                        <a:pt x="25400" y="5686"/>
                        <a:pt x="19714" y="0"/>
                        <a:pt x="12700" y="0"/>
                      </a:cubicBezTo>
                      <a:cubicBezTo>
                        <a:pt x="5686" y="0"/>
                        <a:pt x="0" y="5686"/>
                        <a:pt x="0" y="12700"/>
                      </a:cubicBezTo>
                    </a:path>
                  </a:pathLst>
                </a:custGeom>
                <a:noFill/>
                <a:ln w="25400">
                  <a:solidFill>
                    <a:srgbClr val="A87312"/>
                  </a:solidFill>
                </a:ln>
              </p:spPr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7726680" y="3648075"/>
                <a:ext cx="237933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推理追溯 + 质量门控记录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296150" y="4152900"/>
              <a:ext cx="4095750" cy="514350"/>
              <a:chOff x="7296150" y="4152900"/>
              <a:chExt cx="409575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296150" y="4152900"/>
                <a:ext cx="40957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505700" y="4308475"/>
                <a:ext cx="228599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03199">
                    <a:moveTo>
                      <a:pt x="0" y="101600"/>
                    </a:moveTo>
                    <a:lnTo>
                      <a:pt x="50800" y="101600"/>
                    </a:lnTo>
                    <a:lnTo>
                      <a:pt x="88900" y="203199"/>
                    </a:lnTo>
                    <a:lnTo>
                      <a:pt x="139700" y="0"/>
                    </a:lnTo>
                    <a:lnTo>
                      <a:pt x="177800" y="101600"/>
                    </a:lnTo>
                    <a:lnTo>
                      <a:pt x="228599" y="1016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936230" y="4314825"/>
                <a:ext cx="227792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持久化 SSE + 断线重放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505700" y="4819650"/>
              <a:ext cx="3886200" cy="628650"/>
              <a:chOff x="7505700" y="4819650"/>
              <a:chExt cx="3886200" cy="6286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7505700" y="4819650"/>
                <a:ext cx="3886200" cy="628650"/>
              </a:xfrm>
              <a:prstGeom prst="roundRect">
                <a:avLst>
                  <a:gd name="adj" fmla="val 24242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7699421" y="5012531"/>
                <a:ext cx="263510" cy="242888"/>
                <a:chOff x="7699421" y="5012531"/>
                <a:chExt cx="263510" cy="242888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7699421" y="5012531"/>
                  <a:ext cx="263510" cy="2408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510" h="240810">
                      <a:moveTo>
                        <a:pt x="132368" y="240810"/>
                      </a:moveTo>
                      <a:cubicBezTo>
                        <a:pt x="47836" y="214607"/>
                        <a:pt x="0" y="125390"/>
                        <a:pt x="24957" y="40481"/>
                      </a:cubicBezTo>
                      <a:cubicBezTo>
                        <a:pt x="66998" y="42405"/>
                        <a:pt x="108135" y="27886"/>
                        <a:pt x="139655" y="0"/>
                      </a:cubicBezTo>
                      <a:cubicBezTo>
                        <a:pt x="171174" y="27886"/>
                        <a:pt x="212311" y="42405"/>
                        <a:pt x="254352" y="40481"/>
                      </a:cubicBezTo>
                      <a:cubicBezTo>
                        <a:pt x="263510" y="71640"/>
                        <a:pt x="263086" y="104832"/>
                        <a:pt x="253137" y="135747"/>
                      </a:cubicBez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879557" y="5201444"/>
                  <a:ext cx="80963" cy="5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63" h="53975">
                      <a:moveTo>
                        <a:pt x="0" y="26988"/>
                      </a:moveTo>
                      <a:lnTo>
                        <a:pt x="26988" y="53975"/>
                      </a:lnTo>
                      <a:lnTo>
                        <a:pt x="80963" y="0"/>
                      </a:lnTo>
                    </a:path>
                  </a:pathLst>
                </a:custGeom>
                <a:noFill/>
                <a:ln w="26988">
                  <a:solidFill>
                    <a:srgbClr val="FFFFFF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8164449" y="4925854"/>
                <a:ext cx="3087263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Delivery Manifest + SHA-256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166735" y="5212556"/>
                <a:ext cx="121762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完整性可机器复核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808732" y="6045518"/>
            <a:ext cx="6574536" cy="264033"/>
            <a:chOff x="2808732" y="6045518"/>
            <a:chExt cx="6574536" cy="264033"/>
          </a:xfrm>
        </p:grpSpPr>
        <p:sp>
          <p:nvSpPr>
            <p:cNvPr id="62" name="TextBox 62"/>
            <p:cNvSpPr txBox="1"/>
            <p:nvPr/>
          </p:nvSpPr>
          <p:spPr>
            <a:xfrm>
              <a:off x="2808732" y="6045518"/>
              <a:ext cx="65745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基础 RBAC · 最小权限 · Agent 原始会话隔离 · 正式证据与低质量材料严格分流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4612" y="1514475"/>
              <a:ext cx="5365376" cy="240030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4612" y="4267200"/>
              <a:ext cx="5365376" cy="240030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2158" y="407670"/>
            <a:ext cx="10994928" cy="710755"/>
            <a:chOff x="502158" y="407670"/>
            <a:chExt cx="10994928" cy="710755"/>
          </a:xfrm>
        </p:grpSpPr>
        <p:sp>
          <p:nvSpPr>
            <p:cNvPr id="2" name="TextBox 2"/>
            <p:cNvSpPr txBox="1"/>
            <p:nvPr/>
          </p:nvSpPr>
          <p:spPr>
            <a:xfrm>
              <a:off x="502158" y="407670"/>
              <a:ext cx="109949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架构执行总览将 A–H 蓝图、S1–S6 Agent 与四层循环完整展开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6832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真实前端集中呈现发现蓝图、专用 Agent、循环门控状态与动态参与的业务 Agent。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33725" y="1371600"/>
            <a:ext cx="5924550" cy="5029200"/>
            <a:chOff x="3133725" y="1371600"/>
            <a:chExt cx="5924550" cy="5029200"/>
          </a:xfrm>
        </p:grpSpPr>
        <p:sp>
          <p:nvSpPr>
            <p:cNvPr id="5" name="Rectangle 5"/>
            <p:cNvSpPr/>
            <p:nvPr/>
          </p:nvSpPr>
          <p:spPr>
            <a:xfrm>
              <a:off x="3133725" y="1371600"/>
              <a:ext cx="5924550" cy="5029200"/>
            </a:xfrm>
            <a:prstGeom prst="roundRect">
              <a:avLst>
                <a:gd name="adj" fmla="val 2652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1825" y="1409700"/>
              <a:ext cx="5848350" cy="4953000"/>
            </a:xfrm>
            <a:prstGeom prst="rect">
              <a:avLst/>
            </a:prstGeom>
          </p:spPr>
        </p:pic>
      </p:grpSp>
      <p:grpSp>
        <p:nvGrpSpPr>
          <p:cNvPr id="16" name="Group 16"/>
          <p:cNvGrpSpPr/>
          <p:nvPr/>
        </p:nvGrpSpPr>
        <p:grpSpPr>
          <a:xfrm>
            <a:off x="266700" y="1543050"/>
            <a:ext cx="4286250" cy="857250"/>
            <a:chOff x="266700" y="1543050"/>
            <a:chExt cx="4286250" cy="857250"/>
          </a:xfrm>
        </p:grpSpPr>
        <p:sp>
          <p:nvSpPr>
            <p:cNvPr id="8" name="Rectangle 8"/>
            <p:cNvSpPr/>
            <p:nvPr/>
          </p:nvSpPr>
          <p:spPr>
            <a:xfrm>
              <a:off x="266700" y="15430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9575" y="16859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536" y="17916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1723" y="1672114"/>
              <a:ext cx="11504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A–H 发现蓝图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1946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CEAF6"/>
                  </a:solidFill>
                  <a:latin typeface="+mn-lt"/>
                  <a:ea typeface="+mn-ea"/>
                  <a:cs typeface="+mn-cs"/>
                </a:rPr>
                <a:t>六阶段执行状态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2838450" y="1885950"/>
              <a:ext cx="1638300" cy="85725"/>
            </a:xfrm>
            <a:custGeom>
              <a:avLst/>
              <a:gdLst/>
              <a:ahLst/>
              <a:cxnLst/>
              <a:rect l="l" t="t" r="r" b="b"/>
              <a:pathLst>
                <a:path w="1638300" h="85725">
                  <a:moveTo>
                    <a:pt x="0" y="85725"/>
                  </a:moveTo>
                  <a:cubicBezTo>
                    <a:pt x="171450" y="85725"/>
                    <a:pt x="190500" y="0"/>
                    <a:pt x="333375" y="0"/>
                  </a:cubicBezTo>
                  <a:lnTo>
                    <a:pt x="1638300" y="0"/>
                  </a:lnTo>
                </a:path>
              </a:pathLst>
            </a:custGeom>
            <a:noFill/>
            <a:ln w="23812" cap="rnd">
              <a:solidFill>
                <a:schemeClr val="accent1"/>
              </a:solidFill>
              <a:round/>
            </a:ln>
          </p:spPr>
        </p:sp>
        <p:sp>
          <p:nvSpPr>
            <p:cNvPr id="14" name="Ellipse 14"/>
            <p:cNvSpPr/>
            <p:nvPr/>
          </p:nvSpPr>
          <p:spPr>
            <a:xfrm>
              <a:off x="4400550" y="18097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448175" y="18573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7829550" y="2457450"/>
            <a:ext cx="4095750" cy="857250"/>
            <a:chOff x="7829550" y="2457450"/>
            <a:chExt cx="4095750" cy="857250"/>
          </a:xfrm>
        </p:grpSpPr>
        <p:sp>
          <p:nvSpPr>
            <p:cNvPr id="17" name="Rectangle 17"/>
            <p:cNvSpPr/>
            <p:nvPr/>
          </p:nvSpPr>
          <p:spPr>
            <a:xfrm>
              <a:off x="9353550" y="24574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9496425" y="2600325"/>
              <a:ext cx="323850" cy="3238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71386" y="27060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18573" y="2586514"/>
              <a:ext cx="15140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S1–S6 专用 Agent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18954" y="2861310"/>
              <a:ext cx="9087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6 / 6 已完成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7905750" y="27813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1447800" y="104775"/>
                  </a:moveTo>
                  <a:cubicBezTo>
                    <a:pt x="1295400" y="10477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3"/>
              </a:solidFill>
              <a:round/>
            </a:ln>
          </p:spPr>
        </p:sp>
        <p:sp>
          <p:nvSpPr>
            <p:cNvPr id="23" name="Ellipse 23"/>
            <p:cNvSpPr/>
            <p:nvPr/>
          </p:nvSpPr>
          <p:spPr>
            <a:xfrm>
              <a:off x="7829550" y="27051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877175" y="2752725"/>
              <a:ext cx="57150" cy="571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266700" y="4305300"/>
            <a:ext cx="4286250" cy="857250"/>
            <a:chOff x="266700" y="4305300"/>
            <a:chExt cx="4286250" cy="857250"/>
          </a:xfrm>
        </p:grpSpPr>
        <p:sp>
          <p:nvSpPr>
            <p:cNvPr id="26" name="Rectangle 26"/>
            <p:cNvSpPr/>
            <p:nvPr/>
          </p:nvSpPr>
          <p:spPr>
            <a:xfrm>
              <a:off x="266700" y="430530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3D8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09575" y="4448175"/>
              <a:ext cx="323850" cy="3238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4536" y="455390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723" y="4434364"/>
              <a:ext cx="13607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L1–L4 循环门控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2104" y="47091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次数与最近状态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2838450" y="4733925"/>
              <a:ext cx="1638300" cy="28575"/>
            </a:xfrm>
            <a:custGeom>
              <a:avLst/>
              <a:gdLst/>
              <a:ahLst/>
              <a:cxnLst/>
              <a:rect l="l" t="t" r="r" b="b"/>
              <a:pathLst>
                <a:path w="1638300" h="28575">
                  <a:moveTo>
                    <a:pt x="0" y="0"/>
                  </a:moveTo>
                  <a:cubicBezTo>
                    <a:pt x="171450" y="0"/>
                    <a:pt x="190500" y="28575"/>
                    <a:pt x="333375" y="28575"/>
                  </a:cubicBezTo>
                  <a:lnTo>
                    <a:pt x="1638300" y="28575"/>
                  </a:lnTo>
                </a:path>
              </a:pathLst>
            </a:custGeom>
            <a:noFill/>
            <a:ln w="23812" cap="rnd">
              <a:solidFill>
                <a:schemeClr val="accent2"/>
              </a:solidFill>
              <a:round/>
            </a:ln>
          </p:spPr>
        </p:sp>
        <p:sp>
          <p:nvSpPr>
            <p:cNvPr id="32" name="Ellipse 32"/>
            <p:cNvSpPr/>
            <p:nvPr/>
          </p:nvSpPr>
          <p:spPr>
            <a:xfrm>
              <a:off x="4400550" y="468630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448175" y="4733925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829550" y="5429250"/>
            <a:ext cx="4095750" cy="857250"/>
            <a:chOff x="7829550" y="5429250"/>
            <a:chExt cx="4095750" cy="857250"/>
          </a:xfrm>
        </p:grpSpPr>
        <p:sp>
          <p:nvSpPr>
            <p:cNvPr id="35" name="Rectangle 35"/>
            <p:cNvSpPr/>
            <p:nvPr/>
          </p:nvSpPr>
          <p:spPr>
            <a:xfrm>
              <a:off x="9353550" y="5429250"/>
              <a:ext cx="2571750" cy="8572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496425" y="5572125"/>
              <a:ext cx="323850" cy="3238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571386" y="567785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18573" y="5558314"/>
              <a:ext cx="13029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参与业务 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8954" y="58331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主控动态编排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905750" y="5810250"/>
              <a:ext cx="1447800" cy="47625"/>
            </a:xfrm>
            <a:custGeom>
              <a:avLst/>
              <a:gdLst/>
              <a:ahLst/>
              <a:cxnLst/>
              <a:rect l="l" t="t" r="r" b="b"/>
              <a:pathLst>
                <a:path w="1447800" h="47625">
                  <a:moveTo>
                    <a:pt x="1447800" y="47625"/>
                  </a:moveTo>
                  <a:cubicBezTo>
                    <a:pt x="1295400" y="47625"/>
                    <a:pt x="1266825" y="0"/>
                    <a:pt x="1114425" y="0"/>
                  </a:cubicBezTo>
                  <a:lnTo>
                    <a:pt x="0" y="0"/>
                  </a:lnTo>
                </a:path>
              </a:pathLst>
            </a:custGeom>
            <a:noFill/>
            <a:ln w="23812" cap="rnd">
              <a:solidFill>
                <a:schemeClr val="accent6"/>
              </a:solidFill>
              <a:round/>
            </a:ln>
          </p:spPr>
        </p:sp>
        <p:sp>
          <p:nvSpPr>
            <p:cNvPr id="41" name="Ellipse 41"/>
            <p:cNvSpPr/>
            <p:nvPr/>
          </p:nvSpPr>
          <p:spPr>
            <a:xfrm>
              <a:off x="7829550" y="5734050"/>
              <a:ext cx="152400" cy="152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7877175" y="5781675"/>
              <a:ext cx="57150" cy="571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15739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10915193" cy="714566"/>
            <a:chOff x="500634" y="470535"/>
            <a:chExt cx="10915193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109151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系统把研究结论沉淀为可评审、可追踪、可校验的成果交付包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14350" y="1409700"/>
            <a:ext cx="5753100" cy="4476750"/>
            <a:chOff x="514350" y="1409700"/>
            <a:chExt cx="5753100" cy="4476750"/>
          </a:xfrm>
        </p:grpSpPr>
        <p:sp>
          <p:nvSpPr>
            <p:cNvPr id="5" name="Rectangle 5"/>
            <p:cNvSpPr/>
            <p:nvPr/>
          </p:nvSpPr>
          <p:spPr>
            <a:xfrm>
              <a:off x="514350" y="1409700"/>
              <a:ext cx="5753100" cy="4476750"/>
            </a:xfrm>
            <a:prstGeom prst="roundRect">
              <a:avLst>
                <a:gd name="adj" fmla="val 468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147" y="1581150"/>
              <a:ext cx="4383507" cy="4133850"/>
            </a:xfrm>
            <a:prstGeom prst="rect">
              <a:avLst/>
            </a:prstGeom>
          </p:spPr>
        </p:pic>
      </p:grp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112770"/>
              <a:chOff x="7174230" y="2276475"/>
              <a:chExt cx="3073146" cy="3112770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26354" y="5095875"/>
                <a:ext cx="14351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876300" y="6096000"/>
            <a:ext cx="10439400" cy="381000"/>
            <a:chOff x="876300" y="6096000"/>
            <a:chExt cx="10439400" cy="381000"/>
          </a:xfrm>
        </p:grpSpPr>
        <p:sp>
          <p:nvSpPr>
            <p:cNvPr id="31" name="Rectangle 31"/>
            <p:cNvSpPr/>
            <p:nvPr/>
          </p:nvSpPr>
          <p:spPr>
            <a:xfrm>
              <a:off x="8763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7957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甲方可直接评审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9872" y="454342"/>
            <a:ext cx="11095939" cy="730759"/>
            <a:chOff x="499872" y="454342"/>
            <a:chExt cx="11095939" cy="730759"/>
          </a:xfrm>
        </p:grpSpPr>
        <p:sp>
          <p:nvSpPr>
            <p:cNvPr id="2" name="TextBox 2"/>
            <p:cNvSpPr txBox="1"/>
            <p:nvPr/>
          </p:nvSpPr>
          <p:spPr>
            <a:xfrm>
              <a:off x="499872" y="454342"/>
              <a:ext cx="1109593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全量回归与三路线验收表明初版已达到可交付、可复核状态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1019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验收口径：2026-07-17；回归、生产构建、配置与真实三路线运行均通过。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447800"/>
            <a:ext cx="3238500" cy="2952750"/>
            <a:chOff x="533400" y="1447800"/>
            <a:chExt cx="3238500" cy="295275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3238500" cy="2952750"/>
            </a:xfrm>
            <a:prstGeom prst="roundRect">
              <a:avLst>
                <a:gd name="adj" fmla="val 7742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99319" y="1812925"/>
              <a:ext cx="297655" cy="337343"/>
              <a:chOff x="899319" y="1812925"/>
              <a:chExt cx="297655" cy="337343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99319" y="1812925"/>
                <a:ext cx="238125" cy="317499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17499">
                    <a:moveTo>
                      <a:pt x="91579" y="317499"/>
                    </a:moveTo>
                    <a:lnTo>
                      <a:pt x="39687" y="317499"/>
                    </a:lnTo>
                    <a:cubicBezTo>
                      <a:pt x="17769" y="317499"/>
                      <a:pt x="0" y="299731"/>
                      <a:pt x="0" y="277812"/>
                    </a:cubicBezTo>
                    <a:lnTo>
                      <a:pt x="0" y="39687"/>
                    </a:lnTo>
                    <a:cubicBezTo>
                      <a:pt x="0" y="17769"/>
                      <a:pt x="17769" y="0"/>
                      <a:pt x="39687" y="0"/>
                    </a:cubicBezTo>
                    <a:lnTo>
                      <a:pt x="198437" y="0"/>
                    </a:lnTo>
                    <a:cubicBezTo>
                      <a:pt x="220356" y="0"/>
                      <a:pt x="238125" y="17769"/>
                      <a:pt x="238125" y="39687"/>
                    </a:cubicBezTo>
                    <a:lnTo>
                      <a:pt x="238125" y="198437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77912" y="2070893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0" y="39687"/>
                    </a:moveTo>
                    <a:lnTo>
                      <a:pt x="39687" y="79375"/>
                    </a:lnTo>
                    <a:lnTo>
                      <a:pt x="119062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8693" y="1892300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8693" y="1971675"/>
                <a:ext cx="396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9525">
                    <a:moveTo>
                      <a:pt x="0" y="0"/>
                    </a:moveTo>
                    <a:lnTo>
                      <a:pt x="39687" y="0"/>
                    </a:lnTo>
                  </a:path>
                </a:pathLst>
              </a:custGeom>
              <a:noFill/>
              <a:ln w="39687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800100" y="2313622"/>
              <a:ext cx="1542428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4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446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6008" y="320802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342" y="37976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全量回归 · 0 个阻断错误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095750" y="1447800"/>
            <a:ext cx="7562850" cy="2952750"/>
            <a:chOff x="4095750" y="1447800"/>
            <a:chExt cx="7562850" cy="2952750"/>
          </a:xfrm>
        </p:grpSpPr>
        <p:sp>
          <p:nvSpPr>
            <p:cNvPr id="15" name="Rectangle 15"/>
            <p:cNvSpPr/>
            <p:nvPr/>
          </p:nvSpPr>
          <p:spPr>
            <a:xfrm>
              <a:off x="4095750" y="1447800"/>
              <a:ext cx="7562850" cy="2952750"/>
            </a:xfrm>
            <a:prstGeom prst="roundRect">
              <a:avLst>
                <a:gd name="adj" fmla="val 7742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353306" y="165354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真实三路线多模型验收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4354449" y="2095500"/>
              <a:ext cx="7118641" cy="385668"/>
              <a:chOff x="4354449" y="2095500"/>
              <a:chExt cx="7118641" cy="38566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354449" y="2173129"/>
                <a:ext cx="1132675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新制胜机理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5905500" y="2095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052566" y="2229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354449" y="2857500"/>
              <a:ext cx="7118641" cy="385668"/>
              <a:chOff x="4354449" y="2857500"/>
              <a:chExt cx="7118641" cy="385668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354449" y="2935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传统能力缺口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905500" y="2857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052566" y="2991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54449" y="3619500"/>
              <a:ext cx="7118641" cy="385668"/>
              <a:chOff x="4354449" y="3619500"/>
              <a:chExt cx="7118641" cy="385668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4354449" y="3697129"/>
                <a:ext cx="1356009" cy="308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局部战争案例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5905500" y="3619500"/>
                <a:ext cx="5257800" cy="381000"/>
              </a:xfrm>
              <a:prstGeom prst="roundRect">
                <a:avLst>
                  <a:gd name="adj" fmla="val 50000"/>
                </a:avLst>
              </a:prstGeom>
              <a:solidFill>
                <a:srgbClr val="E9F6F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052566" y="3753802"/>
                <a:ext cx="54205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completed · runtime_complete · release_ready · audit approved · evidence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648200"/>
            <a:ext cx="11125200" cy="685800"/>
            <a:chOff x="533400" y="4648200"/>
            <a:chExt cx="11125200" cy="685800"/>
          </a:xfrm>
        </p:grpSpPr>
        <p:sp>
          <p:nvSpPr>
            <p:cNvPr id="30" name="Rectangle 30"/>
            <p:cNvSpPr/>
            <p:nvPr/>
          </p:nvSpPr>
          <p:spPr>
            <a:xfrm>
              <a:off x="533400" y="4648200"/>
              <a:ext cx="11125200" cy="685800"/>
            </a:xfrm>
            <a:prstGeom prst="roundRect">
              <a:avLst>
                <a:gd name="adj" fmla="val 30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0580" y="4886325"/>
              <a:ext cx="17892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Vite 生产构建通过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35680" y="4886325"/>
              <a:ext cx="17999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Compose 配置通过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1730" y="4886325"/>
              <a:ext cx="19074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本轮 Ruff 检查通过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17280" y="4886325"/>
              <a:ext cx="2075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Manifest 完整性校验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33400" y="5543550"/>
            <a:ext cx="11125200" cy="742950"/>
            <a:chOff x="533400" y="5543550"/>
            <a:chExt cx="11125200" cy="742950"/>
          </a:xfrm>
        </p:grpSpPr>
        <p:sp>
          <p:nvSpPr>
            <p:cNvPr id="36" name="Rectangle 36"/>
            <p:cNvSpPr/>
            <p:nvPr/>
          </p:nvSpPr>
          <p:spPr>
            <a:xfrm>
              <a:off x="533400" y="5543550"/>
              <a:ext cx="11125200" cy="742950"/>
            </a:xfrm>
            <a:prstGeom prst="roundRect">
              <a:avLst>
                <a:gd name="adj" fmla="val 2820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74573" y="56916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代表性闭环验收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4954" y="5985510"/>
              <a:ext cx="1004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路 Agent　·　6 个推理节点　·　L1/L2/L3　·　2 项结构化画像　·　71 条事件　·　15/15 工具结果　·　30 个 Manifest 文件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1208" y="426720"/>
            <a:ext cx="10704584" cy="720281"/>
            <a:chOff x="521208" y="426720"/>
            <a:chExt cx="10704584" cy="720281"/>
          </a:xfrm>
        </p:grpSpPr>
        <p:sp>
          <p:nvSpPr>
            <p:cNvPr id="2" name="TextBox 2"/>
            <p:cNvSpPr txBox="1"/>
            <p:nvPr/>
          </p:nvSpPr>
          <p:spPr>
            <a:xfrm>
              <a:off x="521208" y="426720"/>
              <a:ext cx="10704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Benchmark：约 100 条专家标注 Query 采用 Pairwise 盲评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7785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条作为候选池；正式集先覆盖研究路径，再对同一 Query 的匿名 A/B 回答进行九维比较。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892807" y="2009775"/>
              <a:ext cx="12814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480 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3035" y="2505075"/>
              <a:ext cx="114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候选 Query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4547" y="2842260"/>
              <a:ext cx="1317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60 条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373069" y="21469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多源深研确有必要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764628" y="3220402"/>
              <a:ext cx="19200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同题匿名 A/B Pairwise 盲评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6836" y="1352550"/>
            <a:ext cx="3411764" cy="2209800"/>
            <a:chOff x="8246836" y="1352550"/>
            <a:chExt cx="3411764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46836" y="1613535"/>
              <a:ext cx="18133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/ OTHER 路径覆盖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742450" y="3242310"/>
              <a:ext cx="2422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Judge 先判主路径，再比较回答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1356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四项入选门槛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42950" y="5295900"/>
              <a:ext cx="266700" cy="2667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30151" y="5373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136904" y="5356860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专家标注完整：分支 / 模式 / 预期输出 / 评分规则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42950" y="569595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0151" y="57731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36904" y="57569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可复核：证据包、公开材料与安全边界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02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259449" y="4001929"/>
              <a:ext cx="35705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Pairwise 对比方法｜匿名 A/B 盲评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6267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443520" y="44586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识别主路径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6447092" y="46653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A–H / OTHER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420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6009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7702810" y="44586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检查规定产物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7612513" y="4665345"/>
              <a:ext cx="1081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complete / partial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7542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8934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9003266" y="4458652"/>
              <a:ext cx="967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九维 Pairwise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84775" y="4665345"/>
              <a:ext cx="604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A / B / tie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087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10267950" y="4362450"/>
              <a:ext cx="1123950" cy="495300"/>
            </a:xfrm>
            <a:prstGeom prst="roundRect">
              <a:avLst>
                <a:gd name="adj" fmla="val 2692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10527754" y="4458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0452602" y="466534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F6F1"/>
                  </a:solidFill>
                  <a:latin typeface="+mn-lt"/>
                  <a:ea typeface="+mn-ea"/>
                  <a:cs typeface="+mn-cs"/>
                </a:rPr>
                <a:t>置信度 + 仲裁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6261354" y="50139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五项核心维度各 15%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900416" y="5030152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任务完成 · 证据事实 · 机理深度 · 军事价值 · 能力映射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6262116" y="53159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不按篇幅、术语密度、标题数量或引用数量加分；核心质量实质相当才判 tie</a:t>
              </a:r>
            </a:p>
          </p:txBody>
        </p:sp>
        <p:sp>
          <p:nvSpPr>
            <p:cNvPr id="122" name="Line 122"/>
            <p:cNvSpPr/>
            <p:nvPr/>
          </p:nvSpPr>
          <p:spPr>
            <a:xfrm>
              <a:off x="626745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6267450" y="5695950"/>
              <a:ext cx="5124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058160" y="5773102"/>
              <a:ext cx="354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置信度 &lt; 0.65 · 引用待核 · 核心优势分化 → 人工仲裁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6" name="Rectangle 126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09600"/>
            <a:chOff x="533400" y="5810250"/>
            <a:chExt cx="11049000" cy="609600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40674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8000"/>
          </a:blip>
          <a:srcRect l="0" t="27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6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048750" y="-1924050"/>
            <a:ext cx="4191000" cy="4191000"/>
          </a:xfrm>
          <a:prstGeom prst="ellipse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19684" y="451485"/>
            <a:ext cx="9708802" cy="813435"/>
            <a:chOff x="519684" y="451485"/>
            <a:chExt cx="9708802" cy="813435"/>
          </a:xfrm>
        </p:grpSpPr>
        <p:sp>
          <p:nvSpPr>
            <p:cNvPr id="5" name="TextBox 5"/>
            <p:cNvSpPr txBox="1"/>
            <p:nvPr/>
          </p:nvSpPr>
          <p:spPr>
            <a:xfrm>
              <a:off x="519684" y="451485"/>
              <a:ext cx="9708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下一阶段重点：智能体编排、业务流程与 Benchmark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44830" y="9715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在现有功能闭环基础上，集中做好三项持续优化，不扩散新的建设主题。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619250"/>
            <a:ext cx="3429000" cy="3676650"/>
            <a:chOff x="533400" y="1619250"/>
            <a:chExt cx="3429000" cy="3676650"/>
          </a:xfrm>
        </p:grpSpPr>
        <p:sp>
          <p:nvSpPr>
            <p:cNvPr id="8" name="Rectangle 8"/>
            <p:cNvSpPr/>
            <p:nvPr/>
          </p:nvSpPr>
          <p:spPr>
            <a:xfrm>
              <a:off x="5334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619250"/>
              <a:ext cx="3429000" cy="8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42950" y="18669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63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3355975" y="1917700"/>
              <a:ext cx="222250" cy="301625"/>
              <a:chOff x="3355975" y="1917700"/>
              <a:chExt cx="222250" cy="3016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371850" y="19494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467100" y="19177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41947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51472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35597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51472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419475" y="217170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4353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988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8290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智能体设计与编排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2104" y="2880360"/>
              <a:ext cx="284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优化 Agent 职责、协作关系与动态调度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8382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313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细化主控、专用与业务 Agent 边界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优化分支选择、并行协同与动态路由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完善回溯再调和输入输出契约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381500" y="1619250"/>
            <a:ext cx="3429000" cy="3676650"/>
            <a:chOff x="4381500" y="1619250"/>
            <a:chExt cx="3429000" cy="3676650"/>
          </a:xfrm>
        </p:grpSpPr>
        <p:sp>
          <p:nvSpPr>
            <p:cNvPr id="27" name="Rectangle 27"/>
            <p:cNvSpPr/>
            <p:nvPr/>
          </p:nvSpPr>
          <p:spPr>
            <a:xfrm>
              <a:off x="43815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1500" y="1619250"/>
              <a:ext cx="3429000" cy="857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4591050" y="18669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144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7172325" y="1933575"/>
              <a:ext cx="285751" cy="285751"/>
              <a:chOff x="7172325" y="1933575"/>
              <a:chExt cx="285751" cy="28575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172325" y="21558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394576" y="1933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283450" y="196532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6771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业务执行流程完善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80204" y="28803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让前端展示、后台执行与业务规则一致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46863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6794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梳理任务入口到成果交付的全流程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补齐异常处理、人工介入与结果复核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完善状态回放与关键节点可追溯性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29600" y="1619250"/>
            <a:ext cx="3429000" cy="3676650"/>
            <a:chOff x="8229600" y="1619250"/>
            <a:chExt cx="3429000" cy="3676650"/>
          </a:xfrm>
        </p:grpSpPr>
        <p:sp>
          <p:nvSpPr>
            <p:cNvPr id="40" name="Rectangle 40"/>
            <p:cNvSpPr/>
            <p:nvPr/>
          </p:nvSpPr>
          <p:spPr>
            <a:xfrm>
              <a:off x="82296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8229600" y="1619250"/>
              <a:ext cx="3429000" cy="857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439150" y="1866900"/>
              <a:ext cx="495300" cy="495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625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1020425" y="1949450"/>
              <a:ext cx="285750" cy="263526"/>
              <a:chOff x="11020425" y="1949450"/>
              <a:chExt cx="285750" cy="2635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1020425" y="207645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1210925" y="20129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1115675" y="194945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036300" y="220345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525256" y="2453640"/>
              <a:ext cx="26938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Benchmark 与消融实验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528304" y="2880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用对比实验量化各模块的真实贡献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85344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527542" y="3492818"/>
              <a:ext cx="30998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扩充专家标注 Deep Research Query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 Pairwise 盲评与人工仲裁机制</a:t>
              </a:r>
            </a:p>
            <a:p>
              <a:pPr algn="l" marL="145732" indent="-145732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增加 Agent、门控、Recall 等消融实验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5600700"/>
            <a:ext cx="11125200" cy="786384"/>
            <a:chOff x="533400" y="5600700"/>
            <a:chExt cx="11125200" cy="786384"/>
          </a:xfrm>
        </p:grpSpPr>
        <p:sp>
          <p:nvSpPr>
            <p:cNvPr id="54" name="Rectangle 54"/>
            <p:cNvSpPr/>
            <p:nvPr/>
          </p:nvSpPr>
          <p:spPr>
            <a:xfrm>
              <a:off x="533400" y="5600700"/>
              <a:ext cx="11125200" cy="781050"/>
            </a:xfrm>
            <a:prstGeom prst="roundRect">
              <a:avLst>
                <a:gd name="adj" fmla="val 31707"/>
              </a:avLst>
            </a:prstGeom>
            <a:solidFill>
              <a:srgbClr val="FFFFFF">
                <a:alpha val="13000"/>
              </a:srgbClr>
            </a:solidFill>
            <a:ln w="9525">
              <a:solidFill>
                <a:srgbClr val="FFFFFF">
                  <a:alpha val="26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581040" y="58045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下一阶段目标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995510" y="6035040"/>
              <a:ext cx="62009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可配置智能体编排 · 可复核业务流程 · 可量化评测体系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51683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2026-07-23T09:35:06Z</dcterms:created>
  <dcterms:modified xsi:type="dcterms:W3CDTF">2026-07-23T09:35:06Z</dcterms:modified>
  <cp:category/>
  <cp:contentStatus/>
</cp:coreProperties>
</file>