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  <Relationship Id="rId24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_rels/notesSlide1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6.xml"/>
</Relationships>
</file>

<file path=ppt/notesSlides/_rels/notesSlide1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7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本次汇报围绕基于多智能体协作的 JS 装备市场需求深度挖掘系统，重点展示已经完成的落地功能、工程验收和 Benchmark Baseline 结果。项目已经从架构设计进入可运行、可追溯、可评测的系统初版阶段。下面先用一页概览说明项目完成度。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当前项目已经形成业务、工程和评测三类闭环。核心功能覆盖三路线与 A 到 H 动态编排、S 一到 S 六专业推理链、证据门控与交互审计，以及成果矩阵和交付 Manifest；全量回归达到四百四十六项通过，对通用 Codex Agent 的真实专家盲评为十七胜、两平、零负。接下来我们从端到端业务流程看这些能力如何串联。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系统把传统的资料检索和人工归纳，升级为七阶段可追溯研究闭环。任务从解析和路线选择开始，经过多智能体研究、证据治理和专业机理推理，最终形成成果画像与审计交付，并通过验证回流再次核查证据。这个闭环保证交付不是简单清单，而是带有背景、约束、证据和验证路径的结构化成果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这一页用 Codex 原生绘制的可编辑架构图，把项目业务和功能收敛为一条清晰主线路。任务入口经过三路线和 A 到 H 分支形成研究蓝图，主控 Agent 调度路线与分支专用 Agent，再进入 S 一到 S 六推理链；证据治理层在门控未通过时定向回溯到相关 Agent，企业运行层最终通过接口、队列、Worker、工作台、Trace 与 Manifest 完成交付。下面进一步展开三路线和动态分支的编排机制。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系统已经落地新制胜机理、传统能力缺口和局部战争案例三条稳定路线，同时以 A 到 H 八个分支形成目标架构扩展面。主控 Agent 根据任务主题、交互模式和覆盖缺口选择专业 Agent，并生成差异化研究蓝图。这样既保证成熟路径稳定执行，也保留面向新任务的动态发现能力。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多智能体在本项目中不是简单地重复调用模型，而是运行在受控 Harness 中。Agent 角色可通过 Registry 动态选择或替换，每个 Agent 拥有独立 Session、上下文、工具权限、预算、Checkpoint 和输出目录，并通过有界 Wave 并发和结构化交接实现可恢复协作。接下来介绍这些 Agent 所固化的专业推理链。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S 一到 S 六把研究材料逐级转化为机理分析和能力成果。六个节点分别覆盖对手分析、运用审查、突破口思考、能力映射、现状差距和综合输出，使规律、场景、因果、能力需求、指标边界和验证建议形成连续链路。专业推理链之外，系统还设计了分层质量循环来处理证据不足和阶段矛盾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L 一到 L 四按照缺口大小触发不同范围的纠偏。系统可以在当前节点补证、回溯相邻阶段、跨阶段重新门控，并在收敛后进行有界复核；所有调整都受到 Harness 边界约束并保留触发和动作记录。这样既能提高质量，又避免无限反思和不可控重编排。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证据治理贯穿检索、材料化、质量评分、引用和最终交付。只有通过安全约束和质量门控的来源才能进入正式支撑链，低质量或材料化失败的来源会被明确分流；报告、成果画像、推理追溯、交互事件和 Manifest 则共同构成可复核交付栈。下面通过真实系统界面展示这些能力已经如何产品化。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研究指挥台已经承载真实任务创建、排队、执行、筛选、归档和历史查看。接口创建任务后由持久化队列和独立 Worker 跨进程执行，应用重启后仍可读取摘要、证据、专业节点、成果、报告、追溯与 Manifest。它证明项目已经从算法流程进入可操作的企业工作台形态。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真实任务已经记录三百七十二条交互事件、二十二张证据卡、六个专用 S Agent、十二个推理节点和一次真实 Recall。页面中的真实审计链清楚显示 L 一门控未通过，系统发起定向补证，完成再调后返回 L 一，并由主控 Agent 合并结果、重新计算能力覆盖。持久化事件流同时支持实时观察、断线重放和事后审计，下一页进一步看专业推理结果在产品中的呈现。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这一页用真实前端展示架构执行总览。顶部六个状态块对应任务理解、多源基线研究、发现结果收敛、S 一到 S 六专用 Agent、独立审计和报告交付；中部完整列出六个专用 Agent 及其本轮结果，下部展示 L 一到 L 四步骤门控、因果复核、残差回溯和元循环的执行次数与最近状态。页面最下方还展示本次由主控 Agent 根据 A 到 H 分支和当前输入动态选取的业务 Agent，因此从发现蓝图到专用推理、循环治理和业务协作的执行状态都能够被查看和回放。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系统已经把研究结论沉淀为甲方可直接评审的多形态成果交付包。真实能力成果界面之外，交付矩阵还包括深度报告、需求卡片、能力全景、推理追溯、证据索引、质量门控、交互审计和 Manifest。整个交付包既支持当前评审，也为后续验证和迭代保留依据。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工程侧全量回归达到四百四十六项通过，生产构建、配置和代码检查均通过。三条真实路线均达到完成、运行闭环、可发布、审计批准和正式证据存在的验收状态，代表性闭环还覆盖四路 Agent、六个推理节点、七十一条事件、十五项工具结果和三十个 Manifest 文件。除了工程验收，项目还建设了可持续扩展的 Benchmark 数据资产。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正式 Benchmark 不会把四百八十条候选题库直接全部运行，而是由专家从中筛选并标注约一百条真正适合 Deep Research 的 Query，最终数量以专家终审为准。评测采用同题匿名 A/B Pairwise 盲评：Judge 不推测系统身份，先独立识别 A 到 H 或 OTHER 主路径并检查该路径规定产物，再从任务完成、证据事实、机理深度、军事价值、能力映射、前瞻性、跨场景稳健性、不确定性与验证、沟通效率九个维度比较两个回答。前五项核心维度各占百分之十五，总体胜者不按篇幅、术语密度或维度票数机械决定；只有核心质量实质相当才判平局。总体或路径置信度低于零点六五、引用需要核验、双方在不同核心维度各有明显优势或疑似严重失败时，结果自动进入人工仲裁，并以结构化 JSON 留存胜者、置信度、缺项、引用问题和仲裁原因。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这一页是本次汇报的核心实证。十九条专业 Query 全部完成，经过两名真实专家盲评，完整方法对纯 LLM 为十九胜、零平、零负，对通用 Codex Agent 为十七胜、两平、零负；八维票型显示能力映射、机理深度、军事价值、前瞻性、任务完成、跨场景稳健性和不确定性处理七项优势。证据与事实可靠性的票型为二比三比六十七，但结合报告声明十九项正式证据而正文没有完整展开的情况，这一结果更应理解为正文证据展示、评测输入口径和 Judge 可见信息的差异，不能直接推导为底层证据不足。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下一阶段重点集中在三件事。第一，继续优化智能体设计和协作编排，细化主控、专用 Agent、业务 Agent 与 S1 到 S6 的职责边界，完善动态路由、并行协同、回溯再调和输入输出契约。第二，进一步梳理和完善端到端业务执行流程，让任务入口、三路线、A 到 H 分支、六步推理、证据门控、人工复核和成果交付保持一致，并补齐异常处理与状态回放。第三，持续完善 Benchmark 测试，扩充专家标注 Query，优化匿名 Pairwise 盲评和人工仲裁，同时增加主控编排、专用 Agent、S1 到 S6、证据门控、Recall 与工具链等模块的消融实验，量化各模块的实际贡献。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js_equipment_client_report_20260722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js_equipment_client_report_20260722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1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683dd0d1e9599512.jpg"/>
  <Relationship Id="rId3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ec984a66e3ff13d0.jpg"/>
  <Relationship Id="rId3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6e5f62ee3d21bfd7.jpg"/>
  <Relationship Id="rId3" Type="http://schemas.openxmlformats.org/officeDocument/2006/relationships/image" Target="../media/image_2be54e6882bbd590.jpg"/>
  <Relationship Id="rId4" Type="http://schemas.openxmlformats.org/officeDocument/2006/relationships/image" Target="../media/image_f73d0c2d319088b2.jpg"/>
  <Relationship Id="rId5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1da44f57cd037ad2.png"/>
  <Relationship Id="rId3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2436b6e00a825a5f.jpg"/>
  <Relationship Id="rId3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5.xml"/>
</Relationships>
</file>

<file path=ppt/slides/_rels/slide1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3db34167c23e866a.jpg"/>
  <Relationship Id="rId3" Type="http://schemas.openxmlformats.org/officeDocument/2006/relationships/notesSlide" Target="../notesSlides/notesSlide16.xml"/>
</Relationships>
</file>

<file path=ppt/slides/_rels/slide1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683dd0d1e9599512.jpg"/>
  <Relationship Id="rId3" Type="http://schemas.openxmlformats.org/officeDocument/2006/relationships/notesSlide" Target="../notesSlides/notesSlide17.xml"/>
</Relationships>
</file>

<file path=ppt/slides/slide1.xml><?xml version="1.0" encoding="utf-8"?>
<p:sld xmlns:a="http://schemas.openxmlformats.org/drawingml/2006/main" xmlns:ns3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2" name="Image 2"/>
            <p:cNvPicPr>
              <a:picLocks noChangeAspect="1"/>
            </p:cNvPicPr>
            <p:nvPr/>
          </p:nvPicPr>
          <p:blipFill>
            <a:blip r:embed="rId2"/>
            <a:srcRect l="0" t="27" r="0" b="27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sp>
        <p:nvSpPr>
          <p:cNvPr id="4" name="Rectangle 4"/>
          <p:cNvSpPr/>
          <p:nvPr/>
        </p:nvSpPr>
        <p:spPr>
          <a:xfrm>
            <a:off x="6819900" y="914400"/>
            <a:ext cx="5086350" cy="4895850"/>
          </a:xfrm>
          <a:prstGeom prst="roundRect">
            <a:avLst>
              <a:gd name="adj" fmla="val 6226"/>
            </a:avLst>
          </a:prstGeom>
          <a:solidFill>
            <a:srgbClr val="FFFFFF">
              <a:alpha val="88000"/>
            </a:srgbClr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7224522" y="1444942"/>
            <a:ext cx="5121592" cy="2464309"/>
            <a:chOff x="7224522" y="1444942"/>
            <a:chExt cx="5121592" cy="2464309"/>
          </a:xfrm>
        </p:grpSpPr>
        <p:sp>
          <p:nvSpPr>
            <p:cNvPr id="5" name="TextBox 5"/>
            <p:cNvSpPr txBox="1"/>
            <p:nvPr/>
          </p:nvSpPr>
          <p:spPr>
            <a:xfrm>
              <a:off x="7224522" y="1444942"/>
              <a:ext cx="5121592" cy="107175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4050"/>
                </a:lnSpc>
              </a:pPr>
              <a:r>
                <a:rPr lang="zh-CN" sz="28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基于多智能体协作的JS 装备市场需求深度挖掘系统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7239000" y="2724150"/>
              <a:ext cx="704850" cy="571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227570" y="3071812"/>
              <a:ext cx="244602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项目阶段成果汇报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232142" y="3645218"/>
              <a:ext cx="36086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落地功能 · 工程验收 · Benchmark Baseline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232142" y="3950018"/>
            <a:ext cx="1921954" cy="264033"/>
            <a:chOff x="7232142" y="3950018"/>
            <a:chExt cx="1921954" cy="264033"/>
          </a:xfrm>
        </p:grpSpPr>
        <p:sp>
          <p:nvSpPr>
            <p:cNvPr id="10" name="TextBox 10"/>
            <p:cNvSpPr txBox="1"/>
            <p:nvPr/>
          </p:nvSpPr>
          <p:spPr>
            <a:xfrm>
              <a:off x="7232142" y="3950018"/>
              <a:ext cx="19219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汇报日期：</a:t>
              </a:r>
              <a:fld id="{6D411DCE-A345-4332-8BDD-912E275EC8EA}" type="datetimeFigureOut"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2026-07-23</a:t>
              </a:fld>
              <a:endParaRPr lang="zh-CN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239000" y="4953000"/>
            <a:ext cx="4114800" cy="476250"/>
            <a:chOff x="7239000" y="4953000"/>
            <a:chExt cx="4114800" cy="476250"/>
          </a:xfrm>
        </p:grpSpPr>
        <p:sp>
          <p:nvSpPr>
            <p:cNvPr id="12" name="Rectangle 12"/>
            <p:cNvSpPr/>
            <p:nvPr/>
          </p:nvSpPr>
          <p:spPr>
            <a:xfrm>
              <a:off x="7239000" y="4953000"/>
              <a:ext cx="1257300" cy="4762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497318" y="512159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业务闭环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8667750" y="4953000"/>
              <a:ext cx="1257300" cy="47625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926068" y="512159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工程闭环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10096500" y="4953000"/>
              <a:ext cx="1257300" cy="4762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354818" y="512159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评测闭环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1478730" y="64017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01</a:t>
            </a:r>
          </a:p>
        </p:txBody>
      </p:sp>
    </p:spTree>
  </p:cSld>
  <p:clrMapOvr>
    <a:masterClrMapping/>
  </p:clrMapOvr>
  <p:transition ns3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00634" y="489585"/>
            <a:ext cx="11318443" cy="695516"/>
            <a:chOff x="500634" y="489585"/>
            <a:chExt cx="11318443" cy="695516"/>
          </a:xfrm>
        </p:grpSpPr>
        <p:sp>
          <p:nvSpPr>
            <p:cNvPr id="2" name="TextBox 2"/>
            <p:cNvSpPr txBox="1"/>
            <p:nvPr/>
          </p:nvSpPr>
          <p:spPr>
            <a:xfrm>
              <a:off x="500634" y="489585"/>
              <a:ext cx="1131844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三类闭环与核心功能已落地，真实验收和专家盲评形成双重验证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6542" y="921068"/>
              <a:ext cx="80147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结论先行：业务研究、工程运行、成果交付和 Benchmark 评测已形成可展示、可复核的项目初版。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032967" y="1333500"/>
            <a:ext cx="4665112" cy="4239006"/>
            <a:chOff x="1032967" y="1333500"/>
            <a:chExt cx="4665112" cy="4239006"/>
          </a:xfrm>
        </p:grpSpPr>
        <p:sp>
          <p:nvSpPr>
            <p:cNvPr id="5" name="Freeform 5"/>
            <p:cNvSpPr/>
            <p:nvPr/>
          </p:nvSpPr>
          <p:spPr>
            <a:xfrm>
              <a:off x="1181100" y="1333500"/>
              <a:ext cx="4076700" cy="3714750"/>
            </a:xfrm>
            <a:custGeom>
              <a:avLst/>
              <a:gdLst/>
              <a:ahLst/>
              <a:cxnLst/>
              <a:rect l="l" t="t" r="r" b="b"/>
              <a:pathLst>
                <a:path w="4076700" h="3714750">
                  <a:moveTo>
                    <a:pt x="533400" y="971550"/>
                  </a:moveTo>
                  <a:cubicBezTo>
                    <a:pt x="1466850" y="0"/>
                    <a:pt x="3067050" y="247650"/>
                    <a:pt x="3581400" y="1447800"/>
                  </a:cubicBezTo>
                  <a:cubicBezTo>
                    <a:pt x="4076700" y="2609850"/>
                    <a:pt x="3152775" y="3714750"/>
                    <a:pt x="1866900" y="3562350"/>
                  </a:cubicBezTo>
                  <a:cubicBezTo>
                    <a:pt x="647700" y="3429000"/>
                    <a:pt x="0" y="2381250"/>
                    <a:pt x="476250" y="1314450"/>
                  </a:cubicBezTo>
                </a:path>
              </a:pathLst>
            </a:custGeom>
            <a:noFill/>
            <a:ln w="209550" cap="rnd">
              <a:solidFill>
                <a:srgbClr val="D7E0EA"/>
              </a:solidFill>
            </a:ln>
          </p:spPr>
        </p:sp>
        <p:sp>
          <p:nvSpPr>
            <p:cNvPr id="6" name="Freeform 6"/>
            <p:cNvSpPr/>
            <p:nvPr/>
          </p:nvSpPr>
          <p:spPr>
            <a:xfrm>
              <a:off x="1714500" y="1333500"/>
              <a:ext cx="3048000" cy="1447800"/>
            </a:xfrm>
            <a:custGeom>
              <a:avLst/>
              <a:gdLst/>
              <a:ahLst/>
              <a:cxnLst/>
              <a:rect l="l" t="t" r="r" b="b"/>
              <a:pathLst>
                <a:path w="3048000" h="1447800">
                  <a:moveTo>
                    <a:pt x="0" y="971550"/>
                  </a:moveTo>
                  <a:cubicBezTo>
                    <a:pt x="933450" y="0"/>
                    <a:pt x="2533650" y="247650"/>
                    <a:pt x="3048000" y="1447800"/>
                  </a:cubicBezTo>
                </a:path>
              </a:pathLst>
            </a:custGeom>
            <a:noFill/>
            <a:ln w="209550" cap="rnd">
              <a:solidFill>
                <a:schemeClr val="accent1"/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3048000" y="2781300"/>
              <a:ext cx="2209800" cy="2266950"/>
            </a:xfrm>
            <a:custGeom>
              <a:avLst/>
              <a:gdLst/>
              <a:ahLst/>
              <a:cxnLst/>
              <a:rect l="l" t="t" r="r" b="b"/>
              <a:pathLst>
                <a:path w="2209800" h="2266950">
                  <a:moveTo>
                    <a:pt x="1714500" y="0"/>
                  </a:moveTo>
                  <a:cubicBezTo>
                    <a:pt x="2209800" y="1162050"/>
                    <a:pt x="1285875" y="2266950"/>
                    <a:pt x="0" y="2114550"/>
                  </a:cubicBezTo>
                </a:path>
              </a:pathLst>
            </a:custGeom>
            <a:noFill/>
            <a:ln w="209550" cap="rnd">
              <a:solidFill>
                <a:schemeClr val="accent3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181100" y="2647950"/>
              <a:ext cx="1866900" cy="2247900"/>
            </a:xfrm>
            <a:custGeom>
              <a:avLst/>
              <a:gdLst/>
              <a:ahLst/>
              <a:cxnLst/>
              <a:rect l="l" t="t" r="r" b="b"/>
              <a:pathLst>
                <a:path w="1866900" h="2247900">
                  <a:moveTo>
                    <a:pt x="1866900" y="2247900"/>
                  </a:moveTo>
                  <a:cubicBezTo>
                    <a:pt x="647700" y="2114550"/>
                    <a:pt x="0" y="1066800"/>
                    <a:pt x="476250" y="0"/>
                  </a:cubicBezTo>
                </a:path>
              </a:pathLst>
            </a:custGeom>
            <a:noFill/>
            <a:ln w="209550" cap="rnd">
              <a:solidFill>
                <a:schemeClr val="accent2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1343025" y="1590675"/>
              <a:ext cx="1047750" cy="104775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accent1"/>
              </a:solidFill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1681163" y="1814513"/>
              <a:ext cx="371475" cy="371475"/>
              <a:chOff x="1681163" y="1814513"/>
              <a:chExt cx="371475" cy="37147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1681163" y="2103438"/>
                <a:ext cx="82550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82550" h="82550">
                    <a:moveTo>
                      <a:pt x="0" y="41275"/>
                    </a:moveTo>
                    <a:cubicBezTo>
                      <a:pt x="0" y="64071"/>
                      <a:pt x="18479" y="82550"/>
                      <a:pt x="41275" y="82550"/>
                    </a:cubicBezTo>
                    <a:cubicBezTo>
                      <a:pt x="64071" y="82550"/>
                      <a:pt x="82550" y="64071"/>
                      <a:pt x="82550" y="41275"/>
                    </a:cubicBezTo>
                    <a:cubicBezTo>
                      <a:pt x="82550" y="18479"/>
                      <a:pt x="64071" y="0"/>
                      <a:pt x="41275" y="0"/>
                    </a:cubicBezTo>
                    <a:cubicBezTo>
                      <a:pt x="18479" y="0"/>
                      <a:pt x="0" y="18479"/>
                      <a:pt x="0" y="41275"/>
                    </a:cubicBezTo>
                  </a:path>
                </a:pathLst>
              </a:custGeom>
              <a:noFill/>
              <a:ln w="41275">
                <a:solidFill>
                  <a:schemeClr val="accent1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970088" y="1814513"/>
                <a:ext cx="82550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82550" h="82550">
                    <a:moveTo>
                      <a:pt x="41275" y="82550"/>
                    </a:moveTo>
                    <a:cubicBezTo>
                      <a:pt x="64071" y="82550"/>
                      <a:pt x="82550" y="64071"/>
                      <a:pt x="82550" y="41275"/>
                    </a:cubicBezTo>
                    <a:cubicBezTo>
                      <a:pt x="82550" y="18479"/>
                      <a:pt x="64071" y="0"/>
                      <a:pt x="41275" y="0"/>
                    </a:cubicBezTo>
                    <a:cubicBezTo>
                      <a:pt x="18479" y="0"/>
                      <a:pt x="0" y="18479"/>
                      <a:pt x="0" y="41275"/>
                    </a:cubicBezTo>
                    <a:cubicBezTo>
                      <a:pt x="0" y="64071"/>
                      <a:pt x="18479" y="82550"/>
                      <a:pt x="41275" y="82550"/>
                    </a:cubicBezTo>
                  </a:path>
                </a:pathLst>
              </a:custGeom>
              <a:noFill/>
              <a:ln w="41275">
                <a:solidFill>
                  <a:schemeClr val="accent1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825625" y="1855788"/>
                <a:ext cx="82550" cy="288925"/>
              </a:xfrm>
              <a:custGeom>
                <a:avLst/>
                <a:gdLst/>
                <a:ahLst/>
                <a:cxnLst/>
                <a:rect l="l" t="t" r="r" b="b"/>
                <a:pathLst>
                  <a:path w="82550" h="288925">
                    <a:moveTo>
                      <a:pt x="82550" y="0"/>
                    </a:moveTo>
                    <a:cubicBezTo>
                      <a:pt x="59755" y="0"/>
                      <a:pt x="41275" y="18479"/>
                      <a:pt x="41275" y="41275"/>
                    </a:cubicBezTo>
                    <a:lnTo>
                      <a:pt x="41275" y="247650"/>
                    </a:lnTo>
                    <a:cubicBezTo>
                      <a:pt x="41275" y="270446"/>
                      <a:pt x="22796" y="288925"/>
                      <a:pt x="0" y="288925"/>
                    </a:cubicBezTo>
                  </a:path>
                </a:pathLst>
              </a:custGeom>
              <a:noFill/>
              <a:ln w="41275">
                <a:solidFill>
                  <a:schemeClr val="accent1"/>
                </a:solidFill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1392060" y="23174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业务闭环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32967" y="2651760"/>
              <a:ext cx="16678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三路线 · A–H · S1–S6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4162425" y="2486025"/>
              <a:ext cx="1047750" cy="104775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accent3"/>
              </a:solidFill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4521200" y="2709863"/>
              <a:ext cx="330201" cy="371475"/>
              <a:chOff x="4521200" y="2709863"/>
              <a:chExt cx="330201" cy="371475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4521200" y="2709863"/>
                <a:ext cx="330201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330201" h="123825">
                    <a:moveTo>
                      <a:pt x="0" y="61913"/>
                    </a:moveTo>
                    <a:cubicBezTo>
                      <a:pt x="0" y="96106"/>
                      <a:pt x="73918" y="123825"/>
                      <a:pt x="165100" y="123825"/>
                    </a:cubicBezTo>
                    <a:cubicBezTo>
                      <a:pt x="256283" y="123825"/>
                      <a:pt x="330201" y="96106"/>
                      <a:pt x="330201" y="61913"/>
                    </a:cubicBezTo>
                    <a:cubicBezTo>
                      <a:pt x="330201" y="27719"/>
                      <a:pt x="256283" y="0"/>
                      <a:pt x="165100" y="0"/>
                    </a:cubicBezTo>
                    <a:cubicBezTo>
                      <a:pt x="73918" y="0"/>
                      <a:pt x="0" y="27719"/>
                      <a:pt x="0" y="61913"/>
                    </a:cubicBezTo>
                  </a:path>
                </a:pathLst>
              </a:custGeom>
              <a:noFill/>
              <a:ln w="41275">
                <a:solidFill>
                  <a:schemeClr val="accent3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4521200" y="2771775"/>
                <a:ext cx="330201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330201" h="185738">
                    <a:moveTo>
                      <a:pt x="0" y="0"/>
                    </a:moveTo>
                    <a:lnTo>
                      <a:pt x="0" y="123825"/>
                    </a:lnTo>
                    <a:cubicBezTo>
                      <a:pt x="0" y="158019"/>
                      <a:pt x="73918" y="185738"/>
                      <a:pt x="165100" y="185738"/>
                    </a:cubicBezTo>
                    <a:cubicBezTo>
                      <a:pt x="256283" y="185738"/>
                      <a:pt x="330201" y="158019"/>
                      <a:pt x="330201" y="123825"/>
                    </a:cubicBezTo>
                    <a:lnTo>
                      <a:pt x="330201" y="0"/>
                    </a:lnTo>
                  </a:path>
                </a:pathLst>
              </a:custGeom>
              <a:noFill/>
              <a:ln w="41275">
                <a:solidFill>
                  <a:schemeClr val="accent3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4521200" y="2895600"/>
                <a:ext cx="330201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330201" h="185738">
                    <a:moveTo>
                      <a:pt x="0" y="0"/>
                    </a:moveTo>
                    <a:lnTo>
                      <a:pt x="0" y="123825"/>
                    </a:lnTo>
                    <a:cubicBezTo>
                      <a:pt x="0" y="158019"/>
                      <a:pt x="73918" y="185738"/>
                      <a:pt x="165100" y="185738"/>
                    </a:cubicBezTo>
                    <a:cubicBezTo>
                      <a:pt x="256283" y="185738"/>
                      <a:pt x="330201" y="158019"/>
                      <a:pt x="330201" y="123825"/>
                    </a:cubicBezTo>
                    <a:lnTo>
                      <a:pt x="330201" y="0"/>
                    </a:lnTo>
                  </a:path>
                </a:pathLst>
              </a:custGeom>
              <a:noFill/>
              <a:ln w="41275">
                <a:solidFill>
                  <a:schemeClr val="accent3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4211460" y="32127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工程闭环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674521" y="3547110"/>
              <a:ext cx="20235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API · Queue · Worker · UI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2333625" y="4276725"/>
              <a:ext cx="1047750" cy="104775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accent2"/>
              </a:solidFill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2671763" y="4521200"/>
              <a:ext cx="371475" cy="339726"/>
              <a:chOff x="2671763" y="4521200"/>
              <a:chExt cx="371475" cy="339726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2671763" y="4686300"/>
                <a:ext cx="123825" cy="165100"/>
              </a:xfrm>
              <a:custGeom>
                <a:avLst/>
                <a:gdLst/>
                <a:ahLst/>
                <a:cxnLst/>
                <a:rect l="l" t="t" r="r" b="b"/>
                <a:pathLst>
                  <a:path w="123825" h="165100">
                    <a:moveTo>
                      <a:pt x="0" y="20638"/>
                    </a:moveTo>
                    <a:cubicBezTo>
                      <a:pt x="0" y="9240"/>
                      <a:pt x="9240" y="0"/>
                      <a:pt x="20638" y="0"/>
                    </a:cubicBezTo>
                    <a:lnTo>
                      <a:pt x="103188" y="0"/>
                    </a:lnTo>
                    <a:cubicBezTo>
                      <a:pt x="114585" y="0"/>
                      <a:pt x="123825" y="9240"/>
                      <a:pt x="123825" y="20638"/>
                    </a:cubicBezTo>
                    <a:lnTo>
                      <a:pt x="123825" y="144463"/>
                    </a:lnTo>
                    <a:cubicBezTo>
                      <a:pt x="123825" y="155861"/>
                      <a:pt x="114585" y="165100"/>
                      <a:pt x="103188" y="165100"/>
                    </a:cubicBezTo>
                    <a:lnTo>
                      <a:pt x="20638" y="165100"/>
                    </a:lnTo>
                    <a:cubicBezTo>
                      <a:pt x="9240" y="165100"/>
                      <a:pt x="0" y="155861"/>
                      <a:pt x="0" y="144463"/>
                    </a:cubicBezTo>
                    <a:lnTo>
                      <a:pt x="0" y="20638"/>
                    </a:lnTo>
                  </a:path>
                </a:pathLst>
              </a:custGeom>
              <a:noFill/>
              <a:ln w="41275">
                <a:solidFill>
                  <a:schemeClr val="accent2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2919413" y="4603750"/>
                <a:ext cx="12382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123825" h="247650">
                    <a:moveTo>
                      <a:pt x="0" y="20638"/>
                    </a:moveTo>
                    <a:cubicBezTo>
                      <a:pt x="0" y="9240"/>
                      <a:pt x="9240" y="0"/>
                      <a:pt x="20638" y="0"/>
                    </a:cubicBezTo>
                    <a:lnTo>
                      <a:pt x="103188" y="0"/>
                    </a:lnTo>
                    <a:cubicBezTo>
                      <a:pt x="114585" y="0"/>
                      <a:pt x="123825" y="9240"/>
                      <a:pt x="123825" y="20638"/>
                    </a:cubicBezTo>
                    <a:lnTo>
                      <a:pt x="123825" y="227013"/>
                    </a:lnTo>
                    <a:cubicBezTo>
                      <a:pt x="123825" y="238411"/>
                      <a:pt x="114585" y="247650"/>
                      <a:pt x="103188" y="247650"/>
                    </a:cubicBezTo>
                    <a:lnTo>
                      <a:pt x="20638" y="247650"/>
                    </a:lnTo>
                    <a:cubicBezTo>
                      <a:pt x="9240" y="247650"/>
                      <a:pt x="0" y="238411"/>
                      <a:pt x="0" y="227013"/>
                    </a:cubicBezTo>
                    <a:lnTo>
                      <a:pt x="0" y="20638"/>
                    </a:lnTo>
                  </a:path>
                </a:pathLst>
              </a:custGeom>
              <a:noFill/>
              <a:ln w="41275">
                <a:solidFill>
                  <a:schemeClr val="accent2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2795588" y="4521200"/>
                <a:ext cx="123825" cy="330201"/>
              </a:xfrm>
              <a:custGeom>
                <a:avLst/>
                <a:gdLst/>
                <a:ahLst/>
                <a:cxnLst/>
                <a:rect l="l" t="t" r="r" b="b"/>
                <a:pathLst>
                  <a:path w="123825" h="330201">
                    <a:moveTo>
                      <a:pt x="0" y="20638"/>
                    </a:moveTo>
                    <a:cubicBezTo>
                      <a:pt x="0" y="9240"/>
                      <a:pt x="9240" y="0"/>
                      <a:pt x="20638" y="0"/>
                    </a:cubicBezTo>
                    <a:lnTo>
                      <a:pt x="103188" y="0"/>
                    </a:lnTo>
                    <a:cubicBezTo>
                      <a:pt x="114585" y="0"/>
                      <a:pt x="123825" y="9240"/>
                      <a:pt x="123825" y="20638"/>
                    </a:cubicBezTo>
                    <a:lnTo>
                      <a:pt x="123825" y="309563"/>
                    </a:lnTo>
                    <a:cubicBezTo>
                      <a:pt x="123825" y="320961"/>
                      <a:pt x="114585" y="330201"/>
                      <a:pt x="103188" y="330201"/>
                    </a:cubicBezTo>
                    <a:lnTo>
                      <a:pt x="20638" y="330201"/>
                    </a:lnTo>
                    <a:cubicBezTo>
                      <a:pt x="9240" y="330201"/>
                      <a:pt x="0" y="320961"/>
                      <a:pt x="0" y="309563"/>
                    </a:cubicBezTo>
                    <a:lnTo>
                      <a:pt x="0" y="20638"/>
                    </a:lnTo>
                  </a:path>
                </a:pathLst>
              </a:custGeom>
              <a:noFill/>
              <a:ln w="41275">
                <a:solidFill>
                  <a:schemeClr val="accent2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2692400" y="4851401"/>
                <a:ext cx="2889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8925" h="9525">
                    <a:moveTo>
                      <a:pt x="0" y="0"/>
                    </a:moveTo>
                    <a:lnTo>
                      <a:pt x="288925" y="0"/>
                    </a:lnTo>
                  </a:path>
                </a:pathLst>
              </a:custGeom>
              <a:noFill/>
              <a:ln w="41275">
                <a:solidFill>
                  <a:schemeClr val="accent2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2382660" y="50034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9A6A12"/>
                  </a:solidFill>
                  <a:latin typeface="+mn-lt"/>
                  <a:ea typeface="+mn-ea"/>
                  <a:cs typeface="+mn-cs"/>
                </a:rPr>
                <a:t>评测闭环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954835" y="5337810"/>
              <a:ext cx="18053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480 案例 · 真实专家盲评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755582" y="3109912"/>
              <a:ext cx="622935" cy="80200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ctr">
                <a:lnSpc>
                  <a:spcPts val="2850"/>
                </a:lnSpc>
              </a:pPr>
              <a:r>
                <a:rPr lang="zh-CN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闭环初版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191250" y="1466850"/>
            <a:ext cx="2609850" cy="1809750"/>
            <a:chOff x="6191250" y="1466850"/>
            <a:chExt cx="2609850" cy="1809750"/>
          </a:xfrm>
        </p:grpSpPr>
        <p:sp>
          <p:nvSpPr>
            <p:cNvPr id="33" name="Rectangle 33"/>
            <p:cNvSpPr/>
            <p:nvPr/>
          </p:nvSpPr>
          <p:spPr>
            <a:xfrm>
              <a:off x="6191250" y="1466850"/>
              <a:ext cx="2609850" cy="1809750"/>
            </a:xfrm>
            <a:prstGeom prst="roundRect">
              <a:avLst>
                <a:gd name="adj" fmla="val 11579"/>
              </a:avLst>
            </a:prstGeom>
            <a:solidFill>
              <a:srgbClr val="FFFFFF"/>
            </a:solidFill>
            <a:ln w="9525">
              <a:solidFill>
                <a:srgbClr val="D7E0EA"/>
              </a:solidFill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6533356" y="1774825"/>
              <a:ext cx="226218" cy="256381"/>
              <a:chOff x="6533356" y="1774825"/>
              <a:chExt cx="226218" cy="256381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6533356" y="1774825"/>
                <a:ext cx="180975" cy="241299"/>
              </a:xfrm>
              <a:custGeom>
                <a:avLst/>
                <a:gdLst/>
                <a:ahLst/>
                <a:cxnLst/>
                <a:rect l="l" t="t" r="r" b="b"/>
                <a:pathLst>
                  <a:path w="180975" h="241299">
                    <a:moveTo>
                      <a:pt x="69600" y="241299"/>
                    </a:moveTo>
                    <a:lnTo>
                      <a:pt x="30162" y="241299"/>
                    </a:lnTo>
                    <a:cubicBezTo>
                      <a:pt x="13504" y="241299"/>
                      <a:pt x="0" y="227795"/>
                      <a:pt x="0" y="211137"/>
                    </a:cubicBezTo>
                    <a:lnTo>
                      <a:pt x="0" y="30162"/>
                    </a:lnTo>
                    <a:cubicBezTo>
                      <a:pt x="0" y="13504"/>
                      <a:pt x="13504" y="0"/>
                      <a:pt x="30162" y="0"/>
                    </a:cubicBezTo>
                    <a:lnTo>
                      <a:pt x="150812" y="0"/>
                    </a:lnTo>
                    <a:cubicBezTo>
                      <a:pt x="167470" y="0"/>
                      <a:pt x="180975" y="13504"/>
                      <a:pt x="180975" y="30162"/>
                    </a:cubicBezTo>
                    <a:lnTo>
                      <a:pt x="180975" y="150812"/>
                    </a:lnTo>
                  </a:path>
                </a:pathLst>
              </a:custGeom>
              <a:noFill/>
              <a:ln w="30162">
                <a:solidFill>
                  <a:schemeClr val="accent6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6669087" y="1970881"/>
                <a:ext cx="90487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90487" h="60325">
                    <a:moveTo>
                      <a:pt x="0" y="30162"/>
                    </a:moveTo>
                    <a:lnTo>
                      <a:pt x="30162" y="60325"/>
                    </a:lnTo>
                    <a:lnTo>
                      <a:pt x="90487" y="0"/>
                    </a:lnTo>
                  </a:path>
                </a:pathLst>
              </a:custGeom>
              <a:noFill/>
              <a:ln w="30162">
                <a:solidFill>
                  <a:schemeClr val="accent6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6593681" y="1835150"/>
                <a:ext cx="603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9525">
                    <a:moveTo>
                      <a:pt x="0" y="0"/>
                    </a:moveTo>
                    <a:lnTo>
                      <a:pt x="60325" y="0"/>
                    </a:lnTo>
                  </a:path>
                </a:pathLst>
              </a:custGeom>
              <a:noFill/>
              <a:ln w="30162">
                <a:solidFill>
                  <a:schemeClr val="accent6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6593681" y="1895475"/>
                <a:ext cx="3016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0162" h="9525">
                    <a:moveTo>
                      <a:pt x="0" y="0"/>
                    </a:moveTo>
                    <a:lnTo>
                      <a:pt x="30162" y="0"/>
                    </a:lnTo>
                  </a:path>
                </a:pathLst>
              </a:custGeom>
              <a:noFill/>
              <a:ln w="30162">
                <a:solidFill>
                  <a:schemeClr val="accent6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6553200" y="2172652"/>
              <a:ext cx="982678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05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446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744206" y="2377440"/>
              <a:ext cx="85791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passed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565392" y="2845118"/>
              <a:ext cx="17947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2026-07-17 全量回归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8991600" y="1466850"/>
            <a:ext cx="2724150" cy="1809750"/>
            <a:chOff x="8991600" y="1466850"/>
            <a:chExt cx="2724150" cy="1809750"/>
          </a:xfrm>
        </p:grpSpPr>
        <p:sp>
          <p:nvSpPr>
            <p:cNvPr id="43" name="Rectangle 43"/>
            <p:cNvSpPr/>
            <p:nvPr/>
          </p:nvSpPr>
          <p:spPr>
            <a:xfrm>
              <a:off x="8991600" y="1466850"/>
              <a:ext cx="2724150" cy="1809750"/>
            </a:xfrm>
            <a:prstGeom prst="roundRect">
              <a:avLst>
                <a:gd name="adj" fmla="val 11579"/>
              </a:avLst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9322594" y="1774825"/>
              <a:ext cx="271461" cy="250824"/>
              <a:chOff x="9322594" y="1774825"/>
              <a:chExt cx="271461" cy="250824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9322594" y="1895475"/>
                <a:ext cx="904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90487" h="120650">
                    <a:moveTo>
                      <a:pt x="0" y="15081"/>
                    </a:moveTo>
                    <a:cubicBezTo>
                      <a:pt x="0" y="6752"/>
                      <a:pt x="6752" y="0"/>
                      <a:pt x="15081" y="0"/>
                    </a:cubicBezTo>
                    <a:lnTo>
                      <a:pt x="75406" y="0"/>
                    </a:lnTo>
                    <a:cubicBezTo>
                      <a:pt x="83735" y="0"/>
                      <a:pt x="90487" y="6752"/>
                      <a:pt x="90487" y="15081"/>
                    </a:cubicBezTo>
                    <a:lnTo>
                      <a:pt x="90487" y="105569"/>
                    </a:lnTo>
                    <a:cubicBezTo>
                      <a:pt x="90487" y="113898"/>
                      <a:pt x="83735" y="120650"/>
                      <a:pt x="75406" y="120650"/>
                    </a:cubicBezTo>
                    <a:lnTo>
                      <a:pt x="15081" y="120650"/>
                    </a:lnTo>
                    <a:cubicBezTo>
                      <a:pt x="6752" y="120650"/>
                      <a:pt x="0" y="113898"/>
                      <a:pt x="0" y="105569"/>
                    </a:cubicBezTo>
                    <a:lnTo>
                      <a:pt x="0" y="15081"/>
                    </a:lnTo>
                  </a:path>
                </a:pathLst>
              </a:custGeom>
              <a:noFill/>
              <a:ln w="30162">
                <a:solidFill>
                  <a:schemeClr val="accent2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9503568" y="1835150"/>
                <a:ext cx="90487" cy="180975"/>
              </a:xfrm>
              <a:custGeom>
                <a:avLst/>
                <a:gdLst/>
                <a:ahLst/>
                <a:cxnLst/>
                <a:rect l="l" t="t" r="r" b="b"/>
                <a:pathLst>
                  <a:path w="90487" h="180975">
                    <a:moveTo>
                      <a:pt x="0" y="15081"/>
                    </a:moveTo>
                    <a:cubicBezTo>
                      <a:pt x="0" y="6752"/>
                      <a:pt x="6752" y="0"/>
                      <a:pt x="15081" y="0"/>
                    </a:cubicBezTo>
                    <a:lnTo>
                      <a:pt x="75406" y="0"/>
                    </a:lnTo>
                    <a:cubicBezTo>
                      <a:pt x="83735" y="0"/>
                      <a:pt x="90487" y="6752"/>
                      <a:pt x="90487" y="15081"/>
                    </a:cubicBezTo>
                    <a:lnTo>
                      <a:pt x="90487" y="165893"/>
                    </a:lnTo>
                    <a:cubicBezTo>
                      <a:pt x="90487" y="174223"/>
                      <a:pt x="83735" y="180975"/>
                      <a:pt x="75406" y="180975"/>
                    </a:cubicBezTo>
                    <a:lnTo>
                      <a:pt x="15081" y="180975"/>
                    </a:lnTo>
                    <a:cubicBezTo>
                      <a:pt x="6752" y="180975"/>
                      <a:pt x="0" y="174223"/>
                      <a:pt x="0" y="165893"/>
                    </a:cubicBezTo>
                    <a:lnTo>
                      <a:pt x="0" y="15081"/>
                    </a:lnTo>
                  </a:path>
                </a:pathLst>
              </a:custGeom>
              <a:noFill/>
              <a:ln w="30162">
                <a:solidFill>
                  <a:schemeClr val="accent2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9413081" y="1774825"/>
                <a:ext cx="90487" cy="241299"/>
              </a:xfrm>
              <a:custGeom>
                <a:avLst/>
                <a:gdLst/>
                <a:ahLst/>
                <a:cxnLst/>
                <a:rect l="l" t="t" r="r" b="b"/>
                <a:pathLst>
                  <a:path w="90487" h="241299">
                    <a:moveTo>
                      <a:pt x="0" y="15081"/>
                    </a:moveTo>
                    <a:cubicBezTo>
                      <a:pt x="0" y="6752"/>
                      <a:pt x="6752" y="0"/>
                      <a:pt x="15081" y="0"/>
                    </a:cubicBezTo>
                    <a:lnTo>
                      <a:pt x="75406" y="0"/>
                    </a:lnTo>
                    <a:cubicBezTo>
                      <a:pt x="83735" y="0"/>
                      <a:pt x="90487" y="6752"/>
                      <a:pt x="90487" y="15081"/>
                    </a:cubicBezTo>
                    <a:lnTo>
                      <a:pt x="90487" y="226218"/>
                    </a:lnTo>
                    <a:cubicBezTo>
                      <a:pt x="90487" y="234547"/>
                      <a:pt x="83735" y="241299"/>
                      <a:pt x="75406" y="241299"/>
                    </a:cubicBezTo>
                    <a:lnTo>
                      <a:pt x="15081" y="241299"/>
                    </a:lnTo>
                    <a:cubicBezTo>
                      <a:pt x="6752" y="241299"/>
                      <a:pt x="0" y="234547"/>
                      <a:pt x="0" y="226218"/>
                    </a:cubicBezTo>
                    <a:lnTo>
                      <a:pt x="0" y="15081"/>
                    </a:lnTo>
                  </a:path>
                </a:pathLst>
              </a:custGeom>
              <a:noFill/>
              <a:ln w="30162">
                <a:solidFill>
                  <a:schemeClr val="accent2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9337675" y="2016124"/>
                <a:ext cx="21113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1137" h="9525">
                    <a:moveTo>
                      <a:pt x="0" y="0"/>
                    </a:moveTo>
                    <a:lnTo>
                      <a:pt x="211137" y="0"/>
                    </a:lnTo>
                  </a:path>
                </a:pathLst>
              </a:custGeom>
              <a:noFill/>
              <a:ln w="30162">
                <a:solidFill>
                  <a:schemeClr val="accent2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9128760" y="2286000"/>
              <a:ext cx="248998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17胜 2平 0负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137904" y="2861310"/>
              <a:ext cx="22585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对通用 Codex Agent · 94.74%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6191250" y="3486150"/>
            <a:ext cx="5524500" cy="2057400"/>
            <a:chOff x="6191250" y="3486150"/>
            <a:chExt cx="5524500" cy="2057400"/>
          </a:xfrm>
        </p:grpSpPr>
        <p:sp>
          <p:nvSpPr>
            <p:cNvPr id="52" name="Rectangle 52"/>
            <p:cNvSpPr/>
            <p:nvPr/>
          </p:nvSpPr>
          <p:spPr>
            <a:xfrm>
              <a:off x="6191250" y="3486150"/>
              <a:ext cx="5524500" cy="2057400"/>
            </a:xfrm>
            <a:prstGeom prst="roundRect">
              <a:avLst>
                <a:gd name="adj" fmla="val 10185"/>
              </a:avLst>
            </a:prstGeom>
            <a:solidFill>
              <a:srgbClr val="FFFFFF"/>
            </a:solidFill>
            <a:ln w="9525">
              <a:solidFill>
                <a:srgbClr val="D7E0EA"/>
              </a:solidFill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6521439" y="3778250"/>
              <a:ext cx="254011" cy="254000"/>
              <a:chOff x="6521439" y="3778250"/>
              <a:chExt cx="254011" cy="254000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6584950" y="3841750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174625" y="4255"/>
                    </a:moveTo>
                    <a:cubicBezTo>
                      <a:pt x="184449" y="9926"/>
                      <a:pt x="190500" y="20407"/>
                      <a:pt x="190500" y="31750"/>
                    </a:cubicBezTo>
                    <a:lnTo>
                      <a:pt x="190500" y="158750"/>
                    </a:lnTo>
                    <a:cubicBezTo>
                      <a:pt x="190500" y="176285"/>
                      <a:pt x="176285" y="190500"/>
                      <a:pt x="158750" y="190500"/>
                    </a:cubicBezTo>
                    <a:lnTo>
                      <a:pt x="31750" y="190500"/>
                    </a:lnTo>
                    <a:cubicBezTo>
                      <a:pt x="14215" y="190500"/>
                      <a:pt x="0" y="176285"/>
                      <a:pt x="0" y="158750"/>
                    </a:cubicBezTo>
                    <a:lnTo>
                      <a:pt x="0" y="31750"/>
                    </a:lnTo>
                    <a:cubicBezTo>
                      <a:pt x="0" y="14215"/>
                      <a:pt x="14215" y="0"/>
                      <a:pt x="31750" y="0"/>
                    </a:cubicBezTo>
                    <a:lnTo>
                      <a:pt x="79375" y="0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6521439" y="3778250"/>
                <a:ext cx="190511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11" h="190500">
                    <a:moveTo>
                      <a:pt x="15886" y="186278"/>
                    </a:moveTo>
                    <a:cubicBezTo>
                      <a:pt x="6053" y="180600"/>
                      <a:pt x="0" y="170105"/>
                      <a:pt x="11" y="158750"/>
                    </a:cubicBezTo>
                    <a:lnTo>
                      <a:pt x="11" y="31750"/>
                    </a:lnTo>
                    <a:cubicBezTo>
                      <a:pt x="11" y="14215"/>
                      <a:pt x="14226" y="0"/>
                      <a:pt x="31761" y="0"/>
                    </a:cubicBezTo>
                    <a:lnTo>
                      <a:pt x="158761" y="0"/>
                    </a:lnTo>
                    <a:cubicBezTo>
                      <a:pt x="176296" y="0"/>
                      <a:pt x="190511" y="14215"/>
                      <a:pt x="190511" y="31750"/>
                    </a:cubicBezTo>
                    <a:lnTo>
                      <a:pt x="190511" y="158750"/>
                    </a:lnTo>
                    <a:cubicBezTo>
                      <a:pt x="190511" y="176285"/>
                      <a:pt x="176296" y="190500"/>
                      <a:pt x="158761" y="190500"/>
                    </a:cubicBezTo>
                    <a:lnTo>
                      <a:pt x="111136" y="190500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6982206" y="3787140"/>
              <a:ext cx="307147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核心功能已形成可运行闭环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496050" y="4267200"/>
              <a:ext cx="2343150" cy="438150"/>
            </a:xfrm>
            <a:prstGeom prst="roundRect">
              <a:avLst>
                <a:gd name="adj" fmla="val 3913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695737" y="4415314"/>
              <a:ext cx="19437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三路线 + A–H 动态编排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9010650" y="4267200"/>
              <a:ext cx="2343150" cy="438150"/>
            </a:xfrm>
            <a:prstGeom prst="roundRect">
              <a:avLst>
                <a:gd name="adj" fmla="val 39130"/>
              </a:avLst>
            </a:prstGeom>
            <a:solidFill>
              <a:srgbClr val="DFF0F3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9406286" y="4415314"/>
              <a:ext cx="15518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S1–S6 专业推理链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6496050" y="4857750"/>
              <a:ext cx="2343150" cy="438150"/>
            </a:xfrm>
            <a:prstGeom prst="roundRect">
              <a:avLst>
                <a:gd name="adj" fmla="val 39130"/>
              </a:avLst>
            </a:prstGeom>
            <a:solidFill>
              <a:srgbClr val="FFF3D8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833397" y="5005864"/>
              <a:ext cx="16684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证据门控 + 交互审计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9010650" y="4857750"/>
              <a:ext cx="2343150" cy="438150"/>
            </a:xfrm>
            <a:prstGeom prst="roundRect">
              <a:avLst>
                <a:gd name="adj" fmla="val 3913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9310253" y="5005864"/>
              <a:ext cx="17439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成果矩阵 + Manifest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781050" y="5886450"/>
            <a:ext cx="10629900" cy="457200"/>
            <a:chOff x="781050" y="5886450"/>
            <a:chExt cx="10629900" cy="457200"/>
          </a:xfrm>
        </p:grpSpPr>
        <p:sp>
          <p:nvSpPr>
            <p:cNvPr id="66" name="Rectangle 66"/>
            <p:cNvSpPr/>
            <p:nvPr/>
          </p:nvSpPr>
          <p:spPr>
            <a:xfrm>
              <a:off x="781050" y="5886450"/>
              <a:ext cx="10629900" cy="4572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2713863" y="6003608"/>
              <a:ext cx="67642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项目初版已具备甲方演示、工程复核与 Benchmark 对比验证条件</a:t>
              </a:r>
            </a:p>
          </p:txBody>
        </p:sp>
      </p:grpSp>
      <p:sp>
        <p:nvSpPr>
          <p:cNvPr id="69" name="TextBox 69"/>
          <p:cNvSpPr txBox="1"/>
          <p:nvPr/>
        </p:nvSpPr>
        <p:spPr>
          <a:xfrm>
            <a:off x="11478730" y="64398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00634" y="489585"/>
            <a:ext cx="10612755" cy="714566"/>
            <a:chOff x="500634" y="489585"/>
            <a:chExt cx="10612755" cy="714566"/>
          </a:xfrm>
        </p:grpSpPr>
        <p:sp>
          <p:nvSpPr>
            <p:cNvPr id="2" name="TextBox 2"/>
            <p:cNvSpPr txBox="1"/>
            <p:nvPr/>
          </p:nvSpPr>
          <p:spPr>
            <a:xfrm>
              <a:off x="500634" y="489585"/>
              <a:ext cx="1061275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系统把“资料检索 + 人工归纳”升级为七阶段可追溯研究闭环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6542" y="940118"/>
              <a:ext cx="60110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最终交付不是装备清单，而是从任务背景到验证路径均可回溯的能力画像。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533171" y="1924050"/>
            <a:ext cx="11232719" cy="2705100"/>
            <a:chOff x="533171" y="1924050"/>
            <a:chExt cx="11232719" cy="2705100"/>
          </a:xfrm>
        </p:grpSpPr>
        <p:sp>
          <p:nvSpPr>
            <p:cNvPr id="5" name="Freeform 5"/>
            <p:cNvSpPr/>
            <p:nvPr/>
          </p:nvSpPr>
          <p:spPr>
            <a:xfrm>
              <a:off x="1866900" y="2628900"/>
              <a:ext cx="8362950" cy="9525"/>
            </a:xfrm>
            <a:custGeom>
              <a:avLst/>
              <a:gdLst/>
              <a:ahLst/>
              <a:cxnLst/>
              <a:rect l="l" t="t" r="r" b="b"/>
              <a:pathLst>
                <a:path w="8362950" h="9525">
                  <a:moveTo>
                    <a:pt x="0" y="0"/>
                  </a:moveTo>
                  <a:lnTo>
                    <a:pt x="552450" y="0"/>
                  </a:lnTo>
                  <a:moveTo>
                    <a:pt x="1562100" y="0"/>
                  </a:moveTo>
                  <a:lnTo>
                    <a:pt x="2114550" y="0"/>
                  </a:lnTo>
                  <a:moveTo>
                    <a:pt x="3124200" y="0"/>
                  </a:moveTo>
                  <a:lnTo>
                    <a:pt x="3676650" y="0"/>
                  </a:lnTo>
                  <a:moveTo>
                    <a:pt x="4686300" y="0"/>
                  </a:moveTo>
                  <a:lnTo>
                    <a:pt x="5238750" y="0"/>
                  </a:lnTo>
                  <a:moveTo>
                    <a:pt x="6248400" y="0"/>
                  </a:moveTo>
                  <a:lnTo>
                    <a:pt x="6800850" y="0"/>
                  </a:lnTo>
                  <a:moveTo>
                    <a:pt x="7810500" y="0"/>
                  </a:moveTo>
                  <a:lnTo>
                    <a:pt x="8362950" y="0"/>
                  </a:lnTo>
                </a:path>
              </a:pathLst>
            </a:custGeom>
            <a:noFill/>
            <a:ln w="38100">
              <a:solidFill>
                <a:srgbClr val="7AA2B5"/>
              </a:solidFill>
              <a:tailEnd type="triangle" w="lg" len="lg"/>
            </a:ln>
          </p:spPr>
        </p:sp>
        <p:sp>
          <p:nvSpPr>
            <p:cNvPr id="6" name="Freeform 6"/>
            <p:cNvSpPr/>
            <p:nvPr/>
          </p:nvSpPr>
          <p:spPr>
            <a:xfrm>
              <a:off x="6134100" y="3028950"/>
              <a:ext cx="4486275" cy="1600200"/>
            </a:xfrm>
            <a:custGeom>
              <a:avLst/>
              <a:gdLst/>
              <a:ahLst/>
              <a:cxnLst/>
              <a:rect l="l" t="t" r="r" b="b"/>
              <a:pathLst>
                <a:path w="4486275" h="1600200">
                  <a:moveTo>
                    <a:pt x="4381500" y="190500"/>
                  </a:moveTo>
                  <a:cubicBezTo>
                    <a:pt x="4486275" y="1276350"/>
                    <a:pt x="2305050" y="1600200"/>
                    <a:pt x="933450" y="1104900"/>
                  </a:cubicBezTo>
                  <a:cubicBezTo>
                    <a:pt x="57150" y="781050"/>
                    <a:pt x="0" y="304800"/>
                    <a:pt x="76200" y="0"/>
                  </a:cubicBezTo>
                </a:path>
              </a:pathLst>
            </a:custGeom>
            <a:noFill/>
            <a:ln w="28575">
              <a:solidFill>
                <a:srgbClr val="7AA2B5"/>
              </a:solidFill>
              <a:custDash>
                <a:ds d="266667" sp="200000"/>
              </a:custDash>
              <a:tailEnd type="triangle" w="lg" len="lg"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533171" y="1924050"/>
              <a:ext cx="1353007" cy="1409700"/>
              <a:chOff x="533171" y="1924050"/>
              <a:chExt cx="1353007" cy="1409700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552450" y="1924050"/>
                <a:ext cx="1314450" cy="1409700"/>
              </a:xfrm>
              <a:prstGeom prst="roundRect">
                <a:avLst>
                  <a:gd name="adj" fmla="val 14493"/>
                </a:avLst>
              </a:prstGeom>
              <a:solidFill>
                <a:srgbClr val="FFFFFF"/>
              </a:solidFill>
              <a:ln w="9525">
                <a:solidFill>
                  <a:srgbClr val="D7E0EA"/>
                </a:solidFill>
              </a:ln>
            </p:spPr>
          </p:sp>
          <p:sp>
            <p:nvSpPr>
              <p:cNvPr id="8" name="Ellipse 8"/>
              <p:cNvSpPr/>
              <p:nvPr/>
            </p:nvSpPr>
            <p:spPr>
              <a:xfrm>
                <a:off x="981075" y="2076450"/>
                <a:ext cx="457200" cy="4572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grpSp>
            <p:nvGrpSpPr>
              <p:cNvPr id="14" name="Group 14"/>
              <p:cNvGrpSpPr/>
              <p:nvPr/>
            </p:nvGrpSpPr>
            <p:grpSpPr>
              <a:xfrm>
                <a:off x="1070070" y="2171158"/>
                <a:ext cx="273413" cy="273436"/>
                <a:chOff x="1070070" y="2171158"/>
                <a:chExt cx="273413" cy="273436"/>
              </a:xfrm>
            </p:grpSpPr>
            <p:sp>
              <p:nvSpPr>
                <p:cNvPr id="9" name="Freeform 9"/>
                <p:cNvSpPr/>
                <p:nvPr/>
              </p:nvSpPr>
              <p:spPr>
                <a:xfrm>
                  <a:off x="1195388" y="2290762"/>
                  <a:ext cx="28575" cy="2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" h="28575">
                      <a:moveTo>
                        <a:pt x="0" y="14288"/>
                      </a:moveTo>
                      <a:cubicBezTo>
                        <a:pt x="0" y="22178"/>
                        <a:pt x="6397" y="28575"/>
                        <a:pt x="14288" y="28575"/>
                      </a:cubicBezTo>
                      <a:cubicBezTo>
                        <a:pt x="22178" y="28575"/>
                        <a:pt x="28575" y="22178"/>
                        <a:pt x="28575" y="14288"/>
                      </a:cubicBezTo>
                      <a:cubicBezTo>
                        <a:pt x="28575" y="6397"/>
                        <a:pt x="22178" y="0"/>
                        <a:pt x="14288" y="0"/>
                      </a:cubicBezTo>
                      <a:cubicBezTo>
                        <a:pt x="6397" y="0"/>
                        <a:pt x="0" y="6397"/>
                        <a:pt x="0" y="14288"/>
                      </a:cubicBez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10" name="Freeform 10"/>
                <p:cNvSpPr/>
                <p:nvPr/>
              </p:nvSpPr>
              <p:spPr>
                <a:xfrm>
                  <a:off x="1138238" y="2233612"/>
                  <a:ext cx="142875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142875">
                      <a:moveTo>
                        <a:pt x="71438" y="0"/>
                      </a:moveTo>
                      <a:cubicBezTo>
                        <a:pt x="31984" y="0"/>
                        <a:pt x="0" y="31984"/>
                        <a:pt x="0" y="71438"/>
                      </a:cubicBezTo>
                      <a:cubicBezTo>
                        <a:pt x="0" y="110891"/>
                        <a:pt x="31984" y="142875"/>
                        <a:pt x="71438" y="142875"/>
                      </a:cubicBezTo>
                      <a:cubicBezTo>
                        <a:pt x="110891" y="142875"/>
                        <a:pt x="142875" y="110891"/>
                        <a:pt x="142875" y="71438"/>
                      </a:cubicBez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11" name="Freeform 11"/>
                <p:cNvSpPr/>
                <p:nvPr/>
              </p:nvSpPr>
              <p:spPr>
                <a:xfrm>
                  <a:off x="1070070" y="2171158"/>
                  <a:ext cx="273413" cy="2734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3413" h="273436">
                      <a:moveTo>
                        <a:pt x="153893" y="6090"/>
                      </a:moveTo>
                      <a:cubicBezTo>
                        <a:pt x="99604" y="0"/>
                        <a:pt x="47394" y="28876"/>
                        <a:pt x="23697" y="78097"/>
                      </a:cubicBezTo>
                      <a:cubicBezTo>
                        <a:pt x="0" y="127319"/>
                        <a:pt x="9990" y="186140"/>
                        <a:pt x="48609" y="224779"/>
                      </a:cubicBezTo>
                      <a:cubicBezTo>
                        <a:pt x="87227" y="263417"/>
                        <a:pt x="146044" y="273436"/>
                        <a:pt x="195277" y="249764"/>
                      </a:cubicBezTo>
                      <a:cubicBezTo>
                        <a:pt x="244511" y="226092"/>
                        <a:pt x="273413" y="173896"/>
                        <a:pt x="267350" y="119605"/>
                      </a:cubicBez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12" name="Freeform 12"/>
                <p:cNvSpPr/>
                <p:nvPr/>
              </p:nvSpPr>
              <p:spPr>
                <a:xfrm>
                  <a:off x="1252538" y="2176462"/>
                  <a:ext cx="85725" cy="8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25" h="85725">
                      <a:moveTo>
                        <a:pt x="0" y="42862"/>
                      </a:moveTo>
                      <a:lnTo>
                        <a:pt x="0" y="85725"/>
                      </a:lnTo>
                      <a:lnTo>
                        <a:pt x="42862" y="85725"/>
                      </a:lnTo>
                      <a:lnTo>
                        <a:pt x="85725" y="42862"/>
                      </a:lnTo>
                      <a:lnTo>
                        <a:pt x="42862" y="42862"/>
                      </a:lnTo>
                      <a:lnTo>
                        <a:pt x="42862" y="0"/>
                      </a:lnTo>
                      <a:lnTo>
                        <a:pt x="0" y="42862"/>
                      </a:ln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13" name="Freeform 13"/>
                <p:cNvSpPr/>
                <p:nvPr/>
              </p:nvSpPr>
              <p:spPr>
                <a:xfrm>
                  <a:off x="1209675" y="2262188"/>
                  <a:ext cx="42862" cy="428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862" h="42862">
                      <a:moveTo>
                        <a:pt x="42862" y="0"/>
                      </a:moveTo>
                      <a:lnTo>
                        <a:pt x="0" y="42862"/>
                      </a:ln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</p:grpSp>
          <p:sp>
            <p:nvSpPr>
              <p:cNvPr id="15" name="TextBox 15"/>
              <p:cNvSpPr txBox="1"/>
              <p:nvPr/>
            </p:nvSpPr>
            <p:spPr>
              <a:xfrm>
                <a:off x="734835" y="267938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任务解析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533171" y="3013710"/>
                <a:ext cx="135300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主题 · 边界 · 模式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2114550" y="1924050"/>
              <a:ext cx="1314450" cy="1409700"/>
              <a:chOff x="2114550" y="1924050"/>
              <a:chExt cx="1314450" cy="140970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2114550" y="1924050"/>
                <a:ext cx="1314450" cy="1409700"/>
              </a:xfrm>
              <a:prstGeom prst="roundRect">
                <a:avLst>
                  <a:gd name="adj" fmla="val 14493"/>
                </a:avLst>
              </a:prstGeom>
              <a:solidFill>
                <a:srgbClr val="FFFFFF"/>
              </a:solidFill>
              <a:ln w="9525">
                <a:solidFill>
                  <a:srgbClr val="D7E0EA"/>
                </a:solidFill>
              </a:ln>
            </p:spPr>
          </p:sp>
          <p:sp>
            <p:nvSpPr>
              <p:cNvPr id="19" name="Ellipse 19"/>
              <p:cNvSpPr/>
              <p:nvPr/>
            </p:nvSpPr>
            <p:spPr>
              <a:xfrm>
                <a:off x="2543175" y="2076450"/>
                <a:ext cx="457200" cy="4572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grpSp>
            <p:nvGrpSpPr>
              <p:cNvPr id="23" name="Group 23"/>
              <p:cNvGrpSpPr/>
              <p:nvPr/>
            </p:nvGrpSpPr>
            <p:grpSpPr>
              <a:xfrm>
                <a:off x="2643188" y="2176462"/>
                <a:ext cx="257174" cy="257176"/>
                <a:chOff x="2643188" y="2176462"/>
                <a:chExt cx="257174" cy="257176"/>
              </a:xfrm>
            </p:grpSpPr>
            <p:sp>
              <p:nvSpPr>
                <p:cNvPr id="20" name="Freeform 20"/>
                <p:cNvSpPr/>
                <p:nvPr/>
              </p:nvSpPr>
              <p:spPr>
                <a:xfrm>
                  <a:off x="2643188" y="2376488"/>
                  <a:ext cx="571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57150">
                      <a:moveTo>
                        <a:pt x="0" y="28575"/>
                      </a:moveTo>
                      <a:cubicBezTo>
                        <a:pt x="0" y="44357"/>
                        <a:pt x="12793" y="57150"/>
                        <a:pt x="28575" y="57150"/>
                      </a:cubicBezTo>
                      <a:cubicBezTo>
                        <a:pt x="44357" y="57150"/>
                        <a:pt x="57150" y="44357"/>
                        <a:pt x="57150" y="28575"/>
                      </a:cubicBezTo>
                      <a:cubicBezTo>
                        <a:pt x="57150" y="12793"/>
                        <a:pt x="44357" y="0"/>
                        <a:pt x="28575" y="0"/>
                      </a:cubicBezTo>
                      <a:cubicBezTo>
                        <a:pt x="12793" y="0"/>
                        <a:pt x="0" y="12793"/>
                        <a:pt x="0" y="28575"/>
                      </a:cubicBez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21" name="Freeform 21"/>
                <p:cNvSpPr/>
                <p:nvPr/>
              </p:nvSpPr>
              <p:spPr>
                <a:xfrm>
                  <a:off x="2843212" y="2176462"/>
                  <a:ext cx="571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57150">
                      <a:moveTo>
                        <a:pt x="28575" y="57150"/>
                      </a:moveTo>
                      <a:cubicBezTo>
                        <a:pt x="44357" y="57150"/>
                        <a:pt x="57150" y="44357"/>
                        <a:pt x="57150" y="28575"/>
                      </a:cubicBezTo>
                      <a:cubicBezTo>
                        <a:pt x="57150" y="12793"/>
                        <a:pt x="44357" y="0"/>
                        <a:pt x="28575" y="0"/>
                      </a:cubicBezTo>
                      <a:cubicBezTo>
                        <a:pt x="12793" y="0"/>
                        <a:pt x="0" y="12793"/>
                        <a:pt x="0" y="28575"/>
                      </a:cubicBezTo>
                      <a:cubicBezTo>
                        <a:pt x="0" y="44357"/>
                        <a:pt x="12793" y="57150"/>
                        <a:pt x="28575" y="57150"/>
                      </a:cubicBez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22" name="Freeform 22"/>
                <p:cNvSpPr/>
                <p:nvPr/>
              </p:nvSpPr>
              <p:spPr>
                <a:xfrm>
                  <a:off x="2743200" y="2205038"/>
                  <a:ext cx="57150" cy="200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200025">
                      <a:moveTo>
                        <a:pt x="57150" y="0"/>
                      </a:moveTo>
                      <a:cubicBezTo>
                        <a:pt x="41368" y="0"/>
                        <a:pt x="28575" y="12793"/>
                        <a:pt x="28575" y="28575"/>
                      </a:cubicBezTo>
                      <a:lnTo>
                        <a:pt x="28575" y="171450"/>
                      </a:lnTo>
                      <a:cubicBezTo>
                        <a:pt x="28575" y="187232"/>
                        <a:pt x="15782" y="200025"/>
                        <a:pt x="0" y="200025"/>
                      </a:cubicBez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</p:grpSp>
          <p:sp>
            <p:nvSpPr>
              <p:cNvPr id="24" name="TextBox 24"/>
              <p:cNvSpPr txBox="1"/>
              <p:nvPr/>
            </p:nvSpPr>
            <p:spPr>
              <a:xfrm>
                <a:off x="2296935" y="267938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路径选择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2270684" y="3013710"/>
                <a:ext cx="100218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三路线 · A–H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3520916" y="1924050"/>
              <a:ext cx="1625918" cy="1409700"/>
              <a:chOff x="3520916" y="1924050"/>
              <a:chExt cx="1625918" cy="1409700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3676650" y="1924050"/>
                <a:ext cx="1314450" cy="1409700"/>
              </a:xfrm>
              <a:prstGeom prst="roundRect">
                <a:avLst>
                  <a:gd name="adj" fmla="val 14493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8" name="Ellipse 28"/>
              <p:cNvSpPr/>
              <p:nvPr/>
            </p:nvSpPr>
            <p:spPr>
              <a:xfrm>
                <a:off x="4105275" y="2076450"/>
                <a:ext cx="457200" cy="457200"/>
              </a:xfrm>
              <a:prstGeom prst="ellipse">
                <a:avLst/>
              </a:prstGeom>
              <a:solidFill>
                <a:srgbClr val="FFFFFF">
                  <a:alpha val="16000"/>
                </a:srgbClr>
              </a:solidFill>
              <a:ln>
                <a:noFill/>
              </a:ln>
            </p:spPr>
          </p:sp>
          <p:grpSp>
            <p:nvGrpSpPr>
              <p:cNvPr id="38" name="Group 38"/>
              <p:cNvGrpSpPr/>
              <p:nvPr/>
            </p:nvGrpSpPr>
            <p:grpSpPr>
              <a:xfrm>
                <a:off x="4233862" y="2162175"/>
                <a:ext cx="200026" cy="271463"/>
                <a:chOff x="4233862" y="2162175"/>
                <a:chExt cx="200026" cy="271463"/>
              </a:xfrm>
            </p:grpSpPr>
            <p:sp>
              <p:nvSpPr>
                <p:cNvPr id="29" name="Freeform 29"/>
                <p:cNvSpPr/>
                <p:nvPr/>
              </p:nvSpPr>
              <p:spPr>
                <a:xfrm>
                  <a:off x="4248150" y="2190750"/>
                  <a:ext cx="171450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14300">
                      <a:moveTo>
                        <a:pt x="0" y="28575"/>
                      </a:moveTo>
                      <a:cubicBezTo>
                        <a:pt x="0" y="12793"/>
                        <a:pt x="12793" y="0"/>
                        <a:pt x="28575" y="0"/>
                      </a:cubicBezTo>
                      <a:lnTo>
                        <a:pt x="142875" y="0"/>
                      </a:lnTo>
                      <a:cubicBezTo>
                        <a:pt x="158657" y="0"/>
                        <a:pt x="171450" y="12793"/>
                        <a:pt x="171450" y="28575"/>
                      </a:cubicBezTo>
                      <a:lnTo>
                        <a:pt x="171450" y="85725"/>
                      </a:lnTo>
                      <a:cubicBezTo>
                        <a:pt x="171450" y="101507"/>
                        <a:pt x="158657" y="114300"/>
                        <a:pt x="142875" y="114300"/>
                      </a:cubicBezTo>
                      <a:lnTo>
                        <a:pt x="28575" y="114300"/>
                      </a:lnTo>
                      <a:cubicBezTo>
                        <a:pt x="12793" y="114300"/>
                        <a:pt x="0" y="101507"/>
                        <a:pt x="0" y="85725"/>
                      </a:cubicBezTo>
                      <a:lnTo>
                        <a:pt x="0" y="28575"/>
                      </a:lnTo>
                    </a:path>
                  </a:pathLst>
                </a:custGeom>
                <a:noFill/>
                <a:ln w="28575">
                  <a:solidFill>
                    <a:srgbClr val="FFFFFF"/>
                  </a:solidFill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4333875" y="2162175"/>
                  <a:ext cx="9525" cy="2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8575">
                      <a:moveTo>
                        <a:pt x="0" y="0"/>
                      </a:moveTo>
                      <a:lnTo>
                        <a:pt x="0" y="28575"/>
                      </a:lnTo>
                    </a:path>
                  </a:pathLst>
                </a:custGeom>
                <a:noFill/>
                <a:ln w="28575">
                  <a:solidFill>
                    <a:srgbClr val="FFFFFF"/>
                  </a:solidFill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4291012" y="2305050"/>
                  <a:ext cx="9525" cy="1285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28588">
                      <a:moveTo>
                        <a:pt x="0" y="0"/>
                      </a:moveTo>
                      <a:lnTo>
                        <a:pt x="0" y="128588"/>
                      </a:lnTo>
                    </a:path>
                  </a:pathLst>
                </a:custGeom>
                <a:noFill/>
                <a:ln w="28575">
                  <a:solidFill>
                    <a:srgbClr val="FFFFFF"/>
                  </a:solidFill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4376738" y="2305050"/>
                  <a:ext cx="9525" cy="1285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28588">
                      <a:moveTo>
                        <a:pt x="0" y="0"/>
                      </a:moveTo>
                      <a:lnTo>
                        <a:pt x="0" y="128588"/>
                      </a:lnTo>
                    </a:path>
                  </a:pathLst>
                </a:custGeom>
                <a:noFill/>
                <a:ln w="28575">
                  <a:solidFill>
                    <a:srgbClr val="FFFFFF"/>
                  </a:solidFill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4233862" y="2333625"/>
                  <a:ext cx="57150" cy="2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28575">
                      <a:moveTo>
                        <a:pt x="0" y="28575"/>
                      </a:moveTo>
                      <a:lnTo>
                        <a:pt x="57150" y="0"/>
                      </a:lnTo>
                    </a:path>
                  </a:pathLst>
                </a:custGeom>
                <a:noFill/>
                <a:ln w="28575">
                  <a:solidFill>
                    <a:srgbClr val="FFFFFF"/>
                  </a:solidFill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4376738" y="2333625"/>
                  <a:ext cx="57150" cy="2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28575">
                      <a:moveTo>
                        <a:pt x="0" y="0"/>
                      </a:moveTo>
                      <a:lnTo>
                        <a:pt x="57150" y="28575"/>
                      </a:lnTo>
                    </a:path>
                  </a:pathLst>
                </a:custGeom>
                <a:noFill/>
                <a:ln w="28575">
                  <a:solidFill>
                    <a:srgbClr val="FFFFFF"/>
                  </a:solidFill>
                </a:ln>
              </p:spPr>
            </p:sp>
            <p:sp>
              <p:nvSpPr>
                <p:cNvPr id="35" name="Freeform 35"/>
                <p:cNvSpPr/>
                <p:nvPr/>
              </p:nvSpPr>
              <p:spPr>
                <a:xfrm>
                  <a:off x="4291012" y="2390775"/>
                  <a:ext cx="857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25" h="9525">
                      <a:moveTo>
                        <a:pt x="0" y="0"/>
                      </a:moveTo>
                      <a:lnTo>
                        <a:pt x="85725" y="0"/>
                      </a:lnTo>
                    </a:path>
                  </a:pathLst>
                </a:custGeom>
                <a:noFill/>
                <a:ln w="28575">
                  <a:solidFill>
                    <a:srgbClr val="FFFFFF"/>
                  </a:solidFill>
                </a:ln>
              </p:spPr>
            </p:sp>
            <p:sp>
              <p:nvSpPr>
                <p:cNvPr id="36" name="Freeform 36"/>
                <p:cNvSpPr/>
                <p:nvPr/>
              </p:nvSpPr>
              <p:spPr>
                <a:xfrm>
                  <a:off x="4305300" y="22479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43"/>
                      </a:lnTo>
                    </a:path>
                  </a:pathLst>
                </a:custGeom>
                <a:noFill/>
                <a:ln w="28575">
                  <a:solidFill>
                    <a:srgbClr val="FFFFFF"/>
                  </a:solidFill>
                </a:ln>
              </p:spPr>
            </p:sp>
            <p:sp>
              <p:nvSpPr>
                <p:cNvPr id="37" name="Freeform 37"/>
                <p:cNvSpPr/>
                <p:nvPr/>
              </p:nvSpPr>
              <p:spPr>
                <a:xfrm>
                  <a:off x="4362450" y="22479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43"/>
                      </a:lnTo>
                    </a:path>
                  </a:pathLst>
                </a:custGeom>
                <a:noFill/>
                <a:ln w="28575">
                  <a:solidFill>
                    <a:srgbClr val="FFFFFF"/>
                  </a:solidFill>
                </a:ln>
              </p:spPr>
            </p:sp>
          </p:grpSp>
          <p:sp>
            <p:nvSpPr>
              <p:cNvPr id="39" name="TextBox 39"/>
              <p:cNvSpPr txBox="1"/>
              <p:nvPr/>
            </p:nvSpPr>
            <p:spPr>
              <a:xfrm>
                <a:off x="3625806" y="2679382"/>
                <a:ext cx="141613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多智能体研究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3520916" y="3013710"/>
                <a:ext cx="162591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DDEAF2"/>
                    </a:solidFill>
                    <a:latin typeface="+mn-lt"/>
                    <a:ea typeface="+mn-ea"/>
                    <a:cs typeface="+mn-cs"/>
                  </a:rPr>
                  <a:t>独立会话 · 并发 Wave</a:t>
                </a:r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5231587" y="1924050"/>
              <a:ext cx="1328776" cy="1409700"/>
              <a:chOff x="5231587" y="1924050"/>
              <a:chExt cx="1328776" cy="1409700"/>
            </a:xfrm>
          </p:grpSpPr>
          <p:sp>
            <p:nvSpPr>
              <p:cNvPr id="42" name="Rectangle 42"/>
              <p:cNvSpPr/>
              <p:nvPr/>
            </p:nvSpPr>
            <p:spPr>
              <a:xfrm>
                <a:off x="5238750" y="1924050"/>
                <a:ext cx="1314450" cy="1409700"/>
              </a:xfrm>
              <a:prstGeom prst="roundRect">
                <a:avLst>
                  <a:gd name="adj" fmla="val 14493"/>
                </a:avLst>
              </a:prstGeom>
              <a:solidFill>
                <a:srgbClr val="FFFFFF"/>
              </a:solidFill>
              <a:ln w="19050">
                <a:solidFill>
                  <a:schemeClr val="accent3"/>
                </a:solidFill>
              </a:ln>
            </p:spPr>
          </p:sp>
          <p:sp>
            <p:nvSpPr>
              <p:cNvPr id="43" name="Ellipse 43"/>
              <p:cNvSpPr/>
              <p:nvPr/>
            </p:nvSpPr>
            <p:spPr>
              <a:xfrm>
                <a:off x="5667375" y="2076450"/>
                <a:ext cx="457200" cy="457200"/>
              </a:xfrm>
              <a:prstGeom prst="ellipse">
                <a:avLst/>
              </a:prstGeom>
              <a:solidFill>
                <a:srgbClr val="DFF0F3"/>
              </a:solidFill>
              <a:ln>
                <a:noFill/>
              </a:ln>
            </p:spPr>
          </p:sp>
          <p:grpSp>
            <p:nvGrpSpPr>
              <p:cNvPr id="46" name="Group 46"/>
              <p:cNvGrpSpPr/>
              <p:nvPr/>
            </p:nvGrpSpPr>
            <p:grpSpPr>
              <a:xfrm>
                <a:off x="5748106" y="2176462"/>
                <a:ext cx="279010" cy="257176"/>
                <a:chOff x="5748106" y="2176462"/>
                <a:chExt cx="279010" cy="257176"/>
              </a:xfrm>
            </p:grpSpPr>
            <p:sp>
              <p:nvSpPr>
                <p:cNvPr id="44" name="Freeform 44"/>
                <p:cNvSpPr/>
                <p:nvPr/>
              </p:nvSpPr>
              <p:spPr>
                <a:xfrm>
                  <a:off x="5748106" y="2176462"/>
                  <a:ext cx="279010" cy="254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9010" h="254975">
                      <a:moveTo>
                        <a:pt x="140154" y="254975"/>
                      </a:moveTo>
                      <a:cubicBezTo>
                        <a:pt x="50649" y="227230"/>
                        <a:pt x="0" y="132765"/>
                        <a:pt x="26425" y="42862"/>
                      </a:cubicBezTo>
                      <a:cubicBezTo>
                        <a:pt x="70939" y="44899"/>
                        <a:pt x="114496" y="29526"/>
                        <a:pt x="147869" y="0"/>
                      </a:cubicBezTo>
                      <a:cubicBezTo>
                        <a:pt x="181242" y="29526"/>
                        <a:pt x="224800" y="44899"/>
                        <a:pt x="269313" y="42862"/>
                      </a:cubicBezTo>
                      <a:cubicBezTo>
                        <a:pt x="279010" y="75854"/>
                        <a:pt x="278561" y="110999"/>
                        <a:pt x="268027" y="143732"/>
                      </a:cubicBezTo>
                    </a:path>
                  </a:pathLst>
                </a:custGeom>
                <a:noFill/>
                <a:ln w="28575">
                  <a:solidFill>
                    <a:schemeClr val="accent3"/>
                  </a:solidFill>
                </a:ln>
              </p:spPr>
            </p:sp>
            <p:sp>
              <p:nvSpPr>
                <p:cNvPr id="45" name="Freeform 45"/>
                <p:cNvSpPr/>
                <p:nvPr/>
              </p:nvSpPr>
              <p:spPr>
                <a:xfrm>
                  <a:off x="5938838" y="2376488"/>
                  <a:ext cx="85725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25" h="57150">
                      <a:moveTo>
                        <a:pt x="0" y="28575"/>
                      </a:moveTo>
                      <a:lnTo>
                        <a:pt x="28575" y="57150"/>
                      </a:lnTo>
                      <a:lnTo>
                        <a:pt x="85725" y="0"/>
                      </a:lnTo>
                    </a:path>
                  </a:pathLst>
                </a:custGeom>
                <a:noFill/>
                <a:ln w="28575">
                  <a:solidFill>
                    <a:schemeClr val="accent3"/>
                  </a:solidFill>
                </a:ln>
              </p:spPr>
            </p:sp>
          </p:grpSp>
          <p:sp>
            <p:nvSpPr>
              <p:cNvPr id="47" name="TextBox 47"/>
              <p:cNvSpPr txBox="1"/>
              <p:nvPr/>
            </p:nvSpPr>
            <p:spPr>
              <a:xfrm>
                <a:off x="5421135" y="267938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证据治理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5231587" y="3013710"/>
                <a:ext cx="132877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材料化 · 质量门控</a:t>
                </a:r>
              </a:p>
            </p:txBody>
          </p:sp>
        </p:grpSp>
        <p:grpSp>
          <p:nvGrpSpPr>
            <p:cNvPr id="63" name="Group 63"/>
            <p:cNvGrpSpPr/>
            <p:nvPr/>
          </p:nvGrpSpPr>
          <p:grpSpPr>
            <a:xfrm>
              <a:off x="6750006" y="1924050"/>
              <a:ext cx="1416139" cy="1409700"/>
              <a:chOff x="6750006" y="1924050"/>
              <a:chExt cx="1416139" cy="1409700"/>
            </a:xfrm>
          </p:grpSpPr>
          <p:sp>
            <p:nvSpPr>
              <p:cNvPr id="50" name="Rectangle 50"/>
              <p:cNvSpPr/>
              <p:nvPr/>
            </p:nvSpPr>
            <p:spPr>
              <a:xfrm>
                <a:off x="6800850" y="1924050"/>
                <a:ext cx="1314450" cy="1409700"/>
              </a:xfrm>
              <a:prstGeom prst="roundRect">
                <a:avLst>
                  <a:gd name="adj" fmla="val 14493"/>
                </a:avLst>
              </a:prstGeom>
              <a:solidFill>
                <a:srgbClr val="FFFFFF"/>
              </a:solidFill>
              <a:ln w="9525">
                <a:solidFill>
                  <a:srgbClr val="D7E0EA"/>
                </a:solidFill>
              </a:ln>
            </p:spPr>
          </p:sp>
          <p:sp>
            <p:nvSpPr>
              <p:cNvPr id="51" name="Ellipse 51"/>
              <p:cNvSpPr/>
              <p:nvPr/>
            </p:nvSpPr>
            <p:spPr>
              <a:xfrm>
                <a:off x="7229475" y="2076450"/>
                <a:ext cx="457200" cy="4572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grpSp>
            <p:nvGrpSpPr>
              <p:cNvPr id="60" name="Group 60"/>
              <p:cNvGrpSpPr/>
              <p:nvPr/>
            </p:nvGrpSpPr>
            <p:grpSpPr>
              <a:xfrm>
                <a:off x="7329488" y="2176462"/>
                <a:ext cx="257174" cy="271463"/>
                <a:chOff x="7329488" y="2176462"/>
                <a:chExt cx="257174" cy="271463"/>
              </a:xfrm>
            </p:grpSpPr>
            <p:sp>
              <p:nvSpPr>
                <p:cNvPr id="52" name="Freeform 52"/>
                <p:cNvSpPr/>
                <p:nvPr/>
              </p:nvSpPr>
              <p:spPr>
                <a:xfrm>
                  <a:off x="7372350" y="2176462"/>
                  <a:ext cx="17145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71450">
                      <a:moveTo>
                        <a:pt x="0" y="85725"/>
                      </a:moveTo>
                      <a:cubicBezTo>
                        <a:pt x="0" y="133070"/>
                        <a:pt x="38380" y="171450"/>
                        <a:pt x="85725" y="171450"/>
                      </a:cubicBezTo>
                      <a:cubicBezTo>
                        <a:pt x="133070" y="171450"/>
                        <a:pt x="171450" y="133070"/>
                        <a:pt x="171450" y="85725"/>
                      </a:cubicBezTo>
                      <a:cubicBezTo>
                        <a:pt x="171450" y="38380"/>
                        <a:pt x="133070" y="0"/>
                        <a:pt x="85725" y="0"/>
                      </a:cubicBezTo>
                      <a:cubicBezTo>
                        <a:pt x="38380" y="0"/>
                        <a:pt x="0" y="38380"/>
                        <a:pt x="0" y="85725"/>
                      </a:cubicBez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53" name="Freeform 53"/>
                <p:cNvSpPr/>
                <p:nvPr/>
              </p:nvSpPr>
              <p:spPr>
                <a:xfrm>
                  <a:off x="7458075" y="2176462"/>
                  <a:ext cx="28575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" h="171450">
                      <a:moveTo>
                        <a:pt x="0" y="0"/>
                      </a:moveTo>
                      <a:cubicBezTo>
                        <a:pt x="19045" y="4758"/>
                        <a:pt x="28575" y="33333"/>
                        <a:pt x="28575" y="85725"/>
                      </a:cubicBezTo>
                      <a:cubicBezTo>
                        <a:pt x="28575" y="138117"/>
                        <a:pt x="19045" y="166692"/>
                        <a:pt x="0" y="171450"/>
                      </a:cubicBez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54" name="Freeform 54"/>
                <p:cNvSpPr/>
                <p:nvPr/>
              </p:nvSpPr>
              <p:spPr>
                <a:xfrm>
                  <a:off x="7429500" y="2176462"/>
                  <a:ext cx="28575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" h="171450">
                      <a:moveTo>
                        <a:pt x="28575" y="0"/>
                      </a:moveTo>
                      <a:cubicBezTo>
                        <a:pt x="9530" y="4758"/>
                        <a:pt x="0" y="33333"/>
                        <a:pt x="0" y="85725"/>
                      </a:cubicBezTo>
                      <a:cubicBezTo>
                        <a:pt x="0" y="138117"/>
                        <a:pt x="9530" y="166692"/>
                        <a:pt x="28575" y="171450"/>
                      </a:cubicBez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55" name="Freeform 55"/>
                <p:cNvSpPr/>
                <p:nvPr/>
              </p:nvSpPr>
              <p:spPr>
                <a:xfrm>
                  <a:off x="7372350" y="2262188"/>
                  <a:ext cx="1714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9525">
                      <a:moveTo>
                        <a:pt x="0" y="0"/>
                      </a:moveTo>
                      <a:lnTo>
                        <a:pt x="171450" y="0"/>
                      </a:ln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56" name="Freeform 56"/>
                <p:cNvSpPr/>
                <p:nvPr/>
              </p:nvSpPr>
              <p:spPr>
                <a:xfrm>
                  <a:off x="7329488" y="2419350"/>
                  <a:ext cx="100012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012" h="9525">
                      <a:moveTo>
                        <a:pt x="0" y="0"/>
                      </a:moveTo>
                      <a:lnTo>
                        <a:pt x="100012" y="0"/>
                      </a:ln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57" name="Freeform 57"/>
                <p:cNvSpPr/>
                <p:nvPr/>
              </p:nvSpPr>
              <p:spPr>
                <a:xfrm>
                  <a:off x="7486650" y="2419350"/>
                  <a:ext cx="100012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012" h="9525">
                      <a:moveTo>
                        <a:pt x="0" y="0"/>
                      </a:moveTo>
                      <a:lnTo>
                        <a:pt x="100012" y="0"/>
                      </a:ln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58" name="Freeform 58"/>
                <p:cNvSpPr/>
                <p:nvPr/>
              </p:nvSpPr>
              <p:spPr>
                <a:xfrm>
                  <a:off x="7429500" y="2390775"/>
                  <a:ext cx="571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57150">
                      <a:moveTo>
                        <a:pt x="0" y="28575"/>
                      </a:moveTo>
                      <a:cubicBezTo>
                        <a:pt x="0" y="44357"/>
                        <a:pt x="12793" y="57150"/>
                        <a:pt x="28575" y="57150"/>
                      </a:cubicBezTo>
                      <a:cubicBezTo>
                        <a:pt x="44357" y="57150"/>
                        <a:pt x="57150" y="44357"/>
                        <a:pt x="57150" y="28575"/>
                      </a:cubicBezTo>
                      <a:cubicBezTo>
                        <a:pt x="57150" y="12793"/>
                        <a:pt x="44357" y="0"/>
                        <a:pt x="28575" y="0"/>
                      </a:cubicBezTo>
                      <a:cubicBezTo>
                        <a:pt x="12793" y="0"/>
                        <a:pt x="0" y="12793"/>
                        <a:pt x="0" y="28575"/>
                      </a:cubicBez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59" name="Freeform 59"/>
                <p:cNvSpPr/>
                <p:nvPr/>
              </p:nvSpPr>
              <p:spPr>
                <a:xfrm>
                  <a:off x="7458075" y="2347912"/>
                  <a:ext cx="9525" cy="428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42862">
                      <a:moveTo>
                        <a:pt x="0" y="0"/>
                      </a:moveTo>
                      <a:lnTo>
                        <a:pt x="0" y="42862"/>
                      </a:ln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</p:grpSp>
          <p:sp>
            <p:nvSpPr>
              <p:cNvPr id="61" name="TextBox 61"/>
              <p:cNvSpPr txBox="1"/>
              <p:nvPr/>
            </p:nvSpPr>
            <p:spPr>
              <a:xfrm>
                <a:off x="6750006" y="2679382"/>
                <a:ext cx="141613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制胜机理推理</a:t>
                </a: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6884441" y="3013710"/>
                <a:ext cx="114726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S1–S6 · L1–L4</a:t>
                </a:r>
              </a:p>
            </p:txBody>
          </p:sp>
        </p:grpSp>
        <p:grpSp>
          <p:nvGrpSpPr>
            <p:cNvPr id="72" name="Group 72"/>
            <p:cNvGrpSpPr/>
            <p:nvPr/>
          </p:nvGrpSpPr>
          <p:grpSpPr>
            <a:xfrm>
              <a:off x="8362950" y="1924050"/>
              <a:ext cx="1314450" cy="1409700"/>
              <a:chOff x="8362950" y="1924050"/>
              <a:chExt cx="1314450" cy="1409700"/>
            </a:xfrm>
          </p:grpSpPr>
          <p:sp>
            <p:nvSpPr>
              <p:cNvPr id="64" name="Rectangle 64"/>
              <p:cNvSpPr/>
              <p:nvPr/>
            </p:nvSpPr>
            <p:spPr>
              <a:xfrm>
                <a:off x="8362950" y="1924050"/>
                <a:ext cx="1314450" cy="1409700"/>
              </a:xfrm>
              <a:prstGeom prst="roundRect">
                <a:avLst>
                  <a:gd name="adj" fmla="val 14493"/>
                </a:avLst>
              </a:prstGeom>
              <a:solidFill>
                <a:srgbClr val="FFFFFF"/>
              </a:solidFill>
              <a:ln w="19050">
                <a:solidFill>
                  <a:schemeClr val="accent2"/>
                </a:solidFill>
              </a:ln>
            </p:spPr>
          </p:sp>
          <p:sp>
            <p:nvSpPr>
              <p:cNvPr id="65" name="Ellipse 65"/>
              <p:cNvSpPr/>
              <p:nvPr/>
            </p:nvSpPr>
            <p:spPr>
              <a:xfrm>
                <a:off x="8791575" y="2076450"/>
                <a:ext cx="457200" cy="457200"/>
              </a:xfrm>
              <a:prstGeom prst="ellipse">
                <a:avLst/>
              </a:prstGeom>
              <a:solidFill>
                <a:srgbClr val="FFF3D8"/>
              </a:solidFill>
              <a:ln>
                <a:noFill/>
              </a:ln>
            </p:spPr>
          </p:sp>
          <p:grpSp>
            <p:nvGrpSpPr>
              <p:cNvPr id="69" name="Group 69"/>
              <p:cNvGrpSpPr/>
              <p:nvPr/>
            </p:nvGrpSpPr>
            <p:grpSpPr>
              <a:xfrm>
                <a:off x="8920162" y="2176462"/>
                <a:ext cx="200026" cy="257175"/>
                <a:chOff x="8920162" y="2176462"/>
                <a:chExt cx="200026" cy="257175"/>
              </a:xfrm>
            </p:grpSpPr>
            <p:sp>
              <p:nvSpPr>
                <p:cNvPr id="66" name="Freeform 66"/>
                <p:cNvSpPr/>
                <p:nvPr/>
              </p:nvSpPr>
              <p:spPr>
                <a:xfrm>
                  <a:off x="9048750" y="2176462"/>
                  <a:ext cx="71438" cy="71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438" h="71438">
                      <a:moveTo>
                        <a:pt x="0" y="0"/>
                      </a:moveTo>
                      <a:lnTo>
                        <a:pt x="0" y="57150"/>
                      </a:lnTo>
                      <a:cubicBezTo>
                        <a:pt x="0" y="65041"/>
                        <a:pt x="6397" y="71438"/>
                        <a:pt x="14288" y="71438"/>
                      </a:cubicBezTo>
                      <a:lnTo>
                        <a:pt x="71438" y="71438"/>
                      </a:lnTo>
                    </a:path>
                  </a:pathLst>
                </a:custGeom>
                <a:noFill/>
                <a:ln w="28575">
                  <a:solidFill>
                    <a:srgbClr val="A87312"/>
                  </a:solidFill>
                </a:ln>
              </p:spPr>
            </p:sp>
            <p:sp>
              <p:nvSpPr>
                <p:cNvPr id="67" name="Freeform 67"/>
                <p:cNvSpPr/>
                <p:nvPr/>
              </p:nvSpPr>
              <p:spPr>
                <a:xfrm>
                  <a:off x="8920162" y="2176462"/>
                  <a:ext cx="200025" cy="257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257175">
                      <a:moveTo>
                        <a:pt x="171450" y="257175"/>
                      </a:moveTo>
                      <a:lnTo>
                        <a:pt x="28575" y="257175"/>
                      </a:lnTo>
                      <a:cubicBezTo>
                        <a:pt x="12793" y="257175"/>
                        <a:pt x="0" y="244382"/>
                        <a:pt x="0" y="228600"/>
                      </a:cubicBezTo>
                      <a:lnTo>
                        <a:pt x="0" y="28575"/>
                      </a:lnTo>
                      <a:cubicBezTo>
                        <a:pt x="0" y="12793"/>
                        <a:pt x="12793" y="0"/>
                        <a:pt x="28575" y="0"/>
                      </a:cubicBezTo>
                      <a:lnTo>
                        <a:pt x="128588" y="0"/>
                      </a:lnTo>
                      <a:lnTo>
                        <a:pt x="200025" y="71438"/>
                      </a:lnTo>
                      <a:lnTo>
                        <a:pt x="200025" y="228600"/>
                      </a:lnTo>
                      <a:cubicBezTo>
                        <a:pt x="200025" y="244382"/>
                        <a:pt x="187232" y="257175"/>
                        <a:pt x="171450" y="257175"/>
                      </a:cubicBezTo>
                    </a:path>
                  </a:pathLst>
                </a:custGeom>
                <a:noFill/>
                <a:ln w="28575">
                  <a:solidFill>
                    <a:srgbClr val="A87312"/>
                  </a:solidFill>
                </a:ln>
              </p:spPr>
            </p:sp>
            <p:sp>
              <p:nvSpPr>
                <p:cNvPr id="68" name="Freeform 68"/>
                <p:cNvSpPr/>
                <p:nvPr/>
              </p:nvSpPr>
              <p:spPr>
                <a:xfrm>
                  <a:off x="8977312" y="2319338"/>
                  <a:ext cx="85725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25" h="57150">
                      <a:moveTo>
                        <a:pt x="0" y="28575"/>
                      </a:moveTo>
                      <a:lnTo>
                        <a:pt x="28575" y="57150"/>
                      </a:lnTo>
                      <a:lnTo>
                        <a:pt x="85725" y="0"/>
                      </a:lnTo>
                    </a:path>
                  </a:pathLst>
                </a:custGeom>
                <a:noFill/>
                <a:ln w="28575">
                  <a:solidFill>
                    <a:srgbClr val="A87312"/>
                  </a:solidFill>
                </a:ln>
              </p:spPr>
            </p:sp>
          </p:grpSp>
          <p:sp>
            <p:nvSpPr>
              <p:cNvPr id="70" name="TextBox 70"/>
              <p:cNvSpPr txBox="1"/>
              <p:nvPr/>
            </p:nvSpPr>
            <p:spPr>
              <a:xfrm>
                <a:off x="8545335" y="267938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8A5D10"/>
                    </a:solidFill>
                    <a:latin typeface="+mn-lt"/>
                    <a:ea typeface="+mn-ea"/>
                    <a:cs typeface="+mn-cs"/>
                  </a:rPr>
                  <a:t>成果画像</a:t>
                </a:r>
              </a:p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8448675" y="3013710"/>
                <a:ext cx="114300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结构化成果交付</a:t>
                </a:r>
              </a:p>
            </p:txBody>
          </p:sp>
        </p:grpSp>
        <p:grpSp>
          <p:nvGrpSpPr>
            <p:cNvPr id="82" name="Group 82"/>
            <p:cNvGrpSpPr/>
            <p:nvPr/>
          </p:nvGrpSpPr>
          <p:grpSpPr>
            <a:xfrm>
              <a:off x="9925050" y="1924050"/>
              <a:ext cx="1314450" cy="1409700"/>
              <a:chOff x="9925050" y="1924050"/>
              <a:chExt cx="1314450" cy="1409700"/>
            </a:xfrm>
          </p:grpSpPr>
          <p:sp>
            <p:nvSpPr>
              <p:cNvPr id="73" name="Rectangle 73"/>
              <p:cNvSpPr/>
              <p:nvPr/>
            </p:nvSpPr>
            <p:spPr>
              <a:xfrm>
                <a:off x="9925050" y="1924050"/>
                <a:ext cx="1314450" cy="1409700"/>
              </a:xfrm>
              <a:prstGeom prst="roundRect">
                <a:avLst>
                  <a:gd name="adj" fmla="val 14493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74" name="Ellipse 74"/>
              <p:cNvSpPr/>
              <p:nvPr/>
            </p:nvSpPr>
            <p:spPr>
              <a:xfrm>
                <a:off x="10353675" y="2076450"/>
                <a:ext cx="457200" cy="457200"/>
              </a:xfrm>
              <a:prstGeom prst="ellipse">
                <a:avLst/>
              </a:prstGeom>
              <a:solidFill>
                <a:srgbClr val="FFFFFF">
                  <a:alpha val="22000"/>
                </a:srgbClr>
              </a:solidFill>
              <a:ln>
                <a:noFill/>
              </a:ln>
            </p:spPr>
          </p:sp>
          <p:grpSp>
            <p:nvGrpSpPr>
              <p:cNvPr id="79" name="Group 79"/>
              <p:cNvGrpSpPr/>
              <p:nvPr/>
            </p:nvGrpSpPr>
            <p:grpSpPr>
              <a:xfrm>
                <a:off x="10482262" y="2190750"/>
                <a:ext cx="214313" cy="242888"/>
                <a:chOff x="10482262" y="2190750"/>
                <a:chExt cx="214313" cy="242888"/>
              </a:xfrm>
            </p:grpSpPr>
            <p:sp>
              <p:nvSpPr>
                <p:cNvPr id="75" name="Freeform 75"/>
                <p:cNvSpPr/>
                <p:nvPr/>
              </p:nvSpPr>
              <p:spPr>
                <a:xfrm>
                  <a:off x="10482262" y="2190750"/>
                  <a:ext cx="171450" cy="228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228600">
                      <a:moveTo>
                        <a:pt x="65937" y="228600"/>
                      </a:moveTo>
                      <a:lnTo>
                        <a:pt x="28575" y="228600"/>
                      </a:lnTo>
                      <a:cubicBezTo>
                        <a:pt x="12793" y="228600"/>
                        <a:pt x="0" y="215807"/>
                        <a:pt x="0" y="200025"/>
                      </a:cubicBezTo>
                      <a:lnTo>
                        <a:pt x="0" y="28575"/>
                      </a:lnTo>
                      <a:cubicBezTo>
                        <a:pt x="0" y="12793"/>
                        <a:pt x="12793" y="0"/>
                        <a:pt x="28575" y="0"/>
                      </a:cubicBezTo>
                      <a:lnTo>
                        <a:pt x="142875" y="0"/>
                      </a:lnTo>
                      <a:cubicBezTo>
                        <a:pt x="158657" y="0"/>
                        <a:pt x="171450" y="12793"/>
                        <a:pt x="171450" y="28575"/>
                      </a:cubicBezTo>
                      <a:lnTo>
                        <a:pt x="171450" y="142875"/>
                      </a:lnTo>
                    </a:path>
                  </a:pathLst>
                </a:custGeom>
                <a:noFill/>
                <a:ln w="28575">
                  <a:solidFill>
                    <a:srgbClr val="FFFFFF"/>
                  </a:solidFill>
                </a:ln>
              </p:spPr>
            </p:sp>
            <p:sp>
              <p:nvSpPr>
                <p:cNvPr id="76" name="Freeform 76"/>
                <p:cNvSpPr/>
                <p:nvPr/>
              </p:nvSpPr>
              <p:spPr>
                <a:xfrm>
                  <a:off x="10610850" y="2376488"/>
                  <a:ext cx="85725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25" h="57150">
                      <a:moveTo>
                        <a:pt x="0" y="28575"/>
                      </a:moveTo>
                      <a:lnTo>
                        <a:pt x="28575" y="57150"/>
                      </a:lnTo>
                      <a:lnTo>
                        <a:pt x="85725" y="0"/>
                      </a:lnTo>
                    </a:path>
                  </a:pathLst>
                </a:custGeom>
                <a:noFill/>
                <a:ln w="28575">
                  <a:solidFill>
                    <a:srgbClr val="FFFFFF"/>
                  </a:solidFill>
                </a:ln>
              </p:spPr>
            </p:sp>
            <p:sp>
              <p:nvSpPr>
                <p:cNvPr id="77" name="Freeform 77"/>
                <p:cNvSpPr/>
                <p:nvPr/>
              </p:nvSpPr>
              <p:spPr>
                <a:xfrm>
                  <a:off x="10539412" y="2247900"/>
                  <a:ext cx="571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9525">
                      <a:moveTo>
                        <a:pt x="0" y="0"/>
                      </a:moveTo>
                      <a:lnTo>
                        <a:pt x="57150" y="0"/>
                      </a:lnTo>
                    </a:path>
                  </a:pathLst>
                </a:custGeom>
                <a:noFill/>
                <a:ln w="28575">
                  <a:solidFill>
                    <a:srgbClr val="FFFFFF"/>
                  </a:solidFill>
                </a:ln>
              </p:spPr>
            </p:sp>
            <p:sp>
              <p:nvSpPr>
                <p:cNvPr id="78" name="Freeform 78"/>
                <p:cNvSpPr/>
                <p:nvPr/>
              </p:nvSpPr>
              <p:spPr>
                <a:xfrm>
                  <a:off x="10539412" y="2305050"/>
                  <a:ext cx="2857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" h="9525">
                      <a:moveTo>
                        <a:pt x="0" y="0"/>
                      </a:moveTo>
                      <a:lnTo>
                        <a:pt x="28575" y="0"/>
                      </a:lnTo>
                    </a:path>
                  </a:pathLst>
                </a:custGeom>
                <a:noFill/>
                <a:ln w="28575">
                  <a:solidFill>
                    <a:srgbClr val="FFFFFF"/>
                  </a:solidFill>
                </a:ln>
              </p:spPr>
            </p:sp>
          </p:grpSp>
          <p:sp>
            <p:nvSpPr>
              <p:cNvPr id="80" name="TextBox 80"/>
              <p:cNvSpPr txBox="1"/>
              <p:nvPr/>
            </p:nvSpPr>
            <p:spPr>
              <a:xfrm>
                <a:off x="10107435" y="267938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审计交付</a:t>
                </a:r>
              </a:p>
            </p:txBody>
          </p:sp>
          <p:sp>
            <p:nvSpPr>
              <p:cNvPr id="81" name="TextBox 81"/>
              <p:cNvSpPr txBox="1"/>
              <p:nvPr/>
            </p:nvSpPr>
            <p:spPr>
              <a:xfrm>
                <a:off x="9966103" y="3013710"/>
                <a:ext cx="123234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FFF7E5"/>
                    </a:solidFill>
                    <a:latin typeface="+mn-lt"/>
                    <a:ea typeface="+mn-ea"/>
                    <a:cs typeface="+mn-cs"/>
                  </a:rPr>
                  <a:t>报告 · Manifest</a:t>
                </a:r>
              </a:p>
            </p:txBody>
          </p:sp>
        </p:grpSp>
        <p:sp>
          <p:nvSpPr>
            <p:cNvPr id="83" name="TextBox 83"/>
            <p:cNvSpPr txBox="1"/>
            <p:nvPr/>
          </p:nvSpPr>
          <p:spPr>
            <a:xfrm>
              <a:off x="8698992" y="4064318"/>
              <a:ext cx="30668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A87312"/>
                  </a:solidFill>
                  <a:latin typeface="+mn-lt"/>
                  <a:ea typeface="+mn-ea"/>
                  <a:cs typeface="+mn-cs"/>
                </a:rPr>
                <a:t>验证回流：能力结论返回证据链复核</a:t>
              </a:r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552450" y="4972050"/>
            <a:ext cx="11068050" cy="1066800"/>
            <a:chOff x="552450" y="4972050"/>
            <a:chExt cx="11068050" cy="1066800"/>
          </a:xfrm>
        </p:grpSpPr>
        <p:sp>
          <p:nvSpPr>
            <p:cNvPr id="85" name="Rectangle 85"/>
            <p:cNvSpPr/>
            <p:nvPr/>
          </p:nvSpPr>
          <p:spPr>
            <a:xfrm>
              <a:off x="552450" y="4972050"/>
              <a:ext cx="2819400" cy="1066800"/>
            </a:xfrm>
            <a:prstGeom prst="roundRect">
              <a:avLst>
                <a:gd name="adj" fmla="val 1607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774192" y="51692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输入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771906" y="5501640"/>
              <a:ext cx="434362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公开、非操作性、任务级与能力级问题</a:t>
              </a:r>
            </a:p>
          </p:txBody>
        </p:sp>
        <p:sp>
          <p:nvSpPr>
            <p:cNvPr id="88" name="Rectangle 88"/>
            <p:cNvSpPr/>
            <p:nvPr/>
          </p:nvSpPr>
          <p:spPr>
            <a:xfrm>
              <a:off x="3543300" y="4972050"/>
              <a:ext cx="3505200" cy="1066800"/>
            </a:xfrm>
            <a:prstGeom prst="roundRect">
              <a:avLst>
                <a:gd name="adj" fmla="val 16071"/>
              </a:avLst>
            </a:prstGeom>
            <a:solidFill>
              <a:srgbClr val="DFF0F3"/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3765042" y="51692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过程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3762756" y="5501640"/>
              <a:ext cx="408919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受控协作、证据治理、分层质量循环</a:t>
              </a:r>
            </a:p>
          </p:txBody>
        </p:sp>
        <p:sp>
          <p:nvSpPr>
            <p:cNvPr id="91" name="Rectangle 91"/>
            <p:cNvSpPr/>
            <p:nvPr/>
          </p:nvSpPr>
          <p:spPr>
            <a:xfrm>
              <a:off x="7219950" y="4972050"/>
              <a:ext cx="4400550" cy="1066800"/>
            </a:xfrm>
            <a:prstGeom prst="roundRect">
              <a:avLst>
                <a:gd name="adj" fmla="val 16071"/>
              </a:avLst>
            </a:prstGeom>
            <a:solidFill>
              <a:srgbClr val="FFF3D8"/>
            </a:solidFill>
            <a:ln>
              <a:noFill/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7441692" y="51692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交付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7440168" y="5460682"/>
              <a:ext cx="41565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背景 · 效果 · 功能 · 约束 · 接口 · 形态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7441692" y="5759768"/>
              <a:ext cx="22490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优先级 · 证据链 · 验证路径</a:t>
              </a:r>
            </a:p>
          </p:txBody>
        </p:sp>
      </p:grpSp>
      <p:sp>
        <p:nvSpPr>
          <p:cNvPr id="96" name="TextBox 96"/>
          <p:cNvSpPr txBox="1"/>
          <p:nvPr/>
        </p:nvSpPr>
        <p:spPr>
          <a:xfrm>
            <a:off x="11478730" y="64398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00634" y="375285"/>
            <a:ext cx="10856145" cy="743140"/>
            <a:chOff x="500634" y="375285"/>
            <a:chExt cx="10856145" cy="743140"/>
          </a:xfrm>
        </p:grpSpPr>
        <p:sp>
          <p:nvSpPr>
            <p:cNvPr id="2" name="TextBox 2"/>
            <p:cNvSpPr txBox="1"/>
            <p:nvPr/>
          </p:nvSpPr>
          <p:spPr>
            <a:xfrm>
              <a:off x="500634" y="375285"/>
              <a:ext cx="1085614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项目架构沿一条主线路贯通业务、Agent、门控与成果交付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6542" y="854392"/>
              <a:ext cx="8514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四层可编辑架构：任务入口 → 三路线 / A–H → 主控与专用 Agent → S1–S6 → 证据门控回路 → 企业成果包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457200" y="1314450"/>
            <a:ext cx="11277600" cy="1104900"/>
            <a:chOff x="457200" y="1314450"/>
            <a:chExt cx="11277600" cy="1104900"/>
          </a:xfrm>
        </p:grpSpPr>
        <p:sp>
          <p:nvSpPr>
            <p:cNvPr id="5" name="Rectangle 5"/>
            <p:cNvSpPr/>
            <p:nvPr/>
          </p:nvSpPr>
          <p:spPr>
            <a:xfrm>
              <a:off x="457200" y="1314450"/>
              <a:ext cx="11277600" cy="1104900"/>
            </a:xfrm>
            <a:prstGeom prst="roundRect">
              <a:avLst>
                <a:gd name="adj" fmla="val 17241"/>
              </a:avLst>
            </a:prstGeom>
            <a:solidFill>
              <a:schemeClr val="lt2"/>
            </a:solidFill>
            <a:ln w="9525">
              <a:solidFill>
                <a:srgbClr val="D7E0EA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590550" y="1447800"/>
              <a:ext cx="1562100" cy="838200"/>
            </a:xfrm>
            <a:prstGeom prst="roundRect">
              <a:avLst>
                <a:gd name="adj" fmla="val 20455"/>
              </a:avLst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781050" y="1676400"/>
              <a:ext cx="228599" cy="228599"/>
              <a:chOff x="781050" y="1676400"/>
              <a:chExt cx="228599" cy="228599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781050" y="1854199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25400"/>
                    </a:move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958849" y="1676400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25400" y="50800"/>
                    </a:move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  <a:cubicBezTo>
                      <a:pt x="0" y="39428"/>
                      <a:pt x="11372" y="50800"/>
                      <a:pt x="25400" y="50800"/>
                    </a:cubicBez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869950" y="1701800"/>
                <a:ext cx="508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177800">
                    <a:moveTo>
                      <a:pt x="50800" y="0"/>
                    </a:moveTo>
                    <a:cubicBezTo>
                      <a:pt x="36772" y="0"/>
                      <a:pt x="25400" y="11372"/>
                      <a:pt x="25400" y="25400"/>
                    </a:cubicBezTo>
                    <a:lnTo>
                      <a:pt x="25400" y="152400"/>
                    </a:lnTo>
                    <a:cubicBezTo>
                      <a:pt x="25400" y="166428"/>
                      <a:pt x="14028" y="177800"/>
                      <a:pt x="0" y="177800"/>
                    </a:cubicBez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1137285" y="1574006"/>
              <a:ext cx="7792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① 业务流程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37285" y="1802606"/>
              <a:ext cx="6446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与编排层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38188" y="2055495"/>
              <a:ext cx="125745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任务解析 · 路线 · 蓝图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2362200" y="1562100"/>
              <a:ext cx="1009650" cy="60960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 w="19050">
              <a:solidFill>
                <a:schemeClr val="accent1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564854" y="1696402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任务入口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488547" y="1912620"/>
              <a:ext cx="75695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Query / 模式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3371850" y="1866900"/>
              <a:ext cx="314325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18" name="Ellipse 18"/>
            <p:cNvSpPr/>
            <p:nvPr/>
          </p:nvSpPr>
          <p:spPr>
            <a:xfrm>
              <a:off x="3695700" y="1619250"/>
              <a:ext cx="495300" cy="495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3860006" y="1771650"/>
              <a:ext cx="178594" cy="190500"/>
              <a:chOff x="3860006" y="1771650"/>
              <a:chExt cx="178594" cy="1905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3860006" y="1914525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23812"/>
                    </a:move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23812">
                <a:solidFill>
                  <a:srgbClr val="FFFFFF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3860006" y="1771650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23812"/>
                    </a:move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23812">
                <a:solidFill>
                  <a:srgbClr val="FFFFFF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3979069" y="1771650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23812"/>
                    </a:move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23812">
                <a:solidFill>
                  <a:srgbClr val="FFFFFF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3883819" y="1819275"/>
                <a:ext cx="952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0">
                    <a:moveTo>
                      <a:pt x="0" y="0"/>
                    </a:moveTo>
                    <a:lnTo>
                      <a:pt x="0" y="95250"/>
                    </a:lnTo>
                  </a:path>
                </a:pathLst>
              </a:custGeom>
              <a:noFill/>
              <a:ln w="23812">
                <a:solidFill>
                  <a:srgbClr val="FFFFFF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3907631" y="1854994"/>
                <a:ext cx="95250" cy="83344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83344">
                    <a:moveTo>
                      <a:pt x="0" y="83344"/>
                    </a:moveTo>
                    <a:lnTo>
                      <a:pt x="71438" y="83344"/>
                    </a:lnTo>
                    <a:cubicBezTo>
                      <a:pt x="84589" y="83344"/>
                      <a:pt x="95250" y="72683"/>
                      <a:pt x="95250" y="59531"/>
                    </a:cubicBezTo>
                    <a:lnTo>
                      <a:pt x="95250" y="0"/>
                    </a:lnTo>
                  </a:path>
                </a:pathLst>
              </a:custGeom>
              <a:noFill/>
              <a:ln w="23812">
                <a:solidFill>
                  <a:srgbClr val="FFFFFF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3967162" y="1854994"/>
                <a:ext cx="71438" cy="35719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35719">
                    <a:moveTo>
                      <a:pt x="0" y="35719"/>
                    </a:moveTo>
                    <a:lnTo>
                      <a:pt x="35719" y="0"/>
                    </a:lnTo>
                    <a:lnTo>
                      <a:pt x="71438" y="35719"/>
                    </a:lnTo>
                  </a:path>
                </a:pathLst>
              </a:custGeom>
              <a:noFill/>
              <a:ln w="23812">
                <a:solidFill>
                  <a:srgbClr val="FFFFFF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3684156" y="2141220"/>
              <a:ext cx="5183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路线选择</a:t>
              </a:r>
            </a:p>
          </p:txBody>
        </p:sp>
        <p:sp>
          <p:nvSpPr>
            <p:cNvPr id="27" name="Freeform 27"/>
            <p:cNvSpPr/>
            <p:nvPr/>
          </p:nvSpPr>
          <p:spPr>
            <a:xfrm>
              <a:off x="4191000" y="1638300"/>
              <a:ext cx="323850" cy="228600"/>
            </a:xfrm>
            <a:custGeom>
              <a:avLst/>
              <a:gdLst/>
              <a:ahLst/>
              <a:cxnLst/>
              <a:rect l="l" t="t" r="r" b="b"/>
              <a:pathLst>
                <a:path w="323850" h="228600">
                  <a:moveTo>
                    <a:pt x="0" y="228600"/>
                  </a:moveTo>
                  <a:cubicBezTo>
                    <a:pt x="171450" y="228600"/>
                    <a:pt x="171450" y="0"/>
                    <a:pt x="323850" y="0"/>
                  </a:cubicBezTo>
                </a:path>
              </a:pathLst>
            </a:cu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28" name="Freeform 28"/>
            <p:cNvSpPr/>
            <p:nvPr/>
          </p:nvSpPr>
          <p:spPr>
            <a:xfrm>
              <a:off x="4191000" y="1866900"/>
              <a:ext cx="323850" cy="9525"/>
            </a:xfrm>
            <a:custGeom>
              <a:avLst/>
              <a:gdLst/>
              <a:ahLst/>
              <a:cxnLst/>
              <a:rect l="l" t="t" r="r" b="b"/>
              <a:pathLst>
                <a:path w="323850" h="9525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29" name="Freeform 29"/>
            <p:cNvSpPr/>
            <p:nvPr/>
          </p:nvSpPr>
          <p:spPr>
            <a:xfrm>
              <a:off x="4191000" y="1866900"/>
              <a:ext cx="323850" cy="228600"/>
            </a:xfrm>
            <a:custGeom>
              <a:avLst/>
              <a:gdLst/>
              <a:ahLst/>
              <a:cxnLst/>
              <a:rect l="l" t="t" r="r" b="b"/>
              <a:pathLst>
                <a:path w="323850" h="228600">
                  <a:moveTo>
                    <a:pt x="0" y="0"/>
                  </a:moveTo>
                  <a:cubicBezTo>
                    <a:pt x="171450" y="0"/>
                    <a:pt x="171450" y="228600"/>
                    <a:pt x="323850" y="228600"/>
                  </a:cubicBezTo>
                </a:path>
              </a:pathLst>
            </a:custGeom>
            <a:noFill/>
            <a:ln w="19050">
              <a:solidFill>
                <a:srgbClr val="7658B5"/>
              </a:solidFill>
              <a:tailEnd type="triangle" w="lg" len="lg"/>
            </a:ln>
          </p:spPr>
        </p:sp>
        <p:sp>
          <p:nvSpPr>
            <p:cNvPr id="30" name="Rectangle 30"/>
            <p:cNvSpPr/>
            <p:nvPr/>
          </p:nvSpPr>
          <p:spPr>
            <a:xfrm>
              <a:off x="4572000" y="1438275"/>
              <a:ext cx="1200150" cy="400050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9525">
              <a:solidFill>
                <a:schemeClr val="accent3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4795695" y="1572578"/>
              <a:ext cx="7527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新制胜机理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4572000" y="1885950"/>
              <a:ext cx="1200150" cy="400050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9525">
              <a:solidFill>
                <a:schemeClr val="accent3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721485" y="2020252"/>
              <a:ext cx="9011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传统能力缺口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829300" y="1666875"/>
              <a:ext cx="1200150" cy="400050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9525">
              <a:solidFill>
                <a:srgbClr val="7658B5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978785" y="1801178"/>
              <a:ext cx="9011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局部战争案例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5772150" y="1638300"/>
              <a:ext cx="1419225" cy="114300"/>
            </a:xfrm>
            <a:custGeom>
              <a:avLst/>
              <a:gdLst/>
              <a:ahLst/>
              <a:cxnLst/>
              <a:rect l="l" t="t" r="r" b="b"/>
              <a:pathLst>
                <a:path w="1419225" h="114300">
                  <a:moveTo>
                    <a:pt x="0" y="0"/>
                  </a:moveTo>
                  <a:lnTo>
                    <a:pt x="1419225" y="114300"/>
                  </a:lnTo>
                </a:path>
              </a:pathLst>
            </a:custGeom>
            <a:noFill/>
            <a:ln w="14288">
              <a:solidFill>
                <a:schemeClr val="accent3"/>
              </a:solidFill>
            </a:ln>
          </p:spPr>
        </p:sp>
        <p:sp>
          <p:nvSpPr>
            <p:cNvPr id="37" name="Line 37"/>
            <p:cNvSpPr/>
            <p:nvPr/>
          </p:nvSpPr>
          <p:spPr>
            <a:xfrm>
              <a:off x="5772150" y="1981200"/>
              <a:ext cx="1419225" cy="104775"/>
            </a:xfrm>
            <a:custGeom>
              <a:avLst/>
              <a:gdLst/>
              <a:ahLst/>
              <a:cxnLst/>
              <a:rect l="l" t="t" r="r" b="b"/>
              <a:pathLst>
                <a:path w="1419225" h="104775">
                  <a:moveTo>
                    <a:pt x="0" y="104775"/>
                  </a:moveTo>
                  <a:lnTo>
                    <a:pt x="1419225" y="0"/>
                  </a:lnTo>
                </a:path>
              </a:pathLst>
            </a:custGeom>
            <a:noFill/>
            <a:ln w="14288">
              <a:solidFill>
                <a:schemeClr val="accent3"/>
              </a:solidFill>
            </a:ln>
          </p:spPr>
        </p:sp>
        <p:sp>
          <p:nvSpPr>
            <p:cNvPr id="38" name="Line 38"/>
            <p:cNvSpPr/>
            <p:nvPr/>
          </p:nvSpPr>
          <p:spPr>
            <a:xfrm>
              <a:off x="7029450" y="1866900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4288">
              <a:solidFill>
                <a:srgbClr val="7658B5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7191375" y="1428750"/>
              <a:ext cx="2190750" cy="857250"/>
            </a:xfrm>
            <a:prstGeom prst="roundRect">
              <a:avLst>
                <a:gd name="adj" fmla="val 17778"/>
              </a:avLst>
            </a:prstGeom>
            <a:solidFill>
              <a:srgbClr val="FFFFFF"/>
            </a:solidFill>
            <a:ln w="19050">
              <a:solidFill>
                <a:schemeClr val="accent2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846361" y="1513999"/>
              <a:ext cx="88077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A–H 分支网络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381875" y="16954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483023" y="1788795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858125" y="16954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959273" y="1788795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8334375" y="16954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435523" y="1788795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8810625" y="16954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911773" y="1788795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7381875" y="1990725"/>
              <a:ext cx="285750" cy="2857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483023" y="2084070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7858125" y="1990725"/>
              <a:ext cx="285750" cy="2857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959273" y="2084070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8334375" y="1990725"/>
              <a:ext cx="285750" cy="2857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8435523" y="2084070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G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8810625" y="1990725"/>
              <a:ext cx="285750" cy="2857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8911773" y="2084070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</a:t>
              </a:r>
            </a:p>
          </p:txBody>
        </p:sp>
        <p:sp>
          <p:nvSpPr>
            <p:cNvPr id="57" name="Line 57"/>
            <p:cNvSpPr/>
            <p:nvPr/>
          </p:nvSpPr>
          <p:spPr>
            <a:xfrm>
              <a:off x="9382125" y="1866900"/>
              <a:ext cx="333375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58" name="Rectangle 58"/>
            <p:cNvSpPr/>
            <p:nvPr/>
          </p:nvSpPr>
          <p:spPr>
            <a:xfrm>
              <a:off x="9791700" y="1562100"/>
              <a:ext cx="1619250" cy="6096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10041514" y="1697831"/>
              <a:ext cx="11196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差异化研究蓝图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972599" y="1950720"/>
              <a:ext cx="125745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路线 + 分支 + 执行强度</a:t>
              </a:r>
            </a:p>
          </p:txBody>
        </p:sp>
      </p:grpSp>
      <p:grpSp>
        <p:nvGrpSpPr>
          <p:cNvPr id="130" name="Group 130"/>
          <p:cNvGrpSpPr/>
          <p:nvPr/>
        </p:nvGrpSpPr>
        <p:grpSpPr>
          <a:xfrm>
            <a:off x="457200" y="2571750"/>
            <a:ext cx="11277600" cy="1295400"/>
            <a:chOff x="457200" y="2571750"/>
            <a:chExt cx="11277600" cy="1295400"/>
          </a:xfrm>
        </p:grpSpPr>
        <p:sp>
          <p:nvSpPr>
            <p:cNvPr id="62" name="Rectangle 62"/>
            <p:cNvSpPr/>
            <p:nvPr/>
          </p:nvSpPr>
          <p:spPr>
            <a:xfrm>
              <a:off x="457200" y="2571750"/>
              <a:ext cx="11277600" cy="1295400"/>
            </a:xfrm>
            <a:prstGeom prst="roundRect">
              <a:avLst>
                <a:gd name="adj" fmla="val 14706"/>
              </a:avLst>
            </a:prstGeom>
            <a:solidFill>
              <a:srgbClr val="DFF0F3"/>
            </a:solidFill>
            <a:ln w="9525">
              <a:solidFill>
                <a:srgbClr val="BFDCE4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590550" y="2705100"/>
              <a:ext cx="1562100" cy="102870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>
              <a:noFill/>
            </a:ln>
          </p:spPr>
        </p:sp>
        <p:grpSp>
          <p:nvGrpSpPr>
            <p:cNvPr id="73" name="Group 73"/>
            <p:cNvGrpSpPr/>
            <p:nvPr/>
          </p:nvGrpSpPr>
          <p:grpSpPr>
            <a:xfrm>
              <a:off x="806450" y="2921000"/>
              <a:ext cx="177800" cy="241300"/>
              <a:chOff x="806450" y="2921000"/>
              <a:chExt cx="177800" cy="241300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819150" y="2946400"/>
                <a:ext cx="1524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01600">
                    <a:moveTo>
                      <a:pt x="0" y="25400"/>
                    </a:moveTo>
                    <a:cubicBezTo>
                      <a:pt x="0" y="11372"/>
                      <a:pt x="11372" y="0"/>
                      <a:pt x="25400" y="0"/>
                    </a:cubicBezTo>
                    <a:lnTo>
                      <a:pt x="127000" y="0"/>
                    </a:lnTo>
                    <a:cubicBezTo>
                      <a:pt x="141028" y="0"/>
                      <a:pt x="152400" y="11372"/>
                      <a:pt x="152400" y="25400"/>
                    </a:cubicBezTo>
                    <a:lnTo>
                      <a:pt x="152400" y="76200"/>
                    </a:lnTo>
                    <a:cubicBezTo>
                      <a:pt x="152400" y="90228"/>
                      <a:pt x="141028" y="101600"/>
                      <a:pt x="127000" y="101600"/>
                    </a:cubicBezTo>
                    <a:lnTo>
                      <a:pt x="25400" y="101600"/>
                    </a:lnTo>
                    <a:cubicBezTo>
                      <a:pt x="11372" y="101600"/>
                      <a:pt x="0" y="90228"/>
                      <a:pt x="0" y="76200"/>
                    </a:cubicBezTo>
                    <a:lnTo>
                      <a:pt x="0" y="25400"/>
                    </a:ln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895350" y="2921000"/>
                <a:ext cx="9525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5400">
                    <a:moveTo>
                      <a:pt x="0" y="0"/>
                    </a:moveTo>
                    <a:lnTo>
                      <a:pt x="0" y="25400"/>
                    </a:ln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857250" y="3048000"/>
                <a:ext cx="952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4300">
                    <a:moveTo>
                      <a:pt x="0" y="0"/>
                    </a:moveTo>
                    <a:lnTo>
                      <a:pt x="0" y="114300"/>
                    </a:ln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933450" y="3048000"/>
                <a:ext cx="952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4300">
                    <a:moveTo>
                      <a:pt x="0" y="0"/>
                    </a:moveTo>
                    <a:lnTo>
                      <a:pt x="0" y="114300"/>
                    </a:ln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806450" y="3073400"/>
                <a:ext cx="508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25400">
                    <a:moveTo>
                      <a:pt x="0" y="25400"/>
                    </a:moveTo>
                    <a:lnTo>
                      <a:pt x="50800" y="0"/>
                    </a:ln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933450" y="3073400"/>
                <a:ext cx="508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25400">
                    <a:moveTo>
                      <a:pt x="0" y="0"/>
                    </a:moveTo>
                    <a:lnTo>
                      <a:pt x="50800" y="25400"/>
                    </a:ln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857250" y="3124199"/>
                <a:ext cx="76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9525">
                    <a:moveTo>
                      <a:pt x="0" y="0"/>
                    </a:moveTo>
                    <a:lnTo>
                      <a:pt x="76200" y="0"/>
                    </a:ln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869950" y="29972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27"/>
                    </a:ln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920750" y="29972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27"/>
                    </a:ln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</p:grpSp>
        <p:sp>
          <p:nvSpPr>
            <p:cNvPr id="74" name="TextBox 74"/>
            <p:cNvSpPr txBox="1"/>
            <p:nvPr/>
          </p:nvSpPr>
          <p:spPr>
            <a:xfrm>
              <a:off x="1137285" y="2831306"/>
              <a:ext cx="892607" cy="4486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② Agent 协作与 S1–S6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738188" y="3350895"/>
              <a:ext cx="1329690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500"/>
                </a:lnSpc>
              </a:pPr>
              <a:r>
                <a:rPr lang="zh-CN" sz="90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独立 Session · Wave权限 · 预算 · Checkpoint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2362200" y="2819400"/>
              <a:ext cx="1219200" cy="781050"/>
            </a:xfrm>
            <a:prstGeom prst="roundRect">
              <a:avLst>
                <a:gd name="adj" fmla="val 21951"/>
              </a:avLst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86" name="Group 86"/>
            <p:cNvGrpSpPr/>
            <p:nvPr/>
          </p:nvGrpSpPr>
          <p:grpSpPr>
            <a:xfrm>
              <a:off x="2532063" y="2955925"/>
              <a:ext cx="155575" cy="211138"/>
              <a:chOff x="2532063" y="2955925"/>
              <a:chExt cx="155575" cy="211138"/>
            </a:xfrm>
          </p:grpSpPr>
          <p:sp>
            <p:nvSpPr>
              <p:cNvPr id="77" name="Freeform 77"/>
              <p:cNvSpPr/>
              <p:nvPr/>
            </p:nvSpPr>
            <p:spPr>
              <a:xfrm>
                <a:off x="2543175" y="2978150"/>
                <a:ext cx="13335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88900">
                    <a:moveTo>
                      <a:pt x="0" y="22225"/>
                    </a:moveTo>
                    <a:cubicBezTo>
                      <a:pt x="0" y="9950"/>
                      <a:pt x="9950" y="0"/>
                      <a:pt x="22225" y="0"/>
                    </a:cubicBezTo>
                    <a:lnTo>
                      <a:pt x="111125" y="0"/>
                    </a:lnTo>
                    <a:cubicBezTo>
                      <a:pt x="123400" y="0"/>
                      <a:pt x="133350" y="9950"/>
                      <a:pt x="133350" y="22225"/>
                    </a:cubicBezTo>
                    <a:lnTo>
                      <a:pt x="133350" y="66675"/>
                    </a:lnTo>
                    <a:cubicBezTo>
                      <a:pt x="133350" y="78950"/>
                      <a:pt x="123400" y="88900"/>
                      <a:pt x="111125" y="88900"/>
                    </a:cubicBezTo>
                    <a:lnTo>
                      <a:pt x="22225" y="88900"/>
                    </a:lnTo>
                    <a:cubicBezTo>
                      <a:pt x="9950" y="88900"/>
                      <a:pt x="0" y="78950"/>
                      <a:pt x="0" y="66675"/>
                    </a:cubicBezTo>
                    <a:lnTo>
                      <a:pt x="0" y="22225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2609850" y="2955925"/>
                <a:ext cx="95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2576513" y="3067050"/>
                <a:ext cx="9525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0013">
                    <a:moveTo>
                      <a:pt x="0" y="0"/>
                    </a:moveTo>
                    <a:lnTo>
                      <a:pt x="0" y="100013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80" name="Freeform 80"/>
              <p:cNvSpPr/>
              <p:nvPr/>
            </p:nvSpPr>
            <p:spPr>
              <a:xfrm>
                <a:off x="2643188" y="3067050"/>
                <a:ext cx="9525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0013">
                    <a:moveTo>
                      <a:pt x="0" y="0"/>
                    </a:moveTo>
                    <a:lnTo>
                      <a:pt x="0" y="100013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81" name="Freeform 81"/>
              <p:cNvSpPr/>
              <p:nvPr/>
            </p:nvSpPr>
            <p:spPr>
              <a:xfrm>
                <a:off x="2532063" y="3089275"/>
                <a:ext cx="44450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22225">
                    <a:moveTo>
                      <a:pt x="0" y="22225"/>
                    </a:moveTo>
                    <a:lnTo>
                      <a:pt x="44450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82" name="Freeform 82"/>
              <p:cNvSpPr/>
              <p:nvPr/>
            </p:nvSpPr>
            <p:spPr>
              <a:xfrm>
                <a:off x="2643188" y="3089275"/>
                <a:ext cx="44450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22225">
                    <a:moveTo>
                      <a:pt x="0" y="0"/>
                    </a:moveTo>
                    <a:lnTo>
                      <a:pt x="44450" y="22225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83" name="Freeform 83"/>
              <p:cNvSpPr/>
              <p:nvPr/>
            </p:nvSpPr>
            <p:spPr>
              <a:xfrm>
                <a:off x="2576513" y="3133726"/>
                <a:ext cx="666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9525">
                    <a:moveTo>
                      <a:pt x="0" y="0"/>
                    </a:move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84" name="Freeform 84"/>
              <p:cNvSpPr/>
              <p:nvPr/>
            </p:nvSpPr>
            <p:spPr>
              <a:xfrm>
                <a:off x="2587625" y="30226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11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85" name="Freeform 85"/>
              <p:cNvSpPr/>
              <p:nvPr/>
            </p:nvSpPr>
            <p:spPr>
              <a:xfrm>
                <a:off x="2632075" y="30226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11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87" name="TextBox 87"/>
            <p:cNvSpPr txBox="1"/>
            <p:nvPr/>
          </p:nvSpPr>
          <p:spPr>
            <a:xfrm>
              <a:off x="2852166" y="2991802"/>
              <a:ext cx="7686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主控 Agent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2534856" y="3273266"/>
              <a:ext cx="873887" cy="3238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ctr">
                <a:lnSpc>
                  <a:spcPts val="1275"/>
                </a:lnSpc>
              </a:pPr>
              <a:r>
                <a:rPr lang="zh-CN" sz="82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解析 · 选择 · 调度收敛 · 回溯 · 交付</a:t>
              </a:r>
            </a:p>
          </p:txBody>
        </p:sp>
        <p:sp>
          <p:nvSpPr>
            <p:cNvPr id="89" name="Line 89"/>
            <p:cNvSpPr/>
            <p:nvPr/>
          </p:nvSpPr>
          <p:spPr>
            <a:xfrm>
              <a:off x="3581400" y="3209925"/>
              <a:ext cx="247650" cy="1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90" name="Rectangle 90"/>
            <p:cNvSpPr/>
            <p:nvPr/>
          </p:nvSpPr>
          <p:spPr>
            <a:xfrm>
              <a:off x="3905250" y="2762250"/>
              <a:ext cx="2114550" cy="895350"/>
            </a:xfrm>
            <a:prstGeom prst="roundRect">
              <a:avLst>
                <a:gd name="adj" fmla="val 19149"/>
              </a:avLst>
            </a:prstGeom>
            <a:solidFill>
              <a:srgbClr val="FFFFFF"/>
            </a:solidFill>
            <a:ln w="19050">
              <a:solidFill>
                <a:schemeClr val="accent3"/>
              </a:solidFill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4191687" y="2848928"/>
              <a:ext cx="15416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路线 / 分支专用 Agent</a:t>
              </a:r>
            </a:p>
          </p:txBody>
        </p:sp>
        <p:sp>
          <p:nvSpPr>
            <p:cNvPr id="92" name="Rectangle 92"/>
            <p:cNvSpPr/>
            <p:nvPr/>
          </p:nvSpPr>
          <p:spPr>
            <a:xfrm>
              <a:off x="4057650" y="3086100"/>
              <a:ext cx="838200" cy="238125"/>
            </a:xfrm>
            <a:prstGeom prst="roundRect">
              <a:avLst>
                <a:gd name="adj" fmla="val 48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4229672" y="3150870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作战场景</a:t>
              </a:r>
            </a:p>
          </p:txBody>
        </p:sp>
        <p:sp>
          <p:nvSpPr>
            <p:cNvPr id="94" name="Rectangle 94"/>
            <p:cNvSpPr/>
            <p:nvPr/>
          </p:nvSpPr>
          <p:spPr>
            <a:xfrm>
              <a:off x="4972050" y="3086100"/>
              <a:ext cx="838200" cy="238125"/>
            </a:xfrm>
            <a:prstGeom prst="roundRect">
              <a:avLst>
                <a:gd name="adj" fmla="val 48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5144071" y="3150870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作战运用</a:t>
              </a:r>
            </a:p>
          </p:txBody>
        </p:sp>
        <p:sp>
          <p:nvSpPr>
            <p:cNvPr id="96" name="Rectangle 96"/>
            <p:cNvSpPr/>
            <p:nvPr/>
          </p:nvSpPr>
          <p:spPr>
            <a:xfrm>
              <a:off x="4057650" y="3371850"/>
              <a:ext cx="838200" cy="238125"/>
            </a:xfrm>
            <a:prstGeom prst="roundRect">
              <a:avLst>
                <a:gd name="adj" fmla="val 48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4229672" y="3436620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武器装备</a:t>
              </a:r>
            </a:p>
          </p:txBody>
        </p:sp>
        <p:sp>
          <p:nvSpPr>
            <p:cNvPr id="98" name="Rectangle 98"/>
            <p:cNvSpPr/>
            <p:nvPr/>
          </p:nvSpPr>
          <p:spPr>
            <a:xfrm>
              <a:off x="4953000" y="3371850"/>
              <a:ext cx="914400" cy="238125"/>
            </a:xfrm>
            <a:prstGeom prst="roundRect">
              <a:avLst>
                <a:gd name="adj" fmla="val 48000"/>
              </a:avLst>
            </a:prstGeom>
            <a:solidFill>
              <a:srgbClr val="FFF3D8"/>
            </a:solidFill>
            <a:ln>
              <a:noFill/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5009706" y="3444716"/>
              <a:ext cx="80098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A–H 动态 Agent</a:t>
              </a:r>
            </a:p>
          </p:txBody>
        </p:sp>
        <p:sp>
          <p:nvSpPr>
            <p:cNvPr id="100" name="Line 100"/>
            <p:cNvSpPr/>
            <p:nvPr/>
          </p:nvSpPr>
          <p:spPr>
            <a:xfrm>
              <a:off x="6019800" y="3209925"/>
              <a:ext cx="209550" cy="1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101" name="Rectangle 101"/>
            <p:cNvSpPr/>
            <p:nvPr/>
          </p:nvSpPr>
          <p:spPr>
            <a:xfrm>
              <a:off x="6305550" y="2781300"/>
              <a:ext cx="781050" cy="857250"/>
            </a:xfrm>
            <a:prstGeom prst="roundRect">
              <a:avLst>
                <a:gd name="adj" fmla="val 19512"/>
              </a:avLst>
            </a:prstGeom>
            <a:solidFill>
              <a:srgbClr val="FFFFFF"/>
            </a:solidFill>
            <a:ln w="9525">
              <a:solidFill>
                <a:schemeClr val="accent3"/>
              </a:solidFill>
            </a:ln>
          </p:spPr>
        </p:sp>
        <p:sp>
          <p:nvSpPr>
            <p:cNvPr id="102" name="TextBox 102"/>
            <p:cNvSpPr txBox="1"/>
            <p:nvPr/>
          </p:nvSpPr>
          <p:spPr>
            <a:xfrm>
              <a:off x="6578323" y="2892742"/>
              <a:ext cx="2355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S1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6436881" y="3169920"/>
              <a:ext cx="5183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对手分析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6379331" y="3369945"/>
              <a:ext cx="6334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体系 / 假设</a:t>
              </a:r>
            </a:p>
          </p:txBody>
        </p:sp>
        <p:sp>
          <p:nvSpPr>
            <p:cNvPr id="105" name="Line 105"/>
            <p:cNvSpPr/>
            <p:nvPr/>
          </p:nvSpPr>
          <p:spPr>
            <a:xfrm>
              <a:off x="7086600" y="3209925"/>
              <a:ext cx="114300" cy="1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106" name="Rectangle 106"/>
            <p:cNvSpPr/>
            <p:nvPr/>
          </p:nvSpPr>
          <p:spPr>
            <a:xfrm>
              <a:off x="7277100" y="2781300"/>
              <a:ext cx="781050" cy="857250"/>
            </a:xfrm>
            <a:prstGeom prst="roundRect">
              <a:avLst>
                <a:gd name="adj" fmla="val 19512"/>
              </a:avLst>
            </a:prstGeom>
            <a:solidFill>
              <a:srgbClr val="FFFFFF"/>
            </a:solidFill>
            <a:ln w="9525">
              <a:solidFill>
                <a:schemeClr val="accent3"/>
              </a:solidFill>
            </a:ln>
          </p:spPr>
        </p:sp>
        <p:sp>
          <p:nvSpPr>
            <p:cNvPr id="107" name="TextBox 107"/>
            <p:cNvSpPr txBox="1"/>
            <p:nvPr/>
          </p:nvSpPr>
          <p:spPr>
            <a:xfrm>
              <a:off x="7549873" y="2892742"/>
              <a:ext cx="2355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S2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7408431" y="3169920"/>
              <a:ext cx="5183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作战运用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7350881" y="3369945"/>
              <a:ext cx="6334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任务 / 协同</a:t>
              </a:r>
            </a:p>
          </p:txBody>
        </p:sp>
        <p:sp>
          <p:nvSpPr>
            <p:cNvPr id="110" name="Line 110"/>
            <p:cNvSpPr/>
            <p:nvPr/>
          </p:nvSpPr>
          <p:spPr>
            <a:xfrm>
              <a:off x="8058150" y="3209925"/>
              <a:ext cx="114300" cy="1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111" name="Rectangle 111"/>
            <p:cNvSpPr/>
            <p:nvPr/>
          </p:nvSpPr>
          <p:spPr>
            <a:xfrm>
              <a:off x="8248650" y="2781300"/>
              <a:ext cx="781050" cy="857250"/>
            </a:xfrm>
            <a:prstGeom prst="roundRect">
              <a:avLst>
                <a:gd name="adj" fmla="val 19512"/>
              </a:avLst>
            </a:prstGeom>
            <a:solidFill>
              <a:srgbClr val="FFFFFF"/>
            </a:solidFill>
            <a:ln w="9525">
              <a:solidFill>
                <a:schemeClr val="accent3"/>
              </a:solidFill>
            </a:ln>
          </p:spPr>
        </p:sp>
        <p:sp>
          <p:nvSpPr>
            <p:cNvPr id="112" name="TextBox 112"/>
            <p:cNvSpPr txBox="1"/>
            <p:nvPr/>
          </p:nvSpPr>
          <p:spPr>
            <a:xfrm>
              <a:off x="8521423" y="2892742"/>
              <a:ext cx="2355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S3</a:t>
              </a: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8379981" y="3169920"/>
              <a:ext cx="5183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突破机理</a:t>
              </a: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8322431" y="3369945"/>
              <a:ext cx="6334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效果 / 因果</a:t>
              </a:r>
            </a:p>
          </p:txBody>
        </p:sp>
        <p:sp>
          <p:nvSpPr>
            <p:cNvPr id="115" name="Line 115"/>
            <p:cNvSpPr/>
            <p:nvPr/>
          </p:nvSpPr>
          <p:spPr>
            <a:xfrm>
              <a:off x="9029700" y="3209925"/>
              <a:ext cx="114300" cy="1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116" name="Rectangle 116"/>
            <p:cNvSpPr/>
            <p:nvPr/>
          </p:nvSpPr>
          <p:spPr>
            <a:xfrm>
              <a:off x="9220200" y="2781300"/>
              <a:ext cx="781050" cy="857250"/>
            </a:xfrm>
            <a:prstGeom prst="roundRect">
              <a:avLst>
                <a:gd name="adj" fmla="val 19512"/>
              </a:avLst>
            </a:prstGeom>
            <a:solidFill>
              <a:srgbClr val="FFFFFF"/>
            </a:solidFill>
            <a:ln w="9525">
              <a:solidFill>
                <a:schemeClr val="accent3"/>
              </a:solidFill>
            </a:ln>
          </p:spPr>
        </p:sp>
        <p:sp>
          <p:nvSpPr>
            <p:cNvPr id="117" name="TextBox 117"/>
            <p:cNvSpPr txBox="1"/>
            <p:nvPr/>
          </p:nvSpPr>
          <p:spPr>
            <a:xfrm>
              <a:off x="9492973" y="2892742"/>
              <a:ext cx="2355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S4</a:t>
              </a:r>
            </a:p>
          </p:txBody>
        </p:sp>
        <p:sp>
          <p:nvSpPr>
            <p:cNvPr id="118" name="TextBox 118"/>
            <p:cNvSpPr txBox="1"/>
            <p:nvPr/>
          </p:nvSpPr>
          <p:spPr>
            <a:xfrm>
              <a:off x="9351531" y="3169920"/>
              <a:ext cx="5183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能力映射</a:t>
              </a:r>
            </a:p>
          </p:txBody>
        </p:sp>
        <p:sp>
          <p:nvSpPr>
            <p:cNvPr id="119" name="TextBox 119"/>
            <p:cNvSpPr txBox="1"/>
            <p:nvPr/>
          </p:nvSpPr>
          <p:spPr>
            <a:xfrm>
              <a:off x="9293981" y="3369945"/>
              <a:ext cx="6334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功能 / 指标</a:t>
              </a:r>
            </a:p>
          </p:txBody>
        </p:sp>
        <p:sp>
          <p:nvSpPr>
            <p:cNvPr id="120" name="Line 120"/>
            <p:cNvSpPr/>
            <p:nvPr/>
          </p:nvSpPr>
          <p:spPr>
            <a:xfrm>
              <a:off x="10001250" y="3209925"/>
              <a:ext cx="114300" cy="1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121" name="Rectangle 121"/>
            <p:cNvSpPr/>
            <p:nvPr/>
          </p:nvSpPr>
          <p:spPr>
            <a:xfrm>
              <a:off x="10191750" y="2781300"/>
              <a:ext cx="666750" cy="857250"/>
            </a:xfrm>
            <a:prstGeom prst="roundRect">
              <a:avLst>
                <a:gd name="adj" fmla="val 22857"/>
              </a:avLst>
            </a:prstGeom>
            <a:solidFill>
              <a:srgbClr val="FFFFFF"/>
            </a:solidFill>
            <a:ln w="9525">
              <a:solidFill>
                <a:schemeClr val="accent3"/>
              </a:solidFill>
            </a:ln>
          </p:spPr>
        </p:sp>
        <p:sp>
          <p:nvSpPr>
            <p:cNvPr id="122" name="TextBox 122"/>
            <p:cNvSpPr txBox="1"/>
            <p:nvPr/>
          </p:nvSpPr>
          <p:spPr>
            <a:xfrm>
              <a:off x="10407373" y="2892742"/>
              <a:ext cx="2355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S5</a:t>
              </a:r>
            </a:p>
          </p:txBody>
        </p:sp>
        <p:sp>
          <p:nvSpPr>
            <p:cNvPr id="123" name="TextBox 123"/>
            <p:cNvSpPr txBox="1"/>
            <p:nvPr/>
          </p:nvSpPr>
          <p:spPr>
            <a:xfrm>
              <a:off x="10265931" y="3169920"/>
              <a:ext cx="5183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装备差距</a:t>
              </a:r>
            </a:p>
          </p:txBody>
        </p:sp>
        <p:sp>
          <p:nvSpPr>
            <p:cNvPr id="124" name="TextBox 124"/>
            <p:cNvSpPr txBox="1"/>
            <p:nvPr/>
          </p:nvSpPr>
          <p:spPr>
            <a:xfrm>
              <a:off x="10278046" y="336994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五档比较</a:t>
              </a:r>
            </a:p>
          </p:txBody>
        </p:sp>
        <p:sp>
          <p:nvSpPr>
            <p:cNvPr id="125" name="Line 125"/>
            <p:cNvSpPr/>
            <p:nvPr/>
          </p:nvSpPr>
          <p:spPr>
            <a:xfrm>
              <a:off x="10858500" y="3209925"/>
              <a:ext cx="114300" cy="1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126" name="Rectangle 126"/>
            <p:cNvSpPr/>
            <p:nvPr/>
          </p:nvSpPr>
          <p:spPr>
            <a:xfrm>
              <a:off x="11049000" y="2781300"/>
              <a:ext cx="552450" cy="857250"/>
            </a:xfrm>
            <a:prstGeom prst="roundRect">
              <a:avLst>
                <a:gd name="adj" fmla="val 27586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7" name="TextBox 127"/>
            <p:cNvSpPr txBox="1"/>
            <p:nvPr/>
          </p:nvSpPr>
          <p:spPr>
            <a:xfrm>
              <a:off x="11207473" y="2892742"/>
              <a:ext cx="2355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S6</a:t>
              </a:r>
            </a:p>
          </p:txBody>
        </p:sp>
        <p:sp>
          <p:nvSpPr>
            <p:cNvPr id="128" name="TextBox 128"/>
            <p:cNvSpPr txBox="1"/>
            <p:nvPr/>
          </p:nvSpPr>
          <p:spPr>
            <a:xfrm>
              <a:off x="11193247" y="3169920"/>
              <a:ext cx="2639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能力</a:t>
              </a:r>
            </a:p>
          </p:txBody>
        </p:sp>
        <p:sp>
          <p:nvSpPr>
            <p:cNvPr id="129" name="TextBox 129"/>
            <p:cNvSpPr txBox="1"/>
            <p:nvPr/>
          </p:nvSpPr>
          <p:spPr>
            <a:xfrm>
              <a:off x="11193247" y="3341370"/>
              <a:ext cx="2639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画像</a:t>
              </a:r>
            </a:p>
          </p:txBody>
        </p:sp>
      </p:grpSp>
      <p:grpSp>
        <p:nvGrpSpPr>
          <p:cNvPr id="184" name="Group 184"/>
          <p:cNvGrpSpPr/>
          <p:nvPr/>
        </p:nvGrpSpPr>
        <p:grpSpPr>
          <a:xfrm>
            <a:off x="457200" y="3657600"/>
            <a:ext cx="11277600" cy="1600200"/>
            <a:chOff x="457200" y="3657600"/>
            <a:chExt cx="11277600" cy="1600200"/>
          </a:xfrm>
        </p:grpSpPr>
        <p:sp>
          <p:nvSpPr>
            <p:cNvPr id="131" name="Rectangle 131"/>
            <p:cNvSpPr/>
            <p:nvPr/>
          </p:nvSpPr>
          <p:spPr>
            <a:xfrm>
              <a:off x="457200" y="4000500"/>
              <a:ext cx="11277600" cy="1104900"/>
            </a:xfrm>
            <a:prstGeom prst="roundRect">
              <a:avLst>
                <a:gd name="adj" fmla="val 17241"/>
              </a:avLst>
            </a:prstGeom>
            <a:solidFill>
              <a:srgbClr val="F2EEFA"/>
            </a:solidFill>
            <a:ln w="9525">
              <a:solidFill>
                <a:srgbClr val="D8CCE9"/>
              </a:solidFill>
            </a:ln>
          </p:spPr>
        </p:sp>
        <p:sp>
          <p:nvSpPr>
            <p:cNvPr id="132" name="Rectangle 132"/>
            <p:cNvSpPr/>
            <p:nvPr/>
          </p:nvSpPr>
          <p:spPr>
            <a:xfrm>
              <a:off x="590550" y="4133850"/>
              <a:ext cx="1562100" cy="838200"/>
            </a:xfrm>
            <a:prstGeom prst="roundRect">
              <a:avLst>
                <a:gd name="adj" fmla="val 20455"/>
              </a:avLst>
            </a:prstGeom>
            <a:solidFill>
              <a:srgbClr val="7658B5"/>
            </a:solidFill>
            <a:ln>
              <a:noFill/>
            </a:ln>
          </p:spPr>
        </p:sp>
        <p:grpSp>
          <p:nvGrpSpPr>
            <p:cNvPr id="135" name="Group 135"/>
            <p:cNvGrpSpPr/>
            <p:nvPr/>
          </p:nvGrpSpPr>
          <p:grpSpPr>
            <a:xfrm>
              <a:off x="763911" y="4352925"/>
              <a:ext cx="248008" cy="228599"/>
              <a:chOff x="763911" y="4352925"/>
              <a:chExt cx="248008" cy="228599"/>
            </a:xfrm>
          </p:grpSpPr>
          <p:sp>
            <p:nvSpPr>
              <p:cNvPr id="133" name="Freeform 133"/>
              <p:cNvSpPr/>
              <p:nvPr/>
            </p:nvSpPr>
            <p:spPr>
              <a:xfrm>
                <a:off x="763911" y="4352925"/>
                <a:ext cx="248008" cy="226644"/>
              </a:xfrm>
              <a:custGeom>
                <a:avLst/>
                <a:gdLst/>
                <a:ahLst/>
                <a:cxnLst/>
                <a:rect l="l" t="t" r="r" b="b"/>
                <a:pathLst>
                  <a:path w="248008" h="226644">
                    <a:moveTo>
                      <a:pt x="124581" y="226644"/>
                    </a:moveTo>
                    <a:cubicBezTo>
                      <a:pt x="45021" y="201982"/>
                      <a:pt x="0" y="118013"/>
                      <a:pt x="23489" y="38100"/>
                    </a:cubicBezTo>
                    <a:cubicBezTo>
                      <a:pt x="63056" y="39910"/>
                      <a:pt x="101774" y="26245"/>
                      <a:pt x="131439" y="0"/>
                    </a:cubicBezTo>
                    <a:cubicBezTo>
                      <a:pt x="161104" y="26245"/>
                      <a:pt x="199822" y="39910"/>
                      <a:pt x="239389" y="38100"/>
                    </a:cubicBezTo>
                    <a:cubicBezTo>
                      <a:pt x="248008" y="67426"/>
                      <a:pt x="247610" y="98665"/>
                      <a:pt x="238246" y="127762"/>
                    </a:cubicBez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  <p:sp>
            <p:nvSpPr>
              <p:cNvPr id="134" name="Freeform 134"/>
              <p:cNvSpPr/>
              <p:nvPr/>
            </p:nvSpPr>
            <p:spPr>
              <a:xfrm>
                <a:off x="933450" y="4530724"/>
                <a:ext cx="762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0800">
                    <a:moveTo>
                      <a:pt x="0" y="25400"/>
                    </a:moveTo>
                    <a:lnTo>
                      <a:pt x="25400" y="50800"/>
                    </a:lnTo>
                    <a:lnTo>
                      <a:pt x="76200" y="0"/>
                    </a:ln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</p:grpSp>
        <p:sp>
          <p:nvSpPr>
            <p:cNvPr id="136" name="TextBox 136"/>
            <p:cNvSpPr txBox="1"/>
            <p:nvPr/>
          </p:nvSpPr>
          <p:spPr>
            <a:xfrm>
              <a:off x="1137285" y="4260056"/>
              <a:ext cx="9375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③ 证据与质量</a:t>
              </a:r>
            </a:p>
          </p:txBody>
        </p:sp>
        <p:sp>
          <p:nvSpPr>
            <p:cNvPr id="137" name="TextBox 137"/>
            <p:cNvSpPr txBox="1"/>
            <p:nvPr/>
          </p:nvSpPr>
          <p:spPr>
            <a:xfrm>
              <a:off x="1137285" y="4488656"/>
              <a:ext cx="486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治理层</a:t>
              </a:r>
            </a:p>
          </p:txBody>
        </p:sp>
        <p:sp>
          <p:nvSpPr>
            <p:cNvPr id="138" name="TextBox 138"/>
            <p:cNvSpPr txBox="1"/>
            <p:nvPr/>
          </p:nvSpPr>
          <p:spPr>
            <a:xfrm>
              <a:off x="738188" y="4741545"/>
              <a:ext cx="10151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EFE7F8"/>
                  </a:solidFill>
                  <a:latin typeface="+mn-lt"/>
                  <a:ea typeface="+mn-ea"/>
                  <a:cs typeface="+mn-cs"/>
                </a:rPr>
                <a:t>补证 · 回溯 · 审计</a:t>
              </a:r>
            </a:p>
          </p:txBody>
        </p:sp>
        <p:sp>
          <p:nvSpPr>
            <p:cNvPr id="139" name="Rectangle 139"/>
            <p:cNvSpPr/>
            <p:nvPr/>
          </p:nvSpPr>
          <p:spPr>
            <a:xfrm>
              <a:off x="2362200" y="4267200"/>
              <a:ext cx="876300" cy="552450"/>
            </a:xfrm>
            <a:prstGeom prst="roundRect">
              <a:avLst>
                <a:gd name="adj" fmla="val 24138"/>
              </a:avLst>
            </a:prstGeom>
            <a:solidFill>
              <a:srgbClr val="FFFFFF"/>
            </a:solidFill>
            <a:ln w="9525">
              <a:solidFill>
                <a:srgbClr val="7658B5"/>
              </a:solidFill>
            </a:ln>
          </p:spPr>
        </p:sp>
        <p:grpSp>
          <p:nvGrpSpPr>
            <p:cNvPr id="142" name="Group 142"/>
            <p:cNvGrpSpPr/>
            <p:nvPr/>
          </p:nvGrpSpPr>
          <p:grpSpPr>
            <a:xfrm>
              <a:off x="2507456" y="4431506"/>
              <a:ext cx="185737" cy="185737"/>
              <a:chOff x="2507456" y="4431506"/>
              <a:chExt cx="185737" cy="185737"/>
            </a:xfrm>
          </p:grpSpPr>
          <p:sp>
            <p:nvSpPr>
              <p:cNvPr id="140" name="Freeform 140"/>
              <p:cNvSpPr/>
              <p:nvPr/>
            </p:nvSpPr>
            <p:spPr>
              <a:xfrm>
                <a:off x="2507456" y="4431506"/>
                <a:ext cx="144462" cy="144462"/>
              </a:xfrm>
              <a:custGeom>
                <a:avLst/>
                <a:gdLst/>
                <a:ahLst/>
                <a:cxnLst/>
                <a:rect l="l" t="t" r="r" b="b"/>
                <a:pathLst>
                  <a:path w="144462" h="144462">
                    <a:moveTo>
                      <a:pt x="0" y="72231"/>
                    </a:moveTo>
                    <a:cubicBezTo>
                      <a:pt x="0" y="112123"/>
                      <a:pt x="32339" y="144462"/>
                      <a:pt x="72231" y="144462"/>
                    </a:cubicBezTo>
                    <a:cubicBezTo>
                      <a:pt x="112123" y="144462"/>
                      <a:pt x="144462" y="112123"/>
                      <a:pt x="144462" y="72231"/>
                    </a:cubicBezTo>
                    <a:cubicBezTo>
                      <a:pt x="144462" y="32339"/>
                      <a:pt x="112123" y="0"/>
                      <a:pt x="72231" y="0"/>
                    </a:cubicBezTo>
                    <a:cubicBezTo>
                      <a:pt x="32339" y="0"/>
                      <a:pt x="0" y="32339"/>
                      <a:pt x="0" y="72231"/>
                    </a:cubicBezTo>
                  </a:path>
                </a:pathLst>
              </a:custGeom>
              <a:noFill/>
              <a:ln w="20637">
                <a:solidFill>
                  <a:srgbClr val="7658B5"/>
                </a:solidFill>
              </a:ln>
            </p:spPr>
          </p:sp>
          <p:sp>
            <p:nvSpPr>
              <p:cNvPr id="141" name="Freeform 141"/>
              <p:cNvSpPr/>
              <p:nvPr/>
            </p:nvSpPr>
            <p:spPr>
              <a:xfrm>
                <a:off x="2631281" y="4555331"/>
                <a:ext cx="61912" cy="61912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61912">
                    <a:moveTo>
                      <a:pt x="61912" y="61912"/>
                    </a:moveTo>
                    <a:lnTo>
                      <a:pt x="0" y="0"/>
                    </a:lnTo>
                  </a:path>
                </a:pathLst>
              </a:custGeom>
              <a:noFill/>
              <a:ln w="20637">
                <a:solidFill>
                  <a:srgbClr val="7658B5"/>
                </a:solidFill>
              </a:ln>
            </p:spPr>
          </p:sp>
        </p:grpSp>
        <p:sp>
          <p:nvSpPr>
            <p:cNvPr id="143" name="TextBox 143"/>
            <p:cNvSpPr txBox="1"/>
            <p:nvPr/>
          </p:nvSpPr>
          <p:spPr>
            <a:xfrm>
              <a:off x="2795397" y="4485799"/>
              <a:ext cx="2869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2378C"/>
                  </a:solidFill>
                  <a:latin typeface="+mn-lt"/>
                  <a:ea typeface="+mn-ea"/>
                  <a:cs typeface="+mn-cs"/>
                </a:rPr>
                <a:t>检索</a:t>
              </a:r>
            </a:p>
          </p:txBody>
        </p:sp>
        <p:sp>
          <p:nvSpPr>
            <p:cNvPr id="144" name="Line 144"/>
            <p:cNvSpPr/>
            <p:nvPr/>
          </p:nvSpPr>
          <p:spPr>
            <a:xfrm>
              <a:off x="3238500" y="4543425"/>
              <a:ext cx="171450" cy="1"/>
            </a:xfrm>
            <a:prstGeom prst="line">
              <a:avLst/>
            </a:prstGeom>
            <a:noFill/>
            <a:ln w="19050">
              <a:solidFill>
                <a:srgbClr val="7658B5"/>
              </a:solidFill>
              <a:tailEnd type="triangle" w="lg" len="lg"/>
            </a:ln>
          </p:spPr>
        </p:sp>
        <p:sp>
          <p:nvSpPr>
            <p:cNvPr id="145" name="Rectangle 145"/>
            <p:cNvSpPr/>
            <p:nvPr/>
          </p:nvSpPr>
          <p:spPr>
            <a:xfrm>
              <a:off x="3486150" y="4267200"/>
              <a:ext cx="990600" cy="552450"/>
            </a:xfrm>
            <a:prstGeom prst="roundRect">
              <a:avLst>
                <a:gd name="adj" fmla="val 24138"/>
              </a:avLst>
            </a:prstGeom>
            <a:solidFill>
              <a:srgbClr val="FFFFFF"/>
            </a:solidFill>
            <a:ln w="9525">
              <a:solidFill>
                <a:srgbClr val="7658B5"/>
              </a:solidFill>
            </a:ln>
          </p:spPr>
        </p:sp>
        <p:grpSp>
          <p:nvGrpSpPr>
            <p:cNvPr id="149" name="Group 149"/>
            <p:cNvGrpSpPr/>
            <p:nvPr/>
          </p:nvGrpSpPr>
          <p:grpSpPr>
            <a:xfrm>
              <a:off x="3641725" y="4431506"/>
              <a:ext cx="165099" cy="185737"/>
              <a:chOff x="3641725" y="4431506"/>
              <a:chExt cx="165099" cy="185737"/>
            </a:xfrm>
          </p:grpSpPr>
          <p:sp>
            <p:nvSpPr>
              <p:cNvPr id="146" name="Freeform 146"/>
              <p:cNvSpPr/>
              <p:nvPr/>
            </p:nvSpPr>
            <p:spPr>
              <a:xfrm>
                <a:off x="3641725" y="4431506"/>
                <a:ext cx="165099" cy="61912"/>
              </a:xfrm>
              <a:custGeom>
                <a:avLst/>
                <a:gdLst/>
                <a:ahLst/>
                <a:cxnLst/>
                <a:rect l="l" t="t" r="r" b="b"/>
                <a:pathLst>
                  <a:path w="165099" h="61912">
                    <a:moveTo>
                      <a:pt x="0" y="30956"/>
                    </a:moveTo>
                    <a:cubicBezTo>
                      <a:pt x="0" y="48053"/>
                      <a:pt x="36959" y="61912"/>
                      <a:pt x="82550" y="61912"/>
                    </a:cubicBezTo>
                    <a:cubicBezTo>
                      <a:pt x="128141" y="61912"/>
                      <a:pt x="165099" y="48053"/>
                      <a:pt x="165099" y="30956"/>
                    </a:cubicBezTo>
                    <a:cubicBezTo>
                      <a:pt x="165099" y="13860"/>
                      <a:pt x="128141" y="0"/>
                      <a:pt x="82550" y="0"/>
                    </a:cubicBezTo>
                    <a:cubicBezTo>
                      <a:pt x="36959" y="0"/>
                      <a:pt x="0" y="13860"/>
                      <a:pt x="0" y="30956"/>
                    </a:cubicBezTo>
                  </a:path>
                </a:pathLst>
              </a:custGeom>
              <a:noFill/>
              <a:ln w="20637">
                <a:solidFill>
                  <a:srgbClr val="7658B5"/>
                </a:solidFill>
              </a:ln>
            </p:spPr>
          </p:sp>
          <p:sp>
            <p:nvSpPr>
              <p:cNvPr id="147" name="Freeform 147"/>
              <p:cNvSpPr/>
              <p:nvPr/>
            </p:nvSpPr>
            <p:spPr>
              <a:xfrm>
                <a:off x="3641725" y="4462462"/>
                <a:ext cx="165099" cy="92868"/>
              </a:xfrm>
              <a:custGeom>
                <a:avLst/>
                <a:gdLst/>
                <a:ahLst/>
                <a:cxnLst/>
                <a:rect l="l" t="t" r="r" b="b"/>
                <a:pathLst>
                  <a:path w="165099" h="92868">
                    <a:moveTo>
                      <a:pt x="0" y="0"/>
                    </a:moveTo>
                    <a:lnTo>
                      <a:pt x="0" y="61912"/>
                    </a:lnTo>
                    <a:cubicBezTo>
                      <a:pt x="0" y="79009"/>
                      <a:pt x="36959" y="92868"/>
                      <a:pt x="82550" y="92868"/>
                    </a:cubicBezTo>
                    <a:cubicBezTo>
                      <a:pt x="128141" y="92868"/>
                      <a:pt x="165099" y="79009"/>
                      <a:pt x="165099" y="61912"/>
                    </a:cubicBezTo>
                    <a:lnTo>
                      <a:pt x="165099" y="0"/>
                    </a:lnTo>
                  </a:path>
                </a:pathLst>
              </a:custGeom>
              <a:noFill/>
              <a:ln w="20637">
                <a:solidFill>
                  <a:srgbClr val="7658B5"/>
                </a:solidFill>
              </a:ln>
            </p:spPr>
          </p:sp>
          <p:sp>
            <p:nvSpPr>
              <p:cNvPr id="148" name="Freeform 148"/>
              <p:cNvSpPr/>
              <p:nvPr/>
            </p:nvSpPr>
            <p:spPr>
              <a:xfrm>
                <a:off x="3641725" y="4524375"/>
                <a:ext cx="165099" cy="92868"/>
              </a:xfrm>
              <a:custGeom>
                <a:avLst/>
                <a:gdLst/>
                <a:ahLst/>
                <a:cxnLst/>
                <a:rect l="l" t="t" r="r" b="b"/>
                <a:pathLst>
                  <a:path w="165099" h="92868">
                    <a:moveTo>
                      <a:pt x="0" y="0"/>
                    </a:moveTo>
                    <a:lnTo>
                      <a:pt x="0" y="61912"/>
                    </a:lnTo>
                    <a:cubicBezTo>
                      <a:pt x="0" y="79009"/>
                      <a:pt x="36959" y="92868"/>
                      <a:pt x="82550" y="92868"/>
                    </a:cubicBezTo>
                    <a:cubicBezTo>
                      <a:pt x="128141" y="92868"/>
                      <a:pt x="165099" y="79009"/>
                      <a:pt x="165099" y="61912"/>
                    </a:cubicBezTo>
                    <a:lnTo>
                      <a:pt x="165099" y="0"/>
                    </a:lnTo>
                  </a:path>
                </a:pathLst>
              </a:custGeom>
              <a:noFill/>
              <a:ln w="20637">
                <a:solidFill>
                  <a:srgbClr val="7658B5"/>
                </a:solidFill>
              </a:ln>
            </p:spPr>
          </p:sp>
        </p:grpSp>
        <p:sp>
          <p:nvSpPr>
            <p:cNvPr id="150" name="TextBox 150"/>
            <p:cNvSpPr txBox="1"/>
            <p:nvPr/>
          </p:nvSpPr>
          <p:spPr>
            <a:xfrm>
              <a:off x="3919347" y="4485799"/>
              <a:ext cx="42547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2378C"/>
                  </a:solidFill>
                  <a:latin typeface="+mn-lt"/>
                  <a:ea typeface="+mn-ea"/>
                  <a:cs typeface="+mn-cs"/>
                </a:rPr>
                <a:t>材料化</a:t>
              </a:r>
            </a:p>
          </p:txBody>
        </p:sp>
        <p:sp>
          <p:nvSpPr>
            <p:cNvPr id="151" name="Line 151"/>
            <p:cNvSpPr/>
            <p:nvPr/>
          </p:nvSpPr>
          <p:spPr>
            <a:xfrm>
              <a:off x="4476750" y="4543425"/>
              <a:ext cx="171450" cy="1"/>
            </a:xfrm>
            <a:prstGeom prst="line">
              <a:avLst/>
            </a:prstGeom>
            <a:noFill/>
            <a:ln w="19050">
              <a:solidFill>
                <a:srgbClr val="7658B5"/>
              </a:solidFill>
              <a:tailEnd type="triangle" w="lg" len="lg"/>
            </a:ln>
          </p:spPr>
        </p:sp>
        <p:sp>
          <p:nvSpPr>
            <p:cNvPr id="152" name="Rectangle 152"/>
            <p:cNvSpPr/>
            <p:nvPr/>
          </p:nvSpPr>
          <p:spPr>
            <a:xfrm>
              <a:off x="4724400" y="4267200"/>
              <a:ext cx="990600" cy="552450"/>
            </a:xfrm>
            <a:prstGeom prst="roundRect">
              <a:avLst>
                <a:gd name="adj" fmla="val 24138"/>
              </a:avLst>
            </a:prstGeom>
            <a:solidFill>
              <a:srgbClr val="FFFFFF"/>
            </a:solidFill>
            <a:ln w="9525">
              <a:solidFill>
                <a:srgbClr val="7658B5"/>
              </a:solidFill>
            </a:ln>
          </p:spPr>
        </p:sp>
        <p:grpSp>
          <p:nvGrpSpPr>
            <p:cNvPr id="157" name="Group 157"/>
            <p:cNvGrpSpPr/>
            <p:nvPr/>
          </p:nvGrpSpPr>
          <p:grpSpPr>
            <a:xfrm>
              <a:off x="4890294" y="4441825"/>
              <a:ext cx="154780" cy="175418"/>
              <a:chOff x="4890294" y="4441825"/>
              <a:chExt cx="154780" cy="175418"/>
            </a:xfrm>
          </p:grpSpPr>
          <p:sp>
            <p:nvSpPr>
              <p:cNvPr id="153" name="Freeform 153"/>
              <p:cNvSpPr/>
              <p:nvPr/>
            </p:nvSpPr>
            <p:spPr>
              <a:xfrm>
                <a:off x="4890294" y="4441825"/>
                <a:ext cx="123825" cy="165099"/>
              </a:xfrm>
              <a:custGeom>
                <a:avLst/>
                <a:gdLst/>
                <a:ahLst/>
                <a:cxnLst/>
                <a:rect l="l" t="t" r="r" b="b"/>
                <a:pathLst>
                  <a:path w="123825" h="165099">
                    <a:moveTo>
                      <a:pt x="47621" y="165099"/>
                    </a:moveTo>
                    <a:lnTo>
                      <a:pt x="20637" y="165099"/>
                    </a:lnTo>
                    <a:cubicBezTo>
                      <a:pt x="9240" y="165099"/>
                      <a:pt x="0" y="155860"/>
                      <a:pt x="0" y="144462"/>
                    </a:cubicBezTo>
                    <a:lnTo>
                      <a:pt x="0" y="20637"/>
                    </a:lnTo>
                    <a:cubicBezTo>
                      <a:pt x="0" y="9240"/>
                      <a:pt x="9240" y="0"/>
                      <a:pt x="20637" y="0"/>
                    </a:cubicBezTo>
                    <a:lnTo>
                      <a:pt x="103187" y="0"/>
                    </a:lnTo>
                    <a:cubicBezTo>
                      <a:pt x="114585" y="0"/>
                      <a:pt x="123825" y="9240"/>
                      <a:pt x="123825" y="20637"/>
                    </a:cubicBezTo>
                    <a:lnTo>
                      <a:pt x="123825" y="103187"/>
                    </a:lnTo>
                  </a:path>
                </a:pathLst>
              </a:custGeom>
              <a:noFill/>
              <a:ln w="20637">
                <a:solidFill>
                  <a:srgbClr val="7658B5"/>
                </a:solidFill>
              </a:ln>
            </p:spPr>
          </p:sp>
          <p:sp>
            <p:nvSpPr>
              <p:cNvPr id="154" name="Freeform 154"/>
              <p:cNvSpPr/>
              <p:nvPr/>
            </p:nvSpPr>
            <p:spPr>
              <a:xfrm>
                <a:off x="4983162" y="4575968"/>
                <a:ext cx="619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41275">
                    <a:moveTo>
                      <a:pt x="0" y="20637"/>
                    </a:moveTo>
                    <a:lnTo>
                      <a:pt x="20637" y="41275"/>
                    </a:lnTo>
                    <a:lnTo>
                      <a:pt x="61912" y="0"/>
                    </a:lnTo>
                  </a:path>
                </a:pathLst>
              </a:custGeom>
              <a:noFill/>
              <a:ln w="20637">
                <a:solidFill>
                  <a:srgbClr val="7658B5"/>
                </a:solidFill>
              </a:ln>
            </p:spPr>
          </p:sp>
          <p:sp>
            <p:nvSpPr>
              <p:cNvPr id="155" name="Freeform 155"/>
              <p:cNvSpPr/>
              <p:nvPr/>
            </p:nvSpPr>
            <p:spPr>
              <a:xfrm>
                <a:off x="4931568" y="4483100"/>
                <a:ext cx="412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9525">
                    <a:moveTo>
                      <a:pt x="0" y="0"/>
                    </a:moveTo>
                    <a:lnTo>
                      <a:pt x="41275" y="0"/>
                    </a:lnTo>
                  </a:path>
                </a:pathLst>
              </a:custGeom>
              <a:noFill/>
              <a:ln w="20637">
                <a:solidFill>
                  <a:srgbClr val="7658B5"/>
                </a:solidFill>
              </a:ln>
            </p:spPr>
          </p:sp>
          <p:sp>
            <p:nvSpPr>
              <p:cNvPr id="156" name="Freeform 156"/>
              <p:cNvSpPr/>
              <p:nvPr/>
            </p:nvSpPr>
            <p:spPr>
              <a:xfrm>
                <a:off x="4931568" y="4524375"/>
                <a:ext cx="2063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0637" h="9525">
                    <a:moveTo>
                      <a:pt x="0" y="0"/>
                    </a:moveTo>
                    <a:lnTo>
                      <a:pt x="20637" y="0"/>
                    </a:lnTo>
                  </a:path>
                </a:pathLst>
              </a:custGeom>
              <a:noFill/>
              <a:ln w="20637">
                <a:solidFill>
                  <a:srgbClr val="7658B5"/>
                </a:solidFill>
              </a:ln>
            </p:spPr>
          </p:sp>
        </p:grpSp>
        <p:sp>
          <p:nvSpPr>
            <p:cNvPr id="158" name="TextBox 158"/>
            <p:cNvSpPr txBox="1"/>
            <p:nvPr/>
          </p:nvSpPr>
          <p:spPr>
            <a:xfrm>
              <a:off x="5157597" y="4485799"/>
              <a:ext cx="56400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2378C"/>
                  </a:solidFill>
                  <a:latin typeface="+mn-lt"/>
                  <a:ea typeface="+mn-ea"/>
                  <a:cs typeface="+mn-cs"/>
                </a:rPr>
                <a:t>证据评分</a:t>
              </a:r>
            </a:p>
          </p:txBody>
        </p:sp>
        <p:sp>
          <p:nvSpPr>
            <p:cNvPr id="159" name="Line 159"/>
            <p:cNvSpPr/>
            <p:nvPr/>
          </p:nvSpPr>
          <p:spPr>
            <a:xfrm>
              <a:off x="5715000" y="4543425"/>
              <a:ext cx="171450" cy="1"/>
            </a:xfrm>
            <a:prstGeom prst="line">
              <a:avLst/>
            </a:prstGeom>
            <a:noFill/>
            <a:ln w="19050">
              <a:solidFill>
                <a:srgbClr val="7658B5"/>
              </a:solidFill>
              <a:tailEnd type="triangle" w="lg" len="lg"/>
            </a:ln>
          </p:spPr>
        </p:sp>
        <p:sp>
          <p:nvSpPr>
            <p:cNvPr id="160" name="Ellipse 160"/>
            <p:cNvSpPr/>
            <p:nvPr/>
          </p:nvSpPr>
          <p:spPr>
            <a:xfrm>
              <a:off x="5886450" y="4314825"/>
              <a:ext cx="457200" cy="4572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7658B5"/>
              </a:solidFill>
            </a:ln>
          </p:spPr>
        </p:sp>
        <p:sp>
          <p:nvSpPr>
            <p:cNvPr id="161" name="TextBox 161"/>
            <p:cNvSpPr txBox="1"/>
            <p:nvPr/>
          </p:nvSpPr>
          <p:spPr>
            <a:xfrm>
              <a:off x="6023465" y="448722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2378C"/>
                  </a:solidFill>
                  <a:latin typeface="+mn-lt"/>
                  <a:ea typeface="+mn-ea"/>
                  <a:cs typeface="+mn-cs"/>
                </a:rPr>
                <a:t>L1</a:t>
              </a:r>
            </a:p>
          </p:txBody>
        </p:sp>
        <p:sp>
          <p:nvSpPr>
            <p:cNvPr id="162" name="Line 162"/>
            <p:cNvSpPr/>
            <p:nvPr/>
          </p:nvSpPr>
          <p:spPr>
            <a:xfrm>
              <a:off x="6343650" y="4543425"/>
              <a:ext cx="190500" cy="1"/>
            </a:xfrm>
            <a:prstGeom prst="line">
              <a:avLst/>
            </a:prstGeom>
            <a:noFill/>
            <a:ln w="19050">
              <a:solidFill>
                <a:srgbClr val="7658B5"/>
              </a:solidFill>
              <a:tailEnd type="triangle" w="lg" len="lg"/>
            </a:ln>
          </p:spPr>
        </p:sp>
        <p:sp>
          <p:nvSpPr>
            <p:cNvPr id="163" name="Ellipse 163"/>
            <p:cNvSpPr/>
            <p:nvPr/>
          </p:nvSpPr>
          <p:spPr>
            <a:xfrm>
              <a:off x="6534150" y="4314825"/>
              <a:ext cx="457200" cy="4572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7658B5"/>
              </a:solidFill>
            </a:ln>
          </p:spPr>
        </p:sp>
        <p:sp>
          <p:nvSpPr>
            <p:cNvPr id="164" name="TextBox 164"/>
            <p:cNvSpPr txBox="1"/>
            <p:nvPr/>
          </p:nvSpPr>
          <p:spPr>
            <a:xfrm>
              <a:off x="6671165" y="448722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2378C"/>
                  </a:solidFill>
                  <a:latin typeface="+mn-lt"/>
                  <a:ea typeface="+mn-ea"/>
                  <a:cs typeface="+mn-cs"/>
                </a:rPr>
                <a:t>L2</a:t>
              </a:r>
            </a:p>
          </p:txBody>
        </p:sp>
        <p:sp>
          <p:nvSpPr>
            <p:cNvPr id="165" name="Line 165"/>
            <p:cNvSpPr/>
            <p:nvPr/>
          </p:nvSpPr>
          <p:spPr>
            <a:xfrm>
              <a:off x="6991350" y="4543425"/>
              <a:ext cx="190500" cy="1"/>
            </a:xfrm>
            <a:prstGeom prst="line">
              <a:avLst/>
            </a:prstGeom>
            <a:noFill/>
            <a:ln w="19050">
              <a:solidFill>
                <a:srgbClr val="7658B5"/>
              </a:solidFill>
              <a:tailEnd type="triangle" w="lg" len="lg"/>
            </a:ln>
          </p:spPr>
        </p:sp>
        <p:sp>
          <p:nvSpPr>
            <p:cNvPr id="166" name="Ellipse 166"/>
            <p:cNvSpPr/>
            <p:nvPr/>
          </p:nvSpPr>
          <p:spPr>
            <a:xfrm>
              <a:off x="7181850" y="4314825"/>
              <a:ext cx="457200" cy="4572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7658B5"/>
              </a:solidFill>
            </a:ln>
          </p:spPr>
        </p:sp>
        <p:sp>
          <p:nvSpPr>
            <p:cNvPr id="167" name="TextBox 167"/>
            <p:cNvSpPr txBox="1"/>
            <p:nvPr/>
          </p:nvSpPr>
          <p:spPr>
            <a:xfrm>
              <a:off x="7318865" y="448722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2378C"/>
                  </a:solidFill>
                  <a:latin typeface="+mn-lt"/>
                  <a:ea typeface="+mn-ea"/>
                  <a:cs typeface="+mn-cs"/>
                </a:rPr>
                <a:t>L3</a:t>
              </a:r>
            </a:p>
          </p:txBody>
        </p:sp>
        <p:sp>
          <p:nvSpPr>
            <p:cNvPr id="168" name="Line 168"/>
            <p:cNvSpPr/>
            <p:nvPr/>
          </p:nvSpPr>
          <p:spPr>
            <a:xfrm>
              <a:off x="7639050" y="4543425"/>
              <a:ext cx="190500" cy="1"/>
            </a:xfrm>
            <a:prstGeom prst="line">
              <a:avLst/>
            </a:prstGeom>
            <a:noFill/>
            <a:ln w="19050">
              <a:solidFill>
                <a:srgbClr val="7658B5"/>
              </a:solidFill>
              <a:tailEnd type="triangle" w="lg" len="lg"/>
            </a:ln>
          </p:spPr>
        </p:sp>
        <p:sp>
          <p:nvSpPr>
            <p:cNvPr id="169" name="Ellipse 169"/>
            <p:cNvSpPr/>
            <p:nvPr/>
          </p:nvSpPr>
          <p:spPr>
            <a:xfrm>
              <a:off x="7829550" y="4314825"/>
              <a:ext cx="457200" cy="457200"/>
            </a:xfrm>
            <a:prstGeom prst="ellipse">
              <a:avLst/>
            </a:prstGeom>
            <a:solidFill>
              <a:srgbClr val="FFF3D8"/>
            </a:solidFill>
            <a:ln w="19050">
              <a:solidFill>
                <a:srgbClr val="C87919"/>
              </a:solidFill>
            </a:ln>
          </p:spPr>
        </p:sp>
        <p:sp>
          <p:nvSpPr>
            <p:cNvPr id="170" name="TextBox 170"/>
            <p:cNvSpPr txBox="1"/>
            <p:nvPr/>
          </p:nvSpPr>
          <p:spPr>
            <a:xfrm>
              <a:off x="7966565" y="448722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A46110"/>
                  </a:solidFill>
                  <a:latin typeface="+mn-lt"/>
                  <a:ea typeface="+mn-ea"/>
                  <a:cs typeface="+mn-cs"/>
                </a:rPr>
                <a:t>L4</a:t>
              </a:r>
            </a:p>
          </p:txBody>
        </p:sp>
        <p:sp>
          <p:nvSpPr>
            <p:cNvPr id="171" name="Line 171"/>
            <p:cNvSpPr/>
            <p:nvPr/>
          </p:nvSpPr>
          <p:spPr>
            <a:xfrm>
              <a:off x="8286750" y="4543425"/>
              <a:ext cx="238125" cy="1"/>
            </a:xfrm>
            <a:prstGeom prst="line">
              <a:avLst/>
            </a:prstGeom>
            <a:noFill/>
            <a:ln w="19050">
              <a:solidFill>
                <a:srgbClr val="7658B5"/>
              </a:solidFill>
              <a:tailEnd type="triangle" w="lg" len="lg"/>
            </a:ln>
          </p:spPr>
        </p:sp>
        <p:sp>
          <p:nvSpPr>
            <p:cNvPr id="172" name="Rectangle 172"/>
            <p:cNvSpPr/>
            <p:nvPr/>
          </p:nvSpPr>
          <p:spPr>
            <a:xfrm>
              <a:off x="8601075" y="4267200"/>
              <a:ext cx="1104900" cy="552450"/>
            </a:xfrm>
            <a:prstGeom prst="roundRect">
              <a:avLst>
                <a:gd name="adj" fmla="val 24138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grpSp>
          <p:nvGrpSpPr>
            <p:cNvPr id="175" name="Group 175"/>
            <p:cNvGrpSpPr/>
            <p:nvPr/>
          </p:nvGrpSpPr>
          <p:grpSpPr>
            <a:xfrm>
              <a:off x="8741931" y="4431506"/>
              <a:ext cx="201506" cy="185737"/>
              <a:chOff x="8741931" y="4431506"/>
              <a:chExt cx="201506" cy="185737"/>
            </a:xfrm>
          </p:grpSpPr>
          <p:sp>
            <p:nvSpPr>
              <p:cNvPr id="173" name="Freeform 173"/>
              <p:cNvSpPr/>
              <p:nvPr/>
            </p:nvSpPr>
            <p:spPr>
              <a:xfrm>
                <a:off x="8741931" y="4431506"/>
                <a:ext cx="201506" cy="184148"/>
              </a:xfrm>
              <a:custGeom>
                <a:avLst/>
                <a:gdLst/>
                <a:ahLst/>
                <a:cxnLst/>
                <a:rect l="l" t="t" r="r" b="b"/>
                <a:pathLst>
                  <a:path w="201506" h="184148">
                    <a:moveTo>
                      <a:pt x="101222" y="184148"/>
                    </a:moveTo>
                    <a:cubicBezTo>
                      <a:pt x="36580" y="164110"/>
                      <a:pt x="0" y="95886"/>
                      <a:pt x="19085" y="30956"/>
                    </a:cubicBezTo>
                    <a:cubicBezTo>
                      <a:pt x="51233" y="32427"/>
                      <a:pt x="82691" y="21324"/>
                      <a:pt x="106794" y="0"/>
                    </a:cubicBezTo>
                    <a:cubicBezTo>
                      <a:pt x="130897" y="21324"/>
                      <a:pt x="162355" y="32427"/>
                      <a:pt x="194503" y="30956"/>
                    </a:cubicBezTo>
                    <a:cubicBezTo>
                      <a:pt x="201506" y="54783"/>
                      <a:pt x="201183" y="80166"/>
                      <a:pt x="193575" y="103806"/>
                    </a:cubicBezTo>
                  </a:path>
                </a:pathLst>
              </a:custGeom>
              <a:noFill/>
              <a:ln w="20637">
                <a:solidFill>
                  <a:schemeClr val="accent6"/>
                </a:solidFill>
              </a:ln>
            </p:spPr>
          </p:sp>
          <p:sp>
            <p:nvSpPr>
              <p:cNvPr id="174" name="Freeform 174"/>
              <p:cNvSpPr/>
              <p:nvPr/>
            </p:nvSpPr>
            <p:spPr>
              <a:xfrm>
                <a:off x="8879681" y="4575968"/>
                <a:ext cx="619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41275">
                    <a:moveTo>
                      <a:pt x="0" y="20637"/>
                    </a:moveTo>
                    <a:lnTo>
                      <a:pt x="20637" y="41275"/>
                    </a:lnTo>
                    <a:lnTo>
                      <a:pt x="61912" y="0"/>
                    </a:lnTo>
                  </a:path>
                </a:pathLst>
              </a:custGeom>
              <a:noFill/>
              <a:ln w="20637">
                <a:solidFill>
                  <a:schemeClr val="accent6"/>
                </a:solidFill>
              </a:ln>
            </p:spPr>
          </p:sp>
        </p:grpSp>
        <p:sp>
          <p:nvSpPr>
            <p:cNvPr id="176" name="TextBox 176"/>
            <p:cNvSpPr txBox="1"/>
            <p:nvPr/>
          </p:nvSpPr>
          <p:spPr>
            <a:xfrm>
              <a:off x="9053322" y="4485799"/>
              <a:ext cx="56400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独立审计</a:t>
              </a:r>
            </a:p>
          </p:txBody>
        </p:sp>
        <p:sp>
          <p:nvSpPr>
            <p:cNvPr id="177" name="Line 177"/>
            <p:cNvSpPr/>
            <p:nvPr/>
          </p:nvSpPr>
          <p:spPr>
            <a:xfrm>
              <a:off x="9705975" y="4543425"/>
              <a:ext cx="190500" cy="1"/>
            </a:xfrm>
            <a:prstGeom prst="line">
              <a:avLst/>
            </a:prstGeom>
            <a:noFill/>
            <a:ln w="19050">
              <a:solidFill>
                <a:schemeClr val="accent6"/>
              </a:solidFill>
              <a:tailEnd type="triangle" w="lg" len="lg"/>
            </a:ln>
          </p:spPr>
        </p:sp>
        <p:sp>
          <p:nvSpPr>
            <p:cNvPr id="178" name="Rectangle 178"/>
            <p:cNvSpPr/>
            <p:nvPr/>
          </p:nvSpPr>
          <p:spPr>
            <a:xfrm>
              <a:off x="9972675" y="4267200"/>
              <a:ext cx="1571625" cy="552450"/>
            </a:xfrm>
            <a:prstGeom prst="roundRect">
              <a:avLst>
                <a:gd name="adj" fmla="val 24138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9" name="TextBox 179"/>
            <p:cNvSpPr txBox="1"/>
            <p:nvPr/>
          </p:nvSpPr>
          <p:spPr>
            <a:xfrm>
              <a:off x="10144243" y="4382452"/>
              <a:ext cx="12189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质量与交付 Agent</a:t>
              </a:r>
            </a:p>
          </p:txBody>
        </p:sp>
        <p:sp>
          <p:nvSpPr>
            <p:cNvPr id="180" name="TextBox 180"/>
            <p:cNvSpPr txBox="1"/>
            <p:nvPr/>
          </p:nvSpPr>
          <p:spPr>
            <a:xfrm>
              <a:off x="9930135" y="4598670"/>
              <a:ext cx="164718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门控结果 · Trace · Manifest</a:t>
              </a:r>
            </a:p>
          </p:txBody>
        </p:sp>
        <p:sp>
          <p:nvSpPr>
            <p:cNvPr id="181" name="Freeform 181"/>
            <p:cNvSpPr/>
            <p:nvPr/>
          </p:nvSpPr>
          <p:spPr>
            <a:xfrm>
              <a:off x="4953000" y="3657600"/>
              <a:ext cx="3105150" cy="1600200"/>
            </a:xfrm>
            <a:custGeom>
              <a:avLst/>
              <a:gdLst/>
              <a:ahLst/>
              <a:cxnLst/>
              <a:rect l="l" t="t" r="r" b="b"/>
              <a:pathLst>
                <a:path w="3105150" h="1600200">
                  <a:moveTo>
                    <a:pt x="3105150" y="1200150"/>
                  </a:moveTo>
                  <a:cubicBezTo>
                    <a:pt x="2857500" y="1562100"/>
                    <a:pt x="1466850" y="1600200"/>
                    <a:pt x="762000" y="1390650"/>
                  </a:cubicBezTo>
                  <a:cubicBezTo>
                    <a:pt x="266700" y="1238250"/>
                    <a:pt x="76200" y="400050"/>
                    <a:pt x="0" y="0"/>
                  </a:cubicBezTo>
                </a:path>
              </a:pathLst>
            </a:custGeom>
            <a:noFill/>
            <a:ln w="19050">
              <a:solidFill>
                <a:srgbClr val="C87919"/>
              </a:solidFill>
              <a:tailEnd type="triangle" w="lg" len="lg"/>
            </a:ln>
          </p:spPr>
        </p:sp>
        <p:sp>
          <p:nvSpPr>
            <p:cNvPr id="182" name="Rectangle 182"/>
            <p:cNvSpPr/>
            <p:nvPr/>
          </p:nvSpPr>
          <p:spPr>
            <a:xfrm>
              <a:off x="5486400" y="4914900"/>
              <a:ext cx="2743200" cy="228600"/>
            </a:xfrm>
            <a:prstGeom prst="roundRect">
              <a:avLst>
                <a:gd name="adj" fmla="val 50000"/>
              </a:avLst>
            </a:prstGeom>
            <a:solidFill>
              <a:srgbClr val="FFF3D8"/>
            </a:solidFill>
            <a:ln w="9525">
              <a:solidFill>
                <a:srgbClr val="C87919"/>
              </a:solidFill>
            </a:ln>
          </p:spPr>
        </p:sp>
        <p:sp>
          <p:nvSpPr>
            <p:cNvPr id="183" name="TextBox 183"/>
            <p:cNvSpPr txBox="1"/>
            <p:nvPr/>
          </p:nvSpPr>
          <p:spPr>
            <a:xfrm>
              <a:off x="5351178" y="4979670"/>
              <a:ext cx="301364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门控未通过：定向补证 / 回溯再调 / 返回指定 Agent</a:t>
              </a:r>
            </a:p>
          </p:txBody>
        </p:sp>
      </p:grpSp>
      <p:grpSp>
        <p:nvGrpSpPr>
          <p:cNvPr id="224" name="Group 224"/>
          <p:cNvGrpSpPr/>
          <p:nvPr/>
        </p:nvGrpSpPr>
        <p:grpSpPr>
          <a:xfrm>
            <a:off x="457200" y="5238750"/>
            <a:ext cx="11277600" cy="1104900"/>
            <a:chOff x="457200" y="5238750"/>
            <a:chExt cx="11277600" cy="1104900"/>
          </a:xfrm>
        </p:grpSpPr>
        <p:sp>
          <p:nvSpPr>
            <p:cNvPr id="185" name="Rectangle 185"/>
            <p:cNvSpPr/>
            <p:nvPr/>
          </p:nvSpPr>
          <p:spPr>
            <a:xfrm>
              <a:off x="457200" y="5238750"/>
              <a:ext cx="11277600" cy="1104900"/>
            </a:xfrm>
            <a:prstGeom prst="roundRect">
              <a:avLst>
                <a:gd name="adj" fmla="val 17241"/>
              </a:avLst>
            </a:prstGeom>
            <a:solidFill>
              <a:srgbClr val="FFF7E8"/>
            </a:solidFill>
            <a:ln w="9525">
              <a:solidFill>
                <a:srgbClr val="ECD6A9"/>
              </a:solidFill>
            </a:ln>
          </p:spPr>
        </p:sp>
        <p:sp>
          <p:nvSpPr>
            <p:cNvPr id="186" name="Rectangle 186"/>
            <p:cNvSpPr/>
            <p:nvPr/>
          </p:nvSpPr>
          <p:spPr>
            <a:xfrm>
              <a:off x="590550" y="5372100"/>
              <a:ext cx="1562100" cy="838200"/>
            </a:xfrm>
            <a:prstGeom prst="roundRect">
              <a:avLst>
                <a:gd name="adj" fmla="val 20455"/>
              </a:avLst>
            </a:prstGeom>
            <a:solidFill>
              <a:schemeClr val="accent2"/>
            </a:solidFill>
            <a:ln>
              <a:noFill/>
            </a:ln>
          </p:spPr>
        </p:sp>
        <p:grpSp>
          <p:nvGrpSpPr>
            <p:cNvPr id="189" name="Group 189"/>
            <p:cNvGrpSpPr/>
            <p:nvPr/>
          </p:nvGrpSpPr>
          <p:grpSpPr>
            <a:xfrm>
              <a:off x="793741" y="5603875"/>
              <a:ext cx="203209" cy="203200"/>
              <a:chOff x="793741" y="5603875"/>
              <a:chExt cx="203209" cy="203200"/>
            </a:xfrm>
          </p:grpSpPr>
          <p:sp>
            <p:nvSpPr>
              <p:cNvPr id="187" name="Freeform 187"/>
              <p:cNvSpPr/>
              <p:nvPr/>
            </p:nvSpPr>
            <p:spPr>
              <a:xfrm>
                <a:off x="844550" y="5654675"/>
                <a:ext cx="1524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52400">
                    <a:moveTo>
                      <a:pt x="139700" y="3404"/>
                    </a:moveTo>
                    <a:cubicBezTo>
                      <a:pt x="147558" y="7941"/>
                      <a:pt x="152399" y="16326"/>
                      <a:pt x="152400" y="25400"/>
                    </a:cubicBezTo>
                    <a:lnTo>
                      <a:pt x="152400" y="127000"/>
                    </a:lnTo>
                    <a:cubicBezTo>
                      <a:pt x="152400" y="141028"/>
                      <a:pt x="141028" y="152400"/>
                      <a:pt x="127000" y="152400"/>
                    </a:cubicBezTo>
                    <a:lnTo>
                      <a:pt x="25400" y="152400"/>
                    </a:lnTo>
                    <a:cubicBezTo>
                      <a:pt x="11372" y="152400"/>
                      <a:pt x="0" y="141028"/>
                      <a:pt x="0" y="127000"/>
                    </a:cubicBezTo>
                    <a:lnTo>
                      <a:pt x="0" y="25400"/>
                    </a:lnTo>
                    <a:cubicBezTo>
                      <a:pt x="0" y="11372"/>
                      <a:pt x="11372" y="0"/>
                      <a:pt x="25400" y="0"/>
                    </a:cubicBezTo>
                    <a:lnTo>
                      <a:pt x="63500" y="0"/>
                    </a:ln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  <p:sp>
            <p:nvSpPr>
              <p:cNvPr id="188" name="Freeform 188"/>
              <p:cNvSpPr/>
              <p:nvPr/>
            </p:nvSpPr>
            <p:spPr>
              <a:xfrm>
                <a:off x="793741" y="5603875"/>
                <a:ext cx="152408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52408" h="152400">
                    <a:moveTo>
                      <a:pt x="12709" y="149021"/>
                    </a:moveTo>
                    <a:cubicBezTo>
                      <a:pt x="4842" y="144480"/>
                      <a:pt x="0" y="136083"/>
                      <a:pt x="9" y="127000"/>
                    </a:cubicBezTo>
                    <a:lnTo>
                      <a:pt x="9" y="25400"/>
                    </a:lnTo>
                    <a:cubicBezTo>
                      <a:pt x="9" y="11372"/>
                      <a:pt x="11381" y="0"/>
                      <a:pt x="25409" y="0"/>
                    </a:cubicBezTo>
                    <a:lnTo>
                      <a:pt x="127009" y="0"/>
                    </a:lnTo>
                    <a:cubicBezTo>
                      <a:pt x="141037" y="0"/>
                      <a:pt x="152408" y="11372"/>
                      <a:pt x="152408" y="25400"/>
                    </a:cubicBezTo>
                    <a:lnTo>
                      <a:pt x="152408" y="127000"/>
                    </a:lnTo>
                    <a:cubicBezTo>
                      <a:pt x="152408" y="141028"/>
                      <a:pt x="141037" y="152400"/>
                      <a:pt x="127009" y="152400"/>
                    </a:cubicBezTo>
                    <a:lnTo>
                      <a:pt x="88909" y="152400"/>
                    </a:ln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</p:grpSp>
        <p:sp>
          <p:nvSpPr>
            <p:cNvPr id="190" name="TextBox 190"/>
            <p:cNvSpPr txBox="1"/>
            <p:nvPr/>
          </p:nvSpPr>
          <p:spPr>
            <a:xfrm>
              <a:off x="1137285" y="5498306"/>
              <a:ext cx="7792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④ 企业运行</a:t>
              </a:r>
            </a:p>
          </p:txBody>
        </p:sp>
        <p:sp>
          <p:nvSpPr>
            <p:cNvPr id="191" name="TextBox 191"/>
            <p:cNvSpPr txBox="1"/>
            <p:nvPr/>
          </p:nvSpPr>
          <p:spPr>
            <a:xfrm>
              <a:off x="1137285" y="5726906"/>
              <a:ext cx="9613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与成果交付层</a:t>
              </a:r>
            </a:p>
          </p:txBody>
        </p:sp>
        <p:sp>
          <p:nvSpPr>
            <p:cNvPr id="192" name="TextBox 192"/>
            <p:cNvSpPr txBox="1"/>
            <p:nvPr/>
          </p:nvSpPr>
          <p:spPr>
            <a:xfrm>
              <a:off x="738188" y="5979795"/>
              <a:ext cx="125745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FF6DF"/>
                  </a:solidFill>
                  <a:latin typeface="+mn-lt"/>
                  <a:ea typeface="+mn-ea"/>
                  <a:cs typeface="+mn-cs"/>
                </a:rPr>
                <a:t>运行 · 工作台 · 成果包</a:t>
              </a:r>
            </a:p>
          </p:txBody>
        </p:sp>
        <p:sp>
          <p:nvSpPr>
            <p:cNvPr id="193" name="Rectangle 193"/>
            <p:cNvSpPr/>
            <p:nvPr/>
          </p:nvSpPr>
          <p:spPr>
            <a:xfrm>
              <a:off x="2362200" y="5514975"/>
              <a:ext cx="781050" cy="552450"/>
            </a:xfrm>
            <a:prstGeom prst="roundRect">
              <a:avLst>
                <a:gd name="adj" fmla="val 24138"/>
              </a:avLst>
            </a:prstGeom>
            <a:solidFill>
              <a:srgbClr val="FFFFFF"/>
            </a:solidFill>
            <a:ln w="9525">
              <a:solidFill>
                <a:schemeClr val="accent2"/>
              </a:solidFill>
            </a:ln>
          </p:spPr>
        </p:sp>
        <p:sp>
          <p:nvSpPr>
            <p:cNvPr id="194" name="TextBox 194"/>
            <p:cNvSpPr txBox="1"/>
            <p:nvPr/>
          </p:nvSpPr>
          <p:spPr>
            <a:xfrm>
              <a:off x="2637617" y="5630228"/>
              <a:ext cx="2302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API</a:t>
              </a:r>
            </a:p>
          </p:txBody>
        </p:sp>
        <p:sp>
          <p:nvSpPr>
            <p:cNvPr id="195" name="TextBox 195"/>
            <p:cNvSpPr txBox="1"/>
            <p:nvPr/>
          </p:nvSpPr>
          <p:spPr>
            <a:xfrm>
              <a:off x="2505646" y="584644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E5A34"/>
                  </a:solidFill>
                  <a:latin typeface="+mn-lt"/>
                  <a:ea typeface="+mn-ea"/>
                  <a:cs typeface="+mn-cs"/>
                </a:rPr>
                <a:t>任务接口</a:t>
              </a:r>
            </a:p>
          </p:txBody>
        </p:sp>
        <p:sp>
          <p:nvSpPr>
            <p:cNvPr id="196" name="Line 196"/>
            <p:cNvSpPr/>
            <p:nvPr/>
          </p:nvSpPr>
          <p:spPr>
            <a:xfrm>
              <a:off x="3143250" y="5791200"/>
              <a:ext cx="133350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197" name="Rectangle 197"/>
            <p:cNvSpPr/>
            <p:nvPr/>
          </p:nvSpPr>
          <p:spPr>
            <a:xfrm>
              <a:off x="3352800" y="5514975"/>
              <a:ext cx="876300" cy="552450"/>
            </a:xfrm>
            <a:prstGeom prst="roundRect">
              <a:avLst>
                <a:gd name="adj" fmla="val 24138"/>
              </a:avLst>
            </a:prstGeom>
            <a:solidFill>
              <a:srgbClr val="FFFFFF"/>
            </a:solidFill>
            <a:ln w="9525">
              <a:solidFill>
                <a:schemeClr val="accent2"/>
              </a:solidFill>
            </a:ln>
          </p:spPr>
        </p:sp>
        <p:sp>
          <p:nvSpPr>
            <p:cNvPr id="198" name="TextBox 198"/>
            <p:cNvSpPr txBox="1"/>
            <p:nvPr/>
          </p:nvSpPr>
          <p:spPr>
            <a:xfrm>
              <a:off x="3564220" y="5630228"/>
              <a:ext cx="4534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Queue</a:t>
              </a:r>
            </a:p>
          </p:txBody>
        </p:sp>
        <p:sp>
          <p:nvSpPr>
            <p:cNvPr id="199" name="TextBox 199"/>
            <p:cNvSpPr txBox="1"/>
            <p:nvPr/>
          </p:nvSpPr>
          <p:spPr>
            <a:xfrm>
              <a:off x="3483292" y="5846445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E5A34"/>
                  </a:solidFill>
                  <a:latin typeface="+mn-lt"/>
                  <a:ea typeface="+mn-ea"/>
                  <a:cs typeface="+mn-cs"/>
                </a:rPr>
                <a:t>持久化队列</a:t>
              </a:r>
            </a:p>
          </p:txBody>
        </p:sp>
        <p:sp>
          <p:nvSpPr>
            <p:cNvPr id="200" name="Line 200"/>
            <p:cNvSpPr/>
            <p:nvPr/>
          </p:nvSpPr>
          <p:spPr>
            <a:xfrm>
              <a:off x="4229100" y="5791200"/>
              <a:ext cx="133350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201" name="Rectangle 201"/>
            <p:cNvSpPr/>
            <p:nvPr/>
          </p:nvSpPr>
          <p:spPr>
            <a:xfrm>
              <a:off x="4438650" y="5514975"/>
              <a:ext cx="876300" cy="552450"/>
            </a:xfrm>
            <a:prstGeom prst="roundRect">
              <a:avLst>
                <a:gd name="adj" fmla="val 24138"/>
              </a:avLst>
            </a:prstGeom>
            <a:solidFill>
              <a:srgbClr val="FFFFFF"/>
            </a:solidFill>
            <a:ln w="9525">
              <a:solidFill>
                <a:schemeClr val="accent2"/>
              </a:solidFill>
            </a:ln>
          </p:spPr>
        </p:sp>
        <p:sp>
          <p:nvSpPr>
            <p:cNvPr id="202" name="TextBox 202"/>
            <p:cNvSpPr txBox="1"/>
            <p:nvPr/>
          </p:nvSpPr>
          <p:spPr>
            <a:xfrm>
              <a:off x="4609283" y="5630228"/>
              <a:ext cx="5350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Worker</a:t>
              </a:r>
            </a:p>
          </p:txBody>
        </p:sp>
        <p:sp>
          <p:nvSpPr>
            <p:cNvPr id="203" name="TextBox 203"/>
            <p:cNvSpPr txBox="1"/>
            <p:nvPr/>
          </p:nvSpPr>
          <p:spPr>
            <a:xfrm>
              <a:off x="4569142" y="5846445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E5A34"/>
                  </a:solidFill>
                  <a:latin typeface="+mn-lt"/>
                  <a:ea typeface="+mn-ea"/>
                  <a:cs typeface="+mn-cs"/>
                </a:rPr>
                <a:t>跨进程执行</a:t>
              </a:r>
            </a:p>
          </p:txBody>
        </p:sp>
        <p:sp>
          <p:nvSpPr>
            <p:cNvPr id="204" name="Line 204"/>
            <p:cNvSpPr/>
            <p:nvPr/>
          </p:nvSpPr>
          <p:spPr>
            <a:xfrm>
              <a:off x="5314950" y="5791200"/>
              <a:ext cx="133350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205" name="Rectangle 205"/>
            <p:cNvSpPr/>
            <p:nvPr/>
          </p:nvSpPr>
          <p:spPr>
            <a:xfrm>
              <a:off x="5524500" y="5514975"/>
              <a:ext cx="1143000" cy="552450"/>
            </a:xfrm>
            <a:prstGeom prst="roundRect">
              <a:avLst>
                <a:gd name="adj" fmla="val 24138"/>
              </a:avLst>
            </a:prstGeom>
            <a:solidFill>
              <a:srgbClr val="FFFFFF"/>
            </a:solidFill>
            <a:ln w="9525">
              <a:solidFill>
                <a:schemeClr val="accent2"/>
              </a:solidFill>
            </a:ln>
          </p:spPr>
        </p:sp>
        <p:sp>
          <p:nvSpPr>
            <p:cNvPr id="206" name="TextBox 206"/>
            <p:cNvSpPr txBox="1"/>
            <p:nvPr/>
          </p:nvSpPr>
          <p:spPr>
            <a:xfrm>
              <a:off x="5667268" y="5638324"/>
              <a:ext cx="85746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React 工作台</a:t>
              </a:r>
            </a:p>
          </p:txBody>
        </p:sp>
        <p:sp>
          <p:nvSpPr>
            <p:cNvPr id="207" name="TextBox 207"/>
            <p:cNvSpPr txBox="1"/>
            <p:nvPr/>
          </p:nvSpPr>
          <p:spPr>
            <a:xfrm>
              <a:off x="5588432" y="5846445"/>
              <a:ext cx="10151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E5A34"/>
                  </a:solidFill>
                  <a:latin typeface="+mn-lt"/>
                  <a:ea typeface="+mn-ea"/>
                  <a:cs typeface="+mn-cs"/>
                </a:rPr>
                <a:t>任务 / 交互 / 评审</a:t>
              </a:r>
            </a:p>
          </p:txBody>
        </p:sp>
        <p:sp>
          <p:nvSpPr>
            <p:cNvPr id="208" name="Line 208"/>
            <p:cNvSpPr/>
            <p:nvPr/>
          </p:nvSpPr>
          <p:spPr>
            <a:xfrm>
              <a:off x="6667500" y="5791200"/>
              <a:ext cx="133350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209" name="Rectangle 209"/>
            <p:cNvSpPr/>
            <p:nvPr/>
          </p:nvSpPr>
          <p:spPr>
            <a:xfrm>
              <a:off x="6877050" y="5514975"/>
              <a:ext cx="876300" cy="552450"/>
            </a:xfrm>
            <a:prstGeom prst="roundRect">
              <a:avLst>
                <a:gd name="adj" fmla="val 24138"/>
              </a:avLst>
            </a:prstGeom>
            <a:solidFill>
              <a:srgbClr val="FFFFFF"/>
            </a:solidFill>
            <a:ln w="9525">
              <a:solidFill>
                <a:schemeClr val="accent2"/>
              </a:solidFill>
            </a:ln>
          </p:spPr>
        </p:sp>
        <p:sp>
          <p:nvSpPr>
            <p:cNvPr id="210" name="TextBox 210"/>
            <p:cNvSpPr txBox="1"/>
            <p:nvPr/>
          </p:nvSpPr>
          <p:spPr>
            <a:xfrm>
              <a:off x="7171723" y="5638324"/>
              <a:ext cx="2869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报告</a:t>
              </a:r>
            </a:p>
          </p:txBody>
        </p:sp>
        <p:sp>
          <p:nvSpPr>
            <p:cNvPr id="211" name="TextBox 211"/>
            <p:cNvSpPr txBox="1"/>
            <p:nvPr/>
          </p:nvSpPr>
          <p:spPr>
            <a:xfrm>
              <a:off x="7068121" y="584644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E5A34"/>
                  </a:solidFill>
                  <a:latin typeface="+mn-lt"/>
                  <a:ea typeface="+mn-ea"/>
                  <a:cs typeface="+mn-cs"/>
                </a:rPr>
                <a:t>深度研究</a:t>
              </a:r>
            </a:p>
          </p:txBody>
        </p:sp>
        <p:sp>
          <p:nvSpPr>
            <p:cNvPr id="212" name="Line 212"/>
            <p:cNvSpPr/>
            <p:nvPr/>
          </p:nvSpPr>
          <p:spPr>
            <a:xfrm>
              <a:off x="7753350" y="5791200"/>
              <a:ext cx="133350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213" name="Rectangle 213"/>
            <p:cNvSpPr/>
            <p:nvPr/>
          </p:nvSpPr>
          <p:spPr>
            <a:xfrm>
              <a:off x="7962900" y="5514975"/>
              <a:ext cx="952500" cy="552450"/>
            </a:xfrm>
            <a:prstGeom prst="roundRect">
              <a:avLst>
                <a:gd name="adj" fmla="val 24138"/>
              </a:avLst>
            </a:prstGeom>
            <a:solidFill>
              <a:srgbClr val="FFFFFF"/>
            </a:solidFill>
            <a:ln w="9525">
              <a:solidFill>
                <a:schemeClr val="accent2"/>
              </a:solidFill>
            </a:ln>
          </p:spPr>
        </p:sp>
        <p:sp>
          <p:nvSpPr>
            <p:cNvPr id="214" name="TextBox 214"/>
            <p:cNvSpPr txBox="1"/>
            <p:nvPr/>
          </p:nvSpPr>
          <p:spPr>
            <a:xfrm>
              <a:off x="8157149" y="5638324"/>
              <a:ext cx="56400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成果矩阵</a:t>
              </a:r>
            </a:p>
          </p:txBody>
        </p:sp>
        <p:sp>
          <p:nvSpPr>
            <p:cNvPr id="215" name="TextBox 215"/>
            <p:cNvSpPr txBox="1"/>
            <p:nvPr/>
          </p:nvSpPr>
          <p:spPr>
            <a:xfrm>
              <a:off x="8192071" y="584644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E5A34"/>
                  </a:solidFill>
                  <a:latin typeface="+mn-lt"/>
                  <a:ea typeface="+mn-ea"/>
                  <a:cs typeface="+mn-cs"/>
                </a:rPr>
                <a:t>能力画像</a:t>
              </a:r>
            </a:p>
          </p:txBody>
        </p:sp>
        <p:sp>
          <p:nvSpPr>
            <p:cNvPr id="216" name="Line 216"/>
            <p:cNvSpPr/>
            <p:nvPr/>
          </p:nvSpPr>
          <p:spPr>
            <a:xfrm>
              <a:off x="8915400" y="5791200"/>
              <a:ext cx="133350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217" name="Rectangle 217"/>
            <p:cNvSpPr/>
            <p:nvPr/>
          </p:nvSpPr>
          <p:spPr>
            <a:xfrm>
              <a:off x="9124950" y="5514975"/>
              <a:ext cx="838200" cy="552450"/>
            </a:xfrm>
            <a:prstGeom prst="roundRect">
              <a:avLst>
                <a:gd name="adj" fmla="val 24138"/>
              </a:avLst>
            </a:prstGeom>
            <a:solidFill>
              <a:srgbClr val="FFFFFF"/>
            </a:solidFill>
            <a:ln w="9525">
              <a:solidFill>
                <a:schemeClr val="accent2"/>
              </a:solidFill>
            </a:ln>
          </p:spPr>
        </p:sp>
        <p:sp>
          <p:nvSpPr>
            <p:cNvPr id="218" name="TextBox 218"/>
            <p:cNvSpPr txBox="1"/>
            <p:nvPr/>
          </p:nvSpPr>
          <p:spPr>
            <a:xfrm>
              <a:off x="9346470" y="5638324"/>
              <a:ext cx="3951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Trace</a:t>
              </a:r>
            </a:p>
          </p:txBody>
        </p:sp>
        <p:sp>
          <p:nvSpPr>
            <p:cNvPr id="219" name="TextBox 219"/>
            <p:cNvSpPr txBox="1"/>
            <p:nvPr/>
          </p:nvSpPr>
          <p:spPr>
            <a:xfrm>
              <a:off x="9296972" y="584644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E5A34"/>
                  </a:solidFill>
                  <a:latin typeface="+mn-lt"/>
                  <a:ea typeface="+mn-ea"/>
                  <a:cs typeface="+mn-cs"/>
                </a:rPr>
                <a:t>全链追溯</a:t>
              </a:r>
            </a:p>
          </p:txBody>
        </p:sp>
        <p:sp>
          <p:nvSpPr>
            <p:cNvPr id="220" name="Line 220"/>
            <p:cNvSpPr/>
            <p:nvPr/>
          </p:nvSpPr>
          <p:spPr>
            <a:xfrm>
              <a:off x="9963150" y="5791200"/>
              <a:ext cx="133350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221" name="Rectangle 221"/>
            <p:cNvSpPr/>
            <p:nvPr/>
          </p:nvSpPr>
          <p:spPr>
            <a:xfrm>
              <a:off x="10172700" y="5514975"/>
              <a:ext cx="1371600" cy="552450"/>
            </a:xfrm>
            <a:prstGeom prst="roundRect">
              <a:avLst>
                <a:gd name="adj" fmla="val 24138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22" name="TextBox 222"/>
            <p:cNvSpPr txBox="1"/>
            <p:nvPr/>
          </p:nvSpPr>
          <p:spPr>
            <a:xfrm>
              <a:off x="10192618" y="5638324"/>
              <a:ext cx="13317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Manifest / SHA-256</a:t>
              </a:r>
            </a:p>
          </p:txBody>
        </p:sp>
        <p:sp>
          <p:nvSpPr>
            <p:cNvPr id="223" name="TextBox 223"/>
            <p:cNvSpPr txBox="1"/>
            <p:nvPr/>
          </p:nvSpPr>
          <p:spPr>
            <a:xfrm>
              <a:off x="10369105" y="5846445"/>
              <a:ext cx="9787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可校验成果交付包</a:t>
              </a:r>
            </a:p>
          </p:txBody>
        </p:sp>
      </p:grpSp>
      <p:sp>
        <p:nvSpPr>
          <p:cNvPr id="225" name="TextBox 225"/>
          <p:cNvSpPr txBox="1"/>
          <p:nvPr/>
        </p:nvSpPr>
        <p:spPr>
          <a:xfrm>
            <a:off x="11497780" y="65541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01396" y="505778"/>
            <a:ext cx="11101772" cy="698373"/>
            <a:chOff x="501396" y="505778"/>
            <a:chExt cx="11101772" cy="698373"/>
          </a:xfrm>
        </p:grpSpPr>
        <p:sp>
          <p:nvSpPr>
            <p:cNvPr id="2" name="TextBox 2"/>
            <p:cNvSpPr txBox="1"/>
            <p:nvPr/>
          </p:nvSpPr>
          <p:spPr>
            <a:xfrm>
              <a:off x="501396" y="505778"/>
              <a:ext cx="1110177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三条已落地路线提供稳定入口，A–H 八分支提供扩展面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6542" y="940118"/>
              <a:ext cx="74649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成熟路线保证稳定执行，动态分支根据任务主题、交互模式与覆盖缺口生成差异化研究蓝图。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52450" y="1428750"/>
            <a:ext cx="11410950" cy="1238250"/>
            <a:chOff x="552450" y="1428750"/>
            <a:chExt cx="11410950" cy="1238250"/>
          </a:xfrm>
        </p:grpSpPr>
        <p:sp>
          <p:nvSpPr>
            <p:cNvPr id="5" name="Rectangle 5"/>
            <p:cNvSpPr/>
            <p:nvPr/>
          </p:nvSpPr>
          <p:spPr>
            <a:xfrm>
              <a:off x="552450" y="1428750"/>
              <a:ext cx="3429000" cy="1238250"/>
            </a:xfrm>
            <a:prstGeom prst="roundRect">
              <a:avLst>
                <a:gd name="adj" fmla="val 16923"/>
              </a:avLst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9" name="Group 9"/>
            <p:cNvGrpSpPr/>
            <p:nvPr/>
          </p:nvGrpSpPr>
          <p:grpSpPr>
            <a:xfrm>
              <a:off x="850106" y="1783556"/>
              <a:ext cx="300038" cy="300038"/>
              <a:chOff x="850106" y="1783556"/>
              <a:chExt cx="300038" cy="300038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850106" y="2016919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0" y="33338"/>
                    </a:moveTo>
                    <a:cubicBezTo>
                      <a:pt x="0" y="51749"/>
                      <a:pt x="14926" y="66675"/>
                      <a:pt x="33338" y="66675"/>
                    </a:cubicBezTo>
                    <a:cubicBezTo>
                      <a:pt x="51749" y="66675"/>
                      <a:pt x="66675" y="51749"/>
                      <a:pt x="66675" y="33338"/>
                    </a:cubicBezTo>
                    <a:cubicBezTo>
                      <a:pt x="66675" y="14926"/>
                      <a:pt x="51749" y="0"/>
                      <a:pt x="33338" y="0"/>
                    </a:cubicBezTo>
                    <a:cubicBezTo>
                      <a:pt x="14926" y="0"/>
                      <a:pt x="0" y="14926"/>
                      <a:pt x="0" y="33338"/>
                    </a:cubicBezTo>
                  </a:path>
                </a:pathLst>
              </a:custGeom>
              <a:noFill/>
              <a:ln w="33338">
                <a:solidFill>
                  <a:srgbClr val="FFFFFF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1083469" y="1783556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33338" y="66675"/>
                    </a:moveTo>
                    <a:cubicBezTo>
                      <a:pt x="51749" y="66675"/>
                      <a:pt x="66675" y="51749"/>
                      <a:pt x="66675" y="33338"/>
                    </a:cubicBezTo>
                    <a:cubicBezTo>
                      <a:pt x="66675" y="14926"/>
                      <a:pt x="51749" y="0"/>
                      <a:pt x="33338" y="0"/>
                    </a:cubicBezTo>
                    <a:cubicBezTo>
                      <a:pt x="14926" y="0"/>
                      <a:pt x="0" y="14926"/>
                      <a:pt x="0" y="33338"/>
                    </a:cubicBezTo>
                    <a:cubicBezTo>
                      <a:pt x="0" y="51749"/>
                      <a:pt x="14926" y="66675"/>
                      <a:pt x="33338" y="66675"/>
                    </a:cubicBezTo>
                  </a:path>
                </a:pathLst>
              </a:custGeom>
              <a:noFill/>
              <a:ln w="33338">
                <a:solidFill>
                  <a:srgbClr val="FFFFFF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966788" y="1816894"/>
                <a:ext cx="66675" cy="233362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233362">
                    <a:moveTo>
                      <a:pt x="66675" y="0"/>
                    </a:moveTo>
                    <a:cubicBezTo>
                      <a:pt x="48263" y="0"/>
                      <a:pt x="33338" y="14926"/>
                      <a:pt x="33338" y="33338"/>
                    </a:cubicBezTo>
                    <a:lnTo>
                      <a:pt x="33338" y="200025"/>
                    </a:lnTo>
                    <a:cubicBezTo>
                      <a:pt x="33338" y="218437"/>
                      <a:pt x="18412" y="233362"/>
                      <a:pt x="0" y="233362"/>
                    </a:cubicBezTo>
                  </a:path>
                </a:pathLst>
              </a:custGeom>
              <a:noFill/>
              <a:ln w="33338">
                <a:solidFill>
                  <a:srgbClr val="FFFFFF"/>
                </a:solidFill>
              </a:ln>
            </p:spPr>
          </p:sp>
        </p:grpSp>
        <p:sp>
          <p:nvSpPr>
            <p:cNvPr id="10" name="TextBox 10"/>
            <p:cNvSpPr txBox="1"/>
            <p:nvPr/>
          </p:nvSpPr>
          <p:spPr>
            <a:xfrm>
              <a:off x="1381125" y="1683544"/>
              <a:ext cx="1347749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新制胜机理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3792" y="206406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从新战法与体系效应推导能力需求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4381500" y="1428750"/>
              <a:ext cx="3429000" cy="1238250"/>
            </a:xfrm>
            <a:prstGeom prst="roundRect">
              <a:avLst>
                <a:gd name="adj" fmla="val 16923"/>
              </a:avLst>
            </a:prstGeom>
            <a:solidFill>
              <a:schemeClr val="accent3"/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4679156" y="1783556"/>
              <a:ext cx="300038" cy="300038"/>
              <a:chOff x="4679156" y="1783556"/>
              <a:chExt cx="300038" cy="300038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4679156" y="2016919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0" y="33338"/>
                    </a:moveTo>
                    <a:cubicBezTo>
                      <a:pt x="0" y="51749"/>
                      <a:pt x="14926" y="66675"/>
                      <a:pt x="33338" y="66675"/>
                    </a:cubicBezTo>
                    <a:cubicBezTo>
                      <a:pt x="51749" y="66675"/>
                      <a:pt x="66675" y="51749"/>
                      <a:pt x="66675" y="33338"/>
                    </a:cubicBezTo>
                    <a:cubicBezTo>
                      <a:pt x="66675" y="14926"/>
                      <a:pt x="51749" y="0"/>
                      <a:pt x="33338" y="0"/>
                    </a:cubicBezTo>
                    <a:cubicBezTo>
                      <a:pt x="14926" y="0"/>
                      <a:pt x="0" y="14926"/>
                      <a:pt x="0" y="33338"/>
                    </a:cubicBezTo>
                  </a:path>
                </a:pathLst>
              </a:custGeom>
              <a:noFill/>
              <a:ln w="33338">
                <a:solidFill>
                  <a:srgbClr val="FFFFFF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4912519" y="1783556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33338" y="66675"/>
                    </a:moveTo>
                    <a:cubicBezTo>
                      <a:pt x="51749" y="66675"/>
                      <a:pt x="66675" y="51749"/>
                      <a:pt x="66675" y="33338"/>
                    </a:cubicBezTo>
                    <a:cubicBezTo>
                      <a:pt x="66675" y="14926"/>
                      <a:pt x="51749" y="0"/>
                      <a:pt x="33338" y="0"/>
                    </a:cubicBezTo>
                    <a:cubicBezTo>
                      <a:pt x="14926" y="0"/>
                      <a:pt x="0" y="14926"/>
                      <a:pt x="0" y="33338"/>
                    </a:cubicBezTo>
                    <a:cubicBezTo>
                      <a:pt x="0" y="51749"/>
                      <a:pt x="14926" y="66675"/>
                      <a:pt x="33338" y="66675"/>
                    </a:cubicBezTo>
                  </a:path>
                </a:pathLst>
              </a:custGeom>
              <a:noFill/>
              <a:ln w="33338">
                <a:solidFill>
                  <a:srgbClr val="FFFFFF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4795838" y="1816894"/>
                <a:ext cx="66675" cy="233362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233362">
                    <a:moveTo>
                      <a:pt x="66675" y="0"/>
                    </a:moveTo>
                    <a:cubicBezTo>
                      <a:pt x="48263" y="0"/>
                      <a:pt x="33338" y="14926"/>
                      <a:pt x="33338" y="33338"/>
                    </a:cubicBezTo>
                    <a:lnTo>
                      <a:pt x="33338" y="200025"/>
                    </a:lnTo>
                    <a:cubicBezTo>
                      <a:pt x="33338" y="218437"/>
                      <a:pt x="18412" y="233362"/>
                      <a:pt x="0" y="233362"/>
                    </a:cubicBezTo>
                  </a:path>
                </a:pathLst>
              </a:custGeom>
              <a:noFill/>
              <a:ln w="33338">
                <a:solidFill>
                  <a:srgbClr val="FFFFFF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5210175" y="1683544"/>
              <a:ext cx="1613489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传统能力缺口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212842" y="2064068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7F6F8"/>
                  </a:solidFill>
                  <a:latin typeface="+mn-lt"/>
                  <a:ea typeface="+mn-ea"/>
                  <a:cs typeface="+mn-cs"/>
                </a:rPr>
                <a:t>从现有能力与任务约束识别发展缺口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8210550" y="1428750"/>
              <a:ext cx="3429000" cy="1238250"/>
            </a:xfrm>
            <a:prstGeom prst="roundRect">
              <a:avLst>
                <a:gd name="adj" fmla="val 16923"/>
              </a:avLst>
            </a:prstGeom>
            <a:solidFill>
              <a:schemeClr val="accent2"/>
            </a:solidFill>
            <a:ln>
              <a:noFill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8508206" y="1783556"/>
              <a:ext cx="300038" cy="300038"/>
              <a:chOff x="8508206" y="1783556"/>
              <a:chExt cx="300038" cy="300038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8508206" y="2016919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0" y="33338"/>
                    </a:moveTo>
                    <a:cubicBezTo>
                      <a:pt x="0" y="51749"/>
                      <a:pt x="14926" y="66675"/>
                      <a:pt x="33338" y="66675"/>
                    </a:cubicBezTo>
                    <a:cubicBezTo>
                      <a:pt x="51749" y="66675"/>
                      <a:pt x="66675" y="51749"/>
                      <a:pt x="66675" y="33338"/>
                    </a:cubicBezTo>
                    <a:cubicBezTo>
                      <a:pt x="66675" y="14926"/>
                      <a:pt x="51749" y="0"/>
                      <a:pt x="33338" y="0"/>
                    </a:cubicBezTo>
                    <a:cubicBezTo>
                      <a:pt x="14926" y="0"/>
                      <a:pt x="0" y="14926"/>
                      <a:pt x="0" y="33338"/>
                    </a:cubicBezTo>
                  </a:path>
                </a:pathLst>
              </a:custGeom>
              <a:noFill/>
              <a:ln w="33338">
                <a:solidFill>
                  <a:srgbClr val="FFFFFF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741569" y="1783556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33338" y="66675"/>
                    </a:moveTo>
                    <a:cubicBezTo>
                      <a:pt x="51749" y="66675"/>
                      <a:pt x="66675" y="51749"/>
                      <a:pt x="66675" y="33338"/>
                    </a:cubicBezTo>
                    <a:cubicBezTo>
                      <a:pt x="66675" y="14926"/>
                      <a:pt x="51749" y="0"/>
                      <a:pt x="33338" y="0"/>
                    </a:cubicBezTo>
                    <a:cubicBezTo>
                      <a:pt x="14926" y="0"/>
                      <a:pt x="0" y="14926"/>
                      <a:pt x="0" y="33338"/>
                    </a:cubicBezTo>
                    <a:cubicBezTo>
                      <a:pt x="0" y="51749"/>
                      <a:pt x="14926" y="66675"/>
                      <a:pt x="33338" y="66675"/>
                    </a:cubicBezTo>
                  </a:path>
                </a:pathLst>
              </a:custGeom>
              <a:noFill/>
              <a:ln w="33338">
                <a:solidFill>
                  <a:srgbClr val="FFFFFF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624888" y="1816894"/>
                <a:ext cx="66675" cy="233362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233362">
                    <a:moveTo>
                      <a:pt x="66675" y="0"/>
                    </a:moveTo>
                    <a:cubicBezTo>
                      <a:pt x="48263" y="0"/>
                      <a:pt x="33338" y="14926"/>
                      <a:pt x="33338" y="33338"/>
                    </a:cubicBezTo>
                    <a:lnTo>
                      <a:pt x="33338" y="200025"/>
                    </a:lnTo>
                    <a:cubicBezTo>
                      <a:pt x="33338" y="218437"/>
                      <a:pt x="18412" y="233362"/>
                      <a:pt x="0" y="233362"/>
                    </a:cubicBezTo>
                  </a:path>
                </a:pathLst>
              </a:custGeom>
              <a:noFill/>
              <a:ln w="33338">
                <a:solidFill>
                  <a:srgbClr val="FFFFFF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9039225" y="1683544"/>
              <a:ext cx="1613489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局部战争案例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041892" y="2064068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7E5"/>
                  </a:solidFill>
                  <a:latin typeface="+mn-lt"/>
                  <a:ea typeface="+mn-ea"/>
                  <a:cs typeface="+mn-cs"/>
                </a:rPr>
                <a:t>从案例规律与未来场景映射新兴装备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2266950" y="2609850"/>
            <a:ext cx="9124950" cy="3638550"/>
            <a:chOff x="2266950" y="2609850"/>
            <a:chExt cx="9124950" cy="3638550"/>
          </a:xfrm>
        </p:grpSpPr>
        <p:sp>
          <p:nvSpPr>
            <p:cNvPr id="27" name="Freeform 27"/>
            <p:cNvSpPr/>
            <p:nvPr/>
          </p:nvSpPr>
          <p:spPr>
            <a:xfrm>
              <a:off x="2266950" y="2952750"/>
              <a:ext cx="7658100" cy="2095500"/>
            </a:xfrm>
            <a:custGeom>
              <a:avLst/>
              <a:gdLst/>
              <a:ahLst/>
              <a:cxnLst/>
              <a:rect l="l" t="t" r="r" b="b"/>
              <a:pathLst>
                <a:path w="7658100" h="2095500">
                  <a:moveTo>
                    <a:pt x="0" y="2095500"/>
                  </a:moveTo>
                  <a:cubicBezTo>
                    <a:pt x="552450" y="533400"/>
                    <a:pt x="2171700" y="0"/>
                    <a:pt x="3829050" y="381000"/>
                  </a:cubicBezTo>
                  <a:cubicBezTo>
                    <a:pt x="5505450" y="0"/>
                    <a:pt x="7124700" y="552450"/>
                    <a:pt x="7658100" y="2095500"/>
                  </a:cubicBezTo>
                </a:path>
              </a:pathLst>
            </a:custGeom>
            <a:noFill/>
            <a:ln w="57150">
              <a:solidFill>
                <a:srgbClr val="D7E0EA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5314950" y="3505200"/>
              <a:ext cx="1562100" cy="1562100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chemeClr val="accent1"/>
              </a:solidFill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5907087" y="3749675"/>
              <a:ext cx="377825" cy="512762"/>
              <a:chOff x="5907087" y="3749675"/>
              <a:chExt cx="377825" cy="512762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5934075" y="3803650"/>
                <a:ext cx="323850" cy="215900"/>
              </a:xfrm>
              <a:custGeom>
                <a:avLst/>
                <a:gdLst/>
                <a:ahLst/>
                <a:cxnLst/>
                <a:rect l="l" t="t" r="r" b="b"/>
                <a:pathLst>
                  <a:path w="323850" h="215900">
                    <a:moveTo>
                      <a:pt x="0" y="53975"/>
                    </a:moveTo>
                    <a:cubicBezTo>
                      <a:pt x="0" y="24165"/>
                      <a:pt x="24165" y="0"/>
                      <a:pt x="53975" y="0"/>
                    </a:cubicBezTo>
                    <a:lnTo>
                      <a:pt x="269875" y="0"/>
                    </a:lnTo>
                    <a:cubicBezTo>
                      <a:pt x="299684" y="0"/>
                      <a:pt x="323850" y="24165"/>
                      <a:pt x="323850" y="53975"/>
                    </a:cubicBezTo>
                    <a:lnTo>
                      <a:pt x="323850" y="161925"/>
                    </a:lnTo>
                    <a:cubicBezTo>
                      <a:pt x="323850" y="191734"/>
                      <a:pt x="299684" y="215900"/>
                      <a:pt x="269875" y="215900"/>
                    </a:cubicBezTo>
                    <a:lnTo>
                      <a:pt x="53975" y="215900"/>
                    </a:lnTo>
                    <a:cubicBezTo>
                      <a:pt x="24165" y="215900"/>
                      <a:pt x="0" y="191734"/>
                      <a:pt x="0" y="161925"/>
                    </a:cubicBezTo>
                    <a:lnTo>
                      <a:pt x="0" y="53975"/>
                    </a:lnTo>
                  </a:path>
                </a:pathLst>
              </a:custGeom>
              <a:noFill/>
              <a:ln w="53975">
                <a:solidFill>
                  <a:schemeClr val="accent1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6096000" y="3749675"/>
                <a:ext cx="952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3975">
                    <a:moveTo>
                      <a:pt x="0" y="0"/>
                    </a:moveTo>
                    <a:lnTo>
                      <a:pt x="0" y="53975"/>
                    </a:lnTo>
                  </a:path>
                </a:pathLst>
              </a:custGeom>
              <a:noFill/>
              <a:ln w="53975">
                <a:solidFill>
                  <a:schemeClr val="accent1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6015037" y="4019550"/>
                <a:ext cx="9525" cy="242887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42887">
                    <a:moveTo>
                      <a:pt x="0" y="0"/>
                    </a:moveTo>
                    <a:lnTo>
                      <a:pt x="0" y="242887"/>
                    </a:lnTo>
                  </a:path>
                </a:pathLst>
              </a:custGeom>
              <a:noFill/>
              <a:ln w="53975">
                <a:solidFill>
                  <a:schemeClr val="accent1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6176962" y="4019550"/>
                <a:ext cx="9525" cy="242887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42887">
                    <a:moveTo>
                      <a:pt x="0" y="0"/>
                    </a:moveTo>
                    <a:lnTo>
                      <a:pt x="0" y="242887"/>
                    </a:lnTo>
                  </a:path>
                </a:pathLst>
              </a:custGeom>
              <a:noFill/>
              <a:ln w="53975">
                <a:solidFill>
                  <a:schemeClr val="accent1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5907087" y="4073525"/>
                <a:ext cx="107950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53975">
                    <a:moveTo>
                      <a:pt x="0" y="53975"/>
                    </a:moveTo>
                    <a:lnTo>
                      <a:pt x="107950" y="0"/>
                    </a:lnTo>
                  </a:path>
                </a:pathLst>
              </a:custGeom>
              <a:noFill/>
              <a:ln w="53975">
                <a:solidFill>
                  <a:schemeClr val="accent1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6176962" y="4073525"/>
                <a:ext cx="107950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53975">
                    <a:moveTo>
                      <a:pt x="0" y="0"/>
                    </a:moveTo>
                    <a:lnTo>
                      <a:pt x="107950" y="53975"/>
                    </a:lnTo>
                  </a:path>
                </a:pathLst>
              </a:custGeom>
              <a:noFill/>
              <a:ln w="53975">
                <a:solidFill>
                  <a:schemeClr val="accent1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6015037" y="4181474"/>
                <a:ext cx="1619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9525">
                    <a:moveTo>
                      <a:pt x="0" y="0"/>
                    </a:moveTo>
                    <a:lnTo>
                      <a:pt x="161925" y="0"/>
                    </a:lnTo>
                  </a:path>
                </a:pathLst>
              </a:custGeom>
              <a:noFill/>
              <a:ln w="53975">
                <a:solidFill>
                  <a:schemeClr val="accent1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6042025" y="39116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270"/>
                    </a:lnTo>
                  </a:path>
                </a:pathLst>
              </a:custGeom>
              <a:noFill/>
              <a:ln w="53975">
                <a:solidFill>
                  <a:schemeClr val="accent1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6149975" y="39116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270"/>
                    </a:lnTo>
                  </a:path>
                </a:pathLst>
              </a:custGeom>
              <a:noFill/>
              <a:ln w="53975">
                <a:solidFill>
                  <a:schemeClr val="accent1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5437143" y="4472940"/>
              <a:ext cx="131771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主控 Agent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419496" y="4804410"/>
              <a:ext cx="13530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选择 · 补齐 · 编排</a:t>
              </a:r>
            </a:p>
          </p:txBody>
        </p:sp>
        <p:sp>
          <p:nvSpPr>
            <p:cNvPr id="41" name="Freeform 41"/>
            <p:cNvSpPr/>
            <p:nvPr/>
          </p:nvSpPr>
          <p:spPr>
            <a:xfrm>
              <a:off x="3181350" y="3048000"/>
              <a:ext cx="5829300" cy="2667000"/>
            </a:xfrm>
            <a:custGeom>
              <a:avLst/>
              <a:gdLst/>
              <a:ahLst/>
              <a:cxnLst/>
              <a:rect l="l" t="t" r="r" b="b"/>
              <a:pathLst>
                <a:path w="5829300" h="2667000">
                  <a:moveTo>
                    <a:pt x="2438400" y="762000"/>
                  </a:moveTo>
                  <a:lnTo>
                    <a:pt x="0" y="266700"/>
                  </a:lnTo>
                  <a:moveTo>
                    <a:pt x="2724150" y="495300"/>
                  </a:moveTo>
                  <a:lnTo>
                    <a:pt x="1676400" y="0"/>
                  </a:lnTo>
                  <a:moveTo>
                    <a:pt x="3105150" y="495300"/>
                  </a:moveTo>
                  <a:lnTo>
                    <a:pt x="4152900" y="0"/>
                  </a:lnTo>
                  <a:moveTo>
                    <a:pt x="3390900" y="762000"/>
                  </a:moveTo>
                  <a:lnTo>
                    <a:pt x="5829300" y="266700"/>
                  </a:lnTo>
                  <a:moveTo>
                    <a:pt x="2228850" y="1409700"/>
                  </a:moveTo>
                  <a:lnTo>
                    <a:pt x="133350" y="2209800"/>
                  </a:lnTo>
                  <a:moveTo>
                    <a:pt x="2533650" y="1809750"/>
                  </a:moveTo>
                  <a:lnTo>
                    <a:pt x="1828800" y="2667000"/>
                  </a:lnTo>
                  <a:moveTo>
                    <a:pt x="3295650" y="1809750"/>
                  </a:moveTo>
                  <a:lnTo>
                    <a:pt x="4000500" y="2667000"/>
                  </a:lnTo>
                  <a:moveTo>
                    <a:pt x="3600450" y="1409700"/>
                  </a:moveTo>
                  <a:lnTo>
                    <a:pt x="5695950" y="2209800"/>
                  </a:lnTo>
                </a:path>
              </a:pathLst>
            </a:custGeom>
            <a:noFill/>
            <a:ln w="19050">
              <a:solidFill>
                <a:srgbClr val="7AA2B5"/>
              </a:solidFill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2495550" y="2819400"/>
              <a:ext cx="800100" cy="800100"/>
              <a:chOff x="2495550" y="2819400"/>
              <a:chExt cx="800100" cy="800100"/>
            </a:xfrm>
          </p:grpSpPr>
          <p:sp>
            <p:nvSpPr>
              <p:cNvPr id="42" name="Ellipse 42"/>
              <p:cNvSpPr/>
              <p:nvPr/>
            </p:nvSpPr>
            <p:spPr>
              <a:xfrm>
                <a:off x="2495550" y="2819400"/>
                <a:ext cx="800100" cy="800100"/>
              </a:xfrm>
              <a:prstGeom prst="ellipse">
                <a:avLst/>
              </a:prstGeom>
              <a:solidFill>
                <a:srgbClr val="DFF0F3"/>
              </a:solidFill>
              <a:ln>
                <a:noFill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2819450" y="3003232"/>
                <a:ext cx="15230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A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2647188" y="3318510"/>
                <a:ext cx="49682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新战法</a:t>
                </a:r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4286250" y="2609850"/>
              <a:ext cx="800100" cy="800100"/>
              <a:chOff x="4286250" y="2609850"/>
              <a:chExt cx="800100" cy="800100"/>
            </a:xfrm>
          </p:grpSpPr>
          <p:sp>
            <p:nvSpPr>
              <p:cNvPr id="46" name="Ellipse 46"/>
              <p:cNvSpPr/>
              <p:nvPr/>
            </p:nvSpPr>
            <p:spPr>
              <a:xfrm>
                <a:off x="4286250" y="2609850"/>
                <a:ext cx="800100" cy="800100"/>
              </a:xfrm>
              <a:prstGeom prst="ellipse">
                <a:avLst/>
              </a:prstGeom>
              <a:solidFill>
                <a:srgbClr val="DFF0F3"/>
              </a:solidFill>
              <a:ln>
                <a:noFill/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4610150" y="2793682"/>
                <a:ext cx="15230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B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4357116" y="3108960"/>
                <a:ext cx="65836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传统缺口</a:t>
                </a:r>
              </a:p>
            </p:txBody>
          </p:sp>
        </p:grpSp>
        <p:grpSp>
          <p:nvGrpSpPr>
            <p:cNvPr id="53" name="Group 53"/>
            <p:cNvGrpSpPr/>
            <p:nvPr/>
          </p:nvGrpSpPr>
          <p:grpSpPr>
            <a:xfrm>
              <a:off x="7105650" y="2609850"/>
              <a:ext cx="800100" cy="800100"/>
              <a:chOff x="7105650" y="2609850"/>
              <a:chExt cx="800100" cy="800100"/>
            </a:xfrm>
          </p:grpSpPr>
          <p:sp>
            <p:nvSpPr>
              <p:cNvPr id="50" name="Ellipse 50"/>
              <p:cNvSpPr/>
              <p:nvPr/>
            </p:nvSpPr>
            <p:spPr>
              <a:xfrm>
                <a:off x="7105650" y="2609850"/>
                <a:ext cx="800100" cy="800100"/>
              </a:xfrm>
              <a:prstGeom prst="ellipse">
                <a:avLst/>
              </a:prstGeom>
              <a:solidFill>
                <a:srgbClr val="FFF3D8"/>
              </a:solidFill>
              <a:ln w="28575">
                <a:solidFill>
                  <a:schemeClr val="accent2"/>
                </a:solidFill>
              </a:ln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7429550" y="2793682"/>
                <a:ext cx="15230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rgbClr val="A87312"/>
                    </a:solidFill>
                    <a:latin typeface="+mn-lt"/>
                    <a:ea typeface="+mn-ea"/>
                    <a:cs typeface="+mn-cs"/>
                  </a:rPr>
                  <a:t>C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7176516" y="3108960"/>
                <a:ext cx="65836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8A5D10"/>
                    </a:solidFill>
                    <a:latin typeface="+mn-lt"/>
                    <a:ea typeface="+mn-ea"/>
                    <a:cs typeface="+mn-cs"/>
                  </a:rPr>
                  <a:t>案例经验</a:t>
                </a:r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>
              <a:off x="8896350" y="2819400"/>
              <a:ext cx="800100" cy="800100"/>
              <a:chOff x="8896350" y="2819400"/>
              <a:chExt cx="800100" cy="800100"/>
            </a:xfrm>
          </p:grpSpPr>
          <p:sp>
            <p:nvSpPr>
              <p:cNvPr id="54" name="Ellipse 54"/>
              <p:cNvSpPr/>
              <p:nvPr/>
            </p:nvSpPr>
            <p:spPr>
              <a:xfrm>
                <a:off x="8896350" y="2819400"/>
                <a:ext cx="800100" cy="800100"/>
              </a:xfrm>
              <a:prstGeom prst="ellipse">
                <a:avLst/>
              </a:prstGeom>
              <a:solidFill>
                <a:srgbClr val="DFF0F3"/>
              </a:solidFill>
              <a:ln>
                <a:noFill/>
              </a:ln>
            </p:spPr>
          </p:sp>
          <p:sp>
            <p:nvSpPr>
              <p:cNvPr id="55" name="TextBox 55"/>
              <p:cNvSpPr txBox="1"/>
              <p:nvPr/>
            </p:nvSpPr>
            <p:spPr>
              <a:xfrm>
                <a:off x="9220250" y="3003232"/>
                <a:ext cx="15230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D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8967216" y="3318510"/>
                <a:ext cx="65836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技术驱动</a:t>
                </a:r>
              </a:p>
            </p:txBody>
          </p:sp>
        </p:grpSp>
        <p:grpSp>
          <p:nvGrpSpPr>
            <p:cNvPr id="61" name="Group 61"/>
            <p:cNvGrpSpPr/>
            <p:nvPr/>
          </p:nvGrpSpPr>
          <p:grpSpPr>
            <a:xfrm>
              <a:off x="2609850" y="5029200"/>
              <a:ext cx="800100" cy="800100"/>
              <a:chOff x="2609850" y="5029200"/>
              <a:chExt cx="800100" cy="800100"/>
            </a:xfrm>
          </p:grpSpPr>
          <p:sp>
            <p:nvSpPr>
              <p:cNvPr id="58" name="Ellipse 58"/>
              <p:cNvSpPr/>
              <p:nvPr/>
            </p:nvSpPr>
            <p:spPr>
              <a:xfrm>
                <a:off x="2609850" y="5029200"/>
                <a:ext cx="800100" cy="800100"/>
              </a:xfrm>
              <a:prstGeom prst="ellipse">
                <a:avLst/>
              </a:prstGeom>
              <a:solidFill>
                <a:srgbClr val="DFF0F3"/>
              </a:solidFill>
              <a:ln>
                <a:noFill/>
              </a:ln>
            </p:spPr>
          </p:sp>
          <p:sp>
            <p:nvSpPr>
              <p:cNvPr id="59" name="TextBox 59"/>
              <p:cNvSpPr txBox="1"/>
              <p:nvPr/>
            </p:nvSpPr>
            <p:spPr>
              <a:xfrm>
                <a:off x="2933750" y="5213032"/>
                <a:ext cx="15230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E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2680716" y="5528310"/>
                <a:ext cx="65836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对手动向</a:t>
                </a:r>
              </a:p>
            </p:txBody>
          </p:sp>
        </p:grpSp>
        <p:grpSp>
          <p:nvGrpSpPr>
            <p:cNvPr id="65" name="Group 65"/>
            <p:cNvGrpSpPr/>
            <p:nvPr/>
          </p:nvGrpSpPr>
          <p:grpSpPr>
            <a:xfrm>
              <a:off x="4457700" y="5448300"/>
              <a:ext cx="800100" cy="800100"/>
              <a:chOff x="4457700" y="5448300"/>
              <a:chExt cx="800100" cy="800100"/>
            </a:xfrm>
          </p:grpSpPr>
          <p:sp>
            <p:nvSpPr>
              <p:cNvPr id="62" name="Ellipse 62"/>
              <p:cNvSpPr/>
              <p:nvPr/>
            </p:nvSpPr>
            <p:spPr>
              <a:xfrm>
                <a:off x="4457700" y="5448300"/>
                <a:ext cx="800100" cy="800100"/>
              </a:xfrm>
              <a:prstGeom prst="ellipse">
                <a:avLst/>
              </a:prstGeom>
              <a:solidFill>
                <a:srgbClr val="DFF0F3"/>
              </a:solidFill>
              <a:ln>
                <a:noFill/>
              </a:ln>
            </p:spPr>
          </p:sp>
          <p:sp>
            <p:nvSpPr>
              <p:cNvPr id="63" name="TextBox 63"/>
              <p:cNvSpPr txBox="1"/>
              <p:nvPr/>
            </p:nvSpPr>
            <p:spPr>
              <a:xfrm>
                <a:off x="4781600" y="5632132"/>
                <a:ext cx="15230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F</a:t>
                </a: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4528566" y="5947410"/>
                <a:ext cx="65836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体系对抗</a:t>
                </a:r>
              </a:p>
            </p:txBody>
          </p:sp>
        </p:grpSp>
        <p:grpSp>
          <p:nvGrpSpPr>
            <p:cNvPr id="69" name="Group 69"/>
            <p:cNvGrpSpPr/>
            <p:nvPr/>
          </p:nvGrpSpPr>
          <p:grpSpPr>
            <a:xfrm>
              <a:off x="6934200" y="5448300"/>
              <a:ext cx="800100" cy="800100"/>
              <a:chOff x="6934200" y="5448300"/>
              <a:chExt cx="800100" cy="800100"/>
            </a:xfrm>
          </p:grpSpPr>
          <p:sp>
            <p:nvSpPr>
              <p:cNvPr id="66" name="Ellipse 66"/>
              <p:cNvSpPr/>
              <p:nvPr/>
            </p:nvSpPr>
            <p:spPr>
              <a:xfrm>
                <a:off x="6934200" y="5448300"/>
                <a:ext cx="800100" cy="800100"/>
              </a:xfrm>
              <a:prstGeom prst="ellipse">
                <a:avLst/>
              </a:prstGeom>
              <a:solidFill>
                <a:srgbClr val="DFF0F3"/>
              </a:solidFill>
              <a:ln>
                <a:noFill/>
              </a:ln>
            </p:spPr>
          </p:sp>
          <p:sp>
            <p:nvSpPr>
              <p:cNvPr id="67" name="TextBox 67"/>
              <p:cNvSpPr txBox="1"/>
              <p:nvPr/>
            </p:nvSpPr>
            <p:spPr>
              <a:xfrm>
                <a:off x="7258100" y="5632132"/>
                <a:ext cx="15230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G</a:t>
                </a:r>
              </a:p>
            </p:txBody>
          </p:sp>
          <p:sp>
            <p:nvSpPr>
              <p:cNvPr id="68" name="TextBox 68"/>
              <p:cNvSpPr txBox="1"/>
              <p:nvPr/>
            </p:nvSpPr>
            <p:spPr>
              <a:xfrm>
                <a:off x="7005066" y="5947410"/>
                <a:ext cx="65836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跨域融合</a:t>
                </a:r>
              </a:p>
            </p:txBody>
          </p:sp>
        </p:grpSp>
        <p:grpSp>
          <p:nvGrpSpPr>
            <p:cNvPr id="73" name="Group 73"/>
            <p:cNvGrpSpPr/>
            <p:nvPr/>
          </p:nvGrpSpPr>
          <p:grpSpPr>
            <a:xfrm>
              <a:off x="8772144" y="5029200"/>
              <a:ext cx="819912" cy="800100"/>
              <a:chOff x="8772144" y="5029200"/>
              <a:chExt cx="819912" cy="800100"/>
            </a:xfrm>
          </p:grpSpPr>
          <p:sp>
            <p:nvSpPr>
              <p:cNvPr id="70" name="Ellipse 70"/>
              <p:cNvSpPr/>
              <p:nvPr/>
            </p:nvSpPr>
            <p:spPr>
              <a:xfrm>
                <a:off x="8782050" y="5029200"/>
                <a:ext cx="800100" cy="800100"/>
              </a:xfrm>
              <a:prstGeom prst="ellipse">
                <a:avLst/>
              </a:prstGeom>
              <a:solidFill>
                <a:srgbClr val="DFF0F3"/>
              </a:solidFill>
              <a:ln>
                <a:noFill/>
              </a:ln>
            </p:spPr>
          </p:sp>
          <p:sp>
            <p:nvSpPr>
              <p:cNvPr id="71" name="TextBox 71"/>
              <p:cNvSpPr txBox="1"/>
              <p:nvPr/>
            </p:nvSpPr>
            <p:spPr>
              <a:xfrm>
                <a:off x="9105950" y="5213032"/>
                <a:ext cx="15230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H</a:t>
                </a:r>
              </a:p>
            </p:txBody>
          </p:sp>
          <p:sp>
            <p:nvSpPr>
              <p:cNvPr id="72" name="TextBox 72"/>
              <p:cNvSpPr txBox="1"/>
              <p:nvPr/>
            </p:nvSpPr>
            <p:spPr>
              <a:xfrm>
                <a:off x="8772144" y="5528310"/>
                <a:ext cx="81991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非传统安全</a:t>
                </a:r>
              </a:p>
            </p:txBody>
          </p:sp>
        </p:grpSp>
        <p:sp>
          <p:nvSpPr>
            <p:cNvPr id="74" name="Rectangle 74"/>
            <p:cNvSpPr/>
            <p:nvPr/>
          </p:nvSpPr>
          <p:spPr>
            <a:xfrm>
              <a:off x="9906000" y="4210050"/>
              <a:ext cx="1485900" cy="819150"/>
            </a:xfrm>
            <a:prstGeom prst="roundRect">
              <a:avLst>
                <a:gd name="adj" fmla="val 20930"/>
              </a:avLst>
            </a:prstGeom>
            <a:solidFill>
              <a:srgbClr val="FFFFFF"/>
            </a:solidFill>
            <a:ln w="9525">
              <a:solidFill>
                <a:srgbClr val="D7E0EA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10481310" y="43662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输出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0111264" y="4600575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差异化蓝图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0078212" y="485870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B94747"/>
                  </a:solidFill>
                  <a:latin typeface="+mn-lt"/>
                  <a:ea typeface="+mn-ea"/>
                  <a:cs typeface="+mn-cs"/>
                </a:rPr>
                <a:t>覆盖缺口显式披露</a:t>
              </a:r>
            </a:p>
          </p:txBody>
        </p:sp>
      </p:grpSp>
      <p:sp>
        <p:nvSpPr>
          <p:cNvPr id="79" name="TextBox 79"/>
          <p:cNvSpPr txBox="1"/>
          <p:nvPr/>
        </p:nvSpPr>
        <p:spPr>
          <a:xfrm>
            <a:off x="11478730" y="64398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01015" y="497681"/>
            <a:ext cx="11176164" cy="706470"/>
            <a:chOff x="501015" y="497681"/>
            <a:chExt cx="11176164" cy="706470"/>
          </a:xfrm>
        </p:grpSpPr>
        <p:sp>
          <p:nvSpPr>
            <p:cNvPr id="2" name="TextBox 2"/>
            <p:cNvSpPr txBox="1"/>
            <p:nvPr/>
          </p:nvSpPr>
          <p:spPr>
            <a:xfrm>
              <a:off x="501015" y="497681"/>
              <a:ext cx="11176164" cy="513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62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动态 Registry 与独立受控会话让协作可替换、可并发、可恢复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6542" y="940118"/>
              <a:ext cx="77541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多智能体不是“多次调用”，而是一套具备隔离、预算、权限、并发和恢复边界的运行 Harness。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33400" y="1466850"/>
            <a:ext cx="2743200" cy="4095750"/>
            <a:chOff x="533400" y="1466850"/>
            <a:chExt cx="2743200" cy="4095750"/>
          </a:xfrm>
        </p:grpSpPr>
        <p:sp>
          <p:nvSpPr>
            <p:cNvPr id="5" name="Rectangle 5"/>
            <p:cNvSpPr/>
            <p:nvPr/>
          </p:nvSpPr>
          <p:spPr>
            <a:xfrm>
              <a:off x="533400" y="1466850"/>
              <a:ext cx="2743200" cy="4095750"/>
            </a:xfrm>
            <a:prstGeom prst="roundRect">
              <a:avLst>
                <a:gd name="adj" fmla="val 8333"/>
              </a:avLst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868362" y="1749425"/>
              <a:ext cx="244475" cy="331787"/>
              <a:chOff x="868362" y="1749425"/>
              <a:chExt cx="244475" cy="331787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885825" y="1784350"/>
                <a:ext cx="209550" cy="139700"/>
              </a:xfrm>
              <a:custGeom>
                <a:avLst/>
                <a:gdLst/>
                <a:ahLst/>
                <a:cxnLst/>
                <a:rect l="l" t="t" r="r" b="b"/>
                <a:pathLst>
                  <a:path w="209550" h="139700">
                    <a:moveTo>
                      <a:pt x="0" y="34925"/>
                    </a:moveTo>
                    <a:cubicBezTo>
                      <a:pt x="0" y="15636"/>
                      <a:pt x="15636" y="0"/>
                      <a:pt x="34925" y="0"/>
                    </a:cubicBezTo>
                    <a:lnTo>
                      <a:pt x="174625" y="0"/>
                    </a:lnTo>
                    <a:cubicBezTo>
                      <a:pt x="193913" y="0"/>
                      <a:pt x="209550" y="15636"/>
                      <a:pt x="209550" y="34925"/>
                    </a:cubicBezTo>
                    <a:lnTo>
                      <a:pt x="209550" y="104775"/>
                    </a:lnTo>
                    <a:cubicBezTo>
                      <a:pt x="209550" y="124063"/>
                      <a:pt x="193913" y="139700"/>
                      <a:pt x="174625" y="139700"/>
                    </a:cubicBezTo>
                    <a:lnTo>
                      <a:pt x="34925" y="139700"/>
                    </a:lnTo>
                    <a:cubicBezTo>
                      <a:pt x="15636" y="139700"/>
                      <a:pt x="0" y="124063"/>
                      <a:pt x="0" y="104775"/>
                    </a:cubicBezTo>
                    <a:lnTo>
                      <a:pt x="0" y="34925"/>
                    </a:lnTo>
                  </a:path>
                </a:pathLst>
              </a:custGeom>
              <a:noFill/>
              <a:ln w="34925">
                <a:solidFill>
                  <a:srgbClr val="FFFFFF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990600" y="1749425"/>
                <a:ext cx="9525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4925">
                    <a:moveTo>
                      <a:pt x="0" y="0"/>
                    </a:moveTo>
                    <a:lnTo>
                      <a:pt x="0" y="34925"/>
                    </a:lnTo>
                  </a:path>
                </a:pathLst>
              </a:custGeom>
              <a:noFill/>
              <a:ln w="34925">
                <a:solidFill>
                  <a:srgbClr val="FFFFFF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938212" y="1924050"/>
                <a:ext cx="9525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7162">
                    <a:moveTo>
                      <a:pt x="0" y="0"/>
                    </a:moveTo>
                    <a:lnTo>
                      <a:pt x="0" y="157162"/>
                    </a:lnTo>
                  </a:path>
                </a:pathLst>
              </a:custGeom>
              <a:noFill/>
              <a:ln w="34925">
                <a:solidFill>
                  <a:srgbClr val="FFFFFF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042987" y="1924050"/>
                <a:ext cx="9525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7162">
                    <a:moveTo>
                      <a:pt x="0" y="0"/>
                    </a:moveTo>
                    <a:lnTo>
                      <a:pt x="0" y="157162"/>
                    </a:lnTo>
                  </a:path>
                </a:pathLst>
              </a:custGeom>
              <a:noFill/>
              <a:ln w="34925">
                <a:solidFill>
                  <a:srgbClr val="FFFFFF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868362" y="1958975"/>
                <a:ext cx="69850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34925">
                    <a:moveTo>
                      <a:pt x="0" y="34925"/>
                    </a:moveTo>
                    <a:lnTo>
                      <a:pt x="69850" y="0"/>
                    </a:lnTo>
                  </a:path>
                </a:pathLst>
              </a:custGeom>
              <a:noFill/>
              <a:ln w="34925">
                <a:solidFill>
                  <a:srgbClr val="FFFFFF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042987" y="1958975"/>
                <a:ext cx="69850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34925">
                    <a:moveTo>
                      <a:pt x="0" y="0"/>
                    </a:moveTo>
                    <a:lnTo>
                      <a:pt x="69850" y="34925"/>
                    </a:lnTo>
                  </a:path>
                </a:pathLst>
              </a:custGeom>
              <a:noFill/>
              <a:ln w="34925">
                <a:solidFill>
                  <a:srgbClr val="FFFFFF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938212" y="2028824"/>
                <a:ext cx="1047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9525">
                    <a:moveTo>
                      <a:pt x="0" y="0"/>
                    </a:moveTo>
                    <a:lnTo>
                      <a:pt x="104775" y="0"/>
                    </a:lnTo>
                  </a:path>
                </a:pathLst>
              </a:custGeom>
              <a:noFill/>
              <a:ln w="34925">
                <a:solidFill>
                  <a:srgbClr val="FFFFFF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955675" y="18542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75"/>
                    </a:lnTo>
                  </a:path>
                </a:pathLst>
              </a:custGeom>
              <a:noFill/>
              <a:ln w="34925">
                <a:solidFill>
                  <a:srgbClr val="FFFFFF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025525" y="18542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75"/>
                    </a:lnTo>
                  </a:path>
                </a:pathLst>
              </a:custGeom>
              <a:noFill/>
              <a:ln w="34925">
                <a:solidFill>
                  <a:srgbClr val="FFFFFF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288161" y="1827371"/>
              <a:ext cx="193790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动态 Agent Registry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74192" y="231171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角色不写死在编排器中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81050" y="2724150"/>
              <a:ext cx="2247900" cy="590550"/>
            </a:xfrm>
            <a:prstGeom prst="roundRect">
              <a:avLst>
                <a:gd name="adj" fmla="val 25806"/>
              </a:avLst>
            </a:prstGeom>
            <a:solidFill>
              <a:srgbClr val="FFFFFF">
                <a:alpha val="12000"/>
              </a:srgbClr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44880" y="292417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默认角色可全选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81050" y="3467100"/>
              <a:ext cx="2247900" cy="590550"/>
            </a:xfrm>
            <a:prstGeom prst="roundRect">
              <a:avLst>
                <a:gd name="adj" fmla="val 25806"/>
              </a:avLst>
            </a:prstGeom>
            <a:solidFill>
              <a:srgbClr val="FFFFFF">
                <a:alpha val="12000"/>
              </a:srgbClr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44880" y="366712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按任务选择子集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81050" y="4210050"/>
              <a:ext cx="2247900" cy="590550"/>
            </a:xfrm>
            <a:prstGeom prst="roundRect">
              <a:avLst>
                <a:gd name="adj" fmla="val 25806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44880" y="4410075"/>
              <a:ext cx="17114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通过配置替换角色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74954" y="509016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缺失 coverage 明确呈现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3600450" y="1466850"/>
            <a:ext cx="4019550" cy="4095750"/>
            <a:chOff x="3600450" y="1466850"/>
            <a:chExt cx="4019550" cy="4095750"/>
          </a:xfrm>
        </p:grpSpPr>
        <p:sp>
          <p:nvSpPr>
            <p:cNvPr id="26" name="Rectangle 26"/>
            <p:cNvSpPr/>
            <p:nvPr/>
          </p:nvSpPr>
          <p:spPr>
            <a:xfrm>
              <a:off x="3600450" y="1466850"/>
              <a:ext cx="4019550" cy="4095750"/>
            </a:xfrm>
            <a:prstGeom prst="roundRect">
              <a:avLst>
                <a:gd name="adj" fmla="val 5687"/>
              </a:avLst>
            </a:prstGeom>
            <a:solidFill>
              <a:srgbClr val="FFFFFF"/>
            </a:solidFill>
            <a:ln w="9525">
              <a:solidFill>
                <a:srgbClr val="D7E0EA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3838575" y="1683544"/>
              <a:ext cx="3338091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每个 Agent 的独立受控沙箱</a:t>
              </a:r>
            </a:p>
          </p:txBody>
        </p:sp>
        <p:grpSp>
          <p:nvGrpSpPr>
            <p:cNvPr id="33" name="Group 33"/>
            <p:cNvGrpSpPr/>
            <p:nvPr/>
          </p:nvGrpSpPr>
          <p:grpSpPr>
            <a:xfrm>
              <a:off x="3848100" y="2152650"/>
              <a:ext cx="3562807" cy="819150"/>
              <a:chOff x="3848100" y="2152650"/>
              <a:chExt cx="3562807" cy="81915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3848100" y="2152650"/>
                <a:ext cx="3276600" cy="819150"/>
              </a:xfrm>
              <a:prstGeom prst="roundRect">
                <a:avLst>
                  <a:gd name="adj" fmla="val 20930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29" name="Ellipse 29"/>
              <p:cNvSpPr/>
              <p:nvPr/>
            </p:nvSpPr>
            <p:spPr>
              <a:xfrm>
                <a:off x="4000500" y="2333625"/>
                <a:ext cx="457200" cy="4572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4129712" y="2508885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01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601718" y="2298382"/>
                <a:ext cx="241493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上下文与 Session 隔离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4604004" y="2632710"/>
                <a:ext cx="2806903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独立投影 · 独立追加 · 原始会话不外泄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3848100" y="3124200"/>
              <a:ext cx="3377032" cy="819150"/>
              <a:chOff x="3848100" y="3124200"/>
              <a:chExt cx="3377032" cy="819150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3848100" y="3124200"/>
                <a:ext cx="3276600" cy="819150"/>
              </a:xfrm>
              <a:prstGeom prst="roundRect">
                <a:avLst>
                  <a:gd name="adj" fmla="val 20930"/>
                </a:avLst>
              </a:prstGeom>
              <a:solidFill>
                <a:srgbClr val="DFF0F3"/>
              </a:solidFill>
              <a:ln>
                <a:noFill/>
              </a:ln>
            </p:spPr>
          </p:sp>
          <p:sp>
            <p:nvSpPr>
              <p:cNvPr id="35" name="Ellipse 35"/>
              <p:cNvSpPr/>
              <p:nvPr/>
            </p:nvSpPr>
            <p:spPr>
              <a:xfrm>
                <a:off x="4000500" y="3305175"/>
                <a:ext cx="457200" cy="4572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4129712" y="3480435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02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4601718" y="3269932"/>
                <a:ext cx="211582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工具权限与预算约束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4604004" y="3604260"/>
                <a:ext cx="262112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执行层强制最小权限 · 有界资源消耗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3848100" y="4095750"/>
              <a:ext cx="3276600" cy="819150"/>
              <a:chOff x="3848100" y="4095750"/>
              <a:chExt cx="3276600" cy="819150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3848100" y="4095750"/>
                <a:ext cx="3276600" cy="819150"/>
              </a:xfrm>
              <a:prstGeom prst="roundRect">
                <a:avLst>
                  <a:gd name="adj" fmla="val 20930"/>
                </a:avLst>
              </a:prstGeom>
              <a:solidFill>
                <a:srgbClr val="FFF3D8"/>
              </a:solidFill>
              <a:ln>
                <a:noFill/>
              </a:ln>
            </p:spPr>
          </p:sp>
          <p:sp>
            <p:nvSpPr>
              <p:cNvPr id="41" name="Ellipse 41"/>
              <p:cNvSpPr/>
              <p:nvPr/>
            </p:nvSpPr>
            <p:spPr>
              <a:xfrm>
                <a:off x="4000500" y="4276725"/>
                <a:ext cx="457200" cy="4572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4129712" y="4451985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03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4601718" y="4241482"/>
                <a:ext cx="249125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8A5D10"/>
                    </a:solidFill>
                    <a:latin typeface="+mn-lt"/>
                    <a:ea typeface="+mn-ea"/>
                    <a:cs typeface="+mn-cs"/>
                  </a:rPr>
                  <a:t>Checkpoint 与输出目录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4604004" y="4575810"/>
                <a:ext cx="183763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E5A34"/>
                    </a:solidFill>
                    <a:latin typeface="+mn-lt"/>
                    <a:ea typeface="+mn-ea"/>
                    <a:cs typeface="+mn-cs"/>
                  </a:rPr>
                  <a:t>可恢复 · 可交接 · 可审计</a:t>
                </a:r>
              </a:p>
            </p:txBody>
          </p:sp>
        </p:grpSp>
      </p:grpSp>
      <p:grpSp>
        <p:nvGrpSpPr>
          <p:cNvPr id="76" name="Group 76"/>
          <p:cNvGrpSpPr/>
          <p:nvPr/>
        </p:nvGrpSpPr>
        <p:grpSpPr>
          <a:xfrm>
            <a:off x="7943850" y="1466850"/>
            <a:ext cx="3714750" cy="4095750"/>
            <a:chOff x="7943850" y="1466850"/>
            <a:chExt cx="3714750" cy="4095750"/>
          </a:xfrm>
        </p:grpSpPr>
        <p:sp>
          <p:nvSpPr>
            <p:cNvPr id="47" name="Rectangle 47"/>
            <p:cNvSpPr/>
            <p:nvPr/>
          </p:nvSpPr>
          <p:spPr>
            <a:xfrm>
              <a:off x="7943850" y="1466850"/>
              <a:ext cx="3714750" cy="4095750"/>
            </a:xfrm>
            <a:prstGeom prst="roundRect">
              <a:avLst>
                <a:gd name="adj" fmla="val 615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181975" y="1683544"/>
              <a:ext cx="1824702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有界并发 Wave</a:t>
              </a:r>
            </a:p>
          </p:txBody>
        </p:sp>
        <p:sp>
          <p:nvSpPr>
            <p:cNvPr id="49" name="Line 49"/>
            <p:cNvSpPr/>
            <p:nvPr/>
          </p:nvSpPr>
          <p:spPr>
            <a:xfrm>
              <a:off x="8496300" y="2533650"/>
              <a:ext cx="2590800" cy="9525"/>
            </a:xfrm>
            <a:custGeom>
              <a:avLst/>
              <a:gdLst/>
              <a:ahLst/>
              <a:cxnLst/>
              <a:rect l="l" t="t" r="r" b="b"/>
              <a:pathLst>
                <a:path w="2590800" h="9525">
                  <a:moveTo>
                    <a:pt x="0" y="0"/>
                  </a:moveTo>
                  <a:lnTo>
                    <a:pt x="2590800" y="0"/>
                  </a:lnTo>
                </a:path>
              </a:pathLst>
            </a:custGeom>
            <a:noFill/>
            <a:ln w="38100">
              <a:solidFill>
                <a:srgbClr val="7AA2B5"/>
              </a:solidFill>
            </a:ln>
          </p:spPr>
        </p:sp>
        <p:sp>
          <p:nvSpPr>
            <p:cNvPr id="50" name="Ellipse 50"/>
            <p:cNvSpPr/>
            <p:nvPr/>
          </p:nvSpPr>
          <p:spPr>
            <a:xfrm>
              <a:off x="8477250" y="2247900"/>
              <a:ext cx="571500" cy="571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8625086" y="2454592"/>
              <a:ext cx="2758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W1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9505950" y="2247900"/>
              <a:ext cx="571500" cy="571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9653786" y="2454592"/>
              <a:ext cx="2758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W2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10534650" y="2247900"/>
              <a:ext cx="571500" cy="571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10682486" y="2454592"/>
              <a:ext cx="2758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W3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8305800" y="3143250"/>
              <a:ext cx="2990850" cy="742950"/>
            </a:xfrm>
            <a:prstGeom prst="roundRect">
              <a:avLst>
                <a:gd name="adj" fmla="val 23077"/>
              </a:avLst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8562975" y="3371850"/>
              <a:ext cx="285751" cy="285751"/>
              <a:chOff x="8562975" y="3371850"/>
              <a:chExt cx="285751" cy="285751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8674100" y="3498850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8642350" y="3609976"/>
                <a:ext cx="127000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47625">
                    <a:moveTo>
                      <a:pt x="0" y="47625"/>
                    </a:moveTo>
                    <a:lnTo>
                      <a:pt x="0" y="31750"/>
                    </a:lnTo>
                    <a:cubicBezTo>
                      <a:pt x="0" y="14215"/>
                      <a:pt x="14215" y="0"/>
                      <a:pt x="31750" y="0"/>
                    </a:cubicBezTo>
                    <a:lnTo>
                      <a:pt x="95250" y="0"/>
                    </a:lnTo>
                    <a:cubicBezTo>
                      <a:pt x="112785" y="0"/>
                      <a:pt x="127000" y="14215"/>
                      <a:pt x="127000" y="31750"/>
                    </a:cubicBezTo>
                    <a:lnTo>
                      <a:pt x="127000" y="47625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8753475" y="3371850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8785226" y="3482975"/>
                <a:ext cx="63500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47625">
                    <a:moveTo>
                      <a:pt x="0" y="0"/>
                    </a:moveTo>
                    <a:lnTo>
                      <a:pt x="31750" y="0"/>
                    </a:lnTo>
                    <a:cubicBezTo>
                      <a:pt x="49285" y="0"/>
                      <a:pt x="63500" y="14215"/>
                      <a:pt x="63500" y="31750"/>
                    </a:cubicBezTo>
                    <a:lnTo>
                      <a:pt x="63500" y="47625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8594725" y="3371850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8562975" y="3482975"/>
                <a:ext cx="63500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47625">
                    <a:moveTo>
                      <a:pt x="0" y="47625"/>
                    </a:moveTo>
                    <a:lnTo>
                      <a:pt x="0" y="31750"/>
                    </a:lnTo>
                    <a:cubicBezTo>
                      <a:pt x="0" y="14215"/>
                      <a:pt x="14215" y="0"/>
                      <a:pt x="31750" y="0"/>
                    </a:cubicBezTo>
                    <a:lnTo>
                      <a:pt x="63500" y="0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9040749" y="3278029"/>
              <a:ext cx="234641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Subagent map-reduce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042654" y="360426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并行研究后结构化汇聚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8305800" y="4076700"/>
              <a:ext cx="2990850" cy="742950"/>
            </a:xfrm>
            <a:prstGeom prst="roundRect">
              <a:avLst>
                <a:gd name="adj" fmla="val 23077"/>
              </a:avLst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73" name="Group 73"/>
            <p:cNvGrpSpPr/>
            <p:nvPr/>
          </p:nvGrpSpPr>
          <p:grpSpPr>
            <a:xfrm>
              <a:off x="8594725" y="4321175"/>
              <a:ext cx="238125" cy="254001"/>
              <a:chOff x="8594725" y="4321175"/>
              <a:chExt cx="238125" cy="254001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8594725" y="4511676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8594725" y="4321175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8753475" y="4321175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8626475" y="4384675"/>
                <a:ext cx="9525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7000">
                    <a:moveTo>
                      <a:pt x="0" y="0"/>
                    </a:moveTo>
                    <a:lnTo>
                      <a:pt x="0" y="127000"/>
                    </a:ln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8658225" y="4432300"/>
                <a:ext cx="127000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111125">
                    <a:moveTo>
                      <a:pt x="0" y="111125"/>
                    </a:moveTo>
                    <a:lnTo>
                      <a:pt x="95250" y="111125"/>
                    </a:lnTo>
                    <a:cubicBezTo>
                      <a:pt x="112785" y="111125"/>
                      <a:pt x="127000" y="96910"/>
                      <a:pt x="127000" y="79375"/>
                    </a:cubicBezTo>
                    <a:lnTo>
                      <a:pt x="127000" y="0"/>
                    </a:ln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8737600" y="4432300"/>
                <a:ext cx="95250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47625">
                    <a:moveTo>
                      <a:pt x="0" y="47625"/>
                    </a:moveTo>
                    <a:lnTo>
                      <a:pt x="47625" y="0"/>
                    </a:lnTo>
                    <a:lnTo>
                      <a:pt x="95250" y="47625"/>
                    </a:ln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</p:grpSp>
        <p:sp>
          <p:nvSpPr>
            <p:cNvPr id="74" name="TextBox 74"/>
            <p:cNvSpPr txBox="1"/>
            <p:nvPr/>
          </p:nvSpPr>
          <p:spPr>
            <a:xfrm>
              <a:off x="9040749" y="4211479"/>
              <a:ext cx="161284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结构化 handoff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9042654" y="4537710"/>
              <a:ext cx="14903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失败恢复 · 定向续跑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971550" y="5829300"/>
            <a:ext cx="10248900" cy="457200"/>
            <a:chOff x="971550" y="5829300"/>
            <a:chExt cx="10248900" cy="457200"/>
          </a:xfrm>
        </p:grpSpPr>
        <p:sp>
          <p:nvSpPr>
            <p:cNvPr id="77" name="Rectangle 77"/>
            <p:cNvSpPr/>
            <p:nvPr/>
          </p:nvSpPr>
          <p:spPr>
            <a:xfrm>
              <a:off x="971550" y="5829300"/>
              <a:ext cx="10248900" cy="457200"/>
            </a:xfrm>
            <a:prstGeom prst="roundRect">
              <a:avLst>
                <a:gd name="adj" fmla="val 50000"/>
              </a:avLst>
            </a:prstGeom>
            <a:solidFill>
              <a:srgbClr val="DFF0F3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2420090" y="5946458"/>
              <a:ext cx="735182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可替换角色 + 独立受控会话 + 有界并发与恢复 = 可治理的多智能体协作</a:t>
              </a:r>
            </a:p>
          </p:txBody>
        </p:sp>
      </p:grpSp>
      <p:sp>
        <p:nvSpPr>
          <p:cNvPr id="80" name="TextBox 80"/>
          <p:cNvSpPr txBox="1"/>
          <p:nvPr/>
        </p:nvSpPr>
        <p:spPr>
          <a:xfrm>
            <a:off x="11478730" y="64398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66750" y="1695450"/>
            <a:ext cx="10687050" cy="3638550"/>
          </a:xfrm>
          <a:custGeom>
            <a:avLst/>
            <a:gdLst/>
            <a:ahLst/>
            <a:cxnLst/>
            <a:rect l="l" t="t" r="r" b="b"/>
            <a:pathLst>
              <a:path w="10687050" h="3638550">
                <a:moveTo>
                  <a:pt x="0" y="3638550"/>
                </a:moveTo>
                <a:lnTo>
                  <a:pt x="1524000" y="2305050"/>
                </a:lnTo>
                <a:lnTo>
                  <a:pt x="3162300" y="2914650"/>
                </a:lnTo>
                <a:lnTo>
                  <a:pt x="4705350" y="1295400"/>
                </a:lnTo>
                <a:lnTo>
                  <a:pt x="6457950" y="2114550"/>
                </a:lnTo>
                <a:lnTo>
                  <a:pt x="8115300" y="571500"/>
                </a:lnTo>
                <a:lnTo>
                  <a:pt x="10687050" y="1447800"/>
                </a:lnTo>
                <a:moveTo>
                  <a:pt x="571500" y="685800"/>
                </a:moveTo>
                <a:lnTo>
                  <a:pt x="2095500" y="1504950"/>
                </a:lnTo>
                <a:lnTo>
                  <a:pt x="3810000" y="457200"/>
                </a:lnTo>
                <a:lnTo>
                  <a:pt x="5524500" y="1085850"/>
                </a:lnTo>
                <a:lnTo>
                  <a:pt x="7334250" y="0"/>
                </a:lnTo>
                <a:lnTo>
                  <a:pt x="9906000" y="342900"/>
                </a:lnTo>
              </a:path>
            </a:pathLst>
          </a:custGeom>
          <a:noFill/>
          <a:ln w="19050">
            <a:solidFill>
              <a:srgbClr val="D7E0EA"/>
            </a:solidFill>
          </a:ln>
        </p:spPr>
      </p:sp>
      <p:grpSp>
        <p:nvGrpSpPr>
          <p:cNvPr id="5" name="Group 5"/>
          <p:cNvGrpSpPr/>
          <p:nvPr/>
        </p:nvGrpSpPr>
        <p:grpSpPr>
          <a:xfrm>
            <a:off x="500634" y="489585"/>
            <a:ext cx="10824461" cy="714566"/>
            <a:chOff x="500634" y="489585"/>
            <a:chExt cx="10824461" cy="714566"/>
          </a:xfrm>
        </p:grpSpPr>
        <p:sp>
          <p:nvSpPr>
            <p:cNvPr id="3" name="TextBox 3"/>
            <p:cNvSpPr txBox="1"/>
            <p:nvPr/>
          </p:nvSpPr>
          <p:spPr>
            <a:xfrm>
              <a:off x="500634" y="489585"/>
              <a:ext cx="10824461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S1–S6 将研究材料逐级转化为制胜机理与能力画像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6542" y="940118"/>
              <a:ext cx="65940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六类专业 Agent 固化行业推理链，而不是在通用 Deep Research 外层简单套壳。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45592" y="1187768"/>
            <a:ext cx="10503408" cy="4327588"/>
            <a:chOff x="545592" y="1187768"/>
            <a:chExt cx="10503408" cy="4327588"/>
          </a:xfrm>
        </p:grpSpPr>
        <p:sp>
          <p:nvSpPr>
            <p:cNvPr id="6" name="Freeform 6"/>
            <p:cNvSpPr/>
            <p:nvPr/>
          </p:nvSpPr>
          <p:spPr>
            <a:xfrm>
              <a:off x="1238250" y="1790700"/>
              <a:ext cx="9658350" cy="2781300"/>
            </a:xfrm>
            <a:custGeom>
              <a:avLst/>
              <a:gdLst/>
              <a:ahLst/>
              <a:cxnLst/>
              <a:rect l="l" t="t" r="r" b="b"/>
              <a:pathLst>
                <a:path w="9658350" h="2781300">
                  <a:moveTo>
                    <a:pt x="0" y="2781300"/>
                  </a:moveTo>
                  <a:cubicBezTo>
                    <a:pt x="1562100" y="2686050"/>
                    <a:pt x="2152650" y="2305050"/>
                    <a:pt x="3048000" y="1885950"/>
                  </a:cubicBezTo>
                  <a:cubicBezTo>
                    <a:pt x="4324350" y="1295400"/>
                    <a:pt x="5429250" y="1162050"/>
                    <a:pt x="6515100" y="876300"/>
                  </a:cubicBezTo>
                  <a:cubicBezTo>
                    <a:pt x="7620000" y="590550"/>
                    <a:pt x="8477250" y="400050"/>
                    <a:pt x="9658350" y="0"/>
                  </a:cubicBezTo>
                </a:path>
              </a:pathLst>
            </a:custGeom>
            <a:noFill/>
            <a:ln w="171450" cap="rnd">
              <a:solidFill>
                <a:srgbClr val="D7E0EA"/>
              </a:solidFill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647700" y="3981450"/>
              <a:ext cx="1181100" cy="1533906"/>
              <a:chOff x="647700" y="3981450"/>
              <a:chExt cx="1181100" cy="1533906"/>
            </a:xfrm>
          </p:grpSpPr>
          <p:sp>
            <p:nvSpPr>
              <p:cNvPr id="7" name="Ellipse 7"/>
              <p:cNvSpPr/>
              <p:nvPr/>
            </p:nvSpPr>
            <p:spPr>
              <a:xfrm>
                <a:off x="647700" y="3981450"/>
                <a:ext cx="1181100" cy="1181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1041997" y="4214812"/>
                <a:ext cx="392506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2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S1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867918" y="4635818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DDEAF2"/>
                    </a:solidFill>
                    <a:latin typeface="+mn-lt"/>
                    <a:ea typeface="+mn-ea"/>
                    <a:cs typeface="+mn-cs"/>
                  </a:rPr>
                  <a:t>对手分析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816178" y="5280660"/>
                <a:ext cx="84414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威胁 · 约束</a:t>
                </a:r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2457450" y="3676650"/>
              <a:ext cx="1181100" cy="1533906"/>
              <a:chOff x="2457450" y="3676650"/>
              <a:chExt cx="1181100" cy="1533906"/>
            </a:xfrm>
          </p:grpSpPr>
          <p:sp>
            <p:nvSpPr>
              <p:cNvPr id="12" name="Ellipse 12"/>
              <p:cNvSpPr/>
              <p:nvPr/>
            </p:nvSpPr>
            <p:spPr>
              <a:xfrm>
                <a:off x="2457450" y="3676650"/>
                <a:ext cx="1181100" cy="1181100"/>
              </a:xfrm>
              <a:prstGeom prst="ellipse">
                <a:avLst/>
              </a:prstGeom>
              <a:solidFill>
                <a:srgbClr val="174D79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2851747" y="3910012"/>
                <a:ext cx="392506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2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S2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2677668" y="4331018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DDEAF2"/>
                    </a:solidFill>
                    <a:latin typeface="+mn-lt"/>
                    <a:ea typeface="+mn-ea"/>
                    <a:cs typeface="+mn-cs"/>
                  </a:rPr>
                  <a:t>运用审查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2625928" y="4975860"/>
                <a:ext cx="84414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任务 · 场景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4267200" y="2914650"/>
              <a:ext cx="1181100" cy="1533906"/>
              <a:chOff x="4267200" y="2914650"/>
              <a:chExt cx="1181100" cy="1533906"/>
            </a:xfrm>
          </p:grpSpPr>
          <p:sp>
            <p:nvSpPr>
              <p:cNvPr id="17" name="Ellipse 17"/>
              <p:cNvSpPr/>
              <p:nvPr/>
            </p:nvSpPr>
            <p:spPr>
              <a:xfrm>
                <a:off x="4267200" y="2914650"/>
                <a:ext cx="1181100" cy="1181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4661497" y="3148012"/>
                <a:ext cx="392506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2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S3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4396550" y="3569018"/>
                <a:ext cx="92240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E7F6F8"/>
                    </a:solidFill>
                    <a:latin typeface="+mn-lt"/>
                    <a:ea typeface="+mn-ea"/>
                    <a:cs typeface="+mn-cs"/>
                  </a:rPr>
                  <a:t>突破口思考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4435678" y="4213860"/>
                <a:ext cx="84414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规律 · 因果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6076950" y="2400300"/>
              <a:ext cx="1181100" cy="1533906"/>
              <a:chOff x="6076950" y="2400300"/>
              <a:chExt cx="1181100" cy="1533906"/>
            </a:xfrm>
          </p:grpSpPr>
          <p:sp>
            <p:nvSpPr>
              <p:cNvPr id="22" name="Ellipse 22"/>
              <p:cNvSpPr/>
              <p:nvPr/>
            </p:nvSpPr>
            <p:spPr>
              <a:xfrm>
                <a:off x="6076950" y="2400300"/>
                <a:ext cx="1181100" cy="1181100"/>
              </a:xfrm>
              <a:prstGeom prst="ellipse">
                <a:avLst/>
              </a:prstGeom>
              <a:solidFill>
                <a:srgbClr val="3E95AB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6471247" y="2633662"/>
                <a:ext cx="392506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2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S4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6297168" y="3054668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F0FBFC"/>
                    </a:solidFill>
                    <a:latin typeface="+mn-lt"/>
                    <a:ea typeface="+mn-ea"/>
                    <a:cs typeface="+mn-cs"/>
                  </a:rPr>
                  <a:t>能力映射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6245428" y="3699510"/>
                <a:ext cx="84414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效果 → 功能</a:t>
                </a: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7886700" y="1885950"/>
              <a:ext cx="1181100" cy="1533906"/>
              <a:chOff x="7886700" y="1885950"/>
              <a:chExt cx="1181100" cy="1533906"/>
            </a:xfrm>
          </p:grpSpPr>
          <p:sp>
            <p:nvSpPr>
              <p:cNvPr id="27" name="Ellipse 27"/>
              <p:cNvSpPr/>
              <p:nvPr/>
            </p:nvSpPr>
            <p:spPr>
              <a:xfrm>
                <a:off x="7886700" y="1885950"/>
                <a:ext cx="1181100" cy="1181100"/>
              </a:xfrm>
              <a:prstGeom prst="ellipse">
                <a:avLst/>
              </a:prstGeom>
              <a:solidFill>
                <a:srgbClr val="B98222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8280997" y="2119312"/>
                <a:ext cx="392506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2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S5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016049" y="2540318"/>
                <a:ext cx="92240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FFF7E5"/>
                    </a:solidFill>
                    <a:latin typeface="+mn-lt"/>
                    <a:ea typeface="+mn-ea"/>
                    <a:cs typeface="+mn-cs"/>
                  </a:rPr>
                  <a:t>现状与差距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8055178" y="3185160"/>
                <a:ext cx="84414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边界 · 缺口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9620250" y="1276350"/>
              <a:ext cx="1333500" cy="1686306"/>
              <a:chOff x="9620250" y="1276350"/>
              <a:chExt cx="1333500" cy="1686306"/>
            </a:xfrm>
          </p:grpSpPr>
          <p:sp>
            <p:nvSpPr>
              <p:cNvPr id="32" name="Ellipse 32"/>
              <p:cNvSpPr/>
              <p:nvPr/>
            </p:nvSpPr>
            <p:spPr>
              <a:xfrm>
                <a:off x="9620250" y="1276350"/>
                <a:ext cx="1333500" cy="1333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10077663" y="1550670"/>
                <a:ext cx="418673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S6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9677606" y="1998821"/>
                <a:ext cx="121878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4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能力图像综合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9622612" y="2727960"/>
                <a:ext cx="132877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8A5D10"/>
                    </a:solidFill>
                    <a:latin typeface="+mn-lt"/>
                    <a:ea typeface="+mn-ea"/>
                    <a:cs typeface="+mn-cs"/>
                  </a:rPr>
                  <a:t>优先级 · 验证建议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545592" y="21021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研究材料</a:t>
              </a:r>
            </a:p>
          </p:txBody>
        </p:sp>
        <p:sp>
          <p:nvSpPr>
            <p:cNvPr id="38" name="Freeform 38"/>
            <p:cNvSpPr/>
            <p:nvPr/>
          </p:nvSpPr>
          <p:spPr>
            <a:xfrm>
              <a:off x="552450" y="2400300"/>
              <a:ext cx="1619250" cy="9525"/>
            </a:xfrm>
            <a:custGeom>
              <a:avLst/>
              <a:gdLst/>
              <a:ahLst/>
              <a:cxnLst/>
              <a:rect l="l" t="t" r="r" b="b"/>
              <a:pathLst>
                <a:path w="1619250" h="9525">
                  <a:moveTo>
                    <a:pt x="0" y="0"/>
                  </a:moveTo>
                  <a:lnTo>
                    <a:pt x="1619250" y="0"/>
                  </a:lnTo>
                </a:path>
              </a:pathLst>
            </a:custGeom>
            <a:solidFill>
              <a:srgbClr val="000000"/>
            </a:solidFill>
            <a:ln w="57150" cap="rnd">
              <a:solidFill>
                <a:schemeClr val="accent1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755642" y="17592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制胜机理</a:t>
              </a:r>
            </a:p>
          </p:txBody>
        </p:sp>
        <p:sp>
          <p:nvSpPr>
            <p:cNvPr id="40" name="Freeform 40"/>
            <p:cNvSpPr/>
            <p:nvPr/>
          </p:nvSpPr>
          <p:spPr>
            <a:xfrm>
              <a:off x="4762500" y="2057400"/>
              <a:ext cx="1752600" cy="9525"/>
            </a:xfrm>
            <a:custGeom>
              <a:avLst/>
              <a:gdLst/>
              <a:ahLst/>
              <a:cxnLst/>
              <a:rect l="l" t="t" r="r" b="b"/>
              <a:pathLst>
                <a:path w="1752600" h="9525">
                  <a:moveTo>
                    <a:pt x="0" y="0"/>
                  </a:moveTo>
                  <a:lnTo>
                    <a:pt x="1752600" y="0"/>
                  </a:lnTo>
                </a:path>
              </a:pathLst>
            </a:custGeom>
            <a:solidFill>
              <a:srgbClr val="000000"/>
            </a:solidFill>
            <a:ln w="57150" cap="rnd">
              <a:solidFill>
                <a:schemeClr val="accent3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813292" y="11877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能力画像</a:t>
              </a:r>
            </a:p>
          </p:txBody>
        </p:sp>
        <p:sp>
          <p:nvSpPr>
            <p:cNvPr id="42" name="Freeform 42"/>
            <p:cNvSpPr/>
            <p:nvPr/>
          </p:nvSpPr>
          <p:spPr>
            <a:xfrm>
              <a:off x="8820150" y="1485900"/>
              <a:ext cx="2228850" cy="9525"/>
            </a:xfrm>
            <a:custGeom>
              <a:avLst/>
              <a:gdLst/>
              <a:ahLst/>
              <a:cxnLst/>
              <a:rect l="l" t="t" r="r" b="b"/>
              <a:pathLst>
                <a:path w="2228850" h="9525">
                  <a:moveTo>
                    <a:pt x="0" y="0"/>
                  </a:moveTo>
                  <a:lnTo>
                    <a:pt x="2228850" y="0"/>
                  </a:lnTo>
                </a:path>
              </a:pathLst>
            </a:custGeom>
            <a:solidFill>
              <a:srgbClr val="000000"/>
            </a:solidFill>
            <a:ln w="57150" cap="rnd">
              <a:solidFill>
                <a:schemeClr val="accent2"/>
              </a:solidFill>
            </a:ln>
          </p:spPr>
        </p:sp>
      </p:grpSp>
      <p:grpSp>
        <p:nvGrpSpPr>
          <p:cNvPr id="47" name="Group 47"/>
          <p:cNvGrpSpPr/>
          <p:nvPr/>
        </p:nvGrpSpPr>
        <p:grpSpPr>
          <a:xfrm>
            <a:off x="895350" y="5619750"/>
            <a:ext cx="10401300" cy="697039"/>
            <a:chOff x="895350" y="5619750"/>
            <a:chExt cx="10401300" cy="697039"/>
          </a:xfrm>
        </p:grpSpPr>
        <p:sp>
          <p:nvSpPr>
            <p:cNvPr id="44" name="Rectangle 44"/>
            <p:cNvSpPr/>
            <p:nvPr/>
          </p:nvSpPr>
          <p:spPr>
            <a:xfrm>
              <a:off x="895350" y="5619750"/>
              <a:ext cx="10401300" cy="647700"/>
            </a:xfrm>
            <a:prstGeom prst="roundRect">
              <a:avLst>
                <a:gd name="adj" fmla="val 32353"/>
              </a:avLst>
            </a:prstGeom>
            <a:solidFill>
              <a:srgbClr val="FFFFFF"/>
            </a:solidFill>
            <a:ln w="9525">
              <a:solidFill>
                <a:srgbClr val="D7E0EA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725668" y="57597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链路产出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2484228" y="5994082"/>
              <a:ext cx="722354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规律 · 场景 · 因果机制 · 能力需求 · 指标边界 · 装备形态 · 验证建议</a:t>
              </a:r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11478730" y="64398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01015" y="497681"/>
            <a:ext cx="10978940" cy="706470"/>
            <a:chOff x="501015" y="497681"/>
            <a:chExt cx="10978940" cy="706470"/>
          </a:xfrm>
        </p:grpSpPr>
        <p:sp>
          <p:nvSpPr>
            <p:cNvPr id="2" name="TextBox 2"/>
            <p:cNvSpPr txBox="1"/>
            <p:nvPr/>
          </p:nvSpPr>
          <p:spPr>
            <a:xfrm>
              <a:off x="501015" y="497681"/>
              <a:ext cx="10978940" cy="513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62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L1–L4 把补证、回溯和强度调整限制在可审计边界内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6542" y="940118"/>
              <a:ext cx="56475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系统不是无限自我反思，而是按缺口触发分层、定向、有上限的纠偏。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85207" y="1204332"/>
            <a:ext cx="4925586" cy="4925586"/>
            <a:chOff x="585207" y="1204332"/>
            <a:chExt cx="4925586" cy="4925586"/>
          </a:xfrm>
        </p:grpSpPr>
        <p:sp>
          <p:nvSpPr>
            <p:cNvPr id="5" name="Ellipse 5"/>
            <p:cNvSpPr/>
            <p:nvPr/>
          </p:nvSpPr>
          <p:spPr>
            <a:xfrm rot="-4680000">
              <a:off x="971550" y="1590675"/>
              <a:ext cx="4152900" cy="4152900"/>
            </a:xfrm>
            <a:prstGeom prst="ellipse">
              <a:avLst/>
            </a:prstGeom>
            <a:solidFill>
              <a:srgbClr val="FFFFFF"/>
            </a:solidFill>
            <a:ln w="285750">
              <a:solidFill>
                <a:schemeClr val="accent2"/>
              </a:solidFill>
              <a:custDash>
                <a:ds d="3933333" sp="633333"/>
              </a:custDash>
            </a:ln>
          </p:spPr>
        </p:sp>
        <p:sp>
          <p:nvSpPr>
            <p:cNvPr id="6" name="Ellipse 6"/>
            <p:cNvSpPr/>
            <p:nvPr/>
          </p:nvSpPr>
          <p:spPr>
            <a:xfrm rot="-3240000">
              <a:off x="1466850" y="2085975"/>
              <a:ext cx="3162300" cy="3162300"/>
            </a:xfrm>
            <a:prstGeom prst="ellipse">
              <a:avLst/>
            </a:prstGeom>
            <a:solidFill>
              <a:srgbClr val="FFFFFF"/>
            </a:solidFill>
            <a:ln w="266700">
              <a:solidFill>
                <a:schemeClr val="accent3"/>
              </a:solidFill>
              <a:custDash>
                <a:ds d="3142857" sp="585714"/>
              </a:custDash>
            </a:ln>
          </p:spPr>
        </p:sp>
        <p:sp>
          <p:nvSpPr>
            <p:cNvPr id="7" name="Ellipse 7"/>
            <p:cNvSpPr/>
            <p:nvPr/>
          </p:nvSpPr>
          <p:spPr>
            <a:xfrm rot="-1800000">
              <a:off x="1943100" y="2562225"/>
              <a:ext cx="2209800" cy="2209800"/>
            </a:xfrm>
            <a:prstGeom prst="ellipse">
              <a:avLst/>
            </a:prstGeom>
            <a:solidFill>
              <a:srgbClr val="FFFFFF"/>
            </a:solidFill>
            <a:ln w="247650">
              <a:solidFill>
                <a:srgbClr val="7AA2B5"/>
              </a:solidFill>
              <a:custDash>
                <a:ds d="2230769" sp="569231"/>
              </a:custDash>
            </a:ln>
          </p:spPr>
        </p:sp>
        <p:sp>
          <p:nvSpPr>
            <p:cNvPr id="8" name="Ellipse 8"/>
            <p:cNvSpPr/>
            <p:nvPr/>
          </p:nvSpPr>
          <p:spPr>
            <a:xfrm>
              <a:off x="2409825" y="3028950"/>
              <a:ext cx="1276350" cy="12763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851747" y="3338512"/>
              <a:ext cx="39250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696896" y="372951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节点自检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3524250" y="2809875"/>
              <a:ext cx="876300" cy="4000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612779" y="2930842"/>
              <a:ext cx="6992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L2 回溯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733550" y="1943100"/>
              <a:ext cx="1104900" cy="400050"/>
            </a:xfrm>
            <a:prstGeom prst="roundRect">
              <a:avLst>
                <a:gd name="adj" fmla="val 50000"/>
              </a:avLst>
            </a:prstGeom>
            <a:solidFill>
              <a:srgbClr val="DFF0F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835567" y="2064068"/>
              <a:ext cx="9008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L3 外循环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3648075" y="5257800"/>
              <a:ext cx="1162050" cy="400050"/>
            </a:xfrm>
            <a:prstGeom prst="roundRect">
              <a:avLst>
                <a:gd name="adj" fmla="val 50000"/>
              </a:avLst>
            </a:prstGeom>
            <a:solidFill>
              <a:srgbClr val="FFF3D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778667" y="5378768"/>
              <a:ext cx="9008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L4 元循环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51154" y="5547360"/>
              <a:ext cx="36388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由内到外：补证 → 回溯 → 跨阶段门控 → 收敛后复核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6477000" y="1428750"/>
            <a:ext cx="5181600" cy="4133850"/>
            <a:chOff x="6477000" y="1428750"/>
            <a:chExt cx="5181600" cy="4133850"/>
          </a:xfrm>
        </p:grpSpPr>
        <p:sp>
          <p:nvSpPr>
            <p:cNvPr id="19" name="Rectangle 19"/>
            <p:cNvSpPr/>
            <p:nvPr/>
          </p:nvSpPr>
          <p:spPr>
            <a:xfrm>
              <a:off x="6477000" y="1428750"/>
              <a:ext cx="5181600" cy="4133850"/>
            </a:xfrm>
            <a:prstGeom prst="roundRect">
              <a:avLst>
                <a:gd name="adj" fmla="val 5530"/>
              </a:avLst>
            </a:prstGeom>
            <a:solidFill>
              <a:srgbClr val="FFFFFF"/>
            </a:solidFill>
            <a:ln w="9525">
              <a:solidFill>
                <a:srgbClr val="D7E0EA"/>
              </a:solidFill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6648450" y="1707832"/>
              <a:ext cx="4853650" cy="585121"/>
              <a:chOff x="6648450" y="1707832"/>
              <a:chExt cx="4853650" cy="585121"/>
            </a:xfrm>
          </p:grpSpPr>
          <p:sp>
            <p:nvSpPr>
              <p:cNvPr id="20" name="Ellipse 20"/>
              <p:cNvSpPr/>
              <p:nvPr/>
            </p:nvSpPr>
            <p:spPr>
              <a:xfrm>
                <a:off x="6648450" y="1733550"/>
                <a:ext cx="495300" cy="495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6784479" y="1919764"/>
                <a:ext cx="223242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8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L1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7325868" y="1707832"/>
                <a:ext cx="1882597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单节点自检与补证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7327773" y="2043589"/>
                <a:ext cx="4174327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触发：证据不足 / 输出缺项　动作：当前节点定向补齐</a:t>
                </a:r>
              </a:p>
            </p:txBody>
          </p:sp>
        </p:grpSp>
        <p:sp>
          <p:nvSpPr>
            <p:cNvPr id="25" name="Line 25"/>
            <p:cNvSpPr/>
            <p:nvPr/>
          </p:nvSpPr>
          <p:spPr>
            <a:xfrm>
              <a:off x="6819900" y="2457450"/>
              <a:ext cx="4514850" cy="9525"/>
            </a:xfrm>
            <a:custGeom>
              <a:avLst/>
              <a:gdLst/>
              <a:ahLst/>
              <a:cxnLst/>
              <a:rect l="l" t="t" r="r" b="b"/>
              <a:pathLst>
                <a:path w="4514850" h="9525">
                  <a:moveTo>
                    <a:pt x="0" y="0"/>
                  </a:moveTo>
                  <a:lnTo>
                    <a:pt x="451485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6648450" y="2698432"/>
              <a:ext cx="4483176" cy="585121"/>
              <a:chOff x="6648450" y="2698432"/>
              <a:chExt cx="4483176" cy="585121"/>
            </a:xfrm>
          </p:grpSpPr>
          <p:sp>
            <p:nvSpPr>
              <p:cNvPr id="26" name="Ellipse 26"/>
              <p:cNvSpPr/>
              <p:nvPr/>
            </p:nvSpPr>
            <p:spPr>
              <a:xfrm>
                <a:off x="6648450" y="2724150"/>
                <a:ext cx="495300" cy="495300"/>
              </a:xfrm>
              <a:prstGeom prst="ellipse">
                <a:avLst/>
              </a:prstGeom>
              <a:solidFill>
                <a:srgbClr val="7AA2B5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6784479" y="2910364"/>
                <a:ext cx="223242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8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L2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7325868" y="2698432"/>
                <a:ext cx="141613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相邻阶段回溯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7327773" y="3034189"/>
                <a:ext cx="3803853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触发：上下游矛盾　动作：回到相关阶段修正交接</a:t>
                </a:r>
              </a:p>
            </p:txBody>
          </p:sp>
        </p:grpSp>
        <p:sp>
          <p:nvSpPr>
            <p:cNvPr id="31" name="Line 31"/>
            <p:cNvSpPr/>
            <p:nvPr/>
          </p:nvSpPr>
          <p:spPr>
            <a:xfrm>
              <a:off x="6819900" y="3448050"/>
              <a:ext cx="4514850" cy="9525"/>
            </a:xfrm>
            <a:custGeom>
              <a:avLst/>
              <a:gdLst/>
              <a:ahLst/>
              <a:cxnLst/>
              <a:rect l="l" t="t" r="r" b="b"/>
              <a:pathLst>
                <a:path w="4514850" h="9525">
                  <a:moveTo>
                    <a:pt x="0" y="0"/>
                  </a:moveTo>
                  <a:lnTo>
                    <a:pt x="451485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6648450" y="3689032"/>
              <a:ext cx="4310863" cy="585121"/>
              <a:chOff x="6648450" y="3689032"/>
              <a:chExt cx="4310863" cy="585121"/>
            </a:xfrm>
          </p:grpSpPr>
          <p:sp>
            <p:nvSpPr>
              <p:cNvPr id="32" name="Ellipse 32"/>
              <p:cNvSpPr/>
              <p:nvPr/>
            </p:nvSpPr>
            <p:spPr>
              <a:xfrm>
                <a:off x="6648450" y="3714750"/>
                <a:ext cx="495300" cy="495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6784479" y="3900964"/>
                <a:ext cx="223242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8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L3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7325868" y="3689032"/>
                <a:ext cx="164936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跨阶段质量门控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7327773" y="4024789"/>
                <a:ext cx="3631540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触发：关键质量门失败　动作：跨阶段定向再调</a:t>
                </a:r>
              </a:p>
            </p:txBody>
          </p:sp>
        </p:grpSp>
        <p:sp>
          <p:nvSpPr>
            <p:cNvPr id="37" name="Line 37"/>
            <p:cNvSpPr/>
            <p:nvPr/>
          </p:nvSpPr>
          <p:spPr>
            <a:xfrm>
              <a:off x="6819900" y="4438650"/>
              <a:ext cx="4514850" cy="9525"/>
            </a:xfrm>
            <a:custGeom>
              <a:avLst/>
              <a:gdLst/>
              <a:ahLst/>
              <a:cxnLst/>
              <a:rect l="l" t="t" r="r" b="b"/>
              <a:pathLst>
                <a:path w="4514850" h="9525">
                  <a:moveTo>
                    <a:pt x="0" y="0"/>
                  </a:moveTo>
                  <a:lnTo>
                    <a:pt x="451485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6648450" y="4679632"/>
              <a:ext cx="4288104" cy="585121"/>
              <a:chOff x="6648450" y="4679632"/>
              <a:chExt cx="4288104" cy="585121"/>
            </a:xfrm>
          </p:grpSpPr>
          <p:sp>
            <p:nvSpPr>
              <p:cNvPr id="38" name="Ellipse 38"/>
              <p:cNvSpPr/>
              <p:nvPr/>
            </p:nvSpPr>
            <p:spPr>
              <a:xfrm>
                <a:off x="6648450" y="4705350"/>
                <a:ext cx="495300" cy="495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6784479" y="4891564"/>
                <a:ext cx="223242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8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L4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7325868" y="4679632"/>
                <a:ext cx="164936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8A5D10"/>
                    </a:solidFill>
                    <a:latin typeface="+mn-lt"/>
                    <a:ea typeface="+mn-ea"/>
                    <a:cs typeface="+mn-cs"/>
                  </a:rPr>
                  <a:t>收敛后有界复核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7327773" y="5015389"/>
                <a:ext cx="3608781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rgbClr val="6E5A34"/>
                    </a:solidFill>
                    <a:latin typeface="+mn-lt"/>
                    <a:ea typeface="+mn-ea"/>
                    <a:cs typeface="+mn-cs"/>
                  </a:rPr>
                  <a:t>最多调整 2 个 A–H 次分支与 S1–S6 执行强度</a:t>
                </a:r>
              </a:p>
            </p:txBody>
          </p:sp>
        </p:grpSp>
      </p:grpSp>
      <p:grpSp>
        <p:nvGrpSpPr>
          <p:cNvPr id="49" name="Group 49"/>
          <p:cNvGrpSpPr/>
          <p:nvPr/>
        </p:nvGrpSpPr>
        <p:grpSpPr>
          <a:xfrm>
            <a:off x="1047750" y="5810250"/>
            <a:ext cx="10096500" cy="495300"/>
            <a:chOff x="1047750" y="5810250"/>
            <a:chExt cx="10096500" cy="495300"/>
          </a:xfrm>
        </p:grpSpPr>
        <p:sp>
          <p:nvSpPr>
            <p:cNvPr id="44" name="Rectangle 44"/>
            <p:cNvSpPr/>
            <p:nvPr/>
          </p:nvSpPr>
          <p:spPr>
            <a:xfrm>
              <a:off x="1047750" y="5810250"/>
              <a:ext cx="10096500" cy="495300"/>
            </a:xfrm>
            <a:prstGeom prst="roundRect">
              <a:avLst>
                <a:gd name="adj" fmla="val 50000"/>
              </a:avLst>
            </a:prstGeom>
            <a:solidFill>
              <a:srgbClr val="FFF0F0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1315051" y="5960269"/>
              <a:ext cx="232508" cy="214312"/>
              <a:chOff x="1315051" y="5960269"/>
              <a:chExt cx="232508" cy="214312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1315051" y="5960269"/>
                <a:ext cx="232508" cy="212479"/>
              </a:xfrm>
              <a:custGeom>
                <a:avLst/>
                <a:gdLst/>
                <a:ahLst/>
                <a:cxnLst/>
                <a:rect l="l" t="t" r="r" b="b"/>
                <a:pathLst>
                  <a:path w="232508" h="212479">
                    <a:moveTo>
                      <a:pt x="116795" y="212479"/>
                    </a:moveTo>
                    <a:cubicBezTo>
                      <a:pt x="42208" y="189358"/>
                      <a:pt x="0" y="110638"/>
                      <a:pt x="22021" y="35719"/>
                    </a:cubicBezTo>
                    <a:cubicBezTo>
                      <a:pt x="59115" y="37416"/>
                      <a:pt x="95413" y="24605"/>
                      <a:pt x="123224" y="0"/>
                    </a:cubicBezTo>
                    <a:cubicBezTo>
                      <a:pt x="151035" y="24605"/>
                      <a:pt x="187333" y="37416"/>
                      <a:pt x="224427" y="35719"/>
                    </a:cubicBezTo>
                    <a:cubicBezTo>
                      <a:pt x="232508" y="63212"/>
                      <a:pt x="232135" y="92499"/>
                      <a:pt x="223356" y="119777"/>
                    </a:cubicBezTo>
                  </a:path>
                </a:pathLst>
              </a:custGeom>
              <a:noFill/>
              <a:ln w="23812">
                <a:solidFill>
                  <a:srgbClr val="B94747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1473994" y="6126956"/>
                <a:ext cx="71438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47625">
                    <a:moveTo>
                      <a:pt x="0" y="23812"/>
                    </a:moveTo>
                    <a:lnTo>
                      <a:pt x="23812" y="47625"/>
                    </a:lnTo>
                    <a:lnTo>
                      <a:pt x="71438" y="0"/>
                    </a:lnTo>
                  </a:path>
                </a:pathLst>
              </a:custGeom>
              <a:noFill/>
              <a:ln w="23812">
                <a:solidFill>
                  <a:srgbClr val="B94747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1763649" y="5954554"/>
              <a:ext cx="754695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8C3232"/>
                  </a:solidFill>
                  <a:latin typeface="+mn-lt"/>
                  <a:ea typeface="+mn-ea"/>
                  <a:cs typeface="+mn-cs"/>
                </a:rPr>
                <a:t>非法调整由 Harness 拒绝并保留原蓝图；所有回路均记录触发、动作与边界</a:t>
              </a:r>
            </a:p>
          </p:txBody>
        </p:sp>
      </p:grpSp>
      <p:sp>
        <p:nvSpPr>
          <p:cNvPr id="50" name="TextBox 50"/>
          <p:cNvSpPr txBox="1"/>
          <p:nvPr/>
        </p:nvSpPr>
        <p:spPr>
          <a:xfrm>
            <a:off x="11478730" y="64398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99110" y="457200"/>
            <a:ext cx="8991600" cy="746951"/>
            <a:chOff x="499110" y="457200"/>
            <a:chExt cx="8991600" cy="746951"/>
          </a:xfrm>
        </p:grpSpPr>
        <p:sp>
          <p:nvSpPr>
            <p:cNvPr id="2" name="TextBox 2"/>
            <p:cNvSpPr txBox="1"/>
            <p:nvPr/>
          </p:nvSpPr>
          <p:spPr>
            <a:xfrm>
              <a:off x="499110" y="457200"/>
              <a:ext cx="89916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证据治理贯穿检索、材料化、引用和交付校验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6542" y="940118"/>
              <a:ext cx="86198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只有通过安全、材料化与质量门控的来源进入正式支撑链，交付结果可通过 Manifest 与 SHA-256 复核。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14350" y="1428750"/>
            <a:ext cx="5391150" cy="4362450"/>
            <a:chOff x="514350" y="1428750"/>
            <a:chExt cx="5391150" cy="4362450"/>
          </a:xfrm>
        </p:grpSpPr>
        <p:sp>
          <p:nvSpPr>
            <p:cNvPr id="5" name="Rectangle 5"/>
            <p:cNvSpPr/>
            <p:nvPr/>
          </p:nvSpPr>
          <p:spPr>
            <a:xfrm>
              <a:off x="514350" y="1428750"/>
              <a:ext cx="5391150" cy="4362450"/>
            </a:xfrm>
            <a:prstGeom prst="roundRect">
              <a:avLst>
                <a:gd name="adj" fmla="val 5240"/>
              </a:avLst>
            </a:prstGeom>
            <a:solidFill>
              <a:srgbClr val="FFFFFF"/>
            </a:solidFill>
            <a:ln w="9525">
              <a:solidFill>
                <a:srgbClr val="D7E0EA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71525" y="1645444"/>
              <a:ext cx="3473668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来源进入正式支撑链的四道门</a:t>
              </a:r>
            </a:p>
          </p:txBody>
        </p:sp>
        <p:sp>
          <p:nvSpPr>
            <p:cNvPr id="7" name="Polygon 7"/>
            <p:cNvSpPr/>
            <p:nvPr/>
          </p:nvSpPr>
          <p:spPr>
            <a:xfrm>
              <a:off x="933450" y="2209800"/>
              <a:ext cx="4533900" cy="628650"/>
            </a:xfrm>
            <a:custGeom>
              <a:avLst/>
              <a:gdLst/>
              <a:ahLst/>
              <a:cxnLst/>
              <a:rect l="l" t="t" r="r" b="b"/>
              <a:pathLst>
                <a:path w="4533900" h="628650">
                  <a:moveTo>
                    <a:pt x="0" y="0"/>
                  </a:moveTo>
                  <a:lnTo>
                    <a:pt x="4533900" y="0"/>
                  </a:lnTo>
                  <a:lnTo>
                    <a:pt x="4019550" y="628650"/>
                  </a:lnTo>
                  <a:lnTo>
                    <a:pt x="514350" y="62865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45306" y="2420779"/>
              <a:ext cx="411018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① 网络安全：SSRF 防护与公开来源约束</a:t>
              </a:r>
            </a:p>
          </p:txBody>
        </p:sp>
        <p:sp>
          <p:nvSpPr>
            <p:cNvPr id="9" name="Polygon 9"/>
            <p:cNvSpPr/>
            <p:nvPr/>
          </p:nvSpPr>
          <p:spPr>
            <a:xfrm>
              <a:off x="1447800" y="3009900"/>
              <a:ext cx="3505200" cy="628650"/>
            </a:xfrm>
            <a:custGeom>
              <a:avLst/>
              <a:gdLst/>
              <a:ahLst/>
              <a:cxnLst/>
              <a:rect l="l" t="t" r="r" b="b"/>
              <a:pathLst>
                <a:path w="3505200" h="628650">
                  <a:moveTo>
                    <a:pt x="0" y="0"/>
                  </a:moveTo>
                  <a:lnTo>
                    <a:pt x="3505200" y="0"/>
                  </a:lnTo>
                  <a:lnTo>
                    <a:pt x="3028950" y="628650"/>
                  </a:lnTo>
                  <a:lnTo>
                    <a:pt x="476250" y="628650"/>
                  </a:lnTo>
                  <a:close/>
                </a:path>
              </a:pathLst>
            </a:custGeom>
            <a:solidFill>
              <a:srgbClr val="DFF0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645807" y="3220879"/>
              <a:ext cx="310918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② 材料化：正文简化与位置索引</a:t>
              </a:r>
            </a:p>
          </p:txBody>
        </p:sp>
        <p:sp>
          <p:nvSpPr>
            <p:cNvPr id="11" name="Polygon 11"/>
            <p:cNvSpPr/>
            <p:nvPr/>
          </p:nvSpPr>
          <p:spPr>
            <a:xfrm>
              <a:off x="1924050" y="3810000"/>
              <a:ext cx="2552700" cy="628650"/>
            </a:xfrm>
            <a:custGeom>
              <a:avLst/>
              <a:gdLst/>
              <a:ahLst/>
              <a:cxnLst/>
              <a:rect l="l" t="t" r="r" b="b"/>
              <a:pathLst>
                <a:path w="2552700" h="628650">
                  <a:moveTo>
                    <a:pt x="0" y="0"/>
                  </a:moveTo>
                  <a:lnTo>
                    <a:pt x="2552700" y="0"/>
                  </a:lnTo>
                  <a:lnTo>
                    <a:pt x="2133600" y="628650"/>
                  </a:lnTo>
                  <a:lnTo>
                    <a:pt x="419100" y="628650"/>
                  </a:lnTo>
                  <a:close/>
                </a:path>
              </a:pathLst>
            </a:custGeom>
            <a:solidFill>
              <a:srgbClr val="FFF3D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869142" y="4020979"/>
              <a:ext cx="266251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③ 质量评分与正式证据门控</a:t>
              </a:r>
            </a:p>
          </p:txBody>
        </p:sp>
        <p:sp>
          <p:nvSpPr>
            <p:cNvPr id="13" name="Polygon 13"/>
            <p:cNvSpPr/>
            <p:nvPr/>
          </p:nvSpPr>
          <p:spPr>
            <a:xfrm>
              <a:off x="2343150" y="4610100"/>
              <a:ext cx="1714500" cy="628650"/>
            </a:xfrm>
            <a:custGeom>
              <a:avLst/>
              <a:gdLst/>
              <a:ahLst/>
              <a:cxnLst/>
              <a:rect l="l" t="t" r="r" b="b"/>
              <a:pathLst>
                <a:path w="1714500" h="628650">
                  <a:moveTo>
                    <a:pt x="0" y="0"/>
                  </a:moveTo>
                  <a:lnTo>
                    <a:pt x="1714500" y="0"/>
                  </a:lnTo>
                  <a:lnTo>
                    <a:pt x="1390650" y="628650"/>
                  </a:lnTo>
                  <a:lnTo>
                    <a:pt x="323850" y="6286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2010732" y="4829175"/>
              <a:ext cx="237933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④ 事实 / 推断 / 假设分离</a:t>
              </a:r>
            </a:p>
          </p:txBody>
        </p:sp>
        <p:sp>
          <p:nvSpPr>
            <p:cNvPr id="15" name="Freeform 15"/>
            <p:cNvSpPr/>
            <p:nvPr/>
          </p:nvSpPr>
          <p:spPr>
            <a:xfrm>
              <a:off x="4552950" y="3905250"/>
              <a:ext cx="704850" cy="1352550"/>
            </a:xfrm>
            <a:custGeom>
              <a:avLst/>
              <a:gdLst/>
              <a:ahLst/>
              <a:cxnLst/>
              <a:rect l="l" t="t" r="r" b="b"/>
              <a:pathLst>
                <a:path w="704850" h="1352550">
                  <a:moveTo>
                    <a:pt x="0" y="0"/>
                  </a:moveTo>
                  <a:cubicBezTo>
                    <a:pt x="666750" y="171450"/>
                    <a:pt x="704850" y="857250"/>
                    <a:pt x="533400" y="1352550"/>
                  </a:cubicBezTo>
                </a:path>
              </a:pathLst>
            </a:custGeom>
            <a:noFill/>
            <a:ln w="38100">
              <a:solidFill>
                <a:srgbClr val="B94747"/>
              </a:solidFill>
              <a:custDash>
                <a:ds d="200000" sp="125000"/>
              </a:custDash>
            </a:ln>
          </p:spPr>
        </p:sp>
        <p:sp>
          <p:nvSpPr>
            <p:cNvPr id="16" name="Rectangle 16"/>
            <p:cNvSpPr/>
            <p:nvPr/>
          </p:nvSpPr>
          <p:spPr>
            <a:xfrm>
              <a:off x="4400550" y="5048250"/>
              <a:ext cx="1257300" cy="514350"/>
            </a:xfrm>
            <a:prstGeom prst="roundRect">
              <a:avLst>
                <a:gd name="adj" fmla="val 29630"/>
              </a:avLst>
            </a:prstGeom>
            <a:solidFill>
              <a:srgbClr val="FFF0F0"/>
            </a:solidFill>
            <a:ln w="9525">
              <a:solidFill>
                <a:srgbClr val="B94747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378359" y="5145881"/>
              <a:ext cx="13016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94747"/>
                  </a:solidFill>
                  <a:latin typeface="+mn-lt"/>
                  <a:ea typeface="+mn-ea"/>
                  <a:cs typeface="+mn-cs"/>
                </a:rPr>
                <a:t>低质量 / 失败材料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458462" y="5344478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C3232"/>
                  </a:solidFill>
                  <a:latin typeface="+mn-lt"/>
                  <a:ea typeface="+mn-ea"/>
                  <a:cs typeface="+mn-cs"/>
                </a:rPr>
                <a:t>拒绝进入正式支撑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6286500" y="1428750"/>
            <a:ext cx="5372100" cy="4362450"/>
            <a:chOff x="6286500" y="1428750"/>
            <a:chExt cx="5372100" cy="4362450"/>
          </a:xfrm>
        </p:grpSpPr>
        <p:sp>
          <p:nvSpPr>
            <p:cNvPr id="20" name="Rectangle 20"/>
            <p:cNvSpPr/>
            <p:nvPr/>
          </p:nvSpPr>
          <p:spPr>
            <a:xfrm>
              <a:off x="6286500" y="1428750"/>
              <a:ext cx="5372100" cy="4362450"/>
            </a:xfrm>
            <a:prstGeom prst="roundRect">
              <a:avLst>
                <a:gd name="adj" fmla="val 524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543675" y="1645444"/>
              <a:ext cx="2942189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可审计、可校验的交付栈</a:t>
              </a: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6667500" y="2152650"/>
              <a:ext cx="4095750" cy="514350"/>
              <a:chOff x="6667500" y="2152650"/>
              <a:chExt cx="4095750" cy="51435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6667500" y="2152650"/>
                <a:ext cx="4095750" cy="514350"/>
              </a:xfrm>
              <a:prstGeom prst="roundRect">
                <a:avLst>
                  <a:gd name="adj" fmla="val 29630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grpSp>
            <p:nvGrpSpPr>
              <p:cNvPr id="26" name="Group 26"/>
              <p:cNvGrpSpPr/>
              <p:nvPr/>
            </p:nvGrpSpPr>
            <p:grpSpPr>
              <a:xfrm>
                <a:off x="6902450" y="2295525"/>
                <a:ext cx="177800" cy="228599"/>
                <a:chOff x="6902450" y="2295525"/>
                <a:chExt cx="177800" cy="228599"/>
              </a:xfrm>
            </p:grpSpPr>
            <p:sp>
              <p:nvSpPr>
                <p:cNvPr id="23" name="Freeform 23"/>
                <p:cNvSpPr/>
                <p:nvPr/>
              </p:nvSpPr>
              <p:spPr>
                <a:xfrm>
                  <a:off x="7016750" y="2295525"/>
                  <a:ext cx="63500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63500">
                      <a:moveTo>
                        <a:pt x="0" y="0"/>
                      </a:moveTo>
                      <a:lnTo>
                        <a:pt x="0" y="50800"/>
                      </a:lnTo>
                      <a:cubicBezTo>
                        <a:pt x="0" y="57814"/>
                        <a:pt x="5686" y="63500"/>
                        <a:pt x="12700" y="63500"/>
                      </a:cubicBezTo>
                      <a:lnTo>
                        <a:pt x="63500" y="63500"/>
                      </a:lnTo>
                    </a:path>
                  </a:pathLst>
                </a:custGeom>
                <a:noFill/>
                <a:ln w="25400">
                  <a:solidFill>
                    <a:schemeClr val="accent1"/>
                  </a:solidFill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6902450" y="2295525"/>
                  <a:ext cx="177800" cy="2285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800" h="228599">
                      <a:moveTo>
                        <a:pt x="152400" y="228599"/>
                      </a:moveTo>
                      <a:lnTo>
                        <a:pt x="25400" y="228599"/>
                      </a:lnTo>
                      <a:cubicBezTo>
                        <a:pt x="11372" y="228599"/>
                        <a:pt x="0" y="217227"/>
                        <a:pt x="0" y="203199"/>
                      </a:cubicBezTo>
                      <a:lnTo>
                        <a:pt x="0" y="25400"/>
                      </a:lnTo>
                      <a:cubicBezTo>
                        <a:pt x="0" y="11372"/>
                        <a:pt x="11372" y="0"/>
                        <a:pt x="25400" y="0"/>
                      </a:cubicBezTo>
                      <a:lnTo>
                        <a:pt x="114300" y="0"/>
                      </a:lnTo>
                      <a:lnTo>
                        <a:pt x="177800" y="63500"/>
                      </a:lnTo>
                      <a:lnTo>
                        <a:pt x="177800" y="203199"/>
                      </a:lnTo>
                      <a:cubicBezTo>
                        <a:pt x="177800" y="217227"/>
                        <a:pt x="166428" y="228599"/>
                        <a:pt x="152400" y="228599"/>
                      </a:cubicBezTo>
                    </a:path>
                  </a:pathLst>
                </a:custGeom>
                <a:noFill/>
                <a:ln w="25400">
                  <a:solidFill>
                    <a:schemeClr val="accent1"/>
                  </a:solidFill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6953250" y="2422525"/>
                  <a:ext cx="76200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50800">
                      <a:moveTo>
                        <a:pt x="0" y="25400"/>
                      </a:moveTo>
                      <a:lnTo>
                        <a:pt x="25400" y="50800"/>
                      </a:lnTo>
                      <a:lnTo>
                        <a:pt x="76200" y="0"/>
                      </a:lnTo>
                    </a:path>
                  </a:pathLst>
                </a:custGeom>
                <a:noFill/>
                <a:ln w="25400">
                  <a:solidFill>
                    <a:schemeClr val="accent1"/>
                  </a:solidFill>
                </a:ln>
              </p:spPr>
            </p:sp>
          </p:grpSp>
          <p:sp>
            <p:nvSpPr>
              <p:cNvPr id="27" name="TextBox 27"/>
              <p:cNvSpPr txBox="1"/>
              <p:nvPr/>
            </p:nvSpPr>
            <p:spPr>
              <a:xfrm>
                <a:off x="7307580" y="2314575"/>
                <a:ext cx="195528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深度报告 + 需求卡片</a:t>
                </a:r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6877050" y="2819400"/>
              <a:ext cx="4095750" cy="514350"/>
              <a:chOff x="6877050" y="2819400"/>
              <a:chExt cx="4095750" cy="514350"/>
            </a:xfrm>
          </p:grpSpPr>
          <p:sp>
            <p:nvSpPr>
              <p:cNvPr id="29" name="Rectangle 29"/>
              <p:cNvSpPr/>
              <p:nvPr/>
            </p:nvSpPr>
            <p:spPr>
              <a:xfrm>
                <a:off x="6877050" y="2819400"/>
                <a:ext cx="4095750" cy="514350"/>
              </a:xfrm>
              <a:prstGeom prst="roundRect">
                <a:avLst>
                  <a:gd name="adj" fmla="val 29630"/>
                </a:avLst>
              </a:prstGeom>
              <a:solidFill>
                <a:srgbClr val="DFF0F3"/>
              </a:solidFill>
              <a:ln>
                <a:noFill/>
              </a:ln>
            </p:spPr>
          </p:sp>
          <p:grpSp>
            <p:nvGrpSpPr>
              <p:cNvPr id="38" name="Group 38"/>
              <p:cNvGrpSpPr/>
              <p:nvPr/>
            </p:nvGrpSpPr>
            <p:grpSpPr>
              <a:xfrm>
                <a:off x="7086600" y="2962275"/>
                <a:ext cx="228600" cy="241299"/>
                <a:chOff x="7086600" y="2962275"/>
                <a:chExt cx="228600" cy="241299"/>
              </a:xfrm>
            </p:grpSpPr>
            <p:sp>
              <p:nvSpPr>
                <p:cNvPr id="30" name="Freeform 30"/>
                <p:cNvSpPr/>
                <p:nvPr/>
              </p:nvSpPr>
              <p:spPr>
                <a:xfrm>
                  <a:off x="7124700" y="2962275"/>
                  <a:ext cx="152400" cy="15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00" h="152400">
                      <a:moveTo>
                        <a:pt x="0" y="76200"/>
                      </a:moveTo>
                      <a:cubicBezTo>
                        <a:pt x="0" y="118284"/>
                        <a:pt x="34116" y="152400"/>
                        <a:pt x="76200" y="152400"/>
                      </a:cubicBezTo>
                      <a:cubicBezTo>
                        <a:pt x="118284" y="152400"/>
                        <a:pt x="152400" y="118284"/>
                        <a:pt x="152400" y="76200"/>
                      </a:cubicBezTo>
                      <a:cubicBezTo>
                        <a:pt x="152400" y="34116"/>
                        <a:pt x="118284" y="0"/>
                        <a:pt x="76200" y="0"/>
                      </a:cubicBezTo>
                      <a:cubicBezTo>
                        <a:pt x="34116" y="0"/>
                        <a:pt x="0" y="34116"/>
                        <a:pt x="0" y="76200"/>
                      </a:cubicBezTo>
                    </a:path>
                  </a:pathLst>
                </a:custGeom>
                <a:noFill/>
                <a:ln w="25400">
                  <a:solidFill>
                    <a:schemeClr val="accent3"/>
                  </a:solidFill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7200900" y="2962275"/>
                  <a:ext cx="25400" cy="15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" h="152400">
                      <a:moveTo>
                        <a:pt x="0" y="0"/>
                      </a:moveTo>
                      <a:cubicBezTo>
                        <a:pt x="16929" y="4229"/>
                        <a:pt x="25400" y="29629"/>
                        <a:pt x="25400" y="76200"/>
                      </a:cubicBezTo>
                      <a:cubicBezTo>
                        <a:pt x="25400" y="122771"/>
                        <a:pt x="16929" y="148171"/>
                        <a:pt x="0" y="152400"/>
                      </a:cubicBezTo>
                    </a:path>
                  </a:pathLst>
                </a:custGeom>
                <a:noFill/>
                <a:ln w="25400">
                  <a:solidFill>
                    <a:schemeClr val="accent3"/>
                  </a:solidFill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7175500" y="2962275"/>
                  <a:ext cx="25400" cy="15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" h="152400">
                      <a:moveTo>
                        <a:pt x="25400" y="0"/>
                      </a:moveTo>
                      <a:cubicBezTo>
                        <a:pt x="8471" y="4229"/>
                        <a:pt x="0" y="29629"/>
                        <a:pt x="0" y="76200"/>
                      </a:cubicBezTo>
                      <a:cubicBezTo>
                        <a:pt x="0" y="122771"/>
                        <a:pt x="8471" y="148171"/>
                        <a:pt x="25400" y="152400"/>
                      </a:cubicBezTo>
                    </a:path>
                  </a:pathLst>
                </a:custGeom>
                <a:noFill/>
                <a:ln w="25400">
                  <a:solidFill>
                    <a:schemeClr val="accent3"/>
                  </a:solidFill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7124700" y="3038475"/>
                  <a:ext cx="1524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00" h="9525">
                      <a:moveTo>
                        <a:pt x="0" y="0"/>
                      </a:moveTo>
                      <a:lnTo>
                        <a:pt x="152400" y="0"/>
                      </a:lnTo>
                    </a:path>
                  </a:pathLst>
                </a:custGeom>
                <a:noFill/>
                <a:ln w="25400">
                  <a:solidFill>
                    <a:schemeClr val="accent3"/>
                  </a:solidFill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7086600" y="3178174"/>
                  <a:ext cx="889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900" h="9525">
                      <a:moveTo>
                        <a:pt x="0" y="0"/>
                      </a:moveTo>
                      <a:lnTo>
                        <a:pt x="88900" y="0"/>
                      </a:lnTo>
                    </a:path>
                  </a:pathLst>
                </a:custGeom>
                <a:noFill/>
                <a:ln w="25400">
                  <a:solidFill>
                    <a:schemeClr val="accent3"/>
                  </a:solidFill>
                </a:ln>
              </p:spPr>
            </p:sp>
            <p:sp>
              <p:nvSpPr>
                <p:cNvPr id="35" name="Freeform 35"/>
                <p:cNvSpPr/>
                <p:nvPr/>
              </p:nvSpPr>
              <p:spPr>
                <a:xfrm>
                  <a:off x="7226300" y="3178174"/>
                  <a:ext cx="889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900" h="9525">
                      <a:moveTo>
                        <a:pt x="0" y="0"/>
                      </a:moveTo>
                      <a:lnTo>
                        <a:pt x="88900" y="0"/>
                      </a:lnTo>
                    </a:path>
                  </a:pathLst>
                </a:custGeom>
                <a:noFill/>
                <a:ln w="25400">
                  <a:solidFill>
                    <a:schemeClr val="accent3"/>
                  </a:solidFill>
                </a:ln>
              </p:spPr>
            </p:sp>
            <p:sp>
              <p:nvSpPr>
                <p:cNvPr id="36" name="Freeform 36"/>
                <p:cNvSpPr/>
                <p:nvPr/>
              </p:nvSpPr>
              <p:spPr>
                <a:xfrm>
                  <a:off x="7175500" y="3152774"/>
                  <a:ext cx="50800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00" h="50800">
                      <a:moveTo>
                        <a:pt x="0" y="25400"/>
                      </a:moveTo>
                      <a:cubicBezTo>
                        <a:pt x="0" y="39428"/>
                        <a:pt x="11372" y="50800"/>
                        <a:pt x="25400" y="50800"/>
                      </a:cubicBezTo>
                      <a:cubicBezTo>
                        <a:pt x="39428" y="50800"/>
                        <a:pt x="50800" y="39428"/>
                        <a:pt x="50800" y="25400"/>
                      </a:cubicBezTo>
                      <a:cubicBezTo>
                        <a:pt x="50800" y="11372"/>
                        <a:pt x="39428" y="0"/>
                        <a:pt x="25400" y="0"/>
                      </a:cubicBezTo>
                      <a:cubicBezTo>
                        <a:pt x="11372" y="0"/>
                        <a:pt x="0" y="11372"/>
                        <a:pt x="0" y="25400"/>
                      </a:cubicBezTo>
                    </a:path>
                  </a:pathLst>
                </a:custGeom>
                <a:noFill/>
                <a:ln w="25400">
                  <a:solidFill>
                    <a:schemeClr val="accent3"/>
                  </a:solidFill>
                </a:ln>
              </p:spPr>
            </p:sp>
            <p:sp>
              <p:nvSpPr>
                <p:cNvPr id="37" name="Freeform 37"/>
                <p:cNvSpPr/>
                <p:nvPr/>
              </p:nvSpPr>
              <p:spPr>
                <a:xfrm>
                  <a:off x="7200900" y="3114675"/>
                  <a:ext cx="9525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8100">
                      <a:moveTo>
                        <a:pt x="0" y="0"/>
                      </a:moveTo>
                      <a:lnTo>
                        <a:pt x="0" y="38100"/>
                      </a:lnTo>
                    </a:path>
                  </a:pathLst>
                </a:custGeom>
                <a:noFill/>
                <a:ln w="25400">
                  <a:solidFill>
                    <a:schemeClr val="accent3"/>
                  </a:solidFill>
                </a:ln>
              </p:spPr>
            </p:sp>
          </p:grpSp>
          <p:sp>
            <p:nvSpPr>
              <p:cNvPr id="39" name="TextBox 39"/>
              <p:cNvSpPr txBox="1"/>
              <p:nvPr/>
            </p:nvSpPr>
            <p:spPr>
              <a:xfrm>
                <a:off x="7517130" y="2981325"/>
                <a:ext cx="216730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能力全景图 + 能力画像</a:t>
                </a:r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7086600" y="3486150"/>
              <a:ext cx="4095750" cy="514350"/>
              <a:chOff x="7086600" y="3486150"/>
              <a:chExt cx="4095750" cy="514350"/>
            </a:xfrm>
          </p:grpSpPr>
          <p:sp>
            <p:nvSpPr>
              <p:cNvPr id="41" name="Rectangle 41"/>
              <p:cNvSpPr/>
              <p:nvPr/>
            </p:nvSpPr>
            <p:spPr>
              <a:xfrm>
                <a:off x="7086600" y="3486150"/>
                <a:ext cx="4095750" cy="514350"/>
              </a:xfrm>
              <a:prstGeom prst="roundRect">
                <a:avLst>
                  <a:gd name="adj" fmla="val 29630"/>
                </a:avLst>
              </a:prstGeom>
              <a:solidFill>
                <a:srgbClr val="FFF3D8"/>
              </a:solidFill>
              <a:ln>
                <a:noFill/>
              </a:ln>
            </p:spPr>
          </p:sp>
          <p:grpSp>
            <p:nvGrpSpPr>
              <p:cNvPr id="47" name="Group 47"/>
              <p:cNvGrpSpPr/>
              <p:nvPr/>
            </p:nvGrpSpPr>
            <p:grpSpPr>
              <a:xfrm>
                <a:off x="7296150" y="3679825"/>
                <a:ext cx="228599" cy="127000"/>
                <a:chOff x="7296150" y="3679825"/>
                <a:chExt cx="228599" cy="127000"/>
              </a:xfrm>
            </p:grpSpPr>
            <p:sp>
              <p:nvSpPr>
                <p:cNvPr id="42" name="Freeform 42"/>
                <p:cNvSpPr/>
                <p:nvPr/>
              </p:nvSpPr>
              <p:spPr>
                <a:xfrm>
                  <a:off x="7308850" y="3692525"/>
                  <a:ext cx="203199" cy="10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199" h="101600">
                      <a:moveTo>
                        <a:pt x="0" y="101600"/>
                      </a:moveTo>
                      <a:lnTo>
                        <a:pt x="76200" y="12700"/>
                      </a:lnTo>
                      <a:lnTo>
                        <a:pt x="139700" y="76200"/>
                      </a:lnTo>
                      <a:lnTo>
                        <a:pt x="203199" y="0"/>
                      </a:lnTo>
                    </a:path>
                  </a:pathLst>
                </a:custGeom>
                <a:noFill/>
                <a:ln w="25400">
                  <a:solidFill>
                    <a:srgbClr val="A87312"/>
                  </a:solidFill>
                </a:ln>
              </p:spPr>
            </p:sp>
            <p:sp>
              <p:nvSpPr>
                <p:cNvPr id="43" name="Freeform 43"/>
                <p:cNvSpPr/>
                <p:nvPr/>
              </p:nvSpPr>
              <p:spPr>
                <a:xfrm>
                  <a:off x="7435850" y="3756025"/>
                  <a:ext cx="25400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" h="25400">
                      <a:moveTo>
                        <a:pt x="0" y="12700"/>
                      </a:moveTo>
                      <a:cubicBezTo>
                        <a:pt x="0" y="19714"/>
                        <a:pt x="5686" y="25400"/>
                        <a:pt x="12700" y="25400"/>
                      </a:cubicBezTo>
                      <a:cubicBezTo>
                        <a:pt x="19714" y="25400"/>
                        <a:pt x="25400" y="19714"/>
                        <a:pt x="25400" y="12700"/>
                      </a:cubicBezTo>
                      <a:cubicBezTo>
                        <a:pt x="25400" y="5686"/>
                        <a:pt x="19714" y="0"/>
                        <a:pt x="12700" y="0"/>
                      </a:cubicBezTo>
                      <a:cubicBezTo>
                        <a:pt x="5686" y="0"/>
                        <a:pt x="0" y="5686"/>
                        <a:pt x="0" y="12700"/>
                      </a:cubicBezTo>
                    </a:path>
                  </a:pathLst>
                </a:custGeom>
                <a:noFill/>
                <a:ln w="25400">
                  <a:solidFill>
                    <a:srgbClr val="A87312"/>
                  </a:solidFill>
                </a:ln>
              </p:spPr>
            </p:sp>
            <p:sp>
              <p:nvSpPr>
                <p:cNvPr id="44" name="Freeform 44"/>
                <p:cNvSpPr/>
                <p:nvPr/>
              </p:nvSpPr>
              <p:spPr>
                <a:xfrm>
                  <a:off x="7372350" y="3692525"/>
                  <a:ext cx="25400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" h="25400">
                      <a:moveTo>
                        <a:pt x="0" y="12700"/>
                      </a:moveTo>
                      <a:cubicBezTo>
                        <a:pt x="0" y="19714"/>
                        <a:pt x="5686" y="25400"/>
                        <a:pt x="12700" y="25400"/>
                      </a:cubicBezTo>
                      <a:cubicBezTo>
                        <a:pt x="19714" y="25400"/>
                        <a:pt x="25400" y="19714"/>
                        <a:pt x="25400" y="12700"/>
                      </a:cubicBezTo>
                      <a:cubicBezTo>
                        <a:pt x="25400" y="5686"/>
                        <a:pt x="19714" y="0"/>
                        <a:pt x="12700" y="0"/>
                      </a:cubicBezTo>
                      <a:cubicBezTo>
                        <a:pt x="5686" y="0"/>
                        <a:pt x="0" y="5686"/>
                        <a:pt x="0" y="12700"/>
                      </a:cubicBezTo>
                    </a:path>
                  </a:pathLst>
                </a:custGeom>
                <a:noFill/>
                <a:ln w="25400">
                  <a:solidFill>
                    <a:srgbClr val="A87312"/>
                  </a:solidFill>
                </a:ln>
              </p:spPr>
            </p:sp>
            <p:sp>
              <p:nvSpPr>
                <p:cNvPr id="45" name="Freeform 45"/>
                <p:cNvSpPr/>
                <p:nvPr/>
              </p:nvSpPr>
              <p:spPr>
                <a:xfrm>
                  <a:off x="7296150" y="3781425"/>
                  <a:ext cx="25400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" h="25400">
                      <a:moveTo>
                        <a:pt x="0" y="12700"/>
                      </a:moveTo>
                      <a:cubicBezTo>
                        <a:pt x="0" y="19714"/>
                        <a:pt x="5686" y="25400"/>
                        <a:pt x="12700" y="25400"/>
                      </a:cubicBezTo>
                      <a:cubicBezTo>
                        <a:pt x="19714" y="25400"/>
                        <a:pt x="25400" y="19714"/>
                        <a:pt x="25400" y="12700"/>
                      </a:cubicBezTo>
                      <a:cubicBezTo>
                        <a:pt x="25400" y="5686"/>
                        <a:pt x="19714" y="0"/>
                        <a:pt x="12700" y="0"/>
                      </a:cubicBezTo>
                      <a:cubicBezTo>
                        <a:pt x="5686" y="0"/>
                        <a:pt x="0" y="5686"/>
                        <a:pt x="0" y="12700"/>
                      </a:cubicBezTo>
                    </a:path>
                  </a:pathLst>
                </a:custGeom>
                <a:noFill/>
                <a:ln w="25400">
                  <a:solidFill>
                    <a:srgbClr val="A87312"/>
                  </a:solidFill>
                </a:ln>
              </p:spPr>
            </p:sp>
            <p:sp>
              <p:nvSpPr>
                <p:cNvPr id="46" name="Freeform 46"/>
                <p:cNvSpPr/>
                <p:nvPr/>
              </p:nvSpPr>
              <p:spPr>
                <a:xfrm>
                  <a:off x="7499349" y="3679825"/>
                  <a:ext cx="25400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" h="25400">
                      <a:moveTo>
                        <a:pt x="0" y="12700"/>
                      </a:moveTo>
                      <a:cubicBezTo>
                        <a:pt x="0" y="19714"/>
                        <a:pt x="5686" y="25400"/>
                        <a:pt x="12700" y="25400"/>
                      </a:cubicBezTo>
                      <a:cubicBezTo>
                        <a:pt x="19714" y="25400"/>
                        <a:pt x="25400" y="19714"/>
                        <a:pt x="25400" y="12700"/>
                      </a:cubicBezTo>
                      <a:cubicBezTo>
                        <a:pt x="25400" y="5686"/>
                        <a:pt x="19714" y="0"/>
                        <a:pt x="12700" y="0"/>
                      </a:cubicBezTo>
                      <a:cubicBezTo>
                        <a:pt x="5686" y="0"/>
                        <a:pt x="0" y="5686"/>
                        <a:pt x="0" y="12700"/>
                      </a:cubicBezTo>
                    </a:path>
                  </a:pathLst>
                </a:custGeom>
                <a:noFill/>
                <a:ln w="25400">
                  <a:solidFill>
                    <a:srgbClr val="A87312"/>
                  </a:solidFill>
                </a:ln>
              </p:spPr>
            </p:sp>
          </p:grpSp>
          <p:sp>
            <p:nvSpPr>
              <p:cNvPr id="48" name="TextBox 48"/>
              <p:cNvSpPr txBox="1"/>
              <p:nvPr/>
            </p:nvSpPr>
            <p:spPr>
              <a:xfrm>
                <a:off x="7726680" y="3648075"/>
                <a:ext cx="237933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8A5D10"/>
                    </a:solidFill>
                    <a:latin typeface="+mn-lt"/>
                    <a:ea typeface="+mn-ea"/>
                    <a:cs typeface="+mn-cs"/>
                  </a:rPr>
                  <a:t>推理追溯 + 质量门控记录</a:t>
                </a:r>
              </a:p>
            </p:txBody>
          </p:sp>
        </p:grpSp>
        <p:grpSp>
          <p:nvGrpSpPr>
            <p:cNvPr id="53" name="Group 53"/>
            <p:cNvGrpSpPr/>
            <p:nvPr/>
          </p:nvGrpSpPr>
          <p:grpSpPr>
            <a:xfrm>
              <a:off x="7296150" y="4152900"/>
              <a:ext cx="4095750" cy="514350"/>
              <a:chOff x="7296150" y="4152900"/>
              <a:chExt cx="4095750" cy="514350"/>
            </a:xfrm>
          </p:grpSpPr>
          <p:sp>
            <p:nvSpPr>
              <p:cNvPr id="50" name="Rectangle 50"/>
              <p:cNvSpPr/>
              <p:nvPr/>
            </p:nvSpPr>
            <p:spPr>
              <a:xfrm>
                <a:off x="7296150" y="4152900"/>
                <a:ext cx="4095750" cy="514350"/>
              </a:xfrm>
              <a:prstGeom prst="roundRect">
                <a:avLst>
                  <a:gd name="adj" fmla="val 29630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7505700" y="4308475"/>
                <a:ext cx="228599" cy="203199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203199">
                    <a:moveTo>
                      <a:pt x="0" y="101600"/>
                    </a:moveTo>
                    <a:lnTo>
                      <a:pt x="50800" y="101600"/>
                    </a:lnTo>
                    <a:lnTo>
                      <a:pt x="88900" y="203199"/>
                    </a:lnTo>
                    <a:lnTo>
                      <a:pt x="139700" y="0"/>
                    </a:lnTo>
                    <a:lnTo>
                      <a:pt x="177800" y="101600"/>
                    </a:lnTo>
                    <a:lnTo>
                      <a:pt x="228599" y="10160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7936230" y="4314825"/>
                <a:ext cx="227792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持久化 SSE + 断线重放</a:t>
                </a:r>
              </a:p>
            </p:txBody>
          </p:sp>
        </p:grpSp>
        <p:grpSp>
          <p:nvGrpSpPr>
            <p:cNvPr id="60" name="Group 60"/>
            <p:cNvGrpSpPr/>
            <p:nvPr/>
          </p:nvGrpSpPr>
          <p:grpSpPr>
            <a:xfrm>
              <a:off x="7505700" y="4819650"/>
              <a:ext cx="3886200" cy="628650"/>
              <a:chOff x="7505700" y="4819650"/>
              <a:chExt cx="3886200" cy="628650"/>
            </a:xfrm>
          </p:grpSpPr>
          <p:sp>
            <p:nvSpPr>
              <p:cNvPr id="54" name="Rectangle 54"/>
              <p:cNvSpPr/>
              <p:nvPr/>
            </p:nvSpPr>
            <p:spPr>
              <a:xfrm>
                <a:off x="7505700" y="4819650"/>
                <a:ext cx="3886200" cy="628650"/>
              </a:xfrm>
              <a:prstGeom prst="roundRect">
                <a:avLst>
                  <a:gd name="adj" fmla="val 24242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  <p:grpSp>
            <p:nvGrpSpPr>
              <p:cNvPr id="57" name="Group 57"/>
              <p:cNvGrpSpPr/>
              <p:nvPr/>
            </p:nvGrpSpPr>
            <p:grpSpPr>
              <a:xfrm>
                <a:off x="7699421" y="5012531"/>
                <a:ext cx="263510" cy="242888"/>
                <a:chOff x="7699421" y="5012531"/>
                <a:chExt cx="263510" cy="242888"/>
              </a:xfrm>
            </p:grpSpPr>
            <p:sp>
              <p:nvSpPr>
                <p:cNvPr id="55" name="Freeform 55"/>
                <p:cNvSpPr/>
                <p:nvPr/>
              </p:nvSpPr>
              <p:spPr>
                <a:xfrm>
                  <a:off x="7699421" y="5012531"/>
                  <a:ext cx="263510" cy="2408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3510" h="240810">
                      <a:moveTo>
                        <a:pt x="132368" y="240810"/>
                      </a:moveTo>
                      <a:cubicBezTo>
                        <a:pt x="47836" y="214607"/>
                        <a:pt x="0" y="125390"/>
                        <a:pt x="24957" y="40481"/>
                      </a:cubicBezTo>
                      <a:cubicBezTo>
                        <a:pt x="66998" y="42405"/>
                        <a:pt x="108135" y="27886"/>
                        <a:pt x="139655" y="0"/>
                      </a:cubicBezTo>
                      <a:cubicBezTo>
                        <a:pt x="171174" y="27886"/>
                        <a:pt x="212311" y="42405"/>
                        <a:pt x="254352" y="40481"/>
                      </a:cubicBezTo>
                      <a:cubicBezTo>
                        <a:pt x="263510" y="71640"/>
                        <a:pt x="263086" y="104832"/>
                        <a:pt x="253137" y="135747"/>
                      </a:cubicBezTo>
                    </a:path>
                  </a:pathLst>
                </a:custGeom>
                <a:noFill/>
                <a:ln w="26988">
                  <a:solidFill>
                    <a:srgbClr val="FFFFFF"/>
                  </a:solidFill>
                </a:ln>
              </p:spPr>
            </p:sp>
            <p:sp>
              <p:nvSpPr>
                <p:cNvPr id="56" name="Freeform 56"/>
                <p:cNvSpPr/>
                <p:nvPr/>
              </p:nvSpPr>
              <p:spPr>
                <a:xfrm>
                  <a:off x="7879557" y="5201444"/>
                  <a:ext cx="80963" cy="53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963" h="53975">
                      <a:moveTo>
                        <a:pt x="0" y="26988"/>
                      </a:moveTo>
                      <a:lnTo>
                        <a:pt x="26988" y="53975"/>
                      </a:lnTo>
                      <a:lnTo>
                        <a:pt x="80963" y="0"/>
                      </a:lnTo>
                    </a:path>
                  </a:pathLst>
                </a:custGeom>
                <a:noFill/>
                <a:ln w="26988">
                  <a:solidFill>
                    <a:srgbClr val="FFFFFF"/>
                  </a:solidFill>
                </a:ln>
              </p:spPr>
            </p:sp>
          </p:grpSp>
          <p:sp>
            <p:nvSpPr>
              <p:cNvPr id="58" name="TextBox 58"/>
              <p:cNvSpPr txBox="1"/>
              <p:nvPr/>
            </p:nvSpPr>
            <p:spPr>
              <a:xfrm>
                <a:off x="8164449" y="4925854"/>
                <a:ext cx="3087263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8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Delivery Manifest + SHA-256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8166735" y="5212556"/>
                <a:ext cx="121762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FFF7E5"/>
                    </a:solidFill>
                    <a:latin typeface="+mn-lt"/>
                    <a:ea typeface="+mn-ea"/>
                    <a:cs typeface="+mn-cs"/>
                  </a:rPr>
                  <a:t>完整性可机器复核</a:t>
                </a:r>
              </a:p>
            </p:txBody>
          </p:sp>
        </p:grpSp>
      </p:grpSp>
      <p:grpSp>
        <p:nvGrpSpPr>
          <p:cNvPr id="63" name="Group 63"/>
          <p:cNvGrpSpPr/>
          <p:nvPr/>
        </p:nvGrpSpPr>
        <p:grpSpPr>
          <a:xfrm>
            <a:off x="2808732" y="6045518"/>
            <a:ext cx="6574536" cy="264033"/>
            <a:chOff x="2808732" y="6045518"/>
            <a:chExt cx="6574536" cy="264033"/>
          </a:xfrm>
        </p:grpSpPr>
        <p:sp>
          <p:nvSpPr>
            <p:cNvPr id="62" name="TextBox 62"/>
            <p:cNvSpPr txBox="1"/>
            <p:nvPr/>
          </p:nvSpPr>
          <p:spPr>
            <a:xfrm>
              <a:off x="2808732" y="6045518"/>
              <a:ext cx="65745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基础 RBAC · 最小权限 · Agent 原始会话隔离 · 正式证据与低质量材料严格分流</a:t>
              </a:r>
            </a:p>
          </p:txBody>
        </p:sp>
      </p:grpSp>
      <p:sp>
        <p:nvSpPr>
          <p:cNvPr id="64" name="TextBox 64"/>
          <p:cNvSpPr txBox="1"/>
          <p:nvPr/>
        </p:nvSpPr>
        <p:spPr>
          <a:xfrm>
            <a:off x="11478730" y="64398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80060" y="400050"/>
            <a:ext cx="9887712" cy="746951"/>
            <a:chOff x="480060" y="400050"/>
            <a:chExt cx="9887712" cy="746951"/>
          </a:xfrm>
        </p:grpSpPr>
        <p:sp>
          <p:nvSpPr>
            <p:cNvPr id="2" name="TextBox 2"/>
            <p:cNvSpPr txBox="1"/>
            <p:nvPr/>
          </p:nvSpPr>
          <p:spPr>
            <a:xfrm>
              <a:off x="480060" y="400050"/>
              <a:ext cx="988771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研究指挥台已承载真实任务管理与跨进程运行闭环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07492" y="882968"/>
              <a:ext cx="60110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真实工作台覆盖研究创建、草稿、筛选、归档、执行历史与真实运行产物。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400050" y="1352550"/>
            <a:ext cx="9486900" cy="5334000"/>
            <a:chOff x="400050" y="1352550"/>
            <a:chExt cx="9486900" cy="5334000"/>
          </a:xfrm>
        </p:grpSpPr>
        <p:sp>
          <p:nvSpPr>
            <p:cNvPr id="5" name="Rectangle 5"/>
            <p:cNvSpPr/>
            <p:nvPr/>
          </p:nvSpPr>
          <p:spPr>
            <a:xfrm>
              <a:off x="400050" y="1352550"/>
              <a:ext cx="9486900" cy="5334000"/>
            </a:xfrm>
            <a:prstGeom prst="roundRect">
              <a:avLst>
                <a:gd name="adj" fmla="val 3929"/>
              </a:avLst>
            </a:prstGeom>
            <a:solidFill>
              <a:srgbClr val="FFFFFF"/>
            </a:solidFill>
            <a:ln>
              <a:noFill/>
            </a:ln>
          </p:spPr>
        </p:sp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21929" y="1466850"/>
              <a:ext cx="9243141" cy="520065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10077450" y="1485900"/>
            <a:ext cx="1695450" cy="1229868"/>
            <a:chOff x="10077450" y="1485900"/>
            <a:chExt cx="1695450" cy="1229868"/>
          </a:xfrm>
        </p:grpSpPr>
        <p:sp>
          <p:nvSpPr>
            <p:cNvPr id="8" name="Rectangle 8"/>
            <p:cNvSpPr/>
            <p:nvPr/>
          </p:nvSpPr>
          <p:spPr>
            <a:xfrm>
              <a:off x="10077450" y="1485900"/>
              <a:ext cx="1695450" cy="1181100"/>
            </a:xfrm>
            <a:prstGeom prst="roundRect">
              <a:avLst>
                <a:gd name="adj" fmla="val 16129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261854" y="17373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7E5"/>
                  </a:solidFill>
                  <a:latin typeface="+mn-lt"/>
                  <a:ea typeface="+mn-ea"/>
                  <a:cs typeface="+mn-cs"/>
                </a:rPr>
                <a:t>完成任务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249662" y="2011680"/>
              <a:ext cx="59632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6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077450" y="2857500"/>
            <a:ext cx="1695450" cy="1181100"/>
            <a:chOff x="10077450" y="2857500"/>
            <a:chExt cx="1695450" cy="1181100"/>
          </a:xfrm>
        </p:grpSpPr>
        <p:sp>
          <p:nvSpPr>
            <p:cNvPr id="12" name="Rectangle 12"/>
            <p:cNvSpPr/>
            <p:nvPr/>
          </p:nvSpPr>
          <p:spPr>
            <a:xfrm>
              <a:off x="10077450" y="2857500"/>
              <a:ext cx="1695450" cy="1181100"/>
            </a:xfrm>
            <a:prstGeom prst="roundRect">
              <a:avLst>
                <a:gd name="adj" fmla="val 16129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10308431" y="3140075"/>
              <a:ext cx="242888" cy="215901"/>
            </a:xfrm>
            <a:custGeom>
              <a:avLst/>
              <a:gdLst/>
              <a:ahLst/>
              <a:cxnLst/>
              <a:rect l="l" t="t" r="r" b="b"/>
              <a:pathLst>
                <a:path w="242888" h="215901">
                  <a:moveTo>
                    <a:pt x="0" y="107950"/>
                  </a:moveTo>
                  <a:lnTo>
                    <a:pt x="53975" y="107950"/>
                  </a:lnTo>
                  <a:lnTo>
                    <a:pt x="94456" y="215901"/>
                  </a:lnTo>
                  <a:lnTo>
                    <a:pt x="148432" y="0"/>
                  </a:lnTo>
                  <a:lnTo>
                    <a:pt x="188913" y="107950"/>
                  </a:lnTo>
                  <a:lnTo>
                    <a:pt x="242888" y="107950"/>
                  </a:lnTo>
                </a:path>
              </a:pathLst>
            </a:custGeom>
            <a:noFill/>
            <a:ln w="26988">
              <a:solidFill>
                <a:srgbClr val="FFFFFF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260330" y="3457575"/>
              <a:ext cx="14994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多任务并行槽位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262235" y="376475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E7F6F8"/>
                  </a:solidFill>
                  <a:latin typeface="+mn-lt"/>
                  <a:ea typeface="+mn-ea"/>
                  <a:cs typeface="+mn-cs"/>
                </a:rPr>
                <a:t>运行状态持续可见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0077450" y="4229100"/>
            <a:ext cx="1695450" cy="1809750"/>
            <a:chOff x="10077450" y="4229100"/>
            <a:chExt cx="1695450" cy="1809750"/>
          </a:xfrm>
        </p:grpSpPr>
        <p:sp>
          <p:nvSpPr>
            <p:cNvPr id="17" name="Rectangle 17"/>
            <p:cNvSpPr/>
            <p:nvPr/>
          </p:nvSpPr>
          <p:spPr>
            <a:xfrm>
              <a:off x="10077450" y="4229100"/>
              <a:ext cx="1695450" cy="1809750"/>
            </a:xfrm>
            <a:prstGeom prst="roundRect">
              <a:avLst>
                <a:gd name="adj" fmla="val 11236"/>
              </a:avLst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10321925" y="4479131"/>
              <a:ext cx="215901" cy="242888"/>
              <a:chOff x="10321925" y="4479131"/>
              <a:chExt cx="215901" cy="242888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10321925" y="4479131"/>
                <a:ext cx="215901" cy="80963"/>
              </a:xfrm>
              <a:custGeom>
                <a:avLst/>
                <a:gdLst/>
                <a:ahLst/>
                <a:cxnLst/>
                <a:rect l="l" t="t" r="r" b="b"/>
                <a:pathLst>
                  <a:path w="215901" h="80963">
                    <a:moveTo>
                      <a:pt x="0" y="40481"/>
                    </a:moveTo>
                    <a:cubicBezTo>
                      <a:pt x="0" y="62839"/>
                      <a:pt x="48331" y="80963"/>
                      <a:pt x="107950" y="80963"/>
                    </a:cubicBezTo>
                    <a:cubicBezTo>
                      <a:pt x="167570" y="80963"/>
                      <a:pt x="215901" y="62839"/>
                      <a:pt x="215901" y="40481"/>
                    </a:cubicBezTo>
                    <a:cubicBezTo>
                      <a:pt x="215901" y="18124"/>
                      <a:pt x="167570" y="0"/>
                      <a:pt x="107950" y="0"/>
                    </a:cubicBezTo>
                    <a:cubicBezTo>
                      <a:pt x="48331" y="0"/>
                      <a:pt x="0" y="18124"/>
                      <a:pt x="0" y="40481"/>
                    </a:cubicBez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10321925" y="4519613"/>
                <a:ext cx="215901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215901" h="121444">
                    <a:moveTo>
                      <a:pt x="0" y="0"/>
                    </a:moveTo>
                    <a:lnTo>
                      <a:pt x="0" y="80963"/>
                    </a:lnTo>
                    <a:cubicBezTo>
                      <a:pt x="0" y="103320"/>
                      <a:pt x="48331" y="121444"/>
                      <a:pt x="107950" y="121444"/>
                    </a:cubicBezTo>
                    <a:cubicBezTo>
                      <a:pt x="167570" y="121444"/>
                      <a:pt x="215901" y="103320"/>
                      <a:pt x="215901" y="80963"/>
                    </a:cubicBezTo>
                    <a:lnTo>
                      <a:pt x="215901" y="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10321925" y="4600575"/>
                <a:ext cx="215901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215901" h="121444">
                    <a:moveTo>
                      <a:pt x="0" y="0"/>
                    </a:moveTo>
                    <a:lnTo>
                      <a:pt x="0" y="80963"/>
                    </a:lnTo>
                    <a:cubicBezTo>
                      <a:pt x="0" y="103320"/>
                      <a:pt x="48331" y="121444"/>
                      <a:pt x="107950" y="121444"/>
                    </a:cubicBezTo>
                    <a:cubicBezTo>
                      <a:pt x="167570" y="121444"/>
                      <a:pt x="215901" y="103320"/>
                      <a:pt x="215901" y="80963"/>
                    </a:cubicBezTo>
                    <a:lnTo>
                      <a:pt x="215901" y="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10260330" y="4848225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持久化队列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261092" y="515016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+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260330" y="5419725"/>
              <a:ext cx="125659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独立 Worker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262235" y="574595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跨进程领取与持久化</a:t>
              </a: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155493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DDEAF2"/>
                </a:solidFill>
                <a:latin typeface="+mn-lt"/>
                <a:ea typeface="+mn-ea"/>
                <a:cs typeface="+mn-cs"/>
              </a:rPr>
              <a:t>10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00634" y="356235"/>
            <a:ext cx="10491780" cy="733616"/>
            <a:chOff x="500634" y="356235"/>
            <a:chExt cx="10491780" cy="733616"/>
          </a:xfrm>
        </p:grpSpPr>
        <p:sp>
          <p:nvSpPr>
            <p:cNvPr id="2" name="TextBox 2"/>
            <p:cNvSpPr txBox="1"/>
            <p:nvPr/>
          </p:nvSpPr>
          <p:spPr>
            <a:xfrm>
              <a:off x="500634" y="356235"/>
              <a:ext cx="1049178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372 条真实交互事件把门控、定向再调和返回节点完整展开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6542" y="825818"/>
              <a:ext cx="89461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真实任务 run-eaae894d…：L1 门控失败后触发定向补证，完成再调并返回 L1，随后由主控 Agent 重算覆盖。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95300" y="1285875"/>
            <a:ext cx="5334000" cy="1695450"/>
            <a:chOff x="495300" y="1285875"/>
            <a:chExt cx="5334000" cy="1695450"/>
          </a:xfrm>
        </p:grpSpPr>
        <p:sp>
          <p:nvSpPr>
            <p:cNvPr id="5" name="Rectangle 5"/>
            <p:cNvSpPr/>
            <p:nvPr/>
          </p:nvSpPr>
          <p:spPr>
            <a:xfrm>
              <a:off x="495300" y="1285875"/>
              <a:ext cx="5334000" cy="1581150"/>
            </a:xfrm>
            <a:prstGeom prst="roundRect">
              <a:avLst>
                <a:gd name="adj" fmla="val 12048"/>
              </a:avLst>
            </a:prstGeom>
            <a:solidFill>
              <a:srgbClr val="FFFFFF"/>
            </a:solidFill>
            <a:ln w="19050">
              <a:solidFill>
                <a:schemeClr val="accent3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647700" y="1362075"/>
              <a:ext cx="1447800" cy="2476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82391" y="1428274"/>
              <a:ext cx="137841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真实 L1–L4 循环总览</a:t>
              </a:r>
            </a:p>
          </p:txBody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51164" y="1600200"/>
              <a:ext cx="5022273" cy="1381125"/>
            </a:xfrm>
            <a:prstGeom prst="rect">
              <a:avLst/>
            </a:prstGeom>
          </p:spPr>
        </p:pic>
      </p:grpSp>
      <p:grpSp>
        <p:nvGrpSpPr>
          <p:cNvPr id="41" name="Group 41"/>
          <p:cNvGrpSpPr/>
          <p:nvPr/>
        </p:nvGrpSpPr>
        <p:grpSpPr>
          <a:xfrm>
            <a:off x="495300" y="3048000"/>
            <a:ext cx="5334000" cy="3619500"/>
            <a:chOff x="495300" y="3048000"/>
            <a:chExt cx="5334000" cy="3619500"/>
          </a:xfrm>
        </p:grpSpPr>
        <p:sp>
          <p:nvSpPr>
            <p:cNvPr id="10" name="Rectangle 10"/>
            <p:cNvSpPr/>
            <p:nvPr/>
          </p:nvSpPr>
          <p:spPr>
            <a:xfrm>
              <a:off x="495300" y="3048000"/>
              <a:ext cx="5334000" cy="3619500"/>
            </a:xfrm>
            <a:prstGeom prst="roundRect">
              <a:avLst>
                <a:gd name="adj" fmla="val 5789"/>
              </a:avLst>
            </a:prstGeom>
            <a:solidFill>
              <a:srgbClr val="FFFFFF"/>
            </a:solidFill>
            <a:ln w="9525">
              <a:solidFill>
                <a:srgbClr val="D7E0EA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16280" y="3209925"/>
              <a:ext cx="12873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真实运行口径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723900" y="3543300"/>
              <a:ext cx="1123950" cy="742950"/>
            </a:xfrm>
            <a:prstGeom prst="roundRect">
              <a:avLst>
                <a:gd name="adj" fmla="val 20513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12062" y="3643312"/>
              <a:ext cx="54762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372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17067" y="40381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交互事件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1962150" y="3543300"/>
              <a:ext cx="1123950" cy="742950"/>
            </a:xfrm>
            <a:prstGeom prst="roundRect">
              <a:avLst>
                <a:gd name="adj" fmla="val 2051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2337773" y="364331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096350" y="4038124"/>
              <a:ext cx="85554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EvidenceCard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200400" y="3543300"/>
              <a:ext cx="1123950" cy="742950"/>
            </a:xfrm>
            <a:prstGeom prst="roundRect">
              <a:avLst>
                <a:gd name="adj" fmla="val 20513"/>
              </a:avLst>
            </a:prstGeom>
            <a:solidFill>
              <a:srgbClr val="DFF0F3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393150" y="3643312"/>
              <a:ext cx="73844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6 / 6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360892" y="4038124"/>
              <a:ext cx="802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专用 S Agent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4438650" y="3543300"/>
              <a:ext cx="1123950" cy="742950"/>
            </a:xfrm>
            <a:prstGeom prst="roundRect">
              <a:avLst>
                <a:gd name="adj" fmla="val 20513"/>
              </a:avLst>
            </a:prstGeom>
            <a:solidFill>
              <a:srgbClr val="FFF3D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901734" y="364331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C87919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656083" y="4038124"/>
              <a:ext cx="68908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6E5A34"/>
                  </a:solidFill>
                  <a:latin typeface="+mn-lt"/>
                  <a:ea typeface="+mn-ea"/>
                  <a:cs typeface="+mn-cs"/>
                </a:rPr>
                <a:t>真实 Recall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17042" y="4502468"/>
              <a:ext cx="19410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门控—再调—回溯审计链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1123950" y="5067300"/>
              <a:ext cx="3810000" cy="9525"/>
            </a:xfrm>
            <a:custGeom>
              <a:avLst/>
              <a:gdLst/>
              <a:ahLst/>
              <a:cxnLst/>
              <a:rect l="l" t="t" r="r" b="b"/>
              <a:pathLst>
                <a:path w="3810000" h="9525">
                  <a:moveTo>
                    <a:pt x="0" y="0"/>
                  </a:moveTo>
                  <a:lnTo>
                    <a:pt x="3810000" y="0"/>
                  </a:lnTo>
                </a:path>
              </a:pathLst>
            </a:custGeom>
            <a:noFill/>
            <a:ln w="38100">
              <a:solidFill>
                <a:srgbClr val="D7E0EA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895350" y="4838700"/>
              <a:ext cx="457200" cy="457200"/>
            </a:xfrm>
            <a:prstGeom prst="ellipse">
              <a:avLst/>
            </a:prstGeom>
            <a:solidFill>
              <a:srgbClr val="B94747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038496" y="5019199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L1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2171700" y="4838700"/>
              <a:ext cx="457200" cy="457200"/>
            </a:xfrm>
            <a:prstGeom prst="ellipse">
              <a:avLst/>
            </a:prstGeom>
            <a:solidFill>
              <a:srgbClr val="C87919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2256823" y="5019199"/>
              <a:ext cx="2869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再调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3448050" y="4838700"/>
              <a:ext cx="457200" cy="457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591196" y="5019199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L1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4705350" y="4838700"/>
              <a:ext cx="457200" cy="457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790473" y="5019199"/>
              <a:ext cx="2869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覆盖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53085" y="5362099"/>
              <a:ext cx="74173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B94747"/>
                  </a:solidFill>
                  <a:latin typeface="+mn-lt"/>
                  <a:ea typeface="+mn-ea"/>
                  <a:cs typeface="+mn-cs"/>
                </a:rPr>
                <a:t>gate=False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118299" y="5362099"/>
              <a:ext cx="56400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定向补证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135635" y="5362099"/>
              <a:ext cx="108202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return_node=L1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651949" y="5362099"/>
              <a:ext cx="56400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重新计算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723900" y="5753100"/>
              <a:ext cx="4838700" cy="609600"/>
            </a:xfrm>
            <a:prstGeom prst="roundRect">
              <a:avLst>
                <a:gd name="adj" fmla="val 25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90016" y="5887402"/>
              <a:ext cx="37804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12 个推理节点 · compact 模式显示 80 / 372 个关键事件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90016" y="6116002"/>
              <a:ext cx="48272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持久化 SSE 支持实时观察、断线重放和事后审计，不暴露原始模型消息。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057900" y="1285875"/>
            <a:ext cx="5638800" cy="2628900"/>
            <a:chOff x="6057900" y="1285875"/>
            <a:chExt cx="5638800" cy="2628900"/>
          </a:xfrm>
        </p:grpSpPr>
        <p:sp>
          <p:nvSpPr>
            <p:cNvPr id="42" name="Rectangle 42"/>
            <p:cNvSpPr/>
            <p:nvPr/>
          </p:nvSpPr>
          <p:spPr>
            <a:xfrm>
              <a:off x="6057900" y="1285875"/>
              <a:ext cx="5638800" cy="2628900"/>
            </a:xfrm>
            <a:prstGeom prst="roundRect">
              <a:avLst>
                <a:gd name="adj" fmla="val 7246"/>
              </a:avLst>
            </a:prstGeom>
            <a:solidFill>
              <a:srgbClr val="FFFFFF"/>
            </a:solidFill>
            <a:ln w="19050">
              <a:solidFill>
                <a:schemeClr val="accent2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6191250" y="1362075"/>
              <a:ext cx="1790700" cy="247650"/>
            </a:xfrm>
            <a:prstGeom prst="roundRect">
              <a:avLst>
                <a:gd name="adj" fmla="val 50000"/>
              </a:avLst>
            </a:prstGeom>
            <a:solidFill>
              <a:srgbClr val="C87919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247367" y="1428274"/>
              <a:ext cx="167846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① L1 门控失败 → 定向再调</a:t>
              </a:r>
            </a:p>
          </p:txBody>
        </p:sp>
        <p:pic>
          <p:nvPicPr>
            <p:cNvPr id="45" name="Image 4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94612" y="1514475"/>
              <a:ext cx="5365376" cy="2400300"/>
            </a:xfrm>
            <a:prstGeom prst="rect">
              <a:avLst/>
            </a:prstGeom>
          </p:spPr>
        </p:pic>
      </p:grpSp>
      <p:grpSp>
        <p:nvGrpSpPr>
          <p:cNvPr id="51" name="Group 51"/>
          <p:cNvGrpSpPr/>
          <p:nvPr/>
        </p:nvGrpSpPr>
        <p:grpSpPr>
          <a:xfrm>
            <a:off x="6057900" y="4038600"/>
            <a:ext cx="5638800" cy="2628900"/>
            <a:chOff x="6057900" y="4038600"/>
            <a:chExt cx="5638800" cy="2628900"/>
          </a:xfrm>
        </p:grpSpPr>
        <p:sp>
          <p:nvSpPr>
            <p:cNvPr id="47" name="Rectangle 47"/>
            <p:cNvSpPr/>
            <p:nvPr/>
          </p:nvSpPr>
          <p:spPr>
            <a:xfrm>
              <a:off x="6057900" y="4038600"/>
              <a:ext cx="5638800" cy="2628900"/>
            </a:xfrm>
            <a:prstGeom prst="roundRect">
              <a:avLst>
                <a:gd name="adj" fmla="val 7246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6191250" y="4114800"/>
              <a:ext cx="2381250" cy="24765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312117" y="4180999"/>
              <a:ext cx="21395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② 再调完成 → 返回 L1 → 覆盖重算</a:t>
              </a:r>
            </a:p>
          </p:txBody>
        </p:sp>
        <p:pic>
          <p:nvPicPr>
            <p:cNvPr id="50" name="Image 5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94612" y="4267200"/>
              <a:ext cx="5365376" cy="2400300"/>
            </a:xfrm>
            <a:prstGeom prst="rect">
              <a:avLst/>
            </a:prstGeom>
          </p:spPr>
        </p:pic>
      </p:grpSp>
      <p:sp>
        <p:nvSpPr>
          <p:cNvPr id="52" name="TextBox 52"/>
          <p:cNvSpPr txBox="1"/>
          <p:nvPr/>
        </p:nvSpPr>
        <p:spPr>
          <a:xfrm>
            <a:off x="11726380" y="66684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02158" y="407670"/>
            <a:ext cx="10994928" cy="710755"/>
            <a:chOff x="502158" y="407670"/>
            <a:chExt cx="10994928" cy="710755"/>
          </a:xfrm>
        </p:grpSpPr>
        <p:sp>
          <p:nvSpPr>
            <p:cNvPr id="2" name="TextBox 2"/>
            <p:cNvSpPr txBox="1"/>
            <p:nvPr/>
          </p:nvSpPr>
          <p:spPr>
            <a:xfrm>
              <a:off x="502158" y="407670"/>
              <a:ext cx="1099492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架构执行总览将 A–H 蓝图、S1–S6 Agent 与四层循环完整展开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6542" y="854392"/>
              <a:ext cx="68324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真实前端集中呈现发现蓝图、专用 Agent、循环门控状态与动态参与的业务 Agent。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3133725" y="1371600"/>
            <a:ext cx="5924550" cy="5029200"/>
            <a:chOff x="3133725" y="1371600"/>
            <a:chExt cx="5924550" cy="5029200"/>
          </a:xfrm>
        </p:grpSpPr>
        <p:sp>
          <p:nvSpPr>
            <p:cNvPr id="5" name="Rectangle 5"/>
            <p:cNvSpPr/>
            <p:nvPr/>
          </p:nvSpPr>
          <p:spPr>
            <a:xfrm>
              <a:off x="3133725" y="1371600"/>
              <a:ext cx="5924550" cy="5029200"/>
            </a:xfrm>
            <a:prstGeom prst="roundRect">
              <a:avLst>
                <a:gd name="adj" fmla="val 2652"/>
              </a:avLst>
            </a:prstGeom>
            <a:solidFill>
              <a:srgbClr val="FFFFFF"/>
            </a:solidFill>
            <a:ln w="28575">
              <a:solidFill>
                <a:schemeClr val="accent2"/>
              </a:solidFill>
            </a:ln>
          </p:spPr>
        </p:sp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71825" y="1409700"/>
              <a:ext cx="5848350" cy="4953000"/>
            </a:xfrm>
            <a:prstGeom prst="rect">
              <a:avLst/>
            </a:prstGeom>
          </p:spPr>
        </p:pic>
      </p:grpSp>
      <p:grpSp>
        <p:nvGrpSpPr>
          <p:cNvPr id="16" name="Group 16"/>
          <p:cNvGrpSpPr/>
          <p:nvPr/>
        </p:nvGrpSpPr>
        <p:grpSpPr>
          <a:xfrm>
            <a:off x="266700" y="1543050"/>
            <a:ext cx="4286250" cy="857250"/>
            <a:chOff x="266700" y="1543050"/>
            <a:chExt cx="4286250" cy="857250"/>
          </a:xfrm>
        </p:grpSpPr>
        <p:sp>
          <p:nvSpPr>
            <p:cNvPr id="8" name="Rectangle 8"/>
            <p:cNvSpPr/>
            <p:nvPr/>
          </p:nvSpPr>
          <p:spPr>
            <a:xfrm>
              <a:off x="266700" y="1543050"/>
              <a:ext cx="2571750" cy="857250"/>
            </a:xfrm>
            <a:prstGeom prst="roundRect">
              <a:avLst>
                <a:gd name="adj" fmla="val 2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409575" y="1685925"/>
              <a:ext cx="323850" cy="3238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84536" y="179165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1723" y="1672114"/>
              <a:ext cx="115041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A–H 发现蓝图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2104" y="194691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CEAF6"/>
                  </a:solidFill>
                  <a:latin typeface="+mn-lt"/>
                  <a:ea typeface="+mn-ea"/>
                  <a:cs typeface="+mn-cs"/>
                </a:rPr>
                <a:t>六阶段执行状态</a:t>
              </a:r>
            </a:p>
          </p:txBody>
        </p:sp>
        <p:sp>
          <p:nvSpPr>
            <p:cNvPr id="13" name="Freeform 13"/>
            <p:cNvSpPr/>
            <p:nvPr/>
          </p:nvSpPr>
          <p:spPr>
            <a:xfrm>
              <a:off x="2838450" y="1885950"/>
              <a:ext cx="1638300" cy="85725"/>
            </a:xfrm>
            <a:custGeom>
              <a:avLst/>
              <a:gdLst/>
              <a:ahLst/>
              <a:cxnLst/>
              <a:rect l="l" t="t" r="r" b="b"/>
              <a:pathLst>
                <a:path w="1638300" h="85725">
                  <a:moveTo>
                    <a:pt x="0" y="85725"/>
                  </a:moveTo>
                  <a:cubicBezTo>
                    <a:pt x="171450" y="85725"/>
                    <a:pt x="190500" y="0"/>
                    <a:pt x="333375" y="0"/>
                  </a:cubicBezTo>
                  <a:lnTo>
                    <a:pt x="1638300" y="0"/>
                  </a:lnTo>
                </a:path>
              </a:pathLst>
            </a:custGeom>
            <a:noFill/>
            <a:ln w="23812" cap="rnd">
              <a:solidFill>
                <a:schemeClr val="accent1"/>
              </a:solidFill>
              <a:round/>
            </a:ln>
          </p:spPr>
        </p:sp>
        <p:sp>
          <p:nvSpPr>
            <p:cNvPr id="14" name="Ellipse 14"/>
            <p:cNvSpPr/>
            <p:nvPr/>
          </p:nvSpPr>
          <p:spPr>
            <a:xfrm>
              <a:off x="4400550" y="1809750"/>
              <a:ext cx="152400" cy="1524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accent1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4448175" y="1857375"/>
              <a:ext cx="57150" cy="571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7829550" y="2457450"/>
            <a:ext cx="4095750" cy="857250"/>
            <a:chOff x="7829550" y="2457450"/>
            <a:chExt cx="4095750" cy="857250"/>
          </a:xfrm>
        </p:grpSpPr>
        <p:sp>
          <p:nvSpPr>
            <p:cNvPr id="17" name="Rectangle 17"/>
            <p:cNvSpPr/>
            <p:nvPr/>
          </p:nvSpPr>
          <p:spPr>
            <a:xfrm>
              <a:off x="9353550" y="2457450"/>
              <a:ext cx="2571750" cy="857250"/>
            </a:xfrm>
            <a:prstGeom prst="roundRect">
              <a:avLst>
                <a:gd name="adj" fmla="val 2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9496425" y="2600325"/>
              <a:ext cx="323850" cy="3238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571386" y="270605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918573" y="2586514"/>
              <a:ext cx="151403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S1–S6 专用 Agent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918954" y="2861310"/>
              <a:ext cx="90876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DF3FA"/>
                  </a:solidFill>
                  <a:latin typeface="+mn-lt"/>
                  <a:ea typeface="+mn-ea"/>
                  <a:cs typeface="+mn-cs"/>
                </a:rPr>
                <a:t>6 / 6 已完成</a:t>
              </a:r>
            </a:p>
          </p:txBody>
        </p:sp>
        <p:sp>
          <p:nvSpPr>
            <p:cNvPr id="22" name="Freeform 22"/>
            <p:cNvSpPr/>
            <p:nvPr/>
          </p:nvSpPr>
          <p:spPr>
            <a:xfrm>
              <a:off x="7905750" y="2781300"/>
              <a:ext cx="1447800" cy="104775"/>
            </a:xfrm>
            <a:custGeom>
              <a:avLst/>
              <a:gdLst/>
              <a:ahLst/>
              <a:cxnLst/>
              <a:rect l="l" t="t" r="r" b="b"/>
              <a:pathLst>
                <a:path w="1447800" h="104775">
                  <a:moveTo>
                    <a:pt x="1447800" y="104775"/>
                  </a:moveTo>
                  <a:cubicBezTo>
                    <a:pt x="1295400" y="104775"/>
                    <a:pt x="1266825" y="0"/>
                    <a:pt x="1114425" y="0"/>
                  </a:cubicBezTo>
                  <a:lnTo>
                    <a:pt x="0" y="0"/>
                  </a:lnTo>
                </a:path>
              </a:pathLst>
            </a:custGeom>
            <a:noFill/>
            <a:ln w="23812" cap="rnd">
              <a:solidFill>
                <a:schemeClr val="accent3"/>
              </a:solidFill>
              <a:round/>
            </a:ln>
          </p:spPr>
        </p:sp>
        <p:sp>
          <p:nvSpPr>
            <p:cNvPr id="23" name="Ellipse 23"/>
            <p:cNvSpPr/>
            <p:nvPr/>
          </p:nvSpPr>
          <p:spPr>
            <a:xfrm>
              <a:off x="7829550" y="2705100"/>
              <a:ext cx="152400" cy="1524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accent3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7877175" y="2752725"/>
              <a:ext cx="57150" cy="571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266700" y="4305300"/>
            <a:ext cx="4286250" cy="857250"/>
            <a:chOff x="266700" y="4305300"/>
            <a:chExt cx="4286250" cy="857250"/>
          </a:xfrm>
        </p:grpSpPr>
        <p:sp>
          <p:nvSpPr>
            <p:cNvPr id="26" name="Rectangle 26"/>
            <p:cNvSpPr/>
            <p:nvPr/>
          </p:nvSpPr>
          <p:spPr>
            <a:xfrm>
              <a:off x="266700" y="4305300"/>
              <a:ext cx="2571750" cy="857250"/>
            </a:xfrm>
            <a:prstGeom prst="roundRect">
              <a:avLst>
                <a:gd name="adj" fmla="val 20000"/>
              </a:avLst>
            </a:prstGeom>
            <a:solidFill>
              <a:srgbClr val="FFF3D8"/>
            </a:solidFill>
            <a:ln w="19050">
              <a:solidFill>
                <a:schemeClr val="accent2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409575" y="4448175"/>
              <a:ext cx="323850" cy="3238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4536" y="455390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31723" y="4434364"/>
              <a:ext cx="13607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L1–L4 循环门控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32104" y="470916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次数与最近状态</a:t>
              </a:r>
            </a:p>
          </p:txBody>
        </p:sp>
        <p:sp>
          <p:nvSpPr>
            <p:cNvPr id="31" name="Freeform 31"/>
            <p:cNvSpPr/>
            <p:nvPr/>
          </p:nvSpPr>
          <p:spPr>
            <a:xfrm>
              <a:off x="2838450" y="4733925"/>
              <a:ext cx="1638300" cy="28575"/>
            </a:xfrm>
            <a:custGeom>
              <a:avLst/>
              <a:gdLst/>
              <a:ahLst/>
              <a:cxnLst/>
              <a:rect l="l" t="t" r="r" b="b"/>
              <a:pathLst>
                <a:path w="1638300" h="28575">
                  <a:moveTo>
                    <a:pt x="0" y="0"/>
                  </a:moveTo>
                  <a:cubicBezTo>
                    <a:pt x="171450" y="0"/>
                    <a:pt x="190500" y="28575"/>
                    <a:pt x="333375" y="28575"/>
                  </a:cubicBezTo>
                  <a:lnTo>
                    <a:pt x="1638300" y="28575"/>
                  </a:lnTo>
                </a:path>
              </a:pathLst>
            </a:custGeom>
            <a:noFill/>
            <a:ln w="23812" cap="rnd">
              <a:solidFill>
                <a:schemeClr val="accent2"/>
              </a:solidFill>
              <a:round/>
            </a:ln>
          </p:spPr>
        </p:sp>
        <p:sp>
          <p:nvSpPr>
            <p:cNvPr id="32" name="Ellipse 32"/>
            <p:cNvSpPr/>
            <p:nvPr/>
          </p:nvSpPr>
          <p:spPr>
            <a:xfrm>
              <a:off x="4400550" y="4686300"/>
              <a:ext cx="152400" cy="1524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accent2"/>
              </a:solidFill>
            </a:ln>
          </p:spPr>
        </p:sp>
        <p:sp>
          <p:nvSpPr>
            <p:cNvPr id="33" name="Ellipse 33"/>
            <p:cNvSpPr/>
            <p:nvPr/>
          </p:nvSpPr>
          <p:spPr>
            <a:xfrm>
              <a:off x="4448175" y="4733925"/>
              <a:ext cx="57150" cy="571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43" name="Group 43"/>
          <p:cNvGrpSpPr/>
          <p:nvPr/>
        </p:nvGrpSpPr>
        <p:grpSpPr>
          <a:xfrm>
            <a:off x="7829550" y="5429250"/>
            <a:ext cx="4095750" cy="857250"/>
            <a:chOff x="7829550" y="5429250"/>
            <a:chExt cx="4095750" cy="857250"/>
          </a:xfrm>
        </p:grpSpPr>
        <p:sp>
          <p:nvSpPr>
            <p:cNvPr id="35" name="Rectangle 35"/>
            <p:cNvSpPr/>
            <p:nvPr/>
          </p:nvSpPr>
          <p:spPr>
            <a:xfrm>
              <a:off x="9353550" y="5429250"/>
              <a:ext cx="2571750" cy="85725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9496425" y="5572125"/>
              <a:ext cx="323850" cy="32385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571386" y="567785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918573" y="5558314"/>
              <a:ext cx="130294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7156"/>
                  </a:solidFill>
                  <a:latin typeface="+mn-lt"/>
                  <a:ea typeface="+mn-ea"/>
                  <a:cs typeface="+mn-cs"/>
                </a:rPr>
                <a:t>参与业务 Agent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918954" y="583311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7156"/>
                  </a:solidFill>
                  <a:latin typeface="+mn-lt"/>
                  <a:ea typeface="+mn-ea"/>
                  <a:cs typeface="+mn-cs"/>
                </a:rPr>
                <a:t>主控动态编排</a:t>
              </a:r>
            </a:p>
          </p:txBody>
        </p:sp>
        <p:sp>
          <p:nvSpPr>
            <p:cNvPr id="40" name="Freeform 40"/>
            <p:cNvSpPr/>
            <p:nvPr/>
          </p:nvSpPr>
          <p:spPr>
            <a:xfrm>
              <a:off x="7905750" y="5810250"/>
              <a:ext cx="1447800" cy="47625"/>
            </a:xfrm>
            <a:custGeom>
              <a:avLst/>
              <a:gdLst/>
              <a:ahLst/>
              <a:cxnLst/>
              <a:rect l="l" t="t" r="r" b="b"/>
              <a:pathLst>
                <a:path w="1447800" h="47625">
                  <a:moveTo>
                    <a:pt x="1447800" y="47625"/>
                  </a:moveTo>
                  <a:cubicBezTo>
                    <a:pt x="1295400" y="47625"/>
                    <a:pt x="1266825" y="0"/>
                    <a:pt x="1114425" y="0"/>
                  </a:cubicBezTo>
                  <a:lnTo>
                    <a:pt x="0" y="0"/>
                  </a:lnTo>
                </a:path>
              </a:pathLst>
            </a:custGeom>
            <a:noFill/>
            <a:ln w="23812" cap="rnd">
              <a:solidFill>
                <a:schemeClr val="accent6"/>
              </a:solidFill>
              <a:round/>
            </a:ln>
          </p:spPr>
        </p:sp>
        <p:sp>
          <p:nvSpPr>
            <p:cNvPr id="41" name="Ellipse 41"/>
            <p:cNvSpPr/>
            <p:nvPr/>
          </p:nvSpPr>
          <p:spPr>
            <a:xfrm>
              <a:off x="7829550" y="5734050"/>
              <a:ext cx="152400" cy="1524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sp>
          <p:nvSpPr>
            <p:cNvPr id="42" name="Ellipse 42"/>
            <p:cNvSpPr/>
            <p:nvPr/>
          </p:nvSpPr>
          <p:spPr>
            <a:xfrm>
              <a:off x="7877175" y="5781675"/>
              <a:ext cx="57150" cy="5715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</p:grpSp>
      <p:sp>
        <p:nvSpPr>
          <p:cNvPr id="44" name="TextBox 44"/>
          <p:cNvSpPr txBox="1"/>
          <p:nvPr/>
        </p:nvSpPr>
        <p:spPr>
          <a:xfrm>
            <a:off x="11573980" y="65541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00634" y="470535"/>
            <a:ext cx="10915193" cy="714566"/>
            <a:chOff x="500634" y="470535"/>
            <a:chExt cx="10915193" cy="714566"/>
          </a:xfrm>
        </p:grpSpPr>
        <p:sp>
          <p:nvSpPr>
            <p:cNvPr id="2" name="TextBox 2"/>
            <p:cNvSpPr txBox="1"/>
            <p:nvPr/>
          </p:nvSpPr>
          <p:spPr>
            <a:xfrm>
              <a:off x="500634" y="470535"/>
              <a:ext cx="1091519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系统把研究结论沉淀为可评审、可追踪、可校验的成果交付包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6542" y="921068"/>
              <a:ext cx="60110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真实界面呈现能力成果；多形态交付覆盖甲方评审、过程复核与后续验证。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514350" y="1409700"/>
            <a:ext cx="5753100" cy="4476750"/>
            <a:chOff x="514350" y="1409700"/>
            <a:chExt cx="5753100" cy="4476750"/>
          </a:xfrm>
        </p:grpSpPr>
        <p:sp>
          <p:nvSpPr>
            <p:cNvPr id="5" name="Rectangle 5"/>
            <p:cNvSpPr/>
            <p:nvPr/>
          </p:nvSpPr>
          <p:spPr>
            <a:xfrm>
              <a:off x="514350" y="1409700"/>
              <a:ext cx="5753100" cy="4476750"/>
            </a:xfrm>
            <a:prstGeom prst="roundRect">
              <a:avLst>
                <a:gd name="adj" fmla="val 4681"/>
              </a:avLst>
            </a:prstGeom>
            <a:solidFill>
              <a:srgbClr val="FFFFFF"/>
            </a:solidFill>
            <a:ln w="28575">
              <a:solidFill>
                <a:schemeClr val="accent2"/>
              </a:solidFill>
            </a:ln>
          </p:spPr>
        </p:sp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99147" y="1581150"/>
              <a:ext cx="4383507" cy="4133850"/>
            </a:xfrm>
            <a:prstGeom prst="rect">
              <a:avLst/>
            </a:prstGeom>
          </p:spPr>
        </p:pic>
      </p:grpSp>
      <p:grpSp>
        <p:nvGrpSpPr>
          <p:cNvPr id="30" name="Group 30"/>
          <p:cNvGrpSpPr/>
          <p:nvPr/>
        </p:nvGrpSpPr>
        <p:grpSpPr>
          <a:xfrm>
            <a:off x="6705600" y="1409700"/>
            <a:ext cx="4953000" cy="4476750"/>
            <a:chOff x="6705600" y="1409700"/>
            <a:chExt cx="4953000" cy="4476750"/>
          </a:xfrm>
        </p:grpSpPr>
        <p:sp>
          <p:nvSpPr>
            <p:cNvPr id="8" name="Rectangle 8"/>
            <p:cNvSpPr/>
            <p:nvPr/>
          </p:nvSpPr>
          <p:spPr>
            <a:xfrm>
              <a:off x="6705600" y="1409700"/>
              <a:ext cx="4953000" cy="4476750"/>
            </a:xfrm>
            <a:prstGeom prst="roundRect">
              <a:avLst>
                <a:gd name="adj" fmla="val 5106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963156" y="165354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成果交付矩阵</a:t>
              </a:r>
            </a:p>
          </p:txBody>
        </p:sp>
        <p:grpSp>
          <p:nvGrpSpPr>
            <p:cNvPr id="19" name="Group 19"/>
            <p:cNvGrpSpPr/>
            <p:nvPr/>
          </p:nvGrpSpPr>
          <p:grpSpPr>
            <a:xfrm>
              <a:off x="6972300" y="2095500"/>
              <a:ext cx="4419600" cy="3371850"/>
              <a:chOff x="6972300" y="2095500"/>
              <a:chExt cx="4419600" cy="337185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6972300" y="2095500"/>
                <a:ext cx="2038350" cy="552450"/>
              </a:xfrm>
              <a:prstGeom prst="roundRect">
                <a:avLst>
                  <a:gd name="adj" fmla="val 27586"/>
                </a:avLst>
              </a:prstGeom>
              <a:solidFill>
                <a:srgbClr val="FFFFFF">
                  <a:alpha val="12000"/>
                </a:srgbClr>
              </a:solidFill>
              <a:ln>
                <a:noFill/>
              </a:ln>
            </p:spPr>
          </p:sp>
          <p:sp>
            <p:nvSpPr>
              <p:cNvPr id="11" name="Rectangle 11"/>
              <p:cNvSpPr/>
              <p:nvPr/>
            </p:nvSpPr>
            <p:spPr>
              <a:xfrm>
                <a:off x="9182100" y="2095500"/>
                <a:ext cx="2209800" cy="552450"/>
              </a:xfrm>
              <a:prstGeom prst="roundRect">
                <a:avLst>
                  <a:gd name="adj" fmla="val 27586"/>
                </a:avLst>
              </a:prstGeom>
              <a:solidFill>
                <a:srgbClr val="FFFFFF">
                  <a:alpha val="12000"/>
                </a:srgbClr>
              </a:solidFill>
              <a:ln>
                <a:noFill/>
              </a:ln>
            </p:spPr>
          </p:sp>
          <p:sp>
            <p:nvSpPr>
              <p:cNvPr id="12" name="Rectangle 12"/>
              <p:cNvSpPr/>
              <p:nvPr/>
            </p:nvSpPr>
            <p:spPr>
              <a:xfrm>
                <a:off x="6972300" y="2800350"/>
                <a:ext cx="2038350" cy="552450"/>
              </a:xfrm>
              <a:prstGeom prst="roundRect">
                <a:avLst>
                  <a:gd name="adj" fmla="val 27586"/>
                </a:avLst>
              </a:prstGeom>
              <a:solidFill>
                <a:srgbClr val="FFFFFF">
                  <a:alpha val="12000"/>
                </a:srgbClr>
              </a:solidFill>
              <a:ln>
                <a:noFill/>
              </a:ln>
            </p:spPr>
          </p:sp>
          <p:sp>
            <p:nvSpPr>
              <p:cNvPr id="13" name="Rectangle 13"/>
              <p:cNvSpPr/>
              <p:nvPr/>
            </p:nvSpPr>
            <p:spPr>
              <a:xfrm>
                <a:off x="9182100" y="2800350"/>
                <a:ext cx="2209800" cy="552450"/>
              </a:xfrm>
              <a:prstGeom prst="roundRect">
                <a:avLst>
                  <a:gd name="adj" fmla="val 27586"/>
                </a:avLst>
              </a:prstGeom>
              <a:solidFill>
                <a:srgbClr val="FFFFFF">
                  <a:alpha val="12000"/>
                </a:srgbClr>
              </a:solidFill>
              <a:ln>
                <a:noFill/>
              </a:ln>
            </p:spPr>
          </p:sp>
          <p:sp>
            <p:nvSpPr>
              <p:cNvPr id="14" name="Rectangle 14"/>
              <p:cNvSpPr/>
              <p:nvPr/>
            </p:nvSpPr>
            <p:spPr>
              <a:xfrm>
                <a:off x="6972300" y="3505200"/>
                <a:ext cx="2038350" cy="552450"/>
              </a:xfrm>
              <a:prstGeom prst="roundRect">
                <a:avLst>
                  <a:gd name="adj" fmla="val 27586"/>
                </a:avLst>
              </a:prstGeom>
              <a:solidFill>
                <a:srgbClr val="FFFFFF">
                  <a:alpha val="12000"/>
                </a:srgbClr>
              </a:solidFill>
              <a:ln>
                <a:noFill/>
              </a:ln>
            </p:spPr>
          </p:sp>
          <p:sp>
            <p:nvSpPr>
              <p:cNvPr id="15" name="Rectangle 15"/>
              <p:cNvSpPr/>
              <p:nvPr/>
            </p:nvSpPr>
            <p:spPr>
              <a:xfrm>
                <a:off x="9182100" y="3505200"/>
                <a:ext cx="2209800" cy="552450"/>
              </a:xfrm>
              <a:prstGeom prst="roundRect">
                <a:avLst>
                  <a:gd name="adj" fmla="val 27586"/>
                </a:avLst>
              </a:prstGeom>
              <a:solidFill>
                <a:srgbClr val="FFFFFF">
                  <a:alpha val="12000"/>
                </a:srgbClr>
              </a:solidFill>
              <a:ln>
                <a:noFill/>
              </a:ln>
            </p:spPr>
          </p:sp>
          <p:sp>
            <p:nvSpPr>
              <p:cNvPr id="16" name="Rectangle 16"/>
              <p:cNvSpPr/>
              <p:nvPr/>
            </p:nvSpPr>
            <p:spPr>
              <a:xfrm>
                <a:off x="6972300" y="4210050"/>
                <a:ext cx="2038350" cy="552450"/>
              </a:xfrm>
              <a:prstGeom prst="roundRect">
                <a:avLst>
                  <a:gd name="adj" fmla="val 27586"/>
                </a:avLst>
              </a:prstGeom>
              <a:solidFill>
                <a:srgbClr val="FFFFFF">
                  <a:alpha val="12000"/>
                </a:srgbClr>
              </a:solidFill>
              <a:ln>
                <a:noFill/>
              </a:ln>
            </p:spPr>
          </p:sp>
          <p:sp>
            <p:nvSpPr>
              <p:cNvPr id="17" name="Rectangle 17"/>
              <p:cNvSpPr/>
              <p:nvPr/>
            </p:nvSpPr>
            <p:spPr>
              <a:xfrm>
                <a:off x="9182100" y="4210050"/>
                <a:ext cx="2209800" cy="552450"/>
              </a:xfrm>
              <a:prstGeom prst="roundRect">
                <a:avLst>
                  <a:gd name="adj" fmla="val 27586"/>
                </a:avLst>
              </a:prstGeom>
              <a:solidFill>
                <a:srgbClr val="FFFFFF">
                  <a:alpha val="12000"/>
                </a:srgbClr>
              </a:solidFill>
              <a:ln>
                <a:noFill/>
              </a:ln>
            </p:spPr>
          </p:sp>
          <p:sp>
            <p:nvSpPr>
              <p:cNvPr id="18" name="Rectangle 18"/>
              <p:cNvSpPr/>
              <p:nvPr/>
            </p:nvSpPr>
            <p:spPr>
              <a:xfrm>
                <a:off x="8058150" y="4914900"/>
                <a:ext cx="2247900" cy="552450"/>
              </a:xfrm>
              <a:prstGeom prst="roundRect">
                <a:avLst>
                  <a:gd name="adj" fmla="val 27586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</p:grpSp>
        <p:grpSp>
          <p:nvGrpSpPr>
            <p:cNvPr id="29" name="Group 29"/>
            <p:cNvGrpSpPr/>
            <p:nvPr/>
          </p:nvGrpSpPr>
          <p:grpSpPr>
            <a:xfrm>
              <a:off x="7174230" y="2276475"/>
              <a:ext cx="3073146" cy="3112770"/>
              <a:chOff x="7174230" y="2276475"/>
              <a:chExt cx="3073146" cy="3112770"/>
            </a:xfrm>
          </p:grpSpPr>
          <p:sp>
            <p:nvSpPr>
              <p:cNvPr id="20" name="TextBox 20"/>
              <p:cNvSpPr txBox="1"/>
              <p:nvPr/>
            </p:nvSpPr>
            <p:spPr>
              <a:xfrm>
                <a:off x="7174230" y="2276475"/>
                <a:ext cx="86334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深度报告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9384030" y="2276475"/>
                <a:ext cx="86334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需求卡片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7174230" y="2981325"/>
                <a:ext cx="107537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能力全景图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9384030" y="2981325"/>
                <a:ext cx="86334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成果画像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7174230" y="3686175"/>
                <a:ext cx="86334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推理追溯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9384030" y="3686175"/>
                <a:ext cx="86334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证据索引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7174230" y="4391025"/>
                <a:ext cx="86334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质量门控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9384030" y="4391025"/>
                <a:ext cx="86334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交互审计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026354" y="5095875"/>
                <a:ext cx="143519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交付 Manifest</a:t>
                </a:r>
              </a:p>
            </p:txBody>
          </p:sp>
        </p:grpSp>
      </p:grpSp>
      <p:grpSp>
        <p:nvGrpSpPr>
          <p:cNvPr id="39" name="Group 39"/>
          <p:cNvGrpSpPr/>
          <p:nvPr/>
        </p:nvGrpSpPr>
        <p:grpSpPr>
          <a:xfrm>
            <a:off x="876300" y="6096000"/>
            <a:ext cx="10439400" cy="381000"/>
            <a:chOff x="876300" y="6096000"/>
            <a:chExt cx="10439400" cy="381000"/>
          </a:xfrm>
        </p:grpSpPr>
        <p:sp>
          <p:nvSpPr>
            <p:cNvPr id="31" name="Rectangle 31"/>
            <p:cNvSpPr/>
            <p:nvPr/>
          </p:nvSpPr>
          <p:spPr>
            <a:xfrm>
              <a:off x="876300" y="6096000"/>
              <a:ext cx="2286000" cy="3810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379571" y="6206014"/>
              <a:ext cx="12794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甲方可直接评审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3371850" y="6096000"/>
              <a:ext cx="2286000" cy="381000"/>
            </a:xfrm>
            <a:prstGeom prst="roundRect">
              <a:avLst>
                <a:gd name="adj" fmla="val 50000"/>
              </a:avLst>
            </a:prstGeom>
            <a:solidFill>
              <a:srgbClr val="DFF0F3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3875121" y="6206014"/>
              <a:ext cx="12794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项目过程可回溯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867400" y="6096000"/>
              <a:ext cx="2286000" cy="381000"/>
            </a:xfrm>
            <a:prstGeom prst="roundRect">
              <a:avLst>
                <a:gd name="adj" fmla="val 50000"/>
              </a:avLst>
            </a:prstGeom>
            <a:solidFill>
              <a:srgbClr val="FFF3D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461135" y="6206014"/>
              <a:ext cx="109853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交付包可校验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362950" y="6096000"/>
              <a:ext cx="2952750" cy="381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837737" y="6206014"/>
              <a:ext cx="20031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下一阶段可验证、可迭代</a:t>
              </a:r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11478730" y="65922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99872" y="454342"/>
            <a:ext cx="11095939" cy="730759"/>
            <a:chOff x="499872" y="454342"/>
            <a:chExt cx="11095939" cy="730759"/>
          </a:xfrm>
        </p:grpSpPr>
        <p:sp>
          <p:nvSpPr>
            <p:cNvPr id="2" name="TextBox 2"/>
            <p:cNvSpPr txBox="1"/>
            <p:nvPr/>
          </p:nvSpPr>
          <p:spPr>
            <a:xfrm>
              <a:off x="499872" y="454342"/>
              <a:ext cx="11095939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全量回归与三路线验收表明初版已达到可交付、可复核状态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6542" y="921068"/>
              <a:ext cx="61019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验收口径：2026-07-17；回归、生产构建、配置与真实三路线运行均通过。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33400" y="1447800"/>
            <a:ext cx="3238500" cy="2952750"/>
            <a:chOff x="533400" y="1447800"/>
            <a:chExt cx="3238500" cy="2952750"/>
          </a:xfrm>
        </p:grpSpPr>
        <p:sp>
          <p:nvSpPr>
            <p:cNvPr id="5" name="Rectangle 5"/>
            <p:cNvSpPr/>
            <p:nvPr/>
          </p:nvSpPr>
          <p:spPr>
            <a:xfrm>
              <a:off x="533400" y="1447800"/>
              <a:ext cx="3238500" cy="2952750"/>
            </a:xfrm>
            <a:prstGeom prst="roundRect">
              <a:avLst>
                <a:gd name="adj" fmla="val 7742"/>
              </a:avLst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899319" y="1812925"/>
              <a:ext cx="297655" cy="337343"/>
              <a:chOff x="899319" y="1812925"/>
              <a:chExt cx="297655" cy="337343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899319" y="1812925"/>
                <a:ext cx="238125" cy="317499"/>
              </a:xfrm>
              <a:custGeom>
                <a:avLst/>
                <a:gdLst/>
                <a:ahLst/>
                <a:cxnLst/>
                <a:rect l="l" t="t" r="r" b="b"/>
                <a:pathLst>
                  <a:path w="238125" h="317499">
                    <a:moveTo>
                      <a:pt x="91579" y="317499"/>
                    </a:moveTo>
                    <a:lnTo>
                      <a:pt x="39687" y="317499"/>
                    </a:lnTo>
                    <a:cubicBezTo>
                      <a:pt x="17769" y="317499"/>
                      <a:pt x="0" y="299731"/>
                      <a:pt x="0" y="277812"/>
                    </a:cubicBezTo>
                    <a:lnTo>
                      <a:pt x="0" y="39687"/>
                    </a:lnTo>
                    <a:cubicBezTo>
                      <a:pt x="0" y="17769"/>
                      <a:pt x="17769" y="0"/>
                      <a:pt x="39687" y="0"/>
                    </a:cubicBezTo>
                    <a:lnTo>
                      <a:pt x="198437" y="0"/>
                    </a:lnTo>
                    <a:cubicBezTo>
                      <a:pt x="220356" y="0"/>
                      <a:pt x="238125" y="17769"/>
                      <a:pt x="238125" y="39687"/>
                    </a:cubicBezTo>
                    <a:lnTo>
                      <a:pt x="238125" y="198437"/>
                    </a:lnTo>
                  </a:path>
                </a:pathLst>
              </a:custGeom>
              <a:noFill/>
              <a:ln w="39687">
                <a:solidFill>
                  <a:schemeClr val="accent2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1077912" y="2070893"/>
                <a:ext cx="119062" cy="79375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79375">
                    <a:moveTo>
                      <a:pt x="0" y="39687"/>
                    </a:moveTo>
                    <a:lnTo>
                      <a:pt x="39687" y="79375"/>
                    </a:lnTo>
                    <a:lnTo>
                      <a:pt x="119062" y="0"/>
                    </a:lnTo>
                  </a:path>
                </a:pathLst>
              </a:custGeom>
              <a:noFill/>
              <a:ln w="39687">
                <a:solidFill>
                  <a:schemeClr val="accent2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978693" y="1892300"/>
                <a:ext cx="793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9375" h="9525">
                    <a:moveTo>
                      <a:pt x="0" y="0"/>
                    </a:moveTo>
                    <a:lnTo>
                      <a:pt x="79375" y="0"/>
                    </a:lnTo>
                  </a:path>
                </a:pathLst>
              </a:custGeom>
              <a:noFill/>
              <a:ln w="39687">
                <a:solidFill>
                  <a:schemeClr val="accent2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978693" y="1971675"/>
                <a:ext cx="3968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9687" h="9525">
                    <a:moveTo>
                      <a:pt x="0" y="0"/>
                    </a:moveTo>
                    <a:lnTo>
                      <a:pt x="39687" y="0"/>
                    </a:lnTo>
                  </a:path>
                </a:pathLst>
              </a:custGeom>
              <a:noFill/>
              <a:ln w="39687">
                <a:solidFill>
                  <a:schemeClr val="accent2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800100" y="2313622"/>
              <a:ext cx="1542428" cy="1247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4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446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26008" y="3208020"/>
              <a:ext cx="114388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passed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31342" y="379761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全量回归 · 0 个阻断错误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095750" y="1447800"/>
            <a:ext cx="7562850" cy="2952750"/>
            <a:chOff x="4095750" y="1447800"/>
            <a:chExt cx="7562850" cy="2952750"/>
          </a:xfrm>
        </p:grpSpPr>
        <p:sp>
          <p:nvSpPr>
            <p:cNvPr id="15" name="Rectangle 15"/>
            <p:cNvSpPr/>
            <p:nvPr/>
          </p:nvSpPr>
          <p:spPr>
            <a:xfrm>
              <a:off x="4095750" y="1447800"/>
              <a:ext cx="7562850" cy="2952750"/>
            </a:xfrm>
            <a:prstGeom prst="roundRect">
              <a:avLst>
                <a:gd name="adj" fmla="val 7742"/>
              </a:avLst>
            </a:prstGeom>
            <a:solidFill>
              <a:srgbClr val="FFFFFF"/>
            </a:solidFill>
            <a:ln w="9525">
              <a:solidFill>
                <a:srgbClr val="D7E0EA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353306" y="1653540"/>
              <a:ext cx="256260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真实三路线多模型验收</a:t>
              </a:r>
            </a:p>
          </p:txBody>
        </p:sp>
        <p:grpSp>
          <p:nvGrpSpPr>
            <p:cNvPr id="20" name="Group 20"/>
            <p:cNvGrpSpPr/>
            <p:nvPr/>
          </p:nvGrpSpPr>
          <p:grpSpPr>
            <a:xfrm>
              <a:off x="4354449" y="2095500"/>
              <a:ext cx="7118641" cy="385668"/>
              <a:chOff x="4354449" y="2095500"/>
              <a:chExt cx="7118641" cy="385668"/>
            </a:xfrm>
          </p:grpSpPr>
          <p:sp>
            <p:nvSpPr>
              <p:cNvPr id="17" name="TextBox 17"/>
              <p:cNvSpPr txBox="1"/>
              <p:nvPr/>
            </p:nvSpPr>
            <p:spPr>
              <a:xfrm>
                <a:off x="4354449" y="2173129"/>
                <a:ext cx="1132675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新制胜机理</a:t>
                </a:r>
              </a:p>
            </p:txBody>
          </p:sp>
          <p:sp>
            <p:nvSpPr>
              <p:cNvPr id="18" name="Rectangle 18"/>
              <p:cNvSpPr/>
              <p:nvPr/>
            </p:nvSpPr>
            <p:spPr>
              <a:xfrm>
                <a:off x="5905500" y="2095500"/>
                <a:ext cx="5257800" cy="381000"/>
              </a:xfrm>
              <a:prstGeom prst="roundRect">
                <a:avLst>
                  <a:gd name="adj" fmla="val 50000"/>
                </a:avLst>
              </a:prstGeom>
              <a:solidFill>
                <a:srgbClr val="E9F6F1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6052566" y="2229802"/>
                <a:ext cx="542052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completed · runtime_complete · release_ready · audit approved · evidence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4354449" y="2857500"/>
              <a:ext cx="7118641" cy="385668"/>
              <a:chOff x="4354449" y="2857500"/>
              <a:chExt cx="7118641" cy="385668"/>
            </a:xfrm>
          </p:grpSpPr>
          <p:sp>
            <p:nvSpPr>
              <p:cNvPr id="21" name="TextBox 21"/>
              <p:cNvSpPr txBox="1"/>
              <p:nvPr/>
            </p:nvSpPr>
            <p:spPr>
              <a:xfrm>
                <a:off x="4354449" y="2935129"/>
                <a:ext cx="1356009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传统能力缺口</a:t>
                </a:r>
              </a:p>
            </p:txBody>
          </p:sp>
          <p:sp>
            <p:nvSpPr>
              <p:cNvPr id="22" name="Rectangle 22"/>
              <p:cNvSpPr/>
              <p:nvPr/>
            </p:nvSpPr>
            <p:spPr>
              <a:xfrm>
                <a:off x="5905500" y="2857500"/>
                <a:ext cx="5257800" cy="381000"/>
              </a:xfrm>
              <a:prstGeom prst="roundRect">
                <a:avLst>
                  <a:gd name="adj" fmla="val 50000"/>
                </a:avLst>
              </a:prstGeom>
              <a:solidFill>
                <a:srgbClr val="E9F6F1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6052566" y="2991802"/>
                <a:ext cx="542052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completed · runtime_complete · release_ready · audit approved · evidence</a:t>
                </a: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4354449" y="3619500"/>
              <a:ext cx="7118641" cy="385668"/>
              <a:chOff x="4354449" y="3619500"/>
              <a:chExt cx="7118641" cy="385668"/>
            </a:xfrm>
          </p:grpSpPr>
          <p:sp>
            <p:nvSpPr>
              <p:cNvPr id="25" name="TextBox 25"/>
              <p:cNvSpPr txBox="1"/>
              <p:nvPr/>
            </p:nvSpPr>
            <p:spPr>
              <a:xfrm>
                <a:off x="4354449" y="3697129"/>
                <a:ext cx="1356009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局部战争案例</a:t>
                </a:r>
              </a:p>
            </p:txBody>
          </p:sp>
          <p:sp>
            <p:nvSpPr>
              <p:cNvPr id="26" name="Rectangle 26"/>
              <p:cNvSpPr/>
              <p:nvPr/>
            </p:nvSpPr>
            <p:spPr>
              <a:xfrm>
                <a:off x="5905500" y="3619500"/>
                <a:ext cx="5257800" cy="381000"/>
              </a:xfrm>
              <a:prstGeom prst="roundRect">
                <a:avLst>
                  <a:gd name="adj" fmla="val 50000"/>
                </a:avLst>
              </a:prstGeom>
              <a:solidFill>
                <a:srgbClr val="E9F6F1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6052566" y="3753802"/>
                <a:ext cx="542052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completed · runtime_complete · release_ready · audit approved · evidence</a:t>
                </a:r>
              </a:p>
            </p:txBody>
          </p:sp>
        </p:grpSp>
      </p:grpSp>
      <p:grpSp>
        <p:nvGrpSpPr>
          <p:cNvPr id="35" name="Group 35"/>
          <p:cNvGrpSpPr/>
          <p:nvPr/>
        </p:nvGrpSpPr>
        <p:grpSpPr>
          <a:xfrm>
            <a:off x="533400" y="4648200"/>
            <a:ext cx="11125200" cy="685800"/>
            <a:chOff x="533400" y="4648200"/>
            <a:chExt cx="11125200" cy="685800"/>
          </a:xfrm>
        </p:grpSpPr>
        <p:sp>
          <p:nvSpPr>
            <p:cNvPr id="30" name="Rectangle 30"/>
            <p:cNvSpPr/>
            <p:nvPr/>
          </p:nvSpPr>
          <p:spPr>
            <a:xfrm>
              <a:off x="533400" y="4648200"/>
              <a:ext cx="11125200" cy="685800"/>
            </a:xfrm>
            <a:prstGeom prst="roundRect">
              <a:avLst>
                <a:gd name="adj" fmla="val 3055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30580" y="4886325"/>
              <a:ext cx="17892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Vite 生产构建通过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535680" y="4886325"/>
              <a:ext cx="179997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Compose 配置通过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221730" y="4886325"/>
              <a:ext cx="190747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本轮 Ruff 检查通过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717280" y="4886325"/>
              <a:ext cx="20757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Manifest 完整性校验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533400" y="5543550"/>
            <a:ext cx="11125200" cy="742950"/>
            <a:chOff x="533400" y="5543550"/>
            <a:chExt cx="11125200" cy="742950"/>
          </a:xfrm>
        </p:grpSpPr>
        <p:sp>
          <p:nvSpPr>
            <p:cNvPr id="36" name="Rectangle 36"/>
            <p:cNvSpPr/>
            <p:nvPr/>
          </p:nvSpPr>
          <p:spPr>
            <a:xfrm>
              <a:off x="533400" y="5543550"/>
              <a:ext cx="11125200" cy="742950"/>
            </a:xfrm>
            <a:prstGeom prst="roundRect">
              <a:avLst>
                <a:gd name="adj" fmla="val 28205"/>
              </a:avLst>
            </a:prstGeom>
            <a:solidFill>
              <a:srgbClr val="FFFFFF"/>
            </a:solidFill>
            <a:ln w="9525">
              <a:solidFill>
                <a:srgbClr val="D7E0EA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74573" y="569166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代表性闭环验收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74954" y="5985510"/>
              <a:ext cx="100415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4 路 Agent　·　6 个推理节点　·　L1/L2/L3　·　2 项结构化画像　·　71 条事件　·　15/15 工具结果　·　30 个 Manifest 文件</a:t>
              </a:r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11478730" y="64970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21208" y="426720"/>
            <a:ext cx="10704584" cy="720281"/>
            <a:chOff x="521208" y="426720"/>
            <a:chExt cx="10704584" cy="720281"/>
          </a:xfrm>
        </p:grpSpPr>
        <p:sp>
          <p:nvSpPr>
            <p:cNvPr id="2" name="TextBox 2"/>
            <p:cNvSpPr txBox="1"/>
            <p:nvPr/>
          </p:nvSpPr>
          <p:spPr>
            <a:xfrm>
              <a:off x="521208" y="426720"/>
              <a:ext cx="1070458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正式 Benchmark：约 100 条专家标注 Query 采用 Pairwise 盲评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6542" y="882968"/>
              <a:ext cx="77853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480 条作为候选池；正式集先覆盖研究路径，再对同一 Query 的匿名 A/B 回答进行九维比较。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33400" y="1352550"/>
            <a:ext cx="2000250" cy="2209800"/>
            <a:chOff x="533400" y="1352550"/>
            <a:chExt cx="2000250" cy="2209800"/>
          </a:xfrm>
        </p:grpSpPr>
        <p:sp>
          <p:nvSpPr>
            <p:cNvPr id="5" name="Rectangle 5"/>
            <p:cNvSpPr/>
            <p:nvPr/>
          </p:nvSpPr>
          <p:spPr>
            <a:xfrm>
              <a:off x="533400" y="1352550"/>
              <a:ext cx="2000250" cy="2209800"/>
            </a:xfrm>
            <a:prstGeom prst="roundRect">
              <a:avLst>
                <a:gd name="adj" fmla="val 9524"/>
              </a:avLst>
            </a:prstGeom>
            <a:solidFill>
              <a:srgbClr val="FFFFFF"/>
            </a:solidFill>
            <a:ln w="9525">
              <a:solidFill>
                <a:srgbClr val="D7E0EA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723900" y="1543050"/>
              <a:ext cx="800100" cy="2857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78612" y="1613535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候选题库</a:t>
              </a:r>
            </a:p>
          </p:txBody>
        </p:sp>
        <p:grpSp>
          <p:nvGrpSpPr>
            <p:cNvPr id="11" name="Group 11"/>
            <p:cNvGrpSpPr/>
            <p:nvPr/>
          </p:nvGrpSpPr>
          <p:grpSpPr>
            <a:xfrm>
              <a:off x="2063750" y="1564481"/>
              <a:ext cx="215901" cy="242888"/>
              <a:chOff x="2063750" y="1564481"/>
              <a:chExt cx="215901" cy="242888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2063750" y="1564481"/>
                <a:ext cx="215901" cy="80963"/>
              </a:xfrm>
              <a:custGeom>
                <a:avLst/>
                <a:gdLst/>
                <a:ahLst/>
                <a:cxnLst/>
                <a:rect l="l" t="t" r="r" b="b"/>
                <a:pathLst>
                  <a:path w="215901" h="80963">
                    <a:moveTo>
                      <a:pt x="0" y="40481"/>
                    </a:moveTo>
                    <a:cubicBezTo>
                      <a:pt x="0" y="62839"/>
                      <a:pt x="48331" y="80963"/>
                      <a:pt x="107950" y="80963"/>
                    </a:cubicBezTo>
                    <a:cubicBezTo>
                      <a:pt x="167570" y="80963"/>
                      <a:pt x="215901" y="62839"/>
                      <a:pt x="215901" y="40481"/>
                    </a:cubicBezTo>
                    <a:cubicBezTo>
                      <a:pt x="215901" y="18124"/>
                      <a:pt x="167570" y="0"/>
                      <a:pt x="107950" y="0"/>
                    </a:cubicBezTo>
                    <a:cubicBezTo>
                      <a:pt x="48331" y="0"/>
                      <a:pt x="0" y="18124"/>
                      <a:pt x="0" y="40481"/>
                    </a:cubicBez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2063750" y="1604963"/>
                <a:ext cx="215901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215901" h="121444">
                    <a:moveTo>
                      <a:pt x="0" y="0"/>
                    </a:moveTo>
                    <a:lnTo>
                      <a:pt x="0" y="80963"/>
                    </a:lnTo>
                    <a:cubicBezTo>
                      <a:pt x="0" y="103320"/>
                      <a:pt x="48331" y="121444"/>
                      <a:pt x="107950" y="121444"/>
                    </a:cubicBezTo>
                    <a:cubicBezTo>
                      <a:pt x="167570" y="121444"/>
                      <a:pt x="215901" y="103320"/>
                      <a:pt x="215901" y="80963"/>
                    </a:cubicBezTo>
                    <a:lnTo>
                      <a:pt x="215901" y="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2063750" y="1685925"/>
                <a:ext cx="215901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215901" h="121444">
                    <a:moveTo>
                      <a:pt x="0" y="0"/>
                    </a:moveTo>
                    <a:lnTo>
                      <a:pt x="0" y="80963"/>
                    </a:lnTo>
                    <a:cubicBezTo>
                      <a:pt x="0" y="103320"/>
                      <a:pt x="48331" y="121444"/>
                      <a:pt x="107950" y="121444"/>
                    </a:cubicBezTo>
                    <a:cubicBezTo>
                      <a:pt x="167570" y="121444"/>
                      <a:pt x="215901" y="103320"/>
                      <a:pt x="215901" y="80963"/>
                    </a:cubicBezTo>
                    <a:lnTo>
                      <a:pt x="215901" y="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892807" y="2009775"/>
              <a:ext cx="128143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480 条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63035" y="2505075"/>
              <a:ext cx="114098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候选 Query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74547" y="2842260"/>
              <a:ext cx="13179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A–H 每分支 60 条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42950" y="3143250"/>
              <a:ext cx="1581150" cy="266700"/>
            </a:xfrm>
            <a:prstGeom prst="roundRect">
              <a:avLst>
                <a:gd name="adj" fmla="val 50000"/>
              </a:avLst>
            </a:prstGeom>
            <a:solidFill>
              <a:srgbClr val="FFF4E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08726" y="3220402"/>
              <a:ext cx="10495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87919"/>
                  </a:solidFill>
                  <a:latin typeface="+mn-lt"/>
                  <a:ea typeface="+mn-ea"/>
                  <a:cs typeface="+mn-cs"/>
                </a:rPr>
                <a:t>不直接全部运行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2914650" y="1352550"/>
            <a:ext cx="2286000" cy="2209800"/>
            <a:chOff x="2914650" y="1352550"/>
            <a:chExt cx="2286000" cy="2209800"/>
          </a:xfrm>
        </p:grpSpPr>
        <p:sp>
          <p:nvSpPr>
            <p:cNvPr id="18" name="Rectangle 18"/>
            <p:cNvSpPr/>
            <p:nvPr/>
          </p:nvSpPr>
          <p:spPr>
            <a:xfrm>
              <a:off x="2914650" y="1352550"/>
              <a:ext cx="2286000" cy="2209800"/>
            </a:xfrm>
            <a:prstGeom prst="roundRect">
              <a:avLst>
                <a:gd name="adj" fmla="val 8621"/>
              </a:avLst>
            </a:prstGeom>
            <a:solidFill>
              <a:srgbClr val="FFFFFF"/>
            </a:solidFill>
            <a:ln w="9525">
              <a:solidFill>
                <a:srgbClr val="D7E0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3105150" y="1543050"/>
              <a:ext cx="1143000" cy="285750"/>
            </a:xfrm>
            <a:prstGeom prst="roundRect">
              <a:avLst>
                <a:gd name="adj" fmla="val 50000"/>
              </a:avLst>
            </a:prstGeom>
            <a:solidFill>
              <a:srgbClr val="DFF0F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076880" y="1613535"/>
              <a:ext cx="11995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74D79"/>
                  </a:solidFill>
                  <a:latin typeface="+mn-lt"/>
                  <a:ea typeface="+mn-ea"/>
                  <a:cs typeface="+mn-cs"/>
                </a:rPr>
                <a:t>专家筛选与标注</a:t>
              </a:r>
            </a:p>
          </p:txBody>
        </p:sp>
        <p:grpSp>
          <p:nvGrpSpPr>
            <p:cNvPr id="27" name="Group 27"/>
            <p:cNvGrpSpPr/>
            <p:nvPr/>
          </p:nvGrpSpPr>
          <p:grpSpPr>
            <a:xfrm>
              <a:off x="4717256" y="1564481"/>
              <a:ext cx="242888" cy="242888"/>
              <a:chOff x="4717256" y="1564481"/>
              <a:chExt cx="242888" cy="242888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4811713" y="1672432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26988">
                <a:solidFill>
                  <a:schemeClr val="accent3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4784725" y="1766888"/>
                <a:ext cx="107950" cy="40481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40481">
                    <a:moveTo>
                      <a:pt x="0" y="40481"/>
                    </a:moveTo>
                    <a:lnTo>
                      <a:pt x="0" y="26988"/>
                    </a:lnTo>
                    <a:cubicBezTo>
                      <a:pt x="0" y="12083"/>
                      <a:pt x="12083" y="0"/>
                      <a:pt x="26988" y="0"/>
                    </a:cubicBezTo>
                    <a:lnTo>
                      <a:pt x="80963" y="0"/>
                    </a:lnTo>
                    <a:cubicBezTo>
                      <a:pt x="95868" y="0"/>
                      <a:pt x="107950" y="12083"/>
                      <a:pt x="107950" y="26988"/>
                    </a:cubicBezTo>
                    <a:lnTo>
                      <a:pt x="107950" y="40481"/>
                    </a:lnTo>
                  </a:path>
                </a:pathLst>
              </a:custGeom>
              <a:noFill/>
              <a:ln w="26988">
                <a:solidFill>
                  <a:schemeClr val="accent3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4879182" y="1564481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26988">
                <a:solidFill>
                  <a:schemeClr val="accent3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4906169" y="1658938"/>
                <a:ext cx="53975" cy="40481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40481">
                    <a:moveTo>
                      <a:pt x="0" y="0"/>
                    </a:moveTo>
                    <a:lnTo>
                      <a:pt x="26988" y="0"/>
                    </a:lnTo>
                    <a:cubicBezTo>
                      <a:pt x="41892" y="0"/>
                      <a:pt x="53975" y="12083"/>
                      <a:pt x="53975" y="26988"/>
                    </a:cubicBezTo>
                    <a:lnTo>
                      <a:pt x="53975" y="40481"/>
                    </a:lnTo>
                  </a:path>
                </a:pathLst>
              </a:custGeom>
              <a:noFill/>
              <a:ln w="26988">
                <a:solidFill>
                  <a:schemeClr val="accent3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4744244" y="1564481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26988">
                <a:solidFill>
                  <a:schemeClr val="accent3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4717256" y="1658938"/>
                <a:ext cx="53975" cy="40481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40481">
                    <a:moveTo>
                      <a:pt x="0" y="40481"/>
                    </a:moveTo>
                    <a:lnTo>
                      <a:pt x="0" y="26988"/>
                    </a:lnTo>
                    <a:cubicBezTo>
                      <a:pt x="0" y="12083"/>
                      <a:pt x="12083" y="0"/>
                      <a:pt x="26988" y="0"/>
                    </a:cubicBezTo>
                    <a:lnTo>
                      <a:pt x="53975" y="0"/>
                    </a:lnTo>
                  </a:path>
                </a:pathLst>
              </a:custGeom>
              <a:noFill/>
              <a:ln w="26988">
                <a:solidFill>
                  <a:schemeClr val="accent3"/>
                </a:solidFill>
              </a:ln>
            </p:spPr>
          </p:sp>
        </p:grpSp>
        <p:sp>
          <p:nvSpPr>
            <p:cNvPr id="28" name="Rectangle 28"/>
            <p:cNvSpPr/>
            <p:nvPr/>
          </p:nvSpPr>
          <p:spPr>
            <a:xfrm>
              <a:off x="3124200" y="2057400"/>
              <a:ext cx="1866900" cy="323850"/>
            </a:xfrm>
            <a:prstGeom prst="roundRect">
              <a:avLst>
                <a:gd name="adj" fmla="val 35294"/>
              </a:avLst>
            </a:prstGeom>
            <a:solidFill>
              <a:srgbClr val="E7F6F8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373069" y="2146935"/>
              <a:ext cx="13691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74D79"/>
                  </a:solidFill>
                  <a:latin typeface="+mn-lt"/>
                  <a:ea typeface="+mn-ea"/>
                  <a:cs typeface="+mn-cs"/>
                </a:rPr>
                <a:t>多源深研确有必要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3257550" y="2476500"/>
              <a:ext cx="1733550" cy="323850"/>
            </a:xfrm>
            <a:prstGeom prst="roundRect">
              <a:avLst>
                <a:gd name="adj" fmla="val 35294"/>
              </a:avLst>
            </a:prstGeom>
            <a:solidFill>
              <a:srgbClr val="E9F6F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439744" y="2566035"/>
              <a:ext cx="13691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7156"/>
                  </a:solidFill>
                  <a:latin typeface="+mn-lt"/>
                  <a:ea typeface="+mn-ea"/>
                  <a:cs typeface="+mn-cs"/>
                </a:rPr>
                <a:t>业务相关且可复核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3390900" y="2895600"/>
              <a:ext cx="1600200" cy="323850"/>
            </a:xfrm>
            <a:prstGeom prst="roundRect">
              <a:avLst>
                <a:gd name="adj" fmla="val 35294"/>
              </a:avLst>
            </a:prstGeom>
            <a:solidFill>
              <a:srgbClr val="FFF4E2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3591230" y="2985135"/>
              <a:ext cx="11995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标注完整且安全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105264" y="3306128"/>
              <a:ext cx="19047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剔除简单问答与不可核 Query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5581650" y="1352550"/>
            <a:ext cx="2286000" cy="2209800"/>
            <a:chOff x="5581650" y="1352550"/>
            <a:chExt cx="2286000" cy="2209800"/>
          </a:xfrm>
        </p:grpSpPr>
        <p:sp>
          <p:nvSpPr>
            <p:cNvPr id="36" name="Rectangle 36"/>
            <p:cNvSpPr/>
            <p:nvPr/>
          </p:nvSpPr>
          <p:spPr>
            <a:xfrm>
              <a:off x="5581650" y="1352550"/>
              <a:ext cx="2286000" cy="2209800"/>
            </a:xfrm>
            <a:prstGeom prst="roundRect">
              <a:avLst>
                <a:gd name="adj" fmla="val 862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5772150" y="1543050"/>
              <a:ext cx="1066800" cy="28575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14000"/>
              </a:srgbClr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875401" y="1613535"/>
              <a:ext cx="8602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正式评测集</a:t>
              </a:r>
            </a:p>
          </p:txBody>
        </p:sp>
        <p:grpSp>
          <p:nvGrpSpPr>
            <p:cNvPr id="43" name="Group 43"/>
            <p:cNvGrpSpPr/>
            <p:nvPr/>
          </p:nvGrpSpPr>
          <p:grpSpPr>
            <a:xfrm>
              <a:off x="7384256" y="1577975"/>
              <a:ext cx="242889" cy="225426"/>
              <a:chOff x="7384256" y="1577975"/>
              <a:chExt cx="242889" cy="225426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7384256" y="1685925"/>
                <a:ext cx="80963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80963" h="107950">
                    <a:moveTo>
                      <a:pt x="0" y="13494"/>
                    </a:moveTo>
                    <a:cubicBezTo>
                      <a:pt x="0" y="6041"/>
                      <a:pt x="6041" y="0"/>
                      <a:pt x="13494" y="0"/>
                    </a:cubicBezTo>
                    <a:lnTo>
                      <a:pt x="67469" y="0"/>
                    </a:lnTo>
                    <a:cubicBezTo>
                      <a:pt x="74921" y="0"/>
                      <a:pt x="80963" y="6041"/>
                      <a:pt x="80963" y="13494"/>
                    </a:cubicBezTo>
                    <a:lnTo>
                      <a:pt x="80963" y="94456"/>
                    </a:lnTo>
                    <a:cubicBezTo>
                      <a:pt x="80963" y="101909"/>
                      <a:pt x="74921" y="107950"/>
                      <a:pt x="67469" y="107950"/>
                    </a:cubicBezTo>
                    <a:lnTo>
                      <a:pt x="13494" y="107950"/>
                    </a:lnTo>
                    <a:cubicBezTo>
                      <a:pt x="6041" y="107950"/>
                      <a:pt x="0" y="101909"/>
                      <a:pt x="0" y="94456"/>
                    </a:cubicBezTo>
                    <a:lnTo>
                      <a:pt x="0" y="13494"/>
                    </a:lnTo>
                  </a:path>
                </a:pathLst>
              </a:custGeom>
              <a:noFill/>
              <a:ln w="26988">
                <a:solidFill>
                  <a:schemeClr val="accent2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7546182" y="1631950"/>
                <a:ext cx="80963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80963" h="161925">
                    <a:moveTo>
                      <a:pt x="0" y="13494"/>
                    </a:moveTo>
                    <a:cubicBezTo>
                      <a:pt x="0" y="6041"/>
                      <a:pt x="6041" y="0"/>
                      <a:pt x="13494" y="0"/>
                    </a:cubicBezTo>
                    <a:lnTo>
                      <a:pt x="67469" y="0"/>
                    </a:lnTo>
                    <a:cubicBezTo>
                      <a:pt x="74921" y="0"/>
                      <a:pt x="80963" y="6041"/>
                      <a:pt x="80963" y="13494"/>
                    </a:cubicBezTo>
                    <a:lnTo>
                      <a:pt x="80963" y="148432"/>
                    </a:lnTo>
                    <a:cubicBezTo>
                      <a:pt x="80963" y="155884"/>
                      <a:pt x="74921" y="161925"/>
                      <a:pt x="67469" y="161925"/>
                    </a:cubicBezTo>
                    <a:lnTo>
                      <a:pt x="13494" y="161925"/>
                    </a:lnTo>
                    <a:cubicBezTo>
                      <a:pt x="6041" y="161925"/>
                      <a:pt x="0" y="155884"/>
                      <a:pt x="0" y="148432"/>
                    </a:cubicBezTo>
                    <a:lnTo>
                      <a:pt x="0" y="13494"/>
                    </a:lnTo>
                  </a:path>
                </a:pathLst>
              </a:custGeom>
              <a:noFill/>
              <a:ln w="26988">
                <a:solidFill>
                  <a:schemeClr val="accent2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7465219" y="1577975"/>
                <a:ext cx="80963" cy="215901"/>
              </a:xfrm>
              <a:custGeom>
                <a:avLst/>
                <a:gdLst/>
                <a:ahLst/>
                <a:cxnLst/>
                <a:rect l="l" t="t" r="r" b="b"/>
                <a:pathLst>
                  <a:path w="80963" h="215901">
                    <a:moveTo>
                      <a:pt x="0" y="13494"/>
                    </a:moveTo>
                    <a:cubicBezTo>
                      <a:pt x="0" y="6041"/>
                      <a:pt x="6041" y="0"/>
                      <a:pt x="13494" y="0"/>
                    </a:cubicBezTo>
                    <a:lnTo>
                      <a:pt x="67469" y="0"/>
                    </a:lnTo>
                    <a:cubicBezTo>
                      <a:pt x="74921" y="0"/>
                      <a:pt x="80963" y="6041"/>
                      <a:pt x="80963" y="13494"/>
                    </a:cubicBezTo>
                    <a:lnTo>
                      <a:pt x="80963" y="202407"/>
                    </a:lnTo>
                    <a:cubicBezTo>
                      <a:pt x="80963" y="209859"/>
                      <a:pt x="74921" y="215901"/>
                      <a:pt x="67469" y="215901"/>
                    </a:cubicBezTo>
                    <a:lnTo>
                      <a:pt x="13494" y="215901"/>
                    </a:lnTo>
                    <a:cubicBezTo>
                      <a:pt x="6041" y="215901"/>
                      <a:pt x="0" y="209859"/>
                      <a:pt x="0" y="202407"/>
                    </a:cubicBezTo>
                    <a:lnTo>
                      <a:pt x="0" y="13494"/>
                    </a:lnTo>
                  </a:path>
                </a:pathLst>
              </a:custGeom>
              <a:noFill/>
              <a:ln w="26988">
                <a:solidFill>
                  <a:schemeClr val="accent2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7397750" y="1793876"/>
                <a:ext cx="18891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88913" h="9525">
                    <a:moveTo>
                      <a:pt x="0" y="0"/>
                    </a:moveTo>
                    <a:lnTo>
                      <a:pt x="188913" y="0"/>
                    </a:lnTo>
                  </a:path>
                </a:pathLst>
              </a:custGeom>
              <a:noFill/>
              <a:ln w="26988">
                <a:solidFill>
                  <a:schemeClr val="accent2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5808297" y="2009775"/>
              <a:ext cx="1832705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0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约 100 条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630247" y="2514600"/>
              <a:ext cx="21888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Deep Research Query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830062" y="2851785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最终数量以专家终审为准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886450" y="3143250"/>
              <a:ext cx="1676400" cy="2667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764628" y="3220402"/>
              <a:ext cx="19200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同题匿名 A/B Pairwise 盲评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8246836" y="1352550"/>
            <a:ext cx="3411764" cy="2209800"/>
            <a:chOff x="8246836" y="1352550"/>
            <a:chExt cx="3411764" cy="2209800"/>
          </a:xfrm>
        </p:grpSpPr>
        <p:sp>
          <p:nvSpPr>
            <p:cNvPr id="50" name="Rectangle 50"/>
            <p:cNvSpPr/>
            <p:nvPr/>
          </p:nvSpPr>
          <p:spPr>
            <a:xfrm>
              <a:off x="8248650" y="1352550"/>
              <a:ext cx="3409950" cy="2209800"/>
            </a:xfrm>
            <a:prstGeom prst="roundRect">
              <a:avLst>
                <a:gd name="adj" fmla="val 8621"/>
              </a:avLst>
            </a:prstGeom>
            <a:solidFill>
              <a:srgbClr val="FFFFFF"/>
            </a:solidFill>
            <a:ln w="9525">
              <a:solidFill>
                <a:srgbClr val="D7E0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8439150" y="1543050"/>
              <a:ext cx="1276350" cy="285750"/>
            </a:xfrm>
            <a:prstGeom prst="roundRect">
              <a:avLst>
                <a:gd name="adj" fmla="val 50000"/>
              </a:avLst>
            </a:prstGeom>
            <a:solidFill>
              <a:srgbClr val="E9F6F1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246836" y="1613535"/>
              <a:ext cx="18133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7156"/>
                  </a:solidFill>
                  <a:latin typeface="+mn-lt"/>
                  <a:ea typeface="+mn-ea"/>
                  <a:cs typeface="+mn-cs"/>
                </a:rPr>
                <a:t>A–H / OTHER 路径覆盖</a:t>
              </a:r>
            </a:p>
          </p:txBody>
        </p:sp>
        <p:grpSp>
          <p:nvGrpSpPr>
            <p:cNvPr id="59" name="Group 59"/>
            <p:cNvGrpSpPr/>
            <p:nvPr/>
          </p:nvGrpSpPr>
          <p:grpSpPr>
            <a:xfrm>
              <a:off x="11202194" y="1577975"/>
              <a:ext cx="202407" cy="215901"/>
              <a:chOff x="11202194" y="1577975"/>
              <a:chExt cx="202407" cy="215901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11202194" y="1739901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26988">
                <a:solidFill>
                  <a:schemeClr val="accent6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11202194" y="1577975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26988">
                <a:solidFill>
                  <a:schemeClr val="accent6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11337132" y="1577975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26988">
                <a:solidFill>
                  <a:schemeClr val="accent6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11229181" y="1631950"/>
                <a:ext cx="9525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7950">
                    <a:moveTo>
                      <a:pt x="0" y="0"/>
                    </a:moveTo>
                    <a:lnTo>
                      <a:pt x="0" y="107950"/>
                    </a:lnTo>
                  </a:path>
                </a:pathLst>
              </a:custGeom>
              <a:noFill/>
              <a:ln w="26988">
                <a:solidFill>
                  <a:schemeClr val="accent6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11256169" y="1672432"/>
                <a:ext cx="107950" cy="94456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94456">
                    <a:moveTo>
                      <a:pt x="0" y="94456"/>
                    </a:moveTo>
                    <a:lnTo>
                      <a:pt x="80963" y="94456"/>
                    </a:lnTo>
                    <a:cubicBezTo>
                      <a:pt x="95868" y="94456"/>
                      <a:pt x="107950" y="82374"/>
                      <a:pt x="107950" y="67469"/>
                    </a:cubicBezTo>
                    <a:lnTo>
                      <a:pt x="107950" y="0"/>
                    </a:lnTo>
                  </a:path>
                </a:pathLst>
              </a:custGeom>
              <a:noFill/>
              <a:ln w="26988">
                <a:solidFill>
                  <a:schemeClr val="accent6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11323638" y="1672432"/>
                <a:ext cx="80963" cy="40481"/>
              </a:xfrm>
              <a:custGeom>
                <a:avLst/>
                <a:gdLst/>
                <a:ahLst/>
                <a:cxnLst/>
                <a:rect l="l" t="t" r="r" b="b"/>
                <a:pathLst>
                  <a:path w="80963" h="40481">
                    <a:moveTo>
                      <a:pt x="0" y="40481"/>
                    </a:moveTo>
                    <a:lnTo>
                      <a:pt x="40481" y="0"/>
                    </a:lnTo>
                    <a:lnTo>
                      <a:pt x="80963" y="40481"/>
                    </a:lnTo>
                  </a:path>
                </a:pathLst>
              </a:custGeom>
              <a:noFill/>
              <a:ln w="26988">
                <a:solidFill>
                  <a:schemeClr val="accent6"/>
                </a:solidFill>
              </a:ln>
            </p:spPr>
          </p:sp>
        </p:grpSp>
        <p:sp>
          <p:nvSpPr>
            <p:cNvPr id="60" name="Rectangle 60"/>
            <p:cNvSpPr/>
            <p:nvPr/>
          </p:nvSpPr>
          <p:spPr>
            <a:xfrm>
              <a:off x="8458200" y="2038350"/>
              <a:ext cx="647700" cy="457200"/>
            </a:xfrm>
            <a:prstGeom prst="roundRect">
              <a:avLst>
                <a:gd name="adj" fmla="val 291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8712822" y="2162175"/>
              <a:ext cx="138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9220200" y="2038350"/>
              <a:ext cx="647700" cy="457200"/>
            </a:xfrm>
            <a:prstGeom prst="roundRect">
              <a:avLst>
                <a:gd name="adj" fmla="val 29167"/>
              </a:avLst>
            </a:prstGeom>
            <a:solidFill>
              <a:srgbClr val="DFF0F3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9474822" y="2162175"/>
              <a:ext cx="138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174D79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9982200" y="2038350"/>
              <a:ext cx="647700" cy="457200"/>
            </a:xfrm>
            <a:prstGeom prst="roundRect">
              <a:avLst>
                <a:gd name="adj" fmla="val 29167"/>
              </a:avLst>
            </a:prstGeom>
            <a:solidFill>
              <a:srgbClr val="E9F6F1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10236822" y="2162175"/>
              <a:ext cx="138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1F7156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10744200" y="2038350"/>
              <a:ext cx="647700" cy="457200"/>
            </a:xfrm>
            <a:prstGeom prst="roundRect">
              <a:avLst>
                <a:gd name="adj" fmla="val 29167"/>
              </a:avLst>
            </a:prstGeom>
            <a:solidFill>
              <a:srgbClr val="FFF4E2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10998822" y="2162175"/>
              <a:ext cx="138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8458200" y="2628900"/>
              <a:ext cx="647700" cy="457200"/>
            </a:xfrm>
            <a:prstGeom prst="roundRect">
              <a:avLst>
                <a:gd name="adj" fmla="val 29167"/>
              </a:avLst>
            </a:prstGeom>
            <a:solidFill>
              <a:srgbClr val="FFF4E2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8712822" y="2752725"/>
              <a:ext cx="138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9220200" y="2628900"/>
              <a:ext cx="647700" cy="457200"/>
            </a:xfrm>
            <a:prstGeom prst="roundRect">
              <a:avLst>
                <a:gd name="adj" fmla="val 29167"/>
              </a:avLst>
            </a:prstGeom>
            <a:solidFill>
              <a:srgbClr val="E9F6F1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9474822" y="2752725"/>
              <a:ext cx="138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1F7156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9982200" y="2628900"/>
              <a:ext cx="647700" cy="457200"/>
            </a:xfrm>
            <a:prstGeom prst="roundRect">
              <a:avLst>
                <a:gd name="adj" fmla="val 29167"/>
              </a:avLst>
            </a:prstGeom>
            <a:solidFill>
              <a:srgbClr val="DFF0F3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10236822" y="2752725"/>
              <a:ext cx="138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174D79"/>
                  </a:solidFill>
                  <a:latin typeface="+mn-lt"/>
                  <a:ea typeface="+mn-ea"/>
                  <a:cs typeface="+mn-cs"/>
                </a:rPr>
                <a:t>G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10744200" y="2628900"/>
              <a:ext cx="647700" cy="457200"/>
            </a:xfrm>
            <a:prstGeom prst="roundRect">
              <a:avLst>
                <a:gd name="adj" fmla="val 291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10998822" y="2752725"/>
              <a:ext cx="138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H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8742450" y="3242310"/>
              <a:ext cx="24223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Judge 先判主路径，再比较回答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2625259" y="2290762"/>
            <a:ext cx="5531782" cy="440055"/>
            <a:chOff x="2625259" y="2290762"/>
            <a:chExt cx="5531782" cy="440055"/>
          </a:xfrm>
        </p:grpSpPr>
        <p:sp>
          <p:nvSpPr>
            <p:cNvPr id="78" name="TextBox 78"/>
            <p:cNvSpPr txBox="1"/>
            <p:nvPr/>
          </p:nvSpPr>
          <p:spPr>
            <a:xfrm>
              <a:off x="2625259" y="229076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5292259" y="229076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7959259" y="229076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</p:grpSp>
      <p:grpSp>
        <p:nvGrpSpPr>
          <p:cNvPr id="101" name="Group 101"/>
          <p:cNvGrpSpPr/>
          <p:nvPr/>
        </p:nvGrpSpPr>
        <p:grpSpPr>
          <a:xfrm>
            <a:off x="533400" y="3790950"/>
            <a:ext cx="5276850" cy="2305050"/>
            <a:chOff x="533400" y="3790950"/>
            <a:chExt cx="5276850" cy="2305050"/>
          </a:xfrm>
        </p:grpSpPr>
        <p:sp>
          <p:nvSpPr>
            <p:cNvPr id="82" name="Rectangle 82"/>
            <p:cNvSpPr/>
            <p:nvPr/>
          </p:nvSpPr>
          <p:spPr>
            <a:xfrm>
              <a:off x="533400" y="3790950"/>
              <a:ext cx="5276850" cy="2305050"/>
            </a:xfrm>
            <a:prstGeom prst="roundRect">
              <a:avLst>
                <a:gd name="adj" fmla="val 8264"/>
              </a:avLst>
            </a:prstGeom>
            <a:solidFill>
              <a:srgbClr val="FFFFFF"/>
            </a:solidFill>
            <a:ln w="9525">
              <a:solidFill>
                <a:srgbClr val="D7E0EA"/>
              </a:solidFill>
            </a:ln>
          </p:spPr>
        </p:sp>
        <p:grpSp>
          <p:nvGrpSpPr>
            <p:cNvPr id="87" name="Group 87"/>
            <p:cNvGrpSpPr/>
            <p:nvPr/>
          </p:nvGrpSpPr>
          <p:grpSpPr>
            <a:xfrm>
              <a:off x="825500" y="4032250"/>
              <a:ext cx="190500" cy="215899"/>
              <a:chOff x="825500" y="4032250"/>
              <a:chExt cx="190500" cy="215899"/>
            </a:xfrm>
          </p:grpSpPr>
          <p:sp>
            <p:nvSpPr>
              <p:cNvPr id="83" name="Freeform 83"/>
              <p:cNvSpPr/>
              <p:nvPr/>
            </p:nvSpPr>
            <p:spPr>
              <a:xfrm>
                <a:off x="825500" y="4032250"/>
                <a:ext cx="152400" cy="203199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203199">
                    <a:moveTo>
                      <a:pt x="58610" y="203199"/>
                    </a:moveTo>
                    <a:lnTo>
                      <a:pt x="25400" y="203199"/>
                    </a:lnTo>
                    <a:cubicBezTo>
                      <a:pt x="11372" y="203199"/>
                      <a:pt x="0" y="191828"/>
                      <a:pt x="0" y="177800"/>
                    </a:cubicBezTo>
                    <a:lnTo>
                      <a:pt x="0" y="25400"/>
                    </a:lnTo>
                    <a:cubicBezTo>
                      <a:pt x="0" y="11372"/>
                      <a:pt x="11372" y="0"/>
                      <a:pt x="25400" y="0"/>
                    </a:cubicBezTo>
                    <a:lnTo>
                      <a:pt x="127000" y="0"/>
                    </a:lnTo>
                    <a:cubicBezTo>
                      <a:pt x="141028" y="0"/>
                      <a:pt x="152400" y="11372"/>
                      <a:pt x="152400" y="25400"/>
                    </a:cubicBezTo>
                    <a:lnTo>
                      <a:pt x="152400" y="12700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84" name="Freeform 84"/>
              <p:cNvSpPr/>
              <p:nvPr/>
            </p:nvSpPr>
            <p:spPr>
              <a:xfrm>
                <a:off x="939800" y="4197349"/>
                <a:ext cx="762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0800">
                    <a:moveTo>
                      <a:pt x="0" y="25400"/>
                    </a:moveTo>
                    <a:lnTo>
                      <a:pt x="25400" y="50800"/>
                    </a:lnTo>
                    <a:lnTo>
                      <a:pt x="76200" y="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85" name="Freeform 85"/>
              <p:cNvSpPr/>
              <p:nvPr/>
            </p:nvSpPr>
            <p:spPr>
              <a:xfrm>
                <a:off x="876300" y="4083050"/>
                <a:ext cx="50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9525">
                    <a:moveTo>
                      <a:pt x="0" y="0"/>
                    </a:moveTo>
                    <a:lnTo>
                      <a:pt x="50800" y="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86" name="Freeform 86"/>
              <p:cNvSpPr/>
              <p:nvPr/>
            </p:nvSpPr>
            <p:spPr>
              <a:xfrm>
                <a:off x="876300" y="4133850"/>
                <a:ext cx="25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9525">
                    <a:moveTo>
                      <a:pt x="0" y="0"/>
                    </a:moveTo>
                    <a:lnTo>
                      <a:pt x="25400" y="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</p:grpSp>
        <p:sp>
          <p:nvSpPr>
            <p:cNvPr id="88" name="TextBox 88"/>
            <p:cNvSpPr txBox="1"/>
            <p:nvPr/>
          </p:nvSpPr>
          <p:spPr>
            <a:xfrm>
              <a:off x="1192149" y="4040029"/>
              <a:ext cx="135600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四项入选门槛</a:t>
              </a:r>
            </a:p>
          </p:txBody>
        </p:sp>
        <p:sp>
          <p:nvSpPr>
            <p:cNvPr id="89" name="Ellipse 89"/>
            <p:cNvSpPr/>
            <p:nvPr/>
          </p:nvSpPr>
          <p:spPr>
            <a:xfrm>
              <a:off x="742950" y="4495800"/>
              <a:ext cx="266700" cy="26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830151" y="457295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1136904" y="4556760"/>
              <a:ext cx="40073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Deep Research 必要：多源检索 / 跨源综合 / 机理分析</a:t>
              </a:r>
            </a:p>
          </p:txBody>
        </p:sp>
        <p:sp>
          <p:nvSpPr>
            <p:cNvPr id="92" name="Ellipse 92"/>
            <p:cNvSpPr/>
            <p:nvPr/>
          </p:nvSpPr>
          <p:spPr>
            <a:xfrm>
              <a:off x="742950" y="4895850"/>
              <a:ext cx="266700" cy="266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830151" y="497300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1136904" y="4956810"/>
              <a:ext cx="34686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业务相关：服务 JS 装备能力—需求分析与决策</a:t>
              </a:r>
            </a:p>
          </p:txBody>
        </p:sp>
        <p:sp>
          <p:nvSpPr>
            <p:cNvPr id="95" name="Ellipse 95"/>
            <p:cNvSpPr/>
            <p:nvPr/>
          </p:nvSpPr>
          <p:spPr>
            <a:xfrm>
              <a:off x="742950" y="5295900"/>
              <a:ext cx="266700" cy="2667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830151" y="537305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1136904" y="5356860"/>
              <a:ext cx="36388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专家标注完整：分支 / 模式 / 预期输出 / 评分规则</a:t>
              </a:r>
            </a:p>
          </p:txBody>
        </p:sp>
        <p:sp>
          <p:nvSpPr>
            <p:cNvPr id="98" name="Ellipse 98"/>
            <p:cNvSpPr/>
            <p:nvPr/>
          </p:nvSpPr>
          <p:spPr>
            <a:xfrm>
              <a:off x="742950" y="5695950"/>
              <a:ext cx="266700" cy="266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830151" y="577310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1136904" y="5756910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可复核：证据包、公开材料与安全边界</a:t>
              </a:r>
            </a:p>
          </p:txBody>
        </p:sp>
      </p:grpSp>
      <p:grpSp>
        <p:nvGrpSpPr>
          <p:cNvPr id="125" name="Group 125"/>
          <p:cNvGrpSpPr/>
          <p:nvPr/>
        </p:nvGrpSpPr>
        <p:grpSpPr>
          <a:xfrm>
            <a:off x="6000750" y="3790950"/>
            <a:ext cx="5657850" cy="2305050"/>
            <a:chOff x="6000750" y="3790950"/>
            <a:chExt cx="5657850" cy="2305050"/>
          </a:xfrm>
        </p:grpSpPr>
        <p:sp>
          <p:nvSpPr>
            <p:cNvPr id="102" name="Rectangle 102"/>
            <p:cNvSpPr/>
            <p:nvPr/>
          </p:nvSpPr>
          <p:spPr>
            <a:xfrm>
              <a:off x="6000750" y="3790950"/>
              <a:ext cx="5657850" cy="2305050"/>
            </a:xfrm>
            <a:prstGeom prst="roundRect">
              <a:avLst>
                <a:gd name="adj" fmla="val 826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3" name="TextBox 103"/>
            <p:cNvSpPr txBox="1"/>
            <p:nvPr/>
          </p:nvSpPr>
          <p:spPr>
            <a:xfrm>
              <a:off x="6259449" y="4001929"/>
              <a:ext cx="357054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Pairwise 对比方法｜匿名 A/B 盲评</a:t>
              </a:r>
            </a:p>
          </p:txBody>
        </p:sp>
        <p:sp>
          <p:nvSpPr>
            <p:cNvPr id="104" name="Rectangle 104"/>
            <p:cNvSpPr/>
            <p:nvPr/>
          </p:nvSpPr>
          <p:spPr>
            <a:xfrm>
              <a:off x="6267450" y="4362450"/>
              <a:ext cx="1104900" cy="495300"/>
            </a:xfrm>
            <a:prstGeom prst="roundRect">
              <a:avLst>
                <a:gd name="adj" fmla="val 26923"/>
              </a:avLst>
            </a:prstGeom>
            <a:solidFill>
              <a:srgbClr val="FFFFFF">
                <a:alpha val="14000"/>
              </a:srgbClr>
            </a:solidFill>
            <a:ln>
              <a:noFill/>
            </a:ln>
          </p:spPr>
        </p:sp>
        <p:sp>
          <p:nvSpPr>
            <p:cNvPr id="105" name="TextBox 105"/>
            <p:cNvSpPr txBox="1"/>
            <p:nvPr/>
          </p:nvSpPr>
          <p:spPr>
            <a:xfrm>
              <a:off x="6443520" y="4458652"/>
              <a:ext cx="7527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识别主路径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6447092" y="4665345"/>
              <a:ext cx="74561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A–H / OTHER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7420723" y="451485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108" name="Rectangle 108"/>
            <p:cNvSpPr/>
            <p:nvPr/>
          </p:nvSpPr>
          <p:spPr>
            <a:xfrm>
              <a:off x="7600950" y="4362450"/>
              <a:ext cx="1104900" cy="495300"/>
            </a:xfrm>
            <a:prstGeom prst="roundRect">
              <a:avLst>
                <a:gd name="adj" fmla="val 26923"/>
              </a:avLst>
            </a:prstGeom>
            <a:solidFill>
              <a:srgbClr val="FFFFFF">
                <a:alpha val="14000"/>
              </a:srgbClr>
            </a:solidFill>
            <a:ln>
              <a:noFill/>
            </a:ln>
          </p:spPr>
        </p:sp>
        <p:sp>
          <p:nvSpPr>
            <p:cNvPr id="109" name="TextBox 109"/>
            <p:cNvSpPr txBox="1"/>
            <p:nvPr/>
          </p:nvSpPr>
          <p:spPr>
            <a:xfrm>
              <a:off x="7702810" y="4458652"/>
              <a:ext cx="9011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检查规定产物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7612513" y="4665345"/>
              <a:ext cx="10817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complete / partial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8754223" y="451485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112" name="Rectangle 112"/>
            <p:cNvSpPr/>
            <p:nvPr/>
          </p:nvSpPr>
          <p:spPr>
            <a:xfrm>
              <a:off x="8934450" y="4362450"/>
              <a:ext cx="1104900" cy="495300"/>
            </a:xfrm>
            <a:prstGeom prst="roundRect">
              <a:avLst>
                <a:gd name="adj" fmla="val 26923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13" name="TextBox 113"/>
            <p:cNvSpPr txBox="1"/>
            <p:nvPr/>
          </p:nvSpPr>
          <p:spPr>
            <a:xfrm>
              <a:off x="9003266" y="4458652"/>
              <a:ext cx="9672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九维 Pairwise</a:t>
              </a: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9184775" y="4665345"/>
              <a:ext cx="60425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DDF3FA"/>
                  </a:solidFill>
                  <a:latin typeface="+mn-lt"/>
                  <a:ea typeface="+mn-ea"/>
                  <a:cs typeface="+mn-cs"/>
                </a:rPr>
                <a:t>A / B / tie</a:t>
              </a:r>
            </a:p>
          </p:txBody>
        </p:sp>
        <p:sp>
          <p:nvSpPr>
            <p:cNvPr id="115" name="TextBox 115"/>
            <p:cNvSpPr txBox="1"/>
            <p:nvPr/>
          </p:nvSpPr>
          <p:spPr>
            <a:xfrm>
              <a:off x="10087723" y="451485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116" name="Rectangle 116"/>
            <p:cNvSpPr/>
            <p:nvPr/>
          </p:nvSpPr>
          <p:spPr>
            <a:xfrm>
              <a:off x="10267950" y="4362450"/>
              <a:ext cx="1123950" cy="495300"/>
            </a:xfrm>
            <a:prstGeom prst="roundRect">
              <a:avLst>
                <a:gd name="adj" fmla="val 26923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17" name="TextBox 117"/>
            <p:cNvSpPr txBox="1"/>
            <p:nvPr/>
          </p:nvSpPr>
          <p:spPr>
            <a:xfrm>
              <a:off x="10527754" y="4458652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输出结果</a:t>
              </a:r>
            </a:p>
          </p:txBody>
        </p:sp>
        <p:sp>
          <p:nvSpPr>
            <p:cNvPr id="118" name="TextBox 118"/>
            <p:cNvSpPr txBox="1"/>
            <p:nvPr/>
          </p:nvSpPr>
          <p:spPr>
            <a:xfrm>
              <a:off x="10452602" y="4665345"/>
              <a:ext cx="75464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E9F6F1"/>
                  </a:solidFill>
                  <a:latin typeface="+mn-lt"/>
                  <a:ea typeface="+mn-ea"/>
                  <a:cs typeface="+mn-cs"/>
                </a:rPr>
                <a:t>置信度 + 仲裁</a:t>
              </a:r>
            </a:p>
          </p:txBody>
        </p:sp>
        <p:sp>
          <p:nvSpPr>
            <p:cNvPr id="119" name="TextBox 119"/>
            <p:cNvSpPr txBox="1"/>
            <p:nvPr/>
          </p:nvSpPr>
          <p:spPr>
            <a:xfrm>
              <a:off x="6261354" y="5013960"/>
              <a:ext cx="15642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五项核心维度各 15%</a:t>
              </a:r>
            </a:p>
          </p:txBody>
        </p:sp>
        <p:sp>
          <p:nvSpPr>
            <p:cNvPr id="120" name="TextBox 120"/>
            <p:cNvSpPr txBox="1"/>
            <p:nvPr/>
          </p:nvSpPr>
          <p:spPr>
            <a:xfrm>
              <a:off x="7900416" y="5030152"/>
              <a:ext cx="348790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任务完成 · 证据事实 · 机理深度 · 军事价值 · 能力映射</a:t>
              </a:r>
            </a:p>
          </p:txBody>
        </p:sp>
        <p:sp>
          <p:nvSpPr>
            <p:cNvPr id="121" name="TextBox 121"/>
            <p:cNvSpPr txBox="1"/>
            <p:nvPr/>
          </p:nvSpPr>
          <p:spPr>
            <a:xfrm>
              <a:off x="6262116" y="5315902"/>
              <a:ext cx="47741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不按篇幅、术语密度、标题数量或引用数量加分；核心质量实质相当才判 tie</a:t>
              </a:r>
            </a:p>
          </p:txBody>
        </p:sp>
        <p:sp>
          <p:nvSpPr>
            <p:cNvPr id="122" name="Line 122"/>
            <p:cNvSpPr/>
            <p:nvPr/>
          </p:nvSpPr>
          <p:spPr>
            <a:xfrm>
              <a:off x="6267450" y="5581650"/>
              <a:ext cx="5124450" cy="9525"/>
            </a:xfrm>
            <a:custGeom>
              <a:avLst/>
              <a:gdLst/>
              <a:ahLst/>
              <a:cxnLst/>
              <a:rect l="l" t="t" r="r" b="b"/>
              <a:pathLst>
                <a:path w="5124450" h="9525">
                  <a:moveTo>
                    <a:pt x="0" y="0"/>
                  </a:moveTo>
                  <a:lnTo>
                    <a:pt x="5124450" y="0"/>
                  </a:lnTo>
                </a:path>
              </a:pathLst>
            </a:custGeom>
            <a:noFill/>
            <a:ln w="9525">
              <a:solidFill>
                <a:srgbClr val="DDEAF2">
                  <a:alpha val="35000"/>
                </a:srgbClr>
              </a:solidFill>
            </a:ln>
          </p:spPr>
        </p:sp>
        <p:sp>
          <p:nvSpPr>
            <p:cNvPr id="123" name="Rectangle 123"/>
            <p:cNvSpPr/>
            <p:nvPr/>
          </p:nvSpPr>
          <p:spPr>
            <a:xfrm>
              <a:off x="6267450" y="5695950"/>
              <a:ext cx="5124450" cy="2667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24" name="TextBox 124"/>
            <p:cNvSpPr txBox="1"/>
            <p:nvPr/>
          </p:nvSpPr>
          <p:spPr>
            <a:xfrm>
              <a:off x="7058160" y="5773102"/>
              <a:ext cx="35430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置信度 &lt; 0.65 · 引用待核 · 核心优势分化 → 人工仲裁</a:t>
              </a:r>
            </a:p>
          </p:txBody>
        </p:sp>
      </p:grpSp>
      <p:grpSp>
        <p:nvGrpSpPr>
          <p:cNvPr id="128" name="Group 128"/>
          <p:cNvGrpSpPr/>
          <p:nvPr/>
        </p:nvGrpSpPr>
        <p:grpSpPr>
          <a:xfrm>
            <a:off x="533400" y="6210300"/>
            <a:ext cx="10668000" cy="361950"/>
            <a:chOff x="533400" y="6210300"/>
            <a:chExt cx="10668000" cy="361950"/>
          </a:xfrm>
        </p:grpSpPr>
        <p:sp>
          <p:nvSpPr>
            <p:cNvPr id="126" name="Rectangle 126"/>
            <p:cNvSpPr/>
            <p:nvPr/>
          </p:nvSpPr>
          <p:spPr>
            <a:xfrm>
              <a:off x="533400" y="6210300"/>
              <a:ext cx="10668000" cy="361950"/>
            </a:xfrm>
            <a:prstGeom prst="roundRect">
              <a:avLst>
                <a:gd name="adj" fmla="val 50000"/>
              </a:avLst>
            </a:prstGeom>
            <a:solidFill>
              <a:srgbClr val="FFF4E2"/>
            </a:solidFill>
            <a:ln>
              <a:noFill/>
            </a:ln>
          </p:spPr>
        </p:sp>
        <p:sp>
          <p:nvSpPr>
            <p:cNvPr id="127" name="TextBox 127"/>
            <p:cNvSpPr txBox="1"/>
            <p:nvPr/>
          </p:nvSpPr>
          <p:spPr>
            <a:xfrm>
              <a:off x="755904" y="6318885"/>
              <a:ext cx="65341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不入选：简单事实问答 · 短检索即可回答 · 缺乏公开可核材料 · 越界或不安全操作请求</a:t>
              </a:r>
            </a:p>
          </p:txBody>
        </p:sp>
      </p:grpSp>
      <p:sp>
        <p:nvSpPr>
          <p:cNvPr id="129" name="TextBox 129"/>
          <p:cNvSpPr txBox="1"/>
          <p:nvPr/>
        </p:nvSpPr>
        <p:spPr>
          <a:xfrm>
            <a:off x="11478730" y="64970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01396" y="277178"/>
            <a:ext cx="5126546" cy="986409"/>
            <a:chOff x="501396" y="277178"/>
            <a:chExt cx="5126546" cy="986409"/>
          </a:xfrm>
        </p:grpSpPr>
        <p:sp>
          <p:nvSpPr>
            <p:cNvPr id="2" name="TextBox 2"/>
            <p:cNvSpPr txBox="1"/>
            <p:nvPr/>
          </p:nvSpPr>
          <p:spPr>
            <a:xfrm>
              <a:off x="501396" y="277178"/>
              <a:ext cx="5126546" cy="84162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700"/>
                </a:lnSpc>
              </a:pPr>
              <a:r>
                <a:rPr lang="zh-CN" sz="25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真实专家盲评验证七项专业优势，证据维度需结合正文展示口径解释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8066" y="1058228"/>
              <a:ext cx="49925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19 条专业 Query · 57/57 完成 · 2 名真实专家 Judge · 评测日期 2026-07-22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33400" y="1276350"/>
            <a:ext cx="3848100" cy="928307"/>
            <a:chOff x="533400" y="1276350"/>
            <a:chExt cx="3848100" cy="928307"/>
          </a:xfrm>
        </p:grpSpPr>
        <p:sp>
          <p:nvSpPr>
            <p:cNvPr id="5" name="Rectangle 5"/>
            <p:cNvSpPr/>
            <p:nvPr/>
          </p:nvSpPr>
          <p:spPr>
            <a:xfrm>
              <a:off x="533400" y="1276350"/>
              <a:ext cx="3848100" cy="857250"/>
            </a:xfrm>
            <a:prstGeom prst="roundRect">
              <a:avLst>
                <a:gd name="adj" fmla="val 2444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74954" y="1470660"/>
              <a:ext cx="15086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Baseline A · 纯 LLM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8096" y="1705928"/>
              <a:ext cx="339606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19胜 0平 0负 · 100%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552950" y="1276350"/>
            <a:ext cx="4343400" cy="928307"/>
            <a:chOff x="4552950" y="1276350"/>
            <a:chExt cx="4343400" cy="928307"/>
          </a:xfrm>
        </p:grpSpPr>
        <p:sp>
          <p:nvSpPr>
            <p:cNvPr id="9" name="Rectangle 9"/>
            <p:cNvSpPr/>
            <p:nvPr/>
          </p:nvSpPr>
          <p:spPr>
            <a:xfrm>
              <a:off x="4552950" y="1276350"/>
              <a:ext cx="4343400" cy="857250"/>
            </a:xfrm>
            <a:prstGeom prst="roundRect">
              <a:avLst>
                <a:gd name="adj" fmla="val 24444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794504" y="1451610"/>
              <a:ext cx="23007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E7F6F8"/>
                  </a:solidFill>
                  <a:latin typeface="+mn-lt"/>
                  <a:ea typeface="+mn-ea"/>
                  <a:cs typeface="+mn-cs"/>
                </a:rPr>
                <a:t>Baseline B · 通用 Codex Agent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68134" y="1467802"/>
              <a:ext cx="14668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E7F6F8"/>
                  </a:solidFill>
                  <a:latin typeface="+mn-lt"/>
                  <a:ea typeface="+mn-ea"/>
                  <a:cs typeface="+mn-cs"/>
                </a:rPr>
                <a:t>95% CI 86.84%–100%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787646" y="1705928"/>
              <a:ext cx="379255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17胜 2平 0负 · 94.74%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533400" y="2286000"/>
            <a:ext cx="8096250" cy="3276600"/>
            <a:chOff x="533400" y="2286000"/>
            <a:chExt cx="8096250" cy="3276600"/>
          </a:xfrm>
        </p:grpSpPr>
        <p:sp>
          <p:nvSpPr>
            <p:cNvPr id="14" name="Rectangle 14"/>
            <p:cNvSpPr/>
            <p:nvPr/>
          </p:nvSpPr>
          <p:spPr>
            <a:xfrm>
              <a:off x="533400" y="2286000"/>
              <a:ext cx="8096250" cy="3276600"/>
            </a:xfrm>
            <a:prstGeom prst="roundRect">
              <a:avLst>
                <a:gd name="adj" fmla="val 6395"/>
              </a:avLst>
            </a:prstGeom>
            <a:solidFill>
              <a:srgbClr val="FFFFFF"/>
            </a:solidFill>
            <a:ln w="9525">
              <a:solidFill>
                <a:srgbClr val="D7E0EA"/>
              </a:solidFill>
            </a:ln>
          </p:spPr>
        </p:sp>
        <p:grpSp>
          <p:nvGrpSpPr>
            <p:cNvPr id="71" name="Group 71"/>
            <p:cNvGrpSpPr/>
            <p:nvPr/>
          </p:nvGrpSpPr>
          <p:grpSpPr>
            <a:xfrm>
              <a:off x="665607" y="2381250"/>
              <a:ext cx="7931188" cy="3092387"/>
              <a:chOff x="665607" y="2381250"/>
              <a:chExt cx="7931188" cy="3092387"/>
            </a:xfrm>
          </p:grpSpPr>
          <p:sp>
            <p:nvSpPr>
              <p:cNvPr id="15" name="Line 15"/>
              <p:cNvSpPr/>
              <p:nvPr/>
            </p:nvSpPr>
            <p:spPr>
              <a:xfrm>
                <a:off x="2095500" y="2381250"/>
                <a:ext cx="9525" cy="2838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838450">
                    <a:moveTo>
                      <a:pt x="0" y="0"/>
                    </a:moveTo>
                    <a:lnTo>
                      <a:pt x="0" y="2838450"/>
                    </a:lnTo>
                  </a:path>
                </a:pathLst>
              </a:custGeom>
              <a:noFill/>
              <a:ln w="9525">
                <a:solidFill>
                  <a:srgbClr val="D7E0EA"/>
                </a:solidFill>
              </a:ln>
            </p:spPr>
          </p:sp>
          <p:sp>
            <p:nvSpPr>
              <p:cNvPr id="16" name="Line 16"/>
              <p:cNvSpPr/>
              <p:nvPr/>
            </p:nvSpPr>
            <p:spPr>
              <a:xfrm>
                <a:off x="4000500" y="2381250"/>
                <a:ext cx="9525" cy="2838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838450">
                    <a:moveTo>
                      <a:pt x="0" y="0"/>
                    </a:moveTo>
                    <a:lnTo>
                      <a:pt x="0" y="2838450"/>
                    </a:lnTo>
                  </a:path>
                </a:pathLst>
              </a:custGeom>
              <a:noFill/>
              <a:ln w="9525">
                <a:solidFill>
                  <a:srgbClr val="EAF0F7"/>
                </a:solidFill>
              </a:ln>
            </p:spPr>
          </p:sp>
          <p:sp>
            <p:nvSpPr>
              <p:cNvPr id="17" name="Line 17"/>
              <p:cNvSpPr/>
              <p:nvPr/>
            </p:nvSpPr>
            <p:spPr>
              <a:xfrm>
                <a:off x="5905500" y="2381250"/>
                <a:ext cx="9525" cy="2838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838450">
                    <a:moveTo>
                      <a:pt x="0" y="0"/>
                    </a:moveTo>
                    <a:lnTo>
                      <a:pt x="0" y="2838450"/>
                    </a:lnTo>
                  </a:path>
                </a:pathLst>
              </a:custGeom>
              <a:noFill/>
              <a:ln w="9525">
                <a:solidFill>
                  <a:srgbClr val="EAF0F7"/>
                </a:solidFill>
              </a:ln>
            </p:spPr>
          </p:sp>
          <p:sp>
            <p:nvSpPr>
              <p:cNvPr id="18" name="Line 18"/>
              <p:cNvSpPr/>
              <p:nvPr/>
            </p:nvSpPr>
            <p:spPr>
              <a:xfrm>
                <a:off x="7810500" y="2381250"/>
                <a:ext cx="9525" cy="2838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838450">
                    <a:moveTo>
                      <a:pt x="0" y="0"/>
                    </a:moveTo>
                    <a:lnTo>
                      <a:pt x="0" y="2838450"/>
                    </a:lnTo>
                  </a:path>
                </a:pathLst>
              </a:custGeom>
              <a:noFill/>
              <a:ln w="9525">
                <a:solidFill>
                  <a:srgbClr val="D7E0EA"/>
                </a:solidFill>
              </a:ln>
            </p:spPr>
          </p:sp>
          <p:grpSp>
            <p:nvGrpSpPr>
              <p:cNvPr id="24" name="Group 24"/>
              <p:cNvGrpSpPr/>
              <p:nvPr/>
            </p:nvGrpSpPr>
            <p:grpSpPr>
              <a:xfrm>
                <a:off x="665607" y="2381250"/>
                <a:ext cx="7849558" cy="272987"/>
                <a:chOff x="665607" y="2381250"/>
                <a:chExt cx="7849558" cy="272987"/>
              </a:xfrm>
            </p:grpSpPr>
            <p:sp>
              <p:nvSpPr>
                <p:cNvPr id="19" name="TextBox 19"/>
                <p:cNvSpPr txBox="1"/>
                <p:nvPr/>
              </p:nvSpPr>
              <p:spPr>
                <a:xfrm>
                  <a:off x="665607" y="2448878"/>
                  <a:ext cx="1282827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能力映射与需求质量</a:t>
                  </a:r>
                </a:p>
              </p:txBody>
            </p:sp>
            <p:sp>
              <p:nvSpPr>
                <p:cNvPr id="20" name="Rectangle 20"/>
                <p:cNvSpPr/>
                <p:nvPr/>
              </p:nvSpPr>
              <p:spPr>
                <a:xfrm>
                  <a:off x="2095500" y="2381250"/>
                  <a:ext cx="5159692" cy="228600"/>
                </a:xfrm>
                <a:prstGeom prst="roundRect">
                  <a:avLst>
                    <a:gd name="adj" fmla="val 25000"/>
                  </a:avLst>
                </a:prstGeom>
                <a:solidFill>
                  <a:schemeClr val="accent6"/>
                </a:solidFill>
                <a:ln>
                  <a:noFill/>
                </a:ln>
              </p:spPr>
            </p:sp>
            <p:sp>
              <p:nvSpPr>
                <p:cNvPr id="21" name="Rectangle 21"/>
                <p:cNvSpPr/>
                <p:nvPr/>
              </p:nvSpPr>
              <p:spPr>
                <a:xfrm>
                  <a:off x="7255192" y="2381250"/>
                  <a:ext cx="159068" cy="2286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22" name="Rectangle 22"/>
                <p:cNvSpPr/>
                <p:nvPr/>
              </p:nvSpPr>
              <p:spPr>
                <a:xfrm>
                  <a:off x="7414260" y="2381250"/>
                  <a:ext cx="396240" cy="228600"/>
                </a:xfrm>
                <a:prstGeom prst="roundRect">
                  <a:avLst>
                    <a:gd name="adj" fmla="val 25000"/>
                  </a:avLst>
                </a:prstGeom>
                <a:solidFill>
                  <a:srgbClr val="B94747"/>
                </a:solidFill>
                <a:ln>
                  <a:noFill/>
                </a:ln>
              </p:spPr>
            </p:sp>
            <p:sp>
              <p:nvSpPr>
                <p:cNvPr id="23" name="TextBox 23"/>
                <p:cNvSpPr txBox="1"/>
                <p:nvPr/>
              </p:nvSpPr>
              <p:spPr>
                <a:xfrm>
                  <a:off x="8014716" y="2448878"/>
                  <a:ext cx="500449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65:2:5</a:t>
                  </a:r>
                </a:p>
              </p:txBody>
            </p:sp>
          </p:grpSp>
          <p:grpSp>
            <p:nvGrpSpPr>
              <p:cNvPr id="30" name="Group 30"/>
              <p:cNvGrpSpPr/>
              <p:nvPr/>
            </p:nvGrpSpPr>
            <p:grpSpPr>
              <a:xfrm>
                <a:off x="948309" y="2724150"/>
                <a:ext cx="7566856" cy="272987"/>
                <a:chOff x="948309" y="2724150"/>
                <a:chExt cx="7566856" cy="272987"/>
              </a:xfrm>
            </p:grpSpPr>
            <p:sp>
              <p:nvSpPr>
                <p:cNvPr id="25" name="TextBox 25"/>
                <p:cNvSpPr txBox="1"/>
                <p:nvPr/>
              </p:nvSpPr>
              <p:spPr>
                <a:xfrm>
                  <a:off x="948309" y="2791778"/>
                  <a:ext cx="1000125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因果与机理深度</a:t>
                  </a:r>
                </a:p>
              </p:txBody>
            </p:sp>
            <p:sp>
              <p:nvSpPr>
                <p:cNvPr id="26" name="Rectangle 26"/>
                <p:cNvSpPr/>
                <p:nvPr/>
              </p:nvSpPr>
              <p:spPr>
                <a:xfrm>
                  <a:off x="2095500" y="2724150"/>
                  <a:ext cx="5476875" cy="228600"/>
                </a:xfrm>
                <a:prstGeom prst="roundRect">
                  <a:avLst>
                    <a:gd name="adj" fmla="val 25000"/>
                  </a:avLst>
                </a:prstGeom>
                <a:solidFill>
                  <a:schemeClr val="accent6"/>
                </a:solidFill>
                <a:ln>
                  <a:noFill/>
                </a:ln>
              </p:spPr>
            </p:sp>
            <p:sp>
              <p:nvSpPr>
                <p:cNvPr id="27" name="Rectangle 27"/>
                <p:cNvSpPr/>
                <p:nvPr/>
              </p:nvSpPr>
              <p:spPr>
                <a:xfrm>
                  <a:off x="7572375" y="2724150"/>
                  <a:ext cx="159068" cy="2286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28" name="Rectangle 28"/>
                <p:cNvSpPr/>
                <p:nvPr/>
              </p:nvSpPr>
              <p:spPr>
                <a:xfrm>
                  <a:off x="7731442" y="2724150"/>
                  <a:ext cx="79058" cy="228600"/>
                </a:xfrm>
                <a:prstGeom prst="roundRect">
                  <a:avLst>
                    <a:gd name="adj" fmla="val 48193"/>
                  </a:avLst>
                </a:prstGeom>
                <a:solidFill>
                  <a:srgbClr val="B94747"/>
                </a:solidFill>
                <a:ln>
                  <a:noFill/>
                </a:ln>
              </p:spPr>
            </p:sp>
            <p:sp>
              <p:nvSpPr>
                <p:cNvPr id="29" name="TextBox 29"/>
                <p:cNvSpPr txBox="1"/>
                <p:nvPr/>
              </p:nvSpPr>
              <p:spPr>
                <a:xfrm>
                  <a:off x="8014716" y="2791778"/>
                  <a:ext cx="500449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69:2:1</a:t>
                  </a:r>
                </a:p>
              </p:txBody>
            </p:sp>
          </p:grpSp>
          <p:grpSp>
            <p:nvGrpSpPr>
              <p:cNvPr id="36" name="Group 36"/>
              <p:cNvGrpSpPr/>
              <p:nvPr/>
            </p:nvGrpSpPr>
            <p:grpSpPr>
              <a:xfrm>
                <a:off x="1089660" y="3067050"/>
                <a:ext cx="7425505" cy="272987"/>
                <a:chOff x="1089660" y="3067050"/>
                <a:chExt cx="7425505" cy="272987"/>
              </a:xfrm>
            </p:grpSpPr>
            <p:sp>
              <p:nvSpPr>
                <p:cNvPr id="31" name="TextBox 31"/>
                <p:cNvSpPr txBox="1"/>
                <p:nvPr/>
              </p:nvSpPr>
              <p:spPr>
                <a:xfrm>
                  <a:off x="1089660" y="3134678"/>
                  <a:ext cx="858774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军事运用价值</a:t>
                  </a:r>
                </a:p>
              </p:txBody>
            </p:sp>
            <p:sp>
              <p:nvSpPr>
                <p:cNvPr id="32" name="Rectangle 32"/>
                <p:cNvSpPr/>
                <p:nvPr/>
              </p:nvSpPr>
              <p:spPr>
                <a:xfrm>
                  <a:off x="2095500" y="3067050"/>
                  <a:ext cx="5159692" cy="228600"/>
                </a:xfrm>
                <a:prstGeom prst="roundRect">
                  <a:avLst>
                    <a:gd name="adj" fmla="val 25000"/>
                  </a:avLst>
                </a:prstGeom>
                <a:solidFill>
                  <a:schemeClr val="accent6"/>
                </a:solidFill>
                <a:ln>
                  <a:noFill/>
                </a:ln>
              </p:spPr>
            </p:sp>
            <p:sp>
              <p:nvSpPr>
                <p:cNvPr id="33" name="Rectangle 33"/>
                <p:cNvSpPr/>
                <p:nvPr/>
              </p:nvSpPr>
              <p:spPr>
                <a:xfrm>
                  <a:off x="7255192" y="3067050"/>
                  <a:ext cx="476250" cy="2286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34" name="Rectangle 34"/>
                <p:cNvSpPr/>
                <p:nvPr/>
              </p:nvSpPr>
              <p:spPr>
                <a:xfrm>
                  <a:off x="7731442" y="3067050"/>
                  <a:ext cx="79058" cy="228600"/>
                </a:xfrm>
                <a:prstGeom prst="roundRect">
                  <a:avLst>
                    <a:gd name="adj" fmla="val 48193"/>
                  </a:avLst>
                </a:prstGeom>
                <a:solidFill>
                  <a:srgbClr val="B94747"/>
                </a:solidFill>
                <a:ln>
                  <a:noFill/>
                </a:ln>
              </p:spPr>
            </p:sp>
            <p:sp>
              <p:nvSpPr>
                <p:cNvPr id="35" name="TextBox 35"/>
                <p:cNvSpPr txBox="1"/>
                <p:nvPr/>
              </p:nvSpPr>
              <p:spPr>
                <a:xfrm>
                  <a:off x="8014716" y="3134678"/>
                  <a:ext cx="500449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65:6:1</a:t>
                  </a:r>
                </a:p>
              </p:txBody>
            </p:sp>
          </p:grpSp>
          <p:grpSp>
            <p:nvGrpSpPr>
              <p:cNvPr id="41" name="Group 41"/>
              <p:cNvGrpSpPr/>
              <p:nvPr/>
            </p:nvGrpSpPr>
            <p:grpSpPr>
              <a:xfrm>
                <a:off x="1231011" y="3409950"/>
                <a:ext cx="7365784" cy="272987"/>
                <a:chOff x="1231011" y="3409950"/>
                <a:chExt cx="7365784" cy="272987"/>
              </a:xfrm>
            </p:grpSpPr>
            <p:sp>
              <p:nvSpPr>
                <p:cNvPr id="37" name="TextBox 37"/>
                <p:cNvSpPr txBox="1"/>
                <p:nvPr/>
              </p:nvSpPr>
              <p:spPr>
                <a:xfrm>
                  <a:off x="1231011" y="3477578"/>
                  <a:ext cx="717423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前瞻新颖性</a:t>
                  </a:r>
                </a:p>
              </p:txBody>
            </p:sp>
            <p:sp>
              <p:nvSpPr>
                <p:cNvPr id="38" name="Rectangle 38"/>
                <p:cNvSpPr/>
                <p:nvPr/>
              </p:nvSpPr>
              <p:spPr>
                <a:xfrm>
                  <a:off x="2095500" y="3409950"/>
                  <a:ext cx="4921568" cy="228600"/>
                </a:xfrm>
                <a:prstGeom prst="roundRect">
                  <a:avLst>
                    <a:gd name="adj" fmla="val 25000"/>
                  </a:avLst>
                </a:prstGeom>
                <a:solidFill>
                  <a:schemeClr val="accent6"/>
                </a:solidFill>
                <a:ln>
                  <a:noFill/>
                </a:ln>
              </p:spPr>
            </p:sp>
            <p:sp>
              <p:nvSpPr>
                <p:cNvPr id="39" name="Rectangle 39"/>
                <p:cNvSpPr/>
                <p:nvPr/>
              </p:nvSpPr>
              <p:spPr>
                <a:xfrm>
                  <a:off x="7017068" y="3409950"/>
                  <a:ext cx="793432" cy="228600"/>
                </a:xfrm>
                <a:prstGeom prst="roundRect">
                  <a:avLst>
                    <a:gd name="adj" fmla="val 25000"/>
                  </a:avLst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40" name="TextBox 40"/>
                <p:cNvSpPr txBox="1"/>
                <p:nvPr/>
              </p:nvSpPr>
              <p:spPr>
                <a:xfrm>
                  <a:off x="8014716" y="3477578"/>
                  <a:ext cx="582079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62:10:0</a:t>
                  </a:r>
                </a:p>
              </p:txBody>
            </p:sp>
          </p:grpSp>
          <p:grpSp>
            <p:nvGrpSpPr>
              <p:cNvPr id="47" name="Group 47"/>
              <p:cNvGrpSpPr/>
              <p:nvPr/>
            </p:nvGrpSpPr>
            <p:grpSpPr>
              <a:xfrm>
                <a:off x="948309" y="3752850"/>
                <a:ext cx="7566856" cy="272987"/>
                <a:chOff x="948309" y="3752850"/>
                <a:chExt cx="7566856" cy="272987"/>
              </a:xfrm>
            </p:grpSpPr>
            <p:sp>
              <p:nvSpPr>
                <p:cNvPr id="42" name="TextBox 42"/>
                <p:cNvSpPr txBox="1"/>
                <p:nvPr/>
              </p:nvSpPr>
              <p:spPr>
                <a:xfrm>
                  <a:off x="948309" y="3820478"/>
                  <a:ext cx="1000125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路径与任务完成</a:t>
                  </a:r>
                </a:p>
              </p:txBody>
            </p:sp>
            <p:sp>
              <p:nvSpPr>
                <p:cNvPr id="43" name="Rectangle 43"/>
                <p:cNvSpPr/>
                <p:nvPr/>
              </p:nvSpPr>
              <p:spPr>
                <a:xfrm>
                  <a:off x="2095500" y="3752850"/>
                  <a:ext cx="4762500" cy="228600"/>
                </a:xfrm>
                <a:prstGeom prst="roundRect">
                  <a:avLst>
                    <a:gd name="adj" fmla="val 25000"/>
                  </a:avLst>
                </a:prstGeom>
                <a:solidFill>
                  <a:schemeClr val="accent6"/>
                </a:solidFill>
                <a:ln>
                  <a:noFill/>
                </a:ln>
              </p:spPr>
            </p:sp>
            <p:sp>
              <p:nvSpPr>
                <p:cNvPr id="44" name="Rectangle 44"/>
                <p:cNvSpPr/>
                <p:nvPr/>
              </p:nvSpPr>
              <p:spPr>
                <a:xfrm>
                  <a:off x="6858000" y="3752850"/>
                  <a:ext cx="317182" cy="2286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45" name="Rectangle 45"/>
                <p:cNvSpPr/>
                <p:nvPr/>
              </p:nvSpPr>
              <p:spPr>
                <a:xfrm>
                  <a:off x="7175182" y="3752850"/>
                  <a:ext cx="635318" cy="228600"/>
                </a:xfrm>
                <a:prstGeom prst="roundRect">
                  <a:avLst>
                    <a:gd name="adj" fmla="val 25000"/>
                  </a:avLst>
                </a:prstGeom>
                <a:solidFill>
                  <a:srgbClr val="B94747"/>
                </a:solidFill>
                <a:ln>
                  <a:noFill/>
                </a:ln>
              </p:spPr>
            </p:sp>
            <p:sp>
              <p:nvSpPr>
                <p:cNvPr id="46" name="TextBox 46"/>
                <p:cNvSpPr txBox="1"/>
                <p:nvPr/>
              </p:nvSpPr>
              <p:spPr>
                <a:xfrm>
                  <a:off x="8014716" y="3820478"/>
                  <a:ext cx="500449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60:4:8</a:t>
                  </a:r>
                </a:p>
              </p:txBody>
            </p:sp>
          </p:grpSp>
          <p:grpSp>
            <p:nvGrpSpPr>
              <p:cNvPr id="52" name="Group 52"/>
              <p:cNvGrpSpPr/>
              <p:nvPr/>
            </p:nvGrpSpPr>
            <p:grpSpPr>
              <a:xfrm>
                <a:off x="665607" y="4095750"/>
                <a:ext cx="7849558" cy="272987"/>
                <a:chOff x="665607" y="4095750"/>
                <a:chExt cx="7849558" cy="272987"/>
              </a:xfrm>
            </p:grpSpPr>
            <p:sp>
              <p:nvSpPr>
                <p:cNvPr id="48" name="TextBox 48"/>
                <p:cNvSpPr txBox="1"/>
                <p:nvPr/>
              </p:nvSpPr>
              <p:spPr>
                <a:xfrm>
                  <a:off x="665607" y="4163378"/>
                  <a:ext cx="1282827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体系与跨场景稳健性</a:t>
                  </a:r>
                </a:p>
              </p:txBody>
            </p:sp>
            <p:sp>
              <p:nvSpPr>
                <p:cNvPr id="49" name="Rectangle 49"/>
                <p:cNvSpPr/>
                <p:nvPr/>
              </p:nvSpPr>
              <p:spPr>
                <a:xfrm>
                  <a:off x="2095500" y="4095750"/>
                  <a:ext cx="5555932" cy="228600"/>
                </a:xfrm>
                <a:prstGeom prst="roundRect">
                  <a:avLst>
                    <a:gd name="adj" fmla="val 25000"/>
                  </a:avLst>
                </a:prstGeom>
                <a:solidFill>
                  <a:schemeClr val="accent6"/>
                </a:solidFill>
                <a:ln>
                  <a:noFill/>
                </a:ln>
              </p:spPr>
            </p:sp>
            <p:sp>
              <p:nvSpPr>
                <p:cNvPr id="50" name="Rectangle 50"/>
                <p:cNvSpPr/>
                <p:nvPr/>
              </p:nvSpPr>
              <p:spPr>
                <a:xfrm>
                  <a:off x="7651432" y="4095750"/>
                  <a:ext cx="159068" cy="228600"/>
                </a:xfrm>
                <a:prstGeom prst="roundRect">
                  <a:avLst>
                    <a:gd name="adj" fmla="val 35928"/>
                  </a:avLst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51" name="TextBox 51"/>
                <p:cNvSpPr txBox="1"/>
                <p:nvPr/>
              </p:nvSpPr>
              <p:spPr>
                <a:xfrm>
                  <a:off x="8014716" y="4163378"/>
                  <a:ext cx="500449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70:2:0</a:t>
                  </a:r>
                </a:p>
              </p:txBody>
            </p:sp>
          </p:grpSp>
          <p:grpSp>
            <p:nvGrpSpPr>
              <p:cNvPr id="58" name="Group 58"/>
              <p:cNvGrpSpPr/>
              <p:nvPr/>
            </p:nvGrpSpPr>
            <p:grpSpPr>
              <a:xfrm>
                <a:off x="948309" y="4438650"/>
                <a:ext cx="7566856" cy="272987"/>
                <a:chOff x="948309" y="4438650"/>
                <a:chExt cx="7566856" cy="272987"/>
              </a:xfrm>
            </p:grpSpPr>
            <p:sp>
              <p:nvSpPr>
                <p:cNvPr id="53" name="TextBox 53"/>
                <p:cNvSpPr txBox="1"/>
                <p:nvPr/>
              </p:nvSpPr>
              <p:spPr>
                <a:xfrm>
                  <a:off x="948309" y="4506278"/>
                  <a:ext cx="1000125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不确定性与验证</a:t>
                  </a:r>
                </a:p>
              </p:txBody>
            </p:sp>
            <p:sp>
              <p:nvSpPr>
                <p:cNvPr id="54" name="Rectangle 54"/>
                <p:cNvSpPr/>
                <p:nvPr/>
              </p:nvSpPr>
              <p:spPr>
                <a:xfrm>
                  <a:off x="2095500" y="4438650"/>
                  <a:ext cx="5238750" cy="228600"/>
                </a:xfrm>
                <a:prstGeom prst="roundRect">
                  <a:avLst>
                    <a:gd name="adj" fmla="val 25000"/>
                  </a:avLst>
                </a:prstGeom>
                <a:solidFill>
                  <a:schemeClr val="accent6"/>
                </a:solidFill>
                <a:ln>
                  <a:noFill/>
                </a:ln>
              </p:spPr>
            </p:sp>
            <p:sp>
              <p:nvSpPr>
                <p:cNvPr id="55" name="Rectangle 55"/>
                <p:cNvSpPr/>
                <p:nvPr/>
              </p:nvSpPr>
              <p:spPr>
                <a:xfrm>
                  <a:off x="7334250" y="4438650"/>
                  <a:ext cx="317182" cy="2286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56" name="Rectangle 56"/>
                <p:cNvSpPr/>
                <p:nvPr/>
              </p:nvSpPr>
              <p:spPr>
                <a:xfrm>
                  <a:off x="7651432" y="4438650"/>
                  <a:ext cx="159068" cy="228600"/>
                </a:xfrm>
                <a:prstGeom prst="roundRect">
                  <a:avLst>
                    <a:gd name="adj" fmla="val 35928"/>
                  </a:avLst>
                </a:prstGeom>
                <a:solidFill>
                  <a:srgbClr val="B94747"/>
                </a:solidFill>
                <a:ln>
                  <a:noFill/>
                </a:ln>
              </p:spPr>
            </p:sp>
            <p:sp>
              <p:nvSpPr>
                <p:cNvPr id="57" name="TextBox 57"/>
                <p:cNvSpPr txBox="1"/>
                <p:nvPr/>
              </p:nvSpPr>
              <p:spPr>
                <a:xfrm>
                  <a:off x="8014716" y="4506278"/>
                  <a:ext cx="500449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66:4:2</a:t>
                  </a:r>
                </a:p>
              </p:txBody>
            </p:sp>
          </p:grpSp>
          <p:grpSp>
            <p:nvGrpSpPr>
              <p:cNvPr id="64" name="Group 64"/>
              <p:cNvGrpSpPr/>
              <p:nvPr/>
            </p:nvGrpSpPr>
            <p:grpSpPr>
              <a:xfrm>
                <a:off x="750418" y="4781550"/>
                <a:ext cx="7764747" cy="272987"/>
                <a:chOff x="750418" y="4781550"/>
                <a:chExt cx="7764747" cy="272987"/>
              </a:xfrm>
            </p:grpSpPr>
            <p:sp>
              <p:nvSpPr>
                <p:cNvPr id="59" name="TextBox 59"/>
                <p:cNvSpPr txBox="1"/>
                <p:nvPr/>
              </p:nvSpPr>
              <p:spPr>
                <a:xfrm>
                  <a:off x="750418" y="4849178"/>
                  <a:ext cx="1198016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050" b="1" dirty="0">
                      <a:solidFill>
                        <a:srgbClr val="B94747"/>
                      </a:solidFill>
                      <a:latin typeface="+mn-lt"/>
                      <a:ea typeface="+mn-ea"/>
                      <a:cs typeface="+mn-cs"/>
                    </a:rPr>
                    <a:t>证据与事实可靠性</a:t>
                  </a:r>
                </a:p>
              </p:txBody>
            </p:sp>
            <p:sp>
              <p:nvSpPr>
                <p:cNvPr id="60" name="Rectangle 60"/>
                <p:cNvSpPr/>
                <p:nvPr/>
              </p:nvSpPr>
              <p:spPr>
                <a:xfrm>
                  <a:off x="2095500" y="4781550"/>
                  <a:ext cx="159068" cy="228600"/>
                </a:xfrm>
                <a:prstGeom prst="roundRect">
                  <a:avLst>
                    <a:gd name="adj" fmla="val 23952"/>
                  </a:avLst>
                </a:prstGeom>
                <a:solidFill>
                  <a:schemeClr val="accent6"/>
                </a:solidFill>
                <a:ln>
                  <a:noFill/>
                </a:ln>
              </p:spPr>
            </p:sp>
            <p:sp>
              <p:nvSpPr>
                <p:cNvPr id="61" name="Rectangle 61"/>
                <p:cNvSpPr/>
                <p:nvPr/>
              </p:nvSpPr>
              <p:spPr>
                <a:xfrm>
                  <a:off x="2254568" y="4781550"/>
                  <a:ext cx="238125" cy="2286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62" name="Rectangle 62"/>
                <p:cNvSpPr/>
                <p:nvPr/>
              </p:nvSpPr>
              <p:spPr>
                <a:xfrm>
                  <a:off x="2492692" y="4781550"/>
                  <a:ext cx="5317808" cy="228600"/>
                </a:xfrm>
                <a:prstGeom prst="roundRect">
                  <a:avLst>
                    <a:gd name="adj" fmla="val 25000"/>
                  </a:avLst>
                </a:prstGeom>
                <a:solidFill>
                  <a:srgbClr val="B94747"/>
                </a:solidFill>
                <a:ln>
                  <a:noFill/>
                </a:ln>
              </p:spPr>
            </p:sp>
            <p:sp>
              <p:nvSpPr>
                <p:cNvPr id="63" name="TextBox 63"/>
                <p:cNvSpPr txBox="1"/>
                <p:nvPr/>
              </p:nvSpPr>
              <p:spPr>
                <a:xfrm>
                  <a:off x="8014716" y="4849178"/>
                  <a:ext cx="500449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b="1" dirty="0">
                      <a:solidFill>
                        <a:srgbClr val="B94747"/>
                      </a:solidFill>
                      <a:latin typeface="+mn-lt"/>
                      <a:ea typeface="+mn-ea"/>
                      <a:cs typeface="+mn-cs"/>
                    </a:rPr>
                    <a:t>2:3:67</a:t>
                  </a:r>
                </a:p>
              </p:txBody>
            </p:sp>
          </p:grpSp>
          <p:sp>
            <p:nvSpPr>
              <p:cNvPr id="65" name="Ellipse 65"/>
              <p:cNvSpPr/>
              <p:nvPr/>
            </p:nvSpPr>
            <p:spPr>
              <a:xfrm>
                <a:off x="2324100" y="5276850"/>
                <a:ext cx="114300" cy="1143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66" name="TextBox 66"/>
              <p:cNvSpPr txBox="1"/>
              <p:nvPr/>
            </p:nvSpPr>
            <p:spPr>
              <a:xfrm>
                <a:off x="2509266" y="5268278"/>
                <a:ext cx="5760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完整方法</a:t>
                </a:r>
              </a:p>
            </p:txBody>
          </p:sp>
          <p:sp>
            <p:nvSpPr>
              <p:cNvPr id="67" name="Ellipse 67"/>
              <p:cNvSpPr/>
              <p:nvPr/>
            </p:nvSpPr>
            <p:spPr>
              <a:xfrm>
                <a:off x="3486150" y="5276850"/>
                <a:ext cx="114300" cy="114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68" name="TextBox 68"/>
              <p:cNvSpPr txBox="1"/>
              <p:nvPr/>
            </p:nvSpPr>
            <p:spPr>
              <a:xfrm>
                <a:off x="3671316" y="5268278"/>
                <a:ext cx="15201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平</a:t>
                </a:r>
              </a:p>
            </p:txBody>
          </p:sp>
          <p:sp>
            <p:nvSpPr>
              <p:cNvPr id="69" name="Ellipse 69"/>
              <p:cNvSpPr/>
              <p:nvPr/>
            </p:nvSpPr>
            <p:spPr>
              <a:xfrm>
                <a:off x="4114800" y="5276850"/>
                <a:ext cx="114300" cy="114300"/>
              </a:xfrm>
              <a:prstGeom prst="ellipse">
                <a:avLst/>
              </a:prstGeom>
              <a:solidFill>
                <a:srgbClr val="B94747"/>
              </a:solidFill>
              <a:ln>
                <a:noFill/>
              </a:ln>
            </p:spPr>
          </p:sp>
          <p:sp>
            <p:nvSpPr>
              <p:cNvPr id="70" name="TextBox 70"/>
              <p:cNvSpPr txBox="1"/>
              <p:nvPr/>
            </p:nvSpPr>
            <p:spPr>
              <a:xfrm>
                <a:off x="4299966" y="5268278"/>
                <a:ext cx="7325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通用 Agent</a:t>
                </a:r>
              </a:p>
            </p:txBody>
          </p:sp>
        </p:grpSp>
      </p:grpSp>
      <p:grpSp>
        <p:nvGrpSpPr>
          <p:cNvPr id="76" name="Group 76"/>
          <p:cNvGrpSpPr/>
          <p:nvPr/>
        </p:nvGrpSpPr>
        <p:grpSpPr>
          <a:xfrm>
            <a:off x="9048750" y="2247900"/>
            <a:ext cx="2533650" cy="3349561"/>
            <a:chOff x="9048750" y="2247900"/>
            <a:chExt cx="2533650" cy="3349561"/>
          </a:xfrm>
        </p:grpSpPr>
        <p:sp>
          <p:nvSpPr>
            <p:cNvPr id="73" name="Rectangle 73"/>
            <p:cNvSpPr/>
            <p:nvPr/>
          </p:nvSpPr>
          <p:spPr>
            <a:xfrm>
              <a:off x="9048750" y="2247900"/>
              <a:ext cx="2533650" cy="3314700"/>
            </a:xfrm>
            <a:prstGeom prst="roundRect">
              <a:avLst>
                <a:gd name="adj" fmla="val 8271"/>
              </a:avLst>
            </a:prstGeom>
            <a:solidFill>
              <a:srgbClr val="FFFFFF"/>
            </a:solidFill>
            <a:ln w="28575">
              <a:solidFill>
                <a:schemeClr val="accent2"/>
              </a:solidFill>
            </a:ln>
          </p:spPr>
        </p:sp>
        <p:pic>
          <p:nvPicPr>
            <p:cNvPr id="74" name="Image 7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791179" y="2362200"/>
              <a:ext cx="1048792" cy="3086100"/>
            </a:xfrm>
            <a:prstGeom prst="rect">
              <a:avLst/>
            </a:prstGeom>
          </p:spPr>
        </p:pic>
        <p:sp>
          <p:nvSpPr>
            <p:cNvPr id="75" name="TextBox 75"/>
            <p:cNvSpPr txBox="1"/>
            <p:nvPr/>
          </p:nvSpPr>
          <p:spPr>
            <a:xfrm>
              <a:off x="9474581" y="5392102"/>
              <a:ext cx="16819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真实 Benchmark 结果界面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533400" y="5810250"/>
            <a:ext cx="11049000" cy="609600"/>
            <a:chOff x="533400" y="5810250"/>
            <a:chExt cx="11049000" cy="609600"/>
          </a:xfrm>
        </p:grpSpPr>
        <p:sp>
          <p:nvSpPr>
            <p:cNvPr id="77" name="Rectangle 77"/>
            <p:cNvSpPr/>
            <p:nvPr/>
          </p:nvSpPr>
          <p:spPr>
            <a:xfrm>
              <a:off x="533400" y="5810250"/>
              <a:ext cx="5334000" cy="609600"/>
            </a:xfrm>
            <a:prstGeom prst="roundRect">
              <a:avLst>
                <a:gd name="adj" fmla="val 31250"/>
              </a:avLst>
            </a:prstGeom>
            <a:solidFill>
              <a:srgbClr val="FFF7E8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774192" y="5921692"/>
              <a:ext cx="31623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该票型反映正文展示口径：2 : 3 : 67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775716" y="6173152"/>
              <a:ext cx="40674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E5A34"/>
                  </a:solidFill>
                  <a:latin typeface="+mn-lt"/>
                  <a:ea typeface="+mn-ea"/>
                  <a:cs typeface="+mn-cs"/>
                </a:rPr>
                <a:t>报告声明 19 项正式证据，但正文未完整展开；不等同于证据不足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6038850" y="5810250"/>
              <a:ext cx="5543550" cy="609600"/>
            </a:xfrm>
            <a:prstGeom prst="roundRect">
              <a:avLst>
                <a:gd name="adj" fmla="val 31250"/>
              </a:avLst>
            </a:prstGeom>
            <a:solidFill>
              <a:srgbClr val="E9F6F1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6279642" y="5921692"/>
              <a:ext cx="36514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7156"/>
                  </a:solidFill>
                  <a:latin typeface="+mn-lt"/>
                  <a:ea typeface="+mn-ea"/>
                  <a:cs typeface="+mn-cs"/>
                </a:rPr>
                <a:t>盲评覆盖完整：19 条 Query · 57/57 完成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6281166" y="6173152"/>
              <a:ext cx="37767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56B5C"/>
                  </a:solidFill>
                  <a:latin typeface="+mn-lt"/>
                  <a:ea typeface="+mn-ea"/>
                  <a:cs typeface="+mn-cs"/>
                </a:rPr>
                <a:t>2 名真实专家 Judge · 对通用 Agent 95% CI 86.84%–100%</a:t>
              </a:r>
            </a:p>
          </p:txBody>
        </p:sp>
      </p:grpSp>
      <p:sp>
        <p:nvSpPr>
          <p:cNvPr id="84" name="TextBox 84"/>
          <p:cNvSpPr txBox="1"/>
          <p:nvPr/>
        </p:nvSpPr>
        <p:spPr>
          <a:xfrm>
            <a:off x="11478730" y="65922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>
            <a:alphaModFix amt="8000"/>
          </a:blip>
          <a:srcRect l="0" t="27" r="0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86000"/>
            </a:scheme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9048750" y="-1924050"/>
            <a:ext cx="4191000" cy="4191000"/>
          </a:xfrm>
          <a:prstGeom prst="ellipse">
            <a:avLst/>
          </a:prstGeom>
          <a:solidFill>
            <a:schemeClr val="accent3">
              <a:alpha val="20000"/>
            </a:schemeClr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19684" y="451485"/>
            <a:ext cx="9708802" cy="813435"/>
            <a:chOff x="519684" y="451485"/>
            <a:chExt cx="9708802" cy="813435"/>
          </a:xfrm>
        </p:grpSpPr>
        <p:sp>
          <p:nvSpPr>
            <p:cNvPr id="5" name="TextBox 5"/>
            <p:cNvSpPr txBox="1"/>
            <p:nvPr/>
          </p:nvSpPr>
          <p:spPr>
            <a:xfrm>
              <a:off x="519684" y="451485"/>
              <a:ext cx="970880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下一阶段重点：智能体编排、业务流程与 Benchmark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44830" y="971550"/>
              <a:ext cx="64770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在现有功能闭环基础上，集中做好三项持续优化，不扩散新的建设主题。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33400" y="1619250"/>
            <a:ext cx="3429000" cy="3676650"/>
            <a:chOff x="533400" y="1619250"/>
            <a:chExt cx="3429000" cy="3676650"/>
          </a:xfrm>
        </p:grpSpPr>
        <p:sp>
          <p:nvSpPr>
            <p:cNvPr id="8" name="Rectangle 8"/>
            <p:cNvSpPr/>
            <p:nvPr/>
          </p:nvSpPr>
          <p:spPr>
            <a:xfrm>
              <a:off x="533400" y="1619250"/>
              <a:ext cx="3429000" cy="3676650"/>
            </a:xfrm>
            <a:prstGeom prst="roundRect">
              <a:avLst>
                <a:gd name="adj" fmla="val 7222"/>
              </a:avLst>
            </a:prstGeom>
            <a:solidFill>
              <a:srgbClr val="FFFFFF">
                <a:alpha val="97000"/>
              </a:srgbClr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533400" y="1619250"/>
              <a:ext cx="3429000" cy="857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742950" y="1866900"/>
              <a:ext cx="495300" cy="495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66365" y="2028825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grpSp>
          <p:nvGrpSpPr>
            <p:cNvPr id="21" name="Group 21"/>
            <p:cNvGrpSpPr/>
            <p:nvPr/>
          </p:nvGrpSpPr>
          <p:grpSpPr>
            <a:xfrm>
              <a:off x="3355975" y="1917700"/>
              <a:ext cx="222250" cy="301625"/>
              <a:chOff x="3355975" y="1917700"/>
              <a:chExt cx="222250" cy="301625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3371850" y="1949450"/>
                <a:ext cx="1905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27000">
                    <a:moveTo>
                      <a:pt x="0" y="31750"/>
                    </a:moveTo>
                    <a:cubicBezTo>
                      <a:pt x="0" y="14215"/>
                      <a:pt x="14215" y="0"/>
                      <a:pt x="31750" y="0"/>
                    </a:cubicBezTo>
                    <a:lnTo>
                      <a:pt x="158750" y="0"/>
                    </a:lnTo>
                    <a:cubicBezTo>
                      <a:pt x="176285" y="0"/>
                      <a:pt x="190500" y="14215"/>
                      <a:pt x="190500" y="31750"/>
                    </a:cubicBezTo>
                    <a:lnTo>
                      <a:pt x="190500" y="95250"/>
                    </a:lnTo>
                    <a:cubicBezTo>
                      <a:pt x="190500" y="112785"/>
                      <a:pt x="176285" y="127000"/>
                      <a:pt x="158750" y="127000"/>
                    </a:cubicBezTo>
                    <a:lnTo>
                      <a:pt x="31750" y="127000"/>
                    </a:lnTo>
                    <a:cubicBezTo>
                      <a:pt x="14215" y="127000"/>
                      <a:pt x="0" y="112785"/>
                      <a:pt x="0" y="95250"/>
                    </a:cubicBezTo>
                    <a:lnTo>
                      <a:pt x="0" y="31750"/>
                    </a:ln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3467100" y="1917700"/>
                <a:ext cx="95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1750">
                    <a:moveTo>
                      <a:pt x="0" y="0"/>
                    </a:moveTo>
                    <a:lnTo>
                      <a:pt x="0" y="31750"/>
                    </a:ln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3419475" y="2076450"/>
                <a:ext cx="952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42875">
                    <a:moveTo>
                      <a:pt x="0" y="0"/>
                    </a:moveTo>
                    <a:lnTo>
                      <a:pt x="0" y="142875"/>
                    </a:ln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3514725" y="2076450"/>
                <a:ext cx="952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42875">
                    <a:moveTo>
                      <a:pt x="0" y="0"/>
                    </a:moveTo>
                    <a:lnTo>
                      <a:pt x="0" y="142875"/>
                    </a:ln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3355975" y="2108200"/>
                <a:ext cx="6350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31750">
                    <a:moveTo>
                      <a:pt x="0" y="31750"/>
                    </a:moveTo>
                    <a:lnTo>
                      <a:pt x="63500" y="0"/>
                    </a:ln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3514725" y="2108200"/>
                <a:ext cx="6350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31750">
                    <a:moveTo>
                      <a:pt x="0" y="0"/>
                    </a:moveTo>
                    <a:lnTo>
                      <a:pt x="63500" y="31750"/>
                    </a:ln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3419475" y="2171701"/>
                <a:ext cx="95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">
                    <a:moveTo>
                      <a:pt x="0" y="0"/>
                    </a:moveTo>
                    <a:lnTo>
                      <a:pt x="95250" y="0"/>
                    </a:ln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3435350" y="20129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59"/>
                    </a:ln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3498850" y="20129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59"/>
                    </a:ln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829056" y="2453640"/>
              <a:ext cx="20537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智能体设计与编排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32104" y="2880360"/>
              <a:ext cx="28467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优化 Agent 职责、协作关系与动态调度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838200" y="3238500"/>
              <a:ext cx="2819400" cy="9525"/>
            </a:xfrm>
            <a:custGeom>
              <a:avLst/>
              <a:gdLst/>
              <a:ahLst/>
              <a:cxnLst/>
              <a:rect l="l" t="t" r="r" b="b"/>
              <a:pathLst>
                <a:path w="2819400" h="9525">
                  <a:moveTo>
                    <a:pt x="0" y="0"/>
                  </a:moveTo>
                  <a:lnTo>
                    <a:pt x="281940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31342" y="3492818"/>
              <a:ext cx="2902648" cy="10641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 marL="145732" indent="-145732">
                <a:lnSpc>
                  <a:spcPts val="315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细化主控、专用与业务 Agent 边界</a:t>
              </a:r>
            </a:p>
            <a:p>
              <a:pPr algn="l" marL="145732" indent="-145732">
                <a:lnSpc>
                  <a:spcPts val="315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优化分支选择、并行协同与动态路由</a:t>
              </a:r>
            </a:p>
            <a:p>
              <a:pPr algn="l" marL="145732" indent="-145732">
                <a:lnSpc>
                  <a:spcPts val="315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完善回溯再调和输入输出契约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4381500" y="1619250"/>
            <a:ext cx="3429000" cy="3676650"/>
            <a:chOff x="4381500" y="1619250"/>
            <a:chExt cx="3429000" cy="3676650"/>
          </a:xfrm>
        </p:grpSpPr>
        <p:sp>
          <p:nvSpPr>
            <p:cNvPr id="27" name="Rectangle 27"/>
            <p:cNvSpPr/>
            <p:nvPr/>
          </p:nvSpPr>
          <p:spPr>
            <a:xfrm>
              <a:off x="4381500" y="1619250"/>
              <a:ext cx="3429000" cy="3676650"/>
            </a:xfrm>
            <a:prstGeom prst="roundRect">
              <a:avLst>
                <a:gd name="adj" fmla="val 7222"/>
              </a:avLst>
            </a:prstGeom>
            <a:solidFill>
              <a:srgbClr val="FFFFFF">
                <a:alpha val="97000"/>
              </a:srgbClr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4381500" y="1619250"/>
              <a:ext cx="3429000" cy="8572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4591050" y="1866900"/>
              <a:ext cx="495300" cy="495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714465" y="2028825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grpSp>
          <p:nvGrpSpPr>
            <p:cNvPr id="34" name="Group 34"/>
            <p:cNvGrpSpPr/>
            <p:nvPr/>
          </p:nvGrpSpPr>
          <p:grpSpPr>
            <a:xfrm>
              <a:off x="7172325" y="1933575"/>
              <a:ext cx="285751" cy="285751"/>
              <a:chOff x="7172325" y="1933575"/>
              <a:chExt cx="285751" cy="285751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7172325" y="2155826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7394576" y="1933575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31750" y="63500"/>
                    </a:move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  <a:cubicBezTo>
                      <a:pt x="0" y="49285"/>
                      <a:pt x="14215" y="63500"/>
                      <a:pt x="31750" y="63500"/>
                    </a:cubicBez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7283450" y="1965325"/>
                <a:ext cx="63500" cy="22225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222250">
                    <a:moveTo>
                      <a:pt x="63500" y="0"/>
                    </a:moveTo>
                    <a:cubicBezTo>
                      <a:pt x="45965" y="0"/>
                      <a:pt x="31750" y="14215"/>
                      <a:pt x="31750" y="31750"/>
                    </a:cubicBezTo>
                    <a:lnTo>
                      <a:pt x="31750" y="190500"/>
                    </a:lnTo>
                    <a:cubicBezTo>
                      <a:pt x="31750" y="208035"/>
                      <a:pt x="17535" y="222250"/>
                      <a:pt x="0" y="222250"/>
                    </a:cubicBez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4677156" y="2453640"/>
              <a:ext cx="20537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业务执行流程完善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680204" y="2880360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让前端展示、后台执行与业务规则一致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4686300" y="3238500"/>
              <a:ext cx="2819400" cy="9525"/>
            </a:xfrm>
            <a:custGeom>
              <a:avLst/>
              <a:gdLst/>
              <a:ahLst/>
              <a:cxnLst/>
              <a:rect l="l" t="t" r="r" b="b"/>
              <a:pathLst>
                <a:path w="2819400" h="9525">
                  <a:moveTo>
                    <a:pt x="0" y="0"/>
                  </a:moveTo>
                  <a:lnTo>
                    <a:pt x="281940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679442" y="3492818"/>
              <a:ext cx="2902648" cy="10641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 marL="145732" indent="-145732">
                <a:lnSpc>
                  <a:spcPts val="315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梳理任务入口到成果交付的全流程</a:t>
              </a:r>
            </a:p>
            <a:p>
              <a:pPr algn="l" marL="145732" indent="-145732">
                <a:lnSpc>
                  <a:spcPts val="315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补齐异常处理、人工介入与结果复核</a:t>
              </a:r>
            </a:p>
            <a:p>
              <a:pPr algn="l" marL="145732" indent="-145732">
                <a:lnSpc>
                  <a:spcPts val="315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完善状态回放与关键节点可追溯性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8229600" y="1619250"/>
            <a:ext cx="3429000" cy="3676650"/>
            <a:chOff x="8229600" y="1619250"/>
            <a:chExt cx="3429000" cy="3676650"/>
          </a:xfrm>
        </p:grpSpPr>
        <p:sp>
          <p:nvSpPr>
            <p:cNvPr id="40" name="Rectangle 40"/>
            <p:cNvSpPr/>
            <p:nvPr/>
          </p:nvSpPr>
          <p:spPr>
            <a:xfrm>
              <a:off x="8229600" y="1619250"/>
              <a:ext cx="3429000" cy="3676650"/>
            </a:xfrm>
            <a:prstGeom prst="roundRect">
              <a:avLst>
                <a:gd name="adj" fmla="val 7222"/>
              </a:avLst>
            </a:prstGeom>
            <a:solidFill>
              <a:srgbClr val="FFFFFF">
                <a:alpha val="97000"/>
              </a:srgbClr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8229600" y="1619250"/>
              <a:ext cx="3429000" cy="85725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8439150" y="1866900"/>
              <a:ext cx="495300" cy="4953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562565" y="2028825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grpSp>
          <p:nvGrpSpPr>
            <p:cNvPr id="48" name="Group 48"/>
            <p:cNvGrpSpPr/>
            <p:nvPr/>
          </p:nvGrpSpPr>
          <p:grpSpPr>
            <a:xfrm>
              <a:off x="11020425" y="1949450"/>
              <a:ext cx="285750" cy="263526"/>
              <a:chOff x="11020425" y="1949450"/>
              <a:chExt cx="285750" cy="263526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11020425" y="2076450"/>
                <a:ext cx="9525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27000">
                    <a:moveTo>
                      <a:pt x="0" y="15875"/>
                    </a:moveTo>
                    <a:cubicBezTo>
                      <a:pt x="0" y="7107"/>
                      <a:pt x="7107" y="0"/>
                      <a:pt x="15875" y="0"/>
                    </a:cubicBezTo>
                    <a:lnTo>
                      <a:pt x="79375" y="0"/>
                    </a:lnTo>
                    <a:cubicBezTo>
                      <a:pt x="88143" y="0"/>
                      <a:pt x="95250" y="7107"/>
                      <a:pt x="95250" y="15875"/>
                    </a:cubicBezTo>
                    <a:lnTo>
                      <a:pt x="95250" y="111125"/>
                    </a:lnTo>
                    <a:cubicBezTo>
                      <a:pt x="95250" y="119893"/>
                      <a:pt x="88143" y="127000"/>
                      <a:pt x="79375" y="127000"/>
                    </a:cubicBezTo>
                    <a:lnTo>
                      <a:pt x="15875" y="127000"/>
                    </a:lnTo>
                    <a:cubicBezTo>
                      <a:pt x="7107" y="127000"/>
                      <a:pt x="0" y="119893"/>
                      <a:pt x="0" y="111125"/>
                    </a:cubicBezTo>
                    <a:lnTo>
                      <a:pt x="0" y="15875"/>
                    </a:lnTo>
                  </a:path>
                </a:pathLst>
              </a:custGeom>
              <a:noFill/>
              <a:ln w="31750">
                <a:solidFill>
                  <a:schemeClr val="accent6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11210925" y="2012950"/>
                <a:ext cx="9525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90500">
                    <a:moveTo>
                      <a:pt x="0" y="15875"/>
                    </a:moveTo>
                    <a:cubicBezTo>
                      <a:pt x="0" y="7107"/>
                      <a:pt x="7107" y="0"/>
                      <a:pt x="15875" y="0"/>
                    </a:cubicBezTo>
                    <a:lnTo>
                      <a:pt x="79375" y="0"/>
                    </a:lnTo>
                    <a:cubicBezTo>
                      <a:pt x="88143" y="0"/>
                      <a:pt x="95250" y="7107"/>
                      <a:pt x="95250" y="15875"/>
                    </a:cubicBezTo>
                    <a:lnTo>
                      <a:pt x="95250" y="174625"/>
                    </a:lnTo>
                    <a:cubicBezTo>
                      <a:pt x="95250" y="183393"/>
                      <a:pt x="88143" y="190500"/>
                      <a:pt x="79375" y="190500"/>
                    </a:cubicBezTo>
                    <a:lnTo>
                      <a:pt x="15875" y="190500"/>
                    </a:lnTo>
                    <a:cubicBezTo>
                      <a:pt x="7107" y="190500"/>
                      <a:pt x="0" y="183393"/>
                      <a:pt x="0" y="174625"/>
                    </a:cubicBezTo>
                    <a:lnTo>
                      <a:pt x="0" y="15875"/>
                    </a:lnTo>
                  </a:path>
                </a:pathLst>
              </a:custGeom>
              <a:noFill/>
              <a:ln w="31750">
                <a:solidFill>
                  <a:schemeClr val="accent6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11115675" y="1949450"/>
                <a:ext cx="95250" cy="254001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254001">
                    <a:moveTo>
                      <a:pt x="0" y="15875"/>
                    </a:moveTo>
                    <a:cubicBezTo>
                      <a:pt x="0" y="7107"/>
                      <a:pt x="7107" y="0"/>
                      <a:pt x="15875" y="0"/>
                    </a:cubicBezTo>
                    <a:lnTo>
                      <a:pt x="79375" y="0"/>
                    </a:lnTo>
                    <a:cubicBezTo>
                      <a:pt x="88143" y="0"/>
                      <a:pt x="95250" y="7107"/>
                      <a:pt x="95250" y="15875"/>
                    </a:cubicBezTo>
                    <a:lnTo>
                      <a:pt x="95250" y="238125"/>
                    </a:lnTo>
                    <a:cubicBezTo>
                      <a:pt x="95250" y="246893"/>
                      <a:pt x="88143" y="254001"/>
                      <a:pt x="79375" y="254001"/>
                    </a:cubicBezTo>
                    <a:lnTo>
                      <a:pt x="15875" y="254001"/>
                    </a:lnTo>
                    <a:cubicBezTo>
                      <a:pt x="7107" y="254001"/>
                      <a:pt x="0" y="246893"/>
                      <a:pt x="0" y="238125"/>
                    </a:cubicBezTo>
                    <a:lnTo>
                      <a:pt x="0" y="15875"/>
                    </a:lnTo>
                  </a:path>
                </a:pathLst>
              </a:custGeom>
              <a:noFill/>
              <a:ln w="31750">
                <a:solidFill>
                  <a:schemeClr val="accent6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11036300" y="2203451"/>
                <a:ext cx="222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2250" h="9525">
                    <a:moveTo>
                      <a:pt x="0" y="0"/>
                    </a:moveTo>
                    <a:lnTo>
                      <a:pt x="222250" y="0"/>
                    </a:lnTo>
                  </a:path>
                </a:pathLst>
              </a:custGeom>
              <a:noFill/>
              <a:ln w="31750">
                <a:solidFill>
                  <a:schemeClr val="accent6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8525256" y="2453640"/>
              <a:ext cx="26938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Benchmark 与消融实验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528304" y="2880360"/>
              <a:ext cx="2435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用对比实验量化各模块的真实贡献</a:t>
              </a:r>
            </a:p>
          </p:txBody>
        </p:sp>
        <p:sp>
          <p:nvSpPr>
            <p:cNvPr id="51" name="Line 51"/>
            <p:cNvSpPr/>
            <p:nvPr/>
          </p:nvSpPr>
          <p:spPr>
            <a:xfrm>
              <a:off x="8534400" y="3238500"/>
              <a:ext cx="2819400" cy="9525"/>
            </a:xfrm>
            <a:custGeom>
              <a:avLst/>
              <a:gdLst/>
              <a:ahLst/>
              <a:cxnLst/>
              <a:rect l="l" t="t" r="r" b="b"/>
              <a:pathLst>
                <a:path w="2819400" h="9525">
                  <a:moveTo>
                    <a:pt x="0" y="0"/>
                  </a:moveTo>
                  <a:lnTo>
                    <a:pt x="281940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527542" y="3492818"/>
              <a:ext cx="3099816" cy="10641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 marL="145732" indent="-145732">
                <a:lnSpc>
                  <a:spcPts val="315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扩充专家标注 Deep Research Query</a:t>
              </a:r>
            </a:p>
            <a:p>
              <a:pPr algn="l" marL="145732" indent="-145732">
                <a:lnSpc>
                  <a:spcPts val="315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完善 Pairwise 盲评与人工仲裁机制</a:t>
              </a:r>
            </a:p>
            <a:p>
              <a:pPr algn="l" marL="145732" indent="-145732">
                <a:lnSpc>
                  <a:spcPts val="315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增加 Agent、门控、Recall 等消融实验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533400" y="5600700"/>
            <a:ext cx="11125200" cy="786384"/>
            <a:chOff x="533400" y="5600700"/>
            <a:chExt cx="11125200" cy="786384"/>
          </a:xfrm>
        </p:grpSpPr>
        <p:sp>
          <p:nvSpPr>
            <p:cNvPr id="54" name="Rectangle 54"/>
            <p:cNvSpPr/>
            <p:nvPr/>
          </p:nvSpPr>
          <p:spPr>
            <a:xfrm>
              <a:off x="533400" y="5600700"/>
              <a:ext cx="11125200" cy="781050"/>
            </a:xfrm>
            <a:prstGeom prst="roundRect">
              <a:avLst>
                <a:gd name="adj" fmla="val 31707"/>
              </a:avLst>
            </a:prstGeom>
            <a:solidFill>
              <a:srgbClr val="FFFFFF">
                <a:alpha val="13000"/>
              </a:srgbClr>
            </a:solidFill>
            <a:ln w="9525">
              <a:solidFill>
                <a:srgbClr val="FFFFFF">
                  <a:alpha val="26000"/>
                </a:srgbClr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5581040" y="5804535"/>
              <a:ext cx="10299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下一阶段目标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2995510" y="6035040"/>
              <a:ext cx="620098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可配置智能体编排 · 可复核业务流程 · 可量化评测体系</a:t>
              </a:r>
            </a:p>
          </p:txBody>
        </p:sp>
      </p:grpSp>
      <p:sp>
        <p:nvSpPr>
          <p:cNvPr id="58" name="TextBox 58"/>
          <p:cNvSpPr txBox="1"/>
          <p:nvPr/>
        </p:nvSpPr>
        <p:spPr>
          <a:xfrm>
            <a:off x="11516830" y="65541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DDEAF2"/>
                </a:solidFill>
                <a:latin typeface="+mn-lt"/>
                <a:ea typeface="+mn-ea"/>
                <a:cs typeface="+mn-cs"/>
              </a:rPr>
              <a:t>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js_equipment_client_report_20260722">
  <a:themeElements>
    <a:clrScheme name="js_equipment_client_report_20260722">
      <a:dk1>
        <a:srgbClr val="17212B"/>
      </a:dk1>
      <a:lt1>
        <a:srgbClr val="F7F9FC"/>
      </a:lt1>
      <a:dk2>
        <a:srgbClr val="1F497D"/>
      </a:dk2>
      <a:lt2>
        <a:srgbClr val="EAF0F7"/>
      </a:lt2>
      <a:accent1>
        <a:srgbClr val="123B63"/>
      </a:accent1>
      <a:accent2>
        <a:srgbClr val="D59A24"/>
      </a:accent2>
      <a:accent3>
        <a:srgbClr val="2A7F9E"/>
      </a:accent3>
      <a:accent4>
        <a:srgbClr val="123B63"/>
      </a:accent4>
      <a:accent5>
        <a:srgbClr val="5B6B7C"/>
      </a:accent5>
      <a:accent6>
        <a:srgbClr val="2E8B6D"/>
      </a:accent6>
      <a:hlink>
        <a:srgbClr val="D59A24"/>
      </a:hlink>
      <a:folHlink>
        <a:srgbClr val="2A7F9E"/>
      </a:folHlink>
    </a:clrScheme>
    <a:fontScheme name="js_equipment_client_report_20260722">
      <a:majorFont>
        <a:latin typeface="Georgia"/>
        <a:ea typeface="SimSun"/>
        <a:cs typeface="Georgia"/>
        <a:font script="Jpan" typeface="SimSun"/>
        <a:font script="Hang" typeface="SimSun"/>
        <a:font script="Hans" typeface="SimSun"/>
        <a:font script="Hant" typeface="SimSu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js_equipment_client_report_2026072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js_equipment_client_report_20260722">
  <a:themeElements>
    <a:clrScheme name="js_equipment_client_report_20260722">
      <a:dk1>
        <a:srgbClr val="17212B"/>
      </a:dk1>
      <a:lt1>
        <a:srgbClr val="F7F9FC"/>
      </a:lt1>
      <a:dk2>
        <a:srgbClr val="1F497D"/>
      </a:dk2>
      <a:lt2>
        <a:srgbClr val="EAF0F7"/>
      </a:lt2>
      <a:accent1>
        <a:srgbClr val="123B63"/>
      </a:accent1>
      <a:accent2>
        <a:srgbClr val="D59A24"/>
      </a:accent2>
      <a:accent3>
        <a:srgbClr val="2A7F9E"/>
      </a:accent3>
      <a:accent4>
        <a:srgbClr val="123B63"/>
      </a:accent4>
      <a:accent5>
        <a:srgbClr val="5B6B7C"/>
      </a:accent5>
      <a:accent6>
        <a:srgbClr val="2E8B6D"/>
      </a:accent6>
      <a:hlink>
        <a:srgbClr val="D59A24"/>
      </a:hlink>
      <a:folHlink>
        <a:srgbClr val="2A7F9E"/>
      </a:folHlink>
    </a:clrScheme>
    <a:fontScheme name="js_equipment_client_report_20260722">
      <a:majorFont>
        <a:latin typeface="Georgia"/>
        <a:ea typeface="SimSun"/>
        <a:cs typeface="Georgia"/>
        <a:font script="Jpan" typeface="SimSun"/>
        <a:font script="Hang" typeface="SimSun"/>
        <a:font script="Hans" typeface="SimSun"/>
        <a:font script="Hant" typeface="SimSu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js_equipment_client_report_2026072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2026-07-23T09:35:06Z</dcterms:created>
  <dcterms:modified xsi:type="dcterms:W3CDTF">2026-07-23T09:35:06Z</dcterms:modified>
  <cp:category/>
  <cp:contentStatus/>
</cp:coreProperties>
</file>