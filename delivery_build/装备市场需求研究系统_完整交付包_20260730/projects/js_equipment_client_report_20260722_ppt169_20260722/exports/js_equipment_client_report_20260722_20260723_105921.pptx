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证据治理贯穿检索、材料化、质量评分、引用和最终交付。只有通过安全约束和质量门控的来源才能进入正式支撑链，低质量或材料化失败的来源会被明确分流；报告、成果画像、推理追溯、交互事件和 Manifest 则共同构成可复核交付栈。下面通过真实系统界面展示这些能力已经如何产品化。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六推理界面把节点导航、阶段结论、质量状态和证据上下文放在同一页面。用户可以定位每个阶段的结构化输出，查看 L 一到 L 三门控状态，并从结论回到相关证据和交互记录。专业 Agent 因此不是后台黑箱，而是可查看、可定位、可回溯的项目成果。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工程侧全量回归达到四百四十六项通过，生产构建、配置和代码检查均通过。三条真实路线均达到完成、运行闭环、可发布、审计批准和正式证据存在的验收状态，代表性闭环还覆盖四路 Agent、六个推理节点、七十一条事件、十五项工具结果和三十个 Manifest 文件。除了工程验收，项目还建设了可持续扩展的 Benchmark 数据资产。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第一版共包含四百八十条分层案例，A 到 H 每个分支六十条，并划分为一百二十条开发集、一百二十条验证集和二百四十条测试集。数据资产还包含七十二条专家深金标、十个领域覆盖、多类压力样本，以及七万两千对防泄漏检查且违规为零。这样的分层设计既支持当前工程回归，也可以持续牵引目标架构优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对照架构设计和现有代码，三条研究路线、A 到 H 元编排、专用 Agent、S1 到 S6、循环门控和能力画像已经形成完整运行闭环，下一阶段不必把证据数量或前置 Agent 效率作为当前主线。第一项重点是专业知识底座实装，把现有 Knowledge Pack、增量记忆和专业 Agent 契约进一步对接甲方装备、条令、案例与技术数据，形成可版本化、可复用、可维护的专业知识资产。第二项重点是推演仿真与需求验证，把体系对抗和能力卡片从定性研判推进到场景参数化、效果链、蒙特卡洛、敏感性分析和失效注入，形成从假设、指标、仿真到优先级调整的闭环。第三项重点是持续研判与专家运营，把单次任务升级为主题订阅、变化基线、增量重跑、预警触发和专家裁决流程；消融 Baseline、全量 Benchmark 和专家盲评继续保留为横向验证机制，请甲方共同确认首批知识库、首个仿真场景、监测主题和专家治理流程。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s_equipment_client_report_202607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5f62ee3d21bfd7.jpg"/>
  <Relationship Id="rId3" Type="http://schemas.openxmlformats.org/officeDocument/2006/relationships/image" Target="../media/image_2be54e6882bbd590.jpg"/>
  <Relationship Id="rId4" Type="http://schemas.openxmlformats.org/officeDocument/2006/relationships/image" Target="../media/image_f73d0c2d319088b2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f888bf9d6a897a2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6b6e00a825a5f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4167c23e866a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819900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521459"/>
            <a:chOff x="7224522" y="1444942"/>
            <a:chExt cx="5121592" cy="2521459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702368"/>
              <a:ext cx="4825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 · 2026-07-22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0" name="Rectangle 10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1318443" cy="695516"/>
            <a:chOff x="500634" y="489585"/>
            <a:chExt cx="11318443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1318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三类闭环与核心功能已落地，真实验收和专家盲评形成双重验证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2026-07-17 全量回归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5737" y="4415314"/>
              <a:ext cx="1943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三路线 + A–H 动态编排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70684" y="3013710"/>
                <a:ext cx="10021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三路线 · A–H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211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证据治理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743140"/>
            <a:chOff x="500634" y="375285"/>
            <a:chExt cx="10856145" cy="74314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51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四层可编辑架构：任务入口 → 三路线 / A–H → 主控与专用 Agent → S1–S6 → 证据门控回路 → 企业成果包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1314450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5695" y="15725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57200" y="2571750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457200" y="3657600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57200" y="5238750"/>
            <a:ext cx="11277600" cy="1104900"/>
            <a:chOff x="457200" y="5238750"/>
            <a:chExt cx="11277600" cy="1104900"/>
          </a:xfrm>
        </p:grpSpPr>
        <p:sp>
          <p:nvSpPr>
            <p:cNvPr id="185" name="Rectangle 185"/>
            <p:cNvSpPr/>
            <p:nvPr/>
          </p:nvSpPr>
          <p:spPr>
            <a:xfrm>
              <a:off x="457200" y="52387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FF7E8"/>
            </a:solidFill>
            <a:ln w="9525">
              <a:solidFill>
                <a:srgbClr val="ECD6A9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590550" y="53721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89" name="Group 189"/>
            <p:cNvGrpSpPr/>
            <p:nvPr/>
          </p:nvGrpSpPr>
          <p:grpSpPr>
            <a:xfrm>
              <a:off x="793741" y="5603875"/>
              <a:ext cx="203209" cy="203200"/>
              <a:chOff x="793741" y="5603875"/>
              <a:chExt cx="203209" cy="2032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844550" y="5654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39700" y="3404"/>
                    </a:moveTo>
                    <a:cubicBezTo>
                      <a:pt x="147558" y="7941"/>
                      <a:pt x="152399" y="16326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793741" y="5603875"/>
                <a:ext cx="152408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8" h="152400">
                    <a:moveTo>
                      <a:pt x="12709" y="149021"/>
                    </a:moveTo>
                    <a:cubicBezTo>
                      <a:pt x="4842" y="144480"/>
                      <a:pt x="0" y="136083"/>
                      <a:pt x="9" y="127000"/>
                    </a:cubicBezTo>
                    <a:lnTo>
                      <a:pt x="9" y="25400"/>
                    </a:lnTo>
                    <a:cubicBezTo>
                      <a:pt x="9" y="11372"/>
                      <a:pt x="11381" y="0"/>
                      <a:pt x="25409" y="0"/>
                    </a:cubicBezTo>
                    <a:lnTo>
                      <a:pt x="127009" y="0"/>
                    </a:lnTo>
                    <a:cubicBezTo>
                      <a:pt x="141037" y="0"/>
                      <a:pt x="152408" y="11372"/>
                      <a:pt x="152408" y="25400"/>
                    </a:cubicBezTo>
                    <a:lnTo>
                      <a:pt x="152408" y="127000"/>
                    </a:lnTo>
                    <a:cubicBezTo>
                      <a:pt x="152408" y="141028"/>
                      <a:pt x="141037" y="152400"/>
                      <a:pt x="127009" y="152400"/>
                    </a:cubicBezTo>
                    <a:lnTo>
                      <a:pt x="88909" y="152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90" name="TextBox 190"/>
            <p:cNvSpPr txBox="1"/>
            <p:nvPr/>
          </p:nvSpPr>
          <p:spPr>
            <a:xfrm>
              <a:off x="1137285" y="54983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企业运行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37285" y="57269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与成果交付层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738188" y="5979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6DF"/>
                  </a:solidFill>
                  <a:latin typeface="+mn-lt"/>
                  <a:ea typeface="+mn-ea"/>
                  <a:cs typeface="+mn-cs"/>
                </a:rPr>
                <a:t>运行 · 工作台 · 成果包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362200" y="5514975"/>
              <a:ext cx="7810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637617" y="563022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505646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任务接口</a:t>
              </a:r>
            </a:p>
          </p:txBody>
        </p:sp>
        <p:sp>
          <p:nvSpPr>
            <p:cNvPr id="196" name="Line 196"/>
            <p:cNvSpPr/>
            <p:nvPr/>
          </p:nvSpPr>
          <p:spPr>
            <a:xfrm>
              <a:off x="31432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335280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564220" y="563022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348329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00" name="Line 200"/>
            <p:cNvSpPr/>
            <p:nvPr/>
          </p:nvSpPr>
          <p:spPr>
            <a:xfrm>
              <a:off x="42291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1" name="Rectangle 201"/>
            <p:cNvSpPr/>
            <p:nvPr/>
          </p:nvSpPr>
          <p:spPr>
            <a:xfrm>
              <a:off x="44386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4609283" y="56302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56914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跨进程执行</a:t>
              </a:r>
            </a:p>
          </p:txBody>
        </p:sp>
        <p:sp>
          <p:nvSpPr>
            <p:cNvPr id="204" name="Line 204"/>
            <p:cNvSpPr/>
            <p:nvPr/>
          </p:nvSpPr>
          <p:spPr>
            <a:xfrm>
              <a:off x="53149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5524500" y="5514975"/>
              <a:ext cx="1143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5667268" y="5638324"/>
              <a:ext cx="857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React 工作台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5588432" y="58464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 / 交互 / 评审</a:t>
              </a:r>
            </a:p>
          </p:txBody>
        </p:sp>
        <p:sp>
          <p:nvSpPr>
            <p:cNvPr id="208" name="Line 208"/>
            <p:cNvSpPr/>
            <p:nvPr/>
          </p:nvSpPr>
          <p:spPr>
            <a:xfrm>
              <a:off x="66675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8770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171723" y="5638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06812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深度研究</a:t>
              </a:r>
            </a:p>
          </p:txBody>
        </p:sp>
        <p:sp>
          <p:nvSpPr>
            <p:cNvPr id="212" name="Line 212"/>
            <p:cNvSpPr/>
            <p:nvPr/>
          </p:nvSpPr>
          <p:spPr>
            <a:xfrm>
              <a:off x="77533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962900" y="5514975"/>
              <a:ext cx="952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8157149" y="5638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成果矩阵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819207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216" name="Line 216"/>
            <p:cNvSpPr/>
            <p:nvPr/>
          </p:nvSpPr>
          <p:spPr>
            <a:xfrm>
              <a:off x="89154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124950" y="5514975"/>
              <a:ext cx="838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46470" y="563832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Trace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96972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全链追溯</a:t>
              </a:r>
            </a:p>
          </p:txBody>
        </p:sp>
        <p:sp>
          <p:nvSpPr>
            <p:cNvPr id="220" name="Line 220"/>
            <p:cNvSpPr/>
            <p:nvPr/>
          </p:nvSpPr>
          <p:spPr>
            <a:xfrm>
              <a:off x="99631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10172700" y="5514975"/>
              <a:ext cx="13716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0192618" y="5638324"/>
              <a:ext cx="1331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Manifest / SHA-256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0369105" y="58464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可校验成果交付包</a:t>
              </a: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782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覆盖缺口显式披露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207" y="1204332"/>
            <a:ext cx="4925586" cy="4925586"/>
            <a:chOff x="585207" y="1204332"/>
            <a:chExt cx="4925586" cy="492558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55473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5810250"/>
            <a:ext cx="10096500" cy="495300"/>
            <a:chOff x="1047750" y="5810250"/>
            <a:chExt cx="100965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047750" y="5810250"/>
              <a:ext cx="10096500" cy="495300"/>
            </a:xfrm>
            <a:prstGeom prst="roundRect">
              <a:avLst>
                <a:gd name="adj" fmla="val 50000"/>
              </a:avLst>
            </a:prstGeom>
            <a:solidFill>
              <a:srgbClr val="FFF0F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315051" y="5960269"/>
              <a:ext cx="232508" cy="214312"/>
              <a:chOff x="1315051" y="5960269"/>
              <a:chExt cx="23250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315051" y="59602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3994" y="61269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763649" y="5954554"/>
              <a:ext cx="75469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非法调整由 Harness 拒绝并保留原蓝图；所有回路均记录触发、动作与边界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110" y="457200"/>
            <a:ext cx="8991600" cy="746951"/>
            <a:chOff x="499110" y="457200"/>
            <a:chExt cx="8991600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572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证据治理贯穿检索、材料化、引用和交付校验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861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只有通过安全、材料化与质量门控的来源进入正式支撑链，交付结果可通过 Manifest 与 SHA-256 复核。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428750"/>
            <a:ext cx="5391150" cy="4362450"/>
            <a:chOff x="514350" y="1428750"/>
            <a:chExt cx="5391150" cy="4362450"/>
          </a:xfrm>
        </p:grpSpPr>
        <p:sp>
          <p:nvSpPr>
            <p:cNvPr id="5" name="Rectangle 5"/>
            <p:cNvSpPr/>
            <p:nvPr/>
          </p:nvSpPr>
          <p:spPr>
            <a:xfrm>
              <a:off x="514350" y="1428750"/>
              <a:ext cx="5391150" cy="436245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1645444"/>
              <a:ext cx="347366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来源进入正式支撑链的四道门</a:t>
              </a:r>
            </a:p>
          </p:txBody>
        </p:sp>
        <p:sp>
          <p:nvSpPr>
            <p:cNvPr id="7" name="Polygon 7"/>
            <p:cNvSpPr/>
            <p:nvPr/>
          </p:nvSpPr>
          <p:spPr>
            <a:xfrm>
              <a:off x="933450" y="2209800"/>
              <a:ext cx="4533900" cy="628650"/>
            </a:xfrm>
            <a:custGeom>
              <a:avLst/>
              <a:gdLst/>
              <a:ahLst/>
              <a:cxnLst/>
              <a:rect l="l" t="t" r="r" b="b"/>
              <a:pathLst>
                <a:path w="4533900" h="628650">
                  <a:moveTo>
                    <a:pt x="0" y="0"/>
                  </a:moveTo>
                  <a:lnTo>
                    <a:pt x="4533900" y="0"/>
                  </a:lnTo>
                  <a:lnTo>
                    <a:pt x="4019550" y="628650"/>
                  </a:lnTo>
                  <a:lnTo>
                    <a:pt x="514350" y="6286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306" y="2420779"/>
              <a:ext cx="4110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网络安全：SSRF 防护与公开来源约束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47800" y="3009900"/>
              <a:ext cx="3505200" cy="628650"/>
            </a:xfrm>
            <a:custGeom>
              <a:avLst/>
              <a:gdLst/>
              <a:ahLst/>
              <a:cxnLst/>
              <a:rect l="l" t="t" r="r" b="b"/>
              <a:pathLst>
                <a:path w="3505200" h="628650">
                  <a:moveTo>
                    <a:pt x="0" y="0"/>
                  </a:moveTo>
                  <a:lnTo>
                    <a:pt x="3505200" y="0"/>
                  </a:lnTo>
                  <a:lnTo>
                    <a:pt x="3028950" y="628650"/>
                  </a:lnTo>
                  <a:lnTo>
                    <a:pt x="476250" y="628650"/>
                  </a:lnTo>
                  <a:close/>
                </a:path>
              </a:pathLst>
            </a:custGeom>
            <a:solidFill>
              <a:srgbClr val="DFF0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5807" y="3220879"/>
              <a:ext cx="3109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材料化：正文简化与位置索引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24050" y="3810000"/>
              <a:ext cx="2552700" cy="628650"/>
            </a:xfrm>
            <a:custGeom>
              <a:avLst/>
              <a:gdLst/>
              <a:ahLst/>
              <a:cxnLst/>
              <a:rect l="l" t="t" r="r" b="b"/>
              <a:pathLst>
                <a:path w="2552700" h="628650">
                  <a:moveTo>
                    <a:pt x="0" y="0"/>
                  </a:moveTo>
                  <a:lnTo>
                    <a:pt x="2552700" y="0"/>
                  </a:lnTo>
                  <a:lnTo>
                    <a:pt x="2133600" y="628650"/>
                  </a:lnTo>
                  <a:lnTo>
                    <a:pt x="419100" y="628650"/>
                  </a:lnTo>
                  <a:close/>
                </a:path>
              </a:pathLst>
            </a:custGeom>
            <a:solidFill>
              <a:srgbClr val="FFF3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9142" y="4020979"/>
              <a:ext cx="2662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③ 质量评分与正式证据门控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343150" y="4610100"/>
              <a:ext cx="1714500" cy="628650"/>
            </a:xfrm>
            <a:custGeom>
              <a:avLst/>
              <a:gdLst/>
              <a:ahLst/>
              <a:cxnLst/>
              <a:rect l="l" t="t" r="r" b="b"/>
              <a:pathLst>
                <a:path w="1714500" h="628650">
                  <a:moveTo>
                    <a:pt x="0" y="0"/>
                  </a:moveTo>
                  <a:lnTo>
                    <a:pt x="1714500" y="0"/>
                  </a:lnTo>
                  <a:lnTo>
                    <a:pt x="1390650" y="628650"/>
                  </a:lnTo>
                  <a:lnTo>
                    <a:pt x="323850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10732" y="482917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事实 / 推断 / 假设分离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52950" y="3905250"/>
              <a:ext cx="704850" cy="1352550"/>
            </a:xfrm>
            <a:custGeom>
              <a:avLst/>
              <a:gdLst/>
              <a:ahLst/>
              <a:cxnLst/>
              <a:rect l="l" t="t" r="r" b="b"/>
              <a:pathLst>
                <a:path w="704850" h="1352550">
                  <a:moveTo>
                    <a:pt x="0" y="0"/>
                  </a:moveTo>
                  <a:cubicBezTo>
                    <a:pt x="666750" y="171450"/>
                    <a:pt x="704850" y="857250"/>
                    <a:pt x="533400" y="1352550"/>
                  </a:cubicBezTo>
                </a:path>
              </a:pathLst>
            </a:custGeom>
            <a:noFill/>
            <a:ln w="38100">
              <a:solidFill>
                <a:srgbClr val="B94747"/>
              </a:solidFill>
              <a:custDash>
                <a:ds d="200000" sp="125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5048250"/>
              <a:ext cx="1257300" cy="514350"/>
            </a:xfrm>
            <a:prstGeom prst="roundRect">
              <a:avLst>
                <a:gd name="adj" fmla="val 29630"/>
              </a:avLst>
            </a:prstGeom>
            <a:solidFill>
              <a:srgbClr val="FFF0F0"/>
            </a:solidFill>
            <a:ln w="9525">
              <a:solidFill>
                <a:srgbClr val="B947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8359" y="5145881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低质量 / 失败材料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462" y="53444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拒绝进入正式支撑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428750"/>
            <a:ext cx="5372100" cy="4362450"/>
            <a:chOff x="6286500" y="1428750"/>
            <a:chExt cx="5372100" cy="43624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372100" cy="4362450"/>
            </a:xfrm>
            <a:prstGeom prst="roundRect">
              <a:avLst>
                <a:gd name="adj" fmla="val 52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3675" y="16454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可审计、可校验的交付栈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0" y="2152650"/>
              <a:ext cx="4095750" cy="514350"/>
              <a:chOff x="6667500" y="2152650"/>
              <a:chExt cx="409575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0" y="21526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902450" y="2295525"/>
                <a:ext cx="177800" cy="228599"/>
                <a:chOff x="6902450" y="2295525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7016750" y="2295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02450" y="2295525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53250" y="2422525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7580" y="2314575"/>
                <a:ext cx="1955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深度报告 + 需求卡片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77050" y="2819400"/>
              <a:ext cx="4095750" cy="514350"/>
              <a:chOff x="6877050" y="2819400"/>
              <a:chExt cx="4095750" cy="514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77050" y="28194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086600" y="2962275"/>
                <a:ext cx="228600" cy="241299"/>
                <a:chOff x="7086600" y="2962275"/>
                <a:chExt cx="228600" cy="241299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124700" y="29622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400" y="34116"/>
                        <a:pt x="118284" y="0"/>
                        <a:pt x="76200" y="0"/>
                      </a:cubicBezTo>
                      <a:cubicBezTo>
                        <a:pt x="34116" y="0"/>
                        <a:pt x="0" y="34116"/>
                        <a:pt x="0" y="762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2009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0" y="0"/>
                      </a:moveTo>
                      <a:cubicBezTo>
                        <a:pt x="16929" y="4229"/>
                        <a:pt x="25400" y="29629"/>
                        <a:pt x="25400" y="76200"/>
                      </a:cubicBezTo>
                      <a:cubicBezTo>
                        <a:pt x="25400" y="122771"/>
                        <a:pt x="16929" y="148171"/>
                        <a:pt x="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755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25400" y="0"/>
                      </a:moveTo>
                      <a:cubicBezTo>
                        <a:pt x="8471" y="4229"/>
                        <a:pt x="0" y="29629"/>
                        <a:pt x="0" y="76200"/>
                      </a:cubicBezTo>
                      <a:cubicBezTo>
                        <a:pt x="0" y="122771"/>
                        <a:pt x="8471" y="148171"/>
                        <a:pt x="2540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24700" y="303847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866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263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175500" y="3152774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200900" y="31146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517130" y="2981325"/>
                <a:ext cx="21673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能力全景图 + 能力画像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086600" y="3486150"/>
              <a:ext cx="4095750" cy="514350"/>
              <a:chOff x="7086600" y="3486150"/>
              <a:chExt cx="4095750" cy="5143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086600" y="34861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96150" y="3679825"/>
                <a:ext cx="228599" cy="127000"/>
                <a:chOff x="7296150" y="3679825"/>
                <a:chExt cx="228599" cy="127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08850" y="36925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0" y="101600"/>
                      </a:moveTo>
                      <a:lnTo>
                        <a:pt x="76200" y="12700"/>
                      </a:lnTo>
                      <a:lnTo>
                        <a:pt x="139700" y="762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35850" y="37560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372350" y="36925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296150" y="3781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9349" y="36798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726680" y="3648075"/>
                <a:ext cx="23793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推理追溯 + 质量门控记录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96150" y="4152900"/>
              <a:ext cx="4095750" cy="514350"/>
              <a:chOff x="7296150" y="4152900"/>
              <a:chExt cx="409575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296150" y="41529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05700" y="4308475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936230" y="4314825"/>
                <a:ext cx="22779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持久化 SSE + 断线重放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505700" y="4819650"/>
              <a:ext cx="3886200" cy="628650"/>
              <a:chOff x="7505700" y="4819650"/>
              <a:chExt cx="3886200" cy="6286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05700" y="4819650"/>
                <a:ext cx="3886200" cy="628650"/>
              </a:xfrm>
              <a:prstGeom prst="roundRect">
                <a:avLst>
                  <a:gd name="adj" fmla="val 2424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699421" y="5012531"/>
                <a:ext cx="263510" cy="242888"/>
                <a:chOff x="7699421" y="5012531"/>
                <a:chExt cx="263510" cy="2428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9421" y="501253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79557" y="520144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164449" y="4925854"/>
                <a:ext cx="30872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Delivery Manifest + SHA-256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6735" y="5212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完整性可机器复核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808732" y="6045518"/>
            <a:ext cx="6574536" cy="264033"/>
            <a:chOff x="2808732" y="6045518"/>
            <a:chExt cx="657453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2808732" y="6045518"/>
              <a:ext cx="657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RBAC · 最小权限 · Agent 原始会话隔离 · 正式证据与低质量材料严格分流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612" y="1514475"/>
              <a:ext cx="5365376" cy="240030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4612" y="4267200"/>
              <a:ext cx="5365376" cy="240030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3301" y="489109"/>
            <a:ext cx="11111836" cy="657892"/>
            <a:chOff x="503301" y="489109"/>
            <a:chExt cx="11111836" cy="657892"/>
          </a:xfrm>
        </p:grpSpPr>
        <p:sp>
          <p:nvSpPr>
            <p:cNvPr id="2" name="TextBox 2"/>
            <p:cNvSpPr txBox="1"/>
            <p:nvPr/>
          </p:nvSpPr>
          <p:spPr>
            <a:xfrm>
              <a:off x="503301" y="489109"/>
              <a:ext cx="11111836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推理界面把结论、节点状态和质量门控放在同一上下文中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专用智能体不是后台黑箱，而是形成可查看、可定位、可回溯的阶段成果。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9700" y="1390650"/>
            <a:ext cx="9372600" cy="5276850"/>
            <a:chOff x="1409700" y="1390650"/>
            <a:chExt cx="9372600" cy="5276850"/>
          </a:xfrm>
        </p:grpSpPr>
        <p:sp>
          <p:nvSpPr>
            <p:cNvPr id="5" name="Rectangle 5"/>
            <p:cNvSpPr/>
            <p:nvPr/>
          </p:nvSpPr>
          <p:spPr>
            <a:xfrm>
              <a:off x="1409700" y="1390650"/>
              <a:ext cx="9372600" cy="5276850"/>
            </a:xfrm>
            <a:prstGeom prst="roundRect">
              <a:avLst>
                <a:gd name="adj" fmla="val 39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6809" y="1504950"/>
              <a:ext cx="9138381" cy="514350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457200" y="1733550"/>
            <a:ext cx="3390900" cy="819150"/>
            <a:chOff x="457200" y="1733550"/>
            <a:chExt cx="3390900" cy="819150"/>
          </a:xfrm>
        </p:grpSpPr>
        <p:sp>
          <p:nvSpPr>
            <p:cNvPr id="8" name="Rectangle 8"/>
            <p:cNvSpPr/>
            <p:nvPr/>
          </p:nvSpPr>
          <p:spPr>
            <a:xfrm>
              <a:off x="457200" y="1733550"/>
              <a:ext cx="2552700" cy="819150"/>
            </a:xfrm>
            <a:prstGeom prst="roundRect">
              <a:avLst>
                <a:gd name="adj" fmla="val 209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18954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六节点阶段导航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213610"/>
              <a:ext cx="1386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S1–S6 状态与切换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009900" y="1924050"/>
              <a:ext cx="838200" cy="228600"/>
            </a:xfrm>
            <a:custGeom>
              <a:avLst/>
              <a:gdLst/>
              <a:ahLst/>
              <a:cxnLst/>
              <a:rect l="l" t="t" r="r" b="b"/>
              <a:pathLst>
                <a:path w="838200" h="228600">
                  <a:moveTo>
                    <a:pt x="0" y="228600"/>
                  </a:moveTo>
                  <a:cubicBezTo>
                    <a:pt x="419100" y="228600"/>
                    <a:pt x="533400" y="114300"/>
                    <a:pt x="83820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905750" y="1714500"/>
            <a:ext cx="3829050" cy="895350"/>
            <a:chOff x="7905750" y="1714500"/>
            <a:chExt cx="3829050" cy="895350"/>
          </a:xfrm>
        </p:grpSpPr>
        <p:sp>
          <p:nvSpPr>
            <p:cNvPr id="13" name="Rectangle 13"/>
            <p:cNvSpPr/>
            <p:nvPr/>
          </p:nvSpPr>
          <p:spPr>
            <a:xfrm>
              <a:off x="9010650" y="1714500"/>
              <a:ext cx="2724150" cy="819150"/>
            </a:xfrm>
            <a:prstGeom prst="roundRect">
              <a:avLst>
                <a:gd name="adj" fmla="val 209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31630" y="18764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结构化专业输出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33154" y="21945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每阶段结论与证据摘要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905750" y="2152650"/>
              <a:ext cx="1104900" cy="457200"/>
            </a:xfrm>
            <a:custGeom>
              <a:avLst/>
              <a:gdLst/>
              <a:ahLst/>
              <a:cxnLst/>
              <a:rect l="l" t="t" r="r" b="b"/>
              <a:pathLst>
                <a:path w="1104900" h="457200">
                  <a:moveTo>
                    <a:pt x="1104900" y="0"/>
                  </a:moveTo>
                  <a:cubicBezTo>
                    <a:pt x="666750" y="76200"/>
                    <a:pt x="342900" y="190500"/>
                    <a:pt x="0" y="45720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57200" y="4991100"/>
            <a:ext cx="3981450" cy="1219200"/>
            <a:chOff x="457200" y="4991100"/>
            <a:chExt cx="3981450" cy="1219200"/>
          </a:xfrm>
        </p:grpSpPr>
        <p:sp>
          <p:nvSpPr>
            <p:cNvPr id="18" name="Rectangle 18"/>
            <p:cNvSpPr/>
            <p:nvPr/>
          </p:nvSpPr>
          <p:spPr>
            <a:xfrm>
              <a:off x="457200" y="5391150"/>
              <a:ext cx="2705100" cy="819150"/>
            </a:xfrm>
            <a:prstGeom prst="roundRect">
              <a:avLst>
                <a:gd name="adj" fmla="val 20930"/>
              </a:avLst>
            </a:prstGeom>
            <a:solidFill>
              <a:srgbClr val="FFF3D8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8180" y="5553075"/>
              <a:ext cx="22331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L1 / L2 / L3 质量状态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704" y="5871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门控、回溯与再调可见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3162300" y="4991100"/>
              <a:ext cx="1276350" cy="800100"/>
            </a:xfrm>
            <a:custGeom>
              <a:avLst/>
              <a:gdLst/>
              <a:ahLst/>
              <a:cxnLst/>
              <a:rect l="l" t="t" r="r" b="b"/>
              <a:pathLst>
                <a:path w="1276350" h="800100">
                  <a:moveTo>
                    <a:pt x="0" y="800100"/>
                  </a:moveTo>
                  <a:cubicBezTo>
                    <a:pt x="571500" y="571500"/>
                    <a:pt x="895350" y="266700"/>
                    <a:pt x="1276350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810500" y="4972050"/>
            <a:ext cx="3924300" cy="1276350"/>
            <a:chOff x="7810500" y="4972050"/>
            <a:chExt cx="3924300" cy="1276350"/>
          </a:xfrm>
        </p:grpSpPr>
        <p:sp>
          <p:nvSpPr>
            <p:cNvPr id="23" name="Rectangle 23"/>
            <p:cNvSpPr/>
            <p:nvPr/>
          </p:nvSpPr>
          <p:spPr>
            <a:xfrm>
              <a:off x="8972550" y="5429250"/>
              <a:ext cx="276225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93530" y="55911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证据与交互记录联动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95054" y="59093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从结论回到来源与事件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810500" y="4972050"/>
              <a:ext cx="1162050" cy="857250"/>
            </a:xfrm>
            <a:custGeom>
              <a:avLst/>
              <a:gdLst/>
              <a:ahLst/>
              <a:cxnLst/>
              <a:rect l="l" t="t" r="r" b="b"/>
              <a:pathLst>
                <a:path w="1162050" h="857250">
                  <a:moveTo>
                    <a:pt x="1162050" y="857250"/>
                  </a:moveTo>
                  <a:cubicBezTo>
                    <a:pt x="704850" y="647700"/>
                    <a:pt x="361950" y="342900"/>
                    <a:pt x="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10915193" cy="714566"/>
            <a:chOff x="500634" y="470535"/>
            <a:chExt cx="10915193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10915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系统把研究结论沉淀为可评审、可追踪、可校验的成果交付包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1409700"/>
            <a:ext cx="5753100" cy="4476750"/>
            <a:chOff x="514350" y="1409700"/>
            <a:chExt cx="5753100" cy="4476750"/>
          </a:xfrm>
        </p:grpSpPr>
        <p:sp>
          <p:nvSpPr>
            <p:cNvPr id="5" name="Rectangle 5"/>
            <p:cNvSpPr/>
            <p:nvPr/>
          </p:nvSpPr>
          <p:spPr>
            <a:xfrm>
              <a:off x="514350" y="1409700"/>
              <a:ext cx="5753100" cy="4476750"/>
            </a:xfrm>
            <a:prstGeom prst="roundRect">
              <a:avLst>
                <a:gd name="adj" fmla="val 468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147" y="1581150"/>
              <a:ext cx="4383507" cy="413385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112770"/>
              <a:chOff x="7174230" y="2276475"/>
              <a:chExt cx="3073146" cy="31127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6354" y="5095875"/>
                <a:ext cx="1435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76300" y="6096000"/>
            <a:ext cx="10439400" cy="381000"/>
            <a:chOff x="876300" y="6096000"/>
            <a:chExt cx="10439400" cy="381000"/>
          </a:xfrm>
        </p:grpSpPr>
        <p:sp>
          <p:nvSpPr>
            <p:cNvPr id="31" name="Rectangle 31"/>
            <p:cNvSpPr/>
            <p:nvPr/>
          </p:nvSpPr>
          <p:spPr>
            <a:xfrm>
              <a:off x="8763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957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甲方可直接评审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1095939" cy="730759"/>
            <a:chOff x="499872" y="454342"/>
            <a:chExt cx="11095939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10959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全量回归与三路线验收表明初版已达到可交付、可复核状态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101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验收口径：2026-07-17；回归、生产构建、配置与真实三路线运行均通过。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447800"/>
            <a:ext cx="3238500" cy="2952750"/>
            <a:chOff x="533400" y="1447800"/>
            <a:chExt cx="323850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3238500" cy="2952750"/>
            </a:xfrm>
            <a:prstGeom prst="roundRect">
              <a:avLst>
                <a:gd name="adj" fmla="val 774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99319" y="1812925"/>
              <a:ext cx="297655" cy="337343"/>
              <a:chOff x="899319" y="1812925"/>
              <a:chExt cx="297655" cy="33734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99319" y="1812925"/>
                <a:ext cx="238125" cy="31749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7499">
                    <a:moveTo>
                      <a:pt x="91579" y="317499"/>
                    </a:moveTo>
                    <a:lnTo>
                      <a:pt x="39687" y="317499"/>
                    </a:lnTo>
                    <a:cubicBezTo>
                      <a:pt x="17769" y="317499"/>
                      <a:pt x="0" y="299731"/>
                      <a:pt x="0" y="277812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198437" y="0"/>
                    </a:lnTo>
                    <a:cubicBezTo>
                      <a:pt x="220356" y="0"/>
                      <a:pt x="238125" y="17769"/>
                      <a:pt x="238125" y="39687"/>
                    </a:cubicBezTo>
                    <a:lnTo>
                      <a:pt x="238125" y="198437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7912" y="2070893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8693" y="18923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8693" y="1971675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00100" y="2313622"/>
              <a:ext cx="154242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080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797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全量回归 · 0 个阻断错误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95750" y="1447800"/>
            <a:ext cx="7562850" cy="2952750"/>
            <a:chOff x="4095750" y="1447800"/>
            <a:chExt cx="7562850" cy="2952750"/>
          </a:xfrm>
        </p:grpSpPr>
        <p:sp>
          <p:nvSpPr>
            <p:cNvPr id="15" name="Rectangle 15"/>
            <p:cNvSpPr/>
            <p:nvPr/>
          </p:nvSpPr>
          <p:spPr>
            <a:xfrm>
              <a:off x="4095750" y="1447800"/>
              <a:ext cx="7562850" cy="2952750"/>
            </a:xfrm>
            <a:prstGeom prst="roundRect">
              <a:avLst>
                <a:gd name="adj" fmla="val 7742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53306" y="16535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真实三路线多模型验收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4449" y="2095500"/>
              <a:ext cx="7118641" cy="385668"/>
              <a:chOff x="4354449" y="2095500"/>
              <a:chExt cx="7118641" cy="38566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354449" y="217312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新制胜机理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2095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52566" y="2229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54449" y="2857500"/>
              <a:ext cx="7118641" cy="385668"/>
              <a:chOff x="4354449" y="2857500"/>
              <a:chExt cx="7118641" cy="38566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54449" y="2935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传统能力缺口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905500" y="2857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52566" y="2991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54449" y="3619500"/>
              <a:ext cx="7118641" cy="385668"/>
              <a:chOff x="4354449" y="3619500"/>
              <a:chExt cx="7118641" cy="38566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54449" y="3697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局部战争案例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05500" y="3619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52566" y="3753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648200"/>
            <a:ext cx="11125200" cy="685800"/>
            <a:chOff x="533400" y="4648200"/>
            <a:chExt cx="11125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48200"/>
              <a:ext cx="111252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580" y="4886325"/>
              <a:ext cx="1789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 生产构建通过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5680" y="4886325"/>
              <a:ext cx="1799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Compose 配置通过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1730" y="4886325"/>
              <a:ext cx="1907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本轮 Ruff 检查通过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7280" y="4886325"/>
              <a:ext cx="207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Manifest 完整性校验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543550"/>
            <a:ext cx="11125200" cy="742950"/>
            <a:chOff x="533400" y="5543550"/>
            <a:chExt cx="11125200" cy="742950"/>
          </a:xfrm>
        </p:grpSpPr>
        <p:sp>
          <p:nvSpPr>
            <p:cNvPr id="36" name="Rectangle 36"/>
            <p:cNvSpPr/>
            <p:nvPr/>
          </p:nvSpPr>
          <p:spPr>
            <a:xfrm>
              <a:off x="533400" y="5543550"/>
              <a:ext cx="11125200" cy="742950"/>
            </a:xfrm>
            <a:prstGeom prst="roundRect">
              <a:avLst>
                <a:gd name="adj" fmla="val 2820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573" y="5691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代表性闭环验收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985510"/>
              <a:ext cx="1004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路 Agent　·　6 个推理节点　·　L1/L2/L3　·　2 项结构化画像　·　71 条事件　·　15/15 工具结果　·　30 个 Manifest 文件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0946961" cy="730759"/>
            <a:chOff x="499872" y="454342"/>
            <a:chExt cx="10946961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0946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480 条分层案例与 72 条深金标构成可持续扩展的评测资产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5395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Benchmark v1.0 同时服务三路线工程回归与 A–H 目标架构评估。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6325" y="1552575"/>
            <a:ext cx="3371850" cy="3671126"/>
            <a:chOff x="1076325" y="1552575"/>
            <a:chExt cx="3371850" cy="3671126"/>
          </a:xfrm>
        </p:grpSpPr>
        <p:sp>
          <p:nvSpPr>
            <p:cNvPr id="5" name="Arc 5"/>
            <p:cNvSpPr/>
            <p:nvPr/>
          </p:nvSpPr>
          <p:spPr>
            <a:xfrm>
              <a:off x="1076325" y="2184543"/>
              <a:ext cx="712032" cy="1053957"/>
            </a:xfrm>
            <a:custGeom>
              <a:avLst/>
              <a:gdLst/>
              <a:ahLst/>
              <a:cxnLst/>
              <a:rect l="l" t="t" r="r" b="b"/>
              <a:pathLst>
                <a:path w="712032" h="1053957">
                  <a:moveTo>
                    <a:pt x="0" y="1053957"/>
                  </a:moveTo>
                  <a:lnTo>
                    <a:pt x="1502" y="982819"/>
                  </a:lnTo>
                  <a:lnTo>
                    <a:pt x="6003" y="911808"/>
                  </a:lnTo>
                  <a:lnTo>
                    <a:pt x="13498" y="841050"/>
                  </a:lnTo>
                  <a:lnTo>
                    <a:pt x="23971" y="770671"/>
                  </a:lnTo>
                  <a:lnTo>
                    <a:pt x="37404" y="700797"/>
                  </a:lnTo>
                  <a:lnTo>
                    <a:pt x="53774" y="631551"/>
                  </a:lnTo>
                  <a:lnTo>
                    <a:pt x="73051" y="563059"/>
                  </a:lnTo>
                  <a:lnTo>
                    <a:pt x="95201" y="495440"/>
                  </a:lnTo>
                  <a:lnTo>
                    <a:pt x="120185" y="428817"/>
                  </a:lnTo>
                  <a:lnTo>
                    <a:pt x="147957" y="363306"/>
                  </a:lnTo>
                  <a:lnTo>
                    <a:pt x="178469" y="299027"/>
                  </a:lnTo>
                  <a:lnTo>
                    <a:pt x="211666" y="236092"/>
                  </a:lnTo>
                  <a:lnTo>
                    <a:pt x="247489" y="174613"/>
                  </a:lnTo>
                  <a:lnTo>
                    <a:pt x="285875" y="114701"/>
                  </a:lnTo>
                  <a:lnTo>
                    <a:pt x="326754" y="56462"/>
                  </a:lnTo>
                  <a:lnTo>
                    <a:pt x="370054" y="0"/>
                  </a:lnTo>
                  <a:lnTo>
                    <a:pt x="712032" y="273910"/>
                  </a:lnTo>
                  <a:lnTo>
                    <a:pt x="679985" y="315698"/>
                  </a:lnTo>
                  <a:lnTo>
                    <a:pt x="649730" y="358802"/>
                  </a:lnTo>
                  <a:lnTo>
                    <a:pt x="621320" y="403143"/>
                  </a:lnTo>
                  <a:lnTo>
                    <a:pt x="594807" y="448644"/>
                  </a:lnTo>
                  <a:lnTo>
                    <a:pt x="570237" y="495223"/>
                  </a:lnTo>
                  <a:lnTo>
                    <a:pt x="547655" y="542798"/>
                  </a:lnTo>
                  <a:lnTo>
                    <a:pt x="527100" y="591282"/>
                  </a:lnTo>
                  <a:lnTo>
                    <a:pt x="508610" y="640591"/>
                  </a:lnTo>
                  <a:lnTo>
                    <a:pt x="492216" y="690637"/>
                  </a:lnTo>
                  <a:lnTo>
                    <a:pt x="477949" y="741329"/>
                  </a:lnTo>
                  <a:lnTo>
                    <a:pt x="465833" y="792578"/>
                  </a:lnTo>
                  <a:lnTo>
                    <a:pt x="455891" y="844293"/>
                  </a:lnTo>
                  <a:lnTo>
                    <a:pt x="448140" y="896382"/>
                  </a:lnTo>
                  <a:lnTo>
                    <a:pt x="442593" y="948751"/>
                  </a:lnTo>
                  <a:lnTo>
                    <a:pt x="439261" y="1001307"/>
                  </a:lnTo>
                  <a:lnTo>
                    <a:pt x="438150" y="10539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Arc 6"/>
            <p:cNvSpPr/>
            <p:nvPr/>
          </p:nvSpPr>
          <p:spPr>
            <a:xfrm>
              <a:off x="1570121" y="1562778"/>
              <a:ext cx="1055059" cy="793412"/>
            </a:xfrm>
            <a:custGeom>
              <a:avLst/>
              <a:gdLst/>
              <a:ahLst/>
              <a:cxnLst/>
              <a:rect l="l" t="t" r="r" b="b"/>
              <a:pathLst>
                <a:path w="1055059" h="793412">
                  <a:moveTo>
                    <a:pt x="0" y="483593"/>
                  </a:moveTo>
                  <a:lnTo>
                    <a:pt x="51364" y="434352"/>
                  </a:lnTo>
                  <a:lnTo>
                    <a:pt x="104760" y="387323"/>
                  </a:lnTo>
                  <a:lnTo>
                    <a:pt x="160093" y="342589"/>
                  </a:lnTo>
                  <a:lnTo>
                    <a:pt x="217264" y="300229"/>
                  </a:lnTo>
                  <a:lnTo>
                    <a:pt x="276171" y="260319"/>
                  </a:lnTo>
                  <a:lnTo>
                    <a:pt x="336710" y="222931"/>
                  </a:lnTo>
                  <a:lnTo>
                    <a:pt x="398773" y="188130"/>
                  </a:lnTo>
                  <a:lnTo>
                    <a:pt x="462249" y="155979"/>
                  </a:lnTo>
                  <a:lnTo>
                    <a:pt x="527025" y="126535"/>
                  </a:lnTo>
                  <a:lnTo>
                    <a:pt x="592985" y="99851"/>
                  </a:lnTo>
                  <a:lnTo>
                    <a:pt x="660013" y="75973"/>
                  </a:lnTo>
                  <a:lnTo>
                    <a:pt x="727989" y="54945"/>
                  </a:lnTo>
                  <a:lnTo>
                    <a:pt x="796792" y="36804"/>
                  </a:lnTo>
                  <a:lnTo>
                    <a:pt x="866298" y="21582"/>
                  </a:lnTo>
                  <a:lnTo>
                    <a:pt x="936385" y="9307"/>
                  </a:lnTo>
                  <a:lnTo>
                    <a:pt x="1006928" y="0"/>
                  </a:lnTo>
                  <a:lnTo>
                    <a:pt x="1055059" y="435498"/>
                  </a:lnTo>
                  <a:lnTo>
                    <a:pt x="1002850" y="442387"/>
                  </a:lnTo>
                  <a:lnTo>
                    <a:pt x="950977" y="451472"/>
                  </a:lnTo>
                  <a:lnTo>
                    <a:pt x="899535" y="462737"/>
                  </a:lnTo>
                  <a:lnTo>
                    <a:pt x="848613" y="476164"/>
                  </a:lnTo>
                  <a:lnTo>
                    <a:pt x="798303" y="491727"/>
                  </a:lnTo>
                  <a:lnTo>
                    <a:pt x="748695" y="509399"/>
                  </a:lnTo>
                  <a:lnTo>
                    <a:pt x="699877" y="529149"/>
                  </a:lnTo>
                  <a:lnTo>
                    <a:pt x="651935" y="550940"/>
                  </a:lnTo>
                  <a:lnTo>
                    <a:pt x="604956" y="574736"/>
                  </a:lnTo>
                  <a:lnTo>
                    <a:pt x="559022" y="600492"/>
                  </a:lnTo>
                  <a:lnTo>
                    <a:pt x="514217" y="628164"/>
                  </a:lnTo>
                  <a:lnTo>
                    <a:pt x="470618" y="657702"/>
                  </a:lnTo>
                  <a:lnTo>
                    <a:pt x="428305" y="689053"/>
                  </a:lnTo>
                  <a:lnTo>
                    <a:pt x="387353" y="722161"/>
                  </a:lnTo>
                  <a:lnTo>
                    <a:pt x="347834" y="756968"/>
                  </a:lnTo>
                  <a:lnTo>
                    <a:pt x="309819" y="793412"/>
                  </a:lnTo>
                  <a:close/>
                </a:path>
              </a:pathLst>
            </a:custGeom>
            <a:solidFill>
              <a:srgbClr val="174D79"/>
            </a:solidFill>
            <a:ln>
              <a:noFill/>
            </a:ln>
          </p:spPr>
        </p:sp>
        <p:sp>
          <p:nvSpPr>
            <p:cNvPr id="7" name="Arc 7"/>
            <p:cNvSpPr/>
            <p:nvPr/>
          </p:nvSpPr>
          <p:spPr>
            <a:xfrm>
              <a:off x="2762250" y="1552575"/>
              <a:ext cx="1053957" cy="712032"/>
            </a:xfrm>
            <a:custGeom>
              <a:avLst/>
              <a:gdLst/>
              <a:ahLst/>
              <a:cxnLst/>
              <a:rect l="l" t="t" r="r" b="b"/>
              <a:pathLst>
                <a:path w="1053957" h="712032">
                  <a:moveTo>
                    <a:pt x="0" y="0"/>
                  </a:moveTo>
                  <a:lnTo>
                    <a:pt x="71138" y="1502"/>
                  </a:lnTo>
                  <a:lnTo>
                    <a:pt x="142149" y="6003"/>
                  </a:lnTo>
                  <a:lnTo>
                    <a:pt x="212908" y="13498"/>
                  </a:lnTo>
                  <a:lnTo>
                    <a:pt x="283286" y="23971"/>
                  </a:lnTo>
                  <a:lnTo>
                    <a:pt x="353161" y="37404"/>
                  </a:lnTo>
                  <a:lnTo>
                    <a:pt x="422406" y="53774"/>
                  </a:lnTo>
                  <a:lnTo>
                    <a:pt x="490899" y="73051"/>
                  </a:lnTo>
                  <a:lnTo>
                    <a:pt x="558517" y="95201"/>
                  </a:lnTo>
                  <a:lnTo>
                    <a:pt x="625141" y="120185"/>
                  </a:lnTo>
                  <a:lnTo>
                    <a:pt x="690651" y="147957"/>
                  </a:lnTo>
                  <a:lnTo>
                    <a:pt x="754931" y="178469"/>
                  </a:lnTo>
                  <a:lnTo>
                    <a:pt x="817866" y="211666"/>
                  </a:lnTo>
                  <a:lnTo>
                    <a:pt x="879344" y="247489"/>
                  </a:lnTo>
                  <a:lnTo>
                    <a:pt x="939256" y="285875"/>
                  </a:lnTo>
                  <a:lnTo>
                    <a:pt x="997495" y="326754"/>
                  </a:lnTo>
                  <a:lnTo>
                    <a:pt x="1053957" y="370054"/>
                  </a:lnTo>
                  <a:lnTo>
                    <a:pt x="780047" y="712032"/>
                  </a:lnTo>
                  <a:lnTo>
                    <a:pt x="738259" y="679985"/>
                  </a:lnTo>
                  <a:lnTo>
                    <a:pt x="695156" y="649730"/>
                  </a:lnTo>
                  <a:lnTo>
                    <a:pt x="650814" y="621320"/>
                  </a:lnTo>
                  <a:lnTo>
                    <a:pt x="605313" y="594807"/>
                  </a:lnTo>
                  <a:lnTo>
                    <a:pt x="558734" y="570237"/>
                  </a:lnTo>
                  <a:lnTo>
                    <a:pt x="511160" y="547655"/>
                  </a:lnTo>
                  <a:lnTo>
                    <a:pt x="462675" y="527100"/>
                  </a:lnTo>
                  <a:lnTo>
                    <a:pt x="413366" y="508610"/>
                  </a:lnTo>
                  <a:lnTo>
                    <a:pt x="363321" y="492216"/>
                  </a:lnTo>
                  <a:lnTo>
                    <a:pt x="312628" y="477949"/>
                  </a:lnTo>
                  <a:lnTo>
                    <a:pt x="261379" y="465833"/>
                  </a:lnTo>
                  <a:lnTo>
                    <a:pt x="209664" y="455891"/>
                  </a:lnTo>
                  <a:lnTo>
                    <a:pt x="157576" y="448140"/>
                  </a:lnTo>
                  <a:lnTo>
                    <a:pt x="105207" y="442593"/>
                  </a:lnTo>
                  <a:lnTo>
                    <a:pt x="52650" y="439261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" name="Arc 8"/>
            <p:cNvSpPr/>
            <p:nvPr/>
          </p:nvSpPr>
          <p:spPr>
            <a:xfrm>
              <a:off x="3644560" y="2046371"/>
              <a:ext cx="793412" cy="1055059"/>
            </a:xfrm>
            <a:custGeom>
              <a:avLst/>
              <a:gdLst/>
              <a:ahLst/>
              <a:cxnLst/>
              <a:rect l="l" t="t" r="r" b="b"/>
              <a:pathLst>
                <a:path w="793412" h="1055059">
                  <a:moveTo>
                    <a:pt x="309819" y="0"/>
                  </a:moveTo>
                  <a:lnTo>
                    <a:pt x="359059" y="51364"/>
                  </a:lnTo>
                  <a:lnTo>
                    <a:pt x="406089" y="104760"/>
                  </a:lnTo>
                  <a:lnTo>
                    <a:pt x="450823" y="160093"/>
                  </a:lnTo>
                  <a:lnTo>
                    <a:pt x="493183" y="217264"/>
                  </a:lnTo>
                  <a:lnTo>
                    <a:pt x="533092" y="276171"/>
                  </a:lnTo>
                  <a:lnTo>
                    <a:pt x="570481" y="336710"/>
                  </a:lnTo>
                  <a:lnTo>
                    <a:pt x="605282" y="398773"/>
                  </a:lnTo>
                  <a:lnTo>
                    <a:pt x="637433" y="462249"/>
                  </a:lnTo>
                  <a:lnTo>
                    <a:pt x="666877" y="527025"/>
                  </a:lnTo>
                  <a:lnTo>
                    <a:pt x="693561" y="592985"/>
                  </a:lnTo>
                  <a:lnTo>
                    <a:pt x="717439" y="660013"/>
                  </a:lnTo>
                  <a:lnTo>
                    <a:pt x="738467" y="727989"/>
                  </a:lnTo>
                  <a:lnTo>
                    <a:pt x="756608" y="796792"/>
                  </a:lnTo>
                  <a:lnTo>
                    <a:pt x="771829" y="866298"/>
                  </a:lnTo>
                  <a:lnTo>
                    <a:pt x="784105" y="936385"/>
                  </a:lnTo>
                  <a:lnTo>
                    <a:pt x="793412" y="1006928"/>
                  </a:lnTo>
                  <a:lnTo>
                    <a:pt x="357913" y="1055059"/>
                  </a:lnTo>
                  <a:lnTo>
                    <a:pt x="351025" y="1002850"/>
                  </a:lnTo>
                  <a:lnTo>
                    <a:pt x="341940" y="950977"/>
                  </a:lnTo>
                  <a:lnTo>
                    <a:pt x="330674" y="899535"/>
                  </a:lnTo>
                  <a:lnTo>
                    <a:pt x="317248" y="848613"/>
                  </a:lnTo>
                  <a:lnTo>
                    <a:pt x="301685" y="798303"/>
                  </a:lnTo>
                  <a:lnTo>
                    <a:pt x="284013" y="748695"/>
                  </a:lnTo>
                  <a:lnTo>
                    <a:pt x="264263" y="699877"/>
                  </a:lnTo>
                  <a:lnTo>
                    <a:pt x="242471" y="651935"/>
                  </a:lnTo>
                  <a:lnTo>
                    <a:pt x="218676" y="604956"/>
                  </a:lnTo>
                  <a:lnTo>
                    <a:pt x="192919" y="559022"/>
                  </a:lnTo>
                  <a:lnTo>
                    <a:pt x="165248" y="514217"/>
                  </a:lnTo>
                  <a:lnTo>
                    <a:pt x="135710" y="470618"/>
                  </a:lnTo>
                  <a:lnTo>
                    <a:pt x="104359" y="428305"/>
                  </a:lnTo>
                  <a:lnTo>
                    <a:pt x="71251" y="387353"/>
                  </a:lnTo>
                  <a:lnTo>
                    <a:pt x="36444" y="347834"/>
                  </a:lnTo>
                  <a:lnTo>
                    <a:pt x="0" y="309819"/>
                  </a:lnTo>
                  <a:close/>
                </a:path>
              </a:pathLst>
            </a:custGeom>
            <a:solidFill>
              <a:srgbClr val="3E95AB"/>
            </a:solidFill>
            <a:ln>
              <a:noFill/>
            </a:ln>
          </p:spPr>
        </p:sp>
        <p:sp>
          <p:nvSpPr>
            <p:cNvPr id="9" name="Arc 9"/>
            <p:cNvSpPr/>
            <p:nvPr/>
          </p:nvSpPr>
          <p:spPr>
            <a:xfrm>
              <a:off x="3736143" y="3238500"/>
              <a:ext cx="712032" cy="1053957"/>
            </a:xfrm>
            <a:custGeom>
              <a:avLst/>
              <a:gdLst/>
              <a:ahLst/>
              <a:cxnLst/>
              <a:rect l="l" t="t" r="r" b="b"/>
              <a:pathLst>
                <a:path w="712032" h="1053957">
                  <a:moveTo>
                    <a:pt x="712032" y="0"/>
                  </a:moveTo>
                  <a:lnTo>
                    <a:pt x="710530" y="71138"/>
                  </a:lnTo>
                  <a:lnTo>
                    <a:pt x="706028" y="142149"/>
                  </a:lnTo>
                  <a:lnTo>
                    <a:pt x="698534" y="212908"/>
                  </a:lnTo>
                  <a:lnTo>
                    <a:pt x="688061" y="283286"/>
                  </a:lnTo>
                  <a:lnTo>
                    <a:pt x="674627" y="353161"/>
                  </a:lnTo>
                  <a:lnTo>
                    <a:pt x="658257" y="422406"/>
                  </a:lnTo>
                  <a:lnTo>
                    <a:pt x="638980" y="490899"/>
                  </a:lnTo>
                  <a:lnTo>
                    <a:pt x="616830" y="558517"/>
                  </a:lnTo>
                  <a:lnTo>
                    <a:pt x="591847" y="625141"/>
                  </a:lnTo>
                  <a:lnTo>
                    <a:pt x="564074" y="690651"/>
                  </a:lnTo>
                  <a:lnTo>
                    <a:pt x="533562" y="754931"/>
                  </a:lnTo>
                  <a:lnTo>
                    <a:pt x="500365" y="817866"/>
                  </a:lnTo>
                  <a:lnTo>
                    <a:pt x="464542" y="879344"/>
                  </a:lnTo>
                  <a:lnTo>
                    <a:pt x="426157" y="939256"/>
                  </a:lnTo>
                  <a:lnTo>
                    <a:pt x="385278" y="997495"/>
                  </a:lnTo>
                  <a:lnTo>
                    <a:pt x="341978" y="1053957"/>
                  </a:lnTo>
                  <a:lnTo>
                    <a:pt x="0" y="780047"/>
                  </a:lnTo>
                  <a:lnTo>
                    <a:pt x="32047" y="738259"/>
                  </a:lnTo>
                  <a:lnTo>
                    <a:pt x="62302" y="695156"/>
                  </a:lnTo>
                  <a:lnTo>
                    <a:pt x="90711" y="650814"/>
                  </a:lnTo>
                  <a:lnTo>
                    <a:pt x="117225" y="605313"/>
                  </a:lnTo>
                  <a:lnTo>
                    <a:pt x="141794" y="558734"/>
                  </a:lnTo>
                  <a:lnTo>
                    <a:pt x="164376" y="511160"/>
                  </a:lnTo>
                  <a:lnTo>
                    <a:pt x="184931" y="462675"/>
                  </a:lnTo>
                  <a:lnTo>
                    <a:pt x="203422" y="413366"/>
                  </a:lnTo>
                  <a:lnTo>
                    <a:pt x="219815" y="363321"/>
                  </a:lnTo>
                  <a:lnTo>
                    <a:pt x="234083" y="312628"/>
                  </a:lnTo>
                  <a:lnTo>
                    <a:pt x="246198" y="261379"/>
                  </a:lnTo>
                  <a:lnTo>
                    <a:pt x="256141" y="209664"/>
                  </a:lnTo>
                  <a:lnTo>
                    <a:pt x="263892" y="157576"/>
                  </a:lnTo>
                  <a:lnTo>
                    <a:pt x="269438" y="105207"/>
                  </a:lnTo>
                  <a:lnTo>
                    <a:pt x="272770" y="52650"/>
                  </a:lnTo>
                  <a:lnTo>
                    <a:pt x="273882" y="0"/>
                  </a:lnTo>
                  <a:close/>
                </a:path>
              </a:pathLst>
            </a:custGeom>
            <a:solidFill>
              <a:srgbClr val="78B8C7"/>
            </a:solidFill>
            <a:ln>
              <a:noFill/>
            </a:ln>
          </p:spPr>
        </p:sp>
        <p:sp>
          <p:nvSpPr>
            <p:cNvPr id="10" name="Arc 10"/>
            <p:cNvSpPr/>
            <p:nvPr/>
          </p:nvSpPr>
          <p:spPr>
            <a:xfrm>
              <a:off x="2899320" y="4120810"/>
              <a:ext cx="1055059" cy="793412"/>
            </a:xfrm>
            <a:custGeom>
              <a:avLst/>
              <a:gdLst/>
              <a:ahLst/>
              <a:cxnLst/>
              <a:rect l="l" t="t" r="r" b="b"/>
              <a:pathLst>
                <a:path w="1055059" h="793412">
                  <a:moveTo>
                    <a:pt x="1055059" y="309819"/>
                  </a:moveTo>
                  <a:lnTo>
                    <a:pt x="1003695" y="359059"/>
                  </a:lnTo>
                  <a:lnTo>
                    <a:pt x="950299" y="406089"/>
                  </a:lnTo>
                  <a:lnTo>
                    <a:pt x="894967" y="450823"/>
                  </a:lnTo>
                  <a:lnTo>
                    <a:pt x="837796" y="493183"/>
                  </a:lnTo>
                  <a:lnTo>
                    <a:pt x="778888" y="533092"/>
                  </a:lnTo>
                  <a:lnTo>
                    <a:pt x="718349" y="570481"/>
                  </a:lnTo>
                  <a:lnTo>
                    <a:pt x="656286" y="605282"/>
                  </a:lnTo>
                  <a:lnTo>
                    <a:pt x="592810" y="637433"/>
                  </a:lnTo>
                  <a:lnTo>
                    <a:pt x="528034" y="666877"/>
                  </a:lnTo>
                  <a:lnTo>
                    <a:pt x="462074" y="693561"/>
                  </a:lnTo>
                  <a:lnTo>
                    <a:pt x="395046" y="717439"/>
                  </a:lnTo>
                  <a:lnTo>
                    <a:pt x="327070" y="738467"/>
                  </a:lnTo>
                  <a:lnTo>
                    <a:pt x="258268" y="756608"/>
                  </a:lnTo>
                  <a:lnTo>
                    <a:pt x="188761" y="771829"/>
                  </a:lnTo>
                  <a:lnTo>
                    <a:pt x="118674" y="784105"/>
                  </a:lnTo>
                  <a:lnTo>
                    <a:pt x="48131" y="793412"/>
                  </a:lnTo>
                  <a:lnTo>
                    <a:pt x="0" y="357913"/>
                  </a:lnTo>
                  <a:lnTo>
                    <a:pt x="52209" y="351025"/>
                  </a:lnTo>
                  <a:lnTo>
                    <a:pt x="104082" y="341940"/>
                  </a:lnTo>
                  <a:lnTo>
                    <a:pt x="155525" y="330674"/>
                  </a:lnTo>
                  <a:lnTo>
                    <a:pt x="206446" y="317248"/>
                  </a:lnTo>
                  <a:lnTo>
                    <a:pt x="256756" y="301685"/>
                  </a:lnTo>
                  <a:lnTo>
                    <a:pt x="306364" y="284013"/>
                  </a:lnTo>
                  <a:lnTo>
                    <a:pt x="355182" y="264263"/>
                  </a:lnTo>
                  <a:lnTo>
                    <a:pt x="403124" y="242471"/>
                  </a:lnTo>
                  <a:lnTo>
                    <a:pt x="450103" y="218676"/>
                  </a:lnTo>
                  <a:lnTo>
                    <a:pt x="496037" y="192919"/>
                  </a:lnTo>
                  <a:lnTo>
                    <a:pt x="540843" y="165248"/>
                  </a:lnTo>
                  <a:lnTo>
                    <a:pt x="584441" y="135710"/>
                  </a:lnTo>
                  <a:lnTo>
                    <a:pt x="626754" y="104359"/>
                  </a:lnTo>
                  <a:lnTo>
                    <a:pt x="667706" y="71251"/>
                  </a:lnTo>
                  <a:lnTo>
                    <a:pt x="707225" y="36444"/>
                  </a:lnTo>
                  <a:lnTo>
                    <a:pt x="745240" y="0"/>
                  </a:lnTo>
                  <a:close/>
                </a:path>
              </a:pathLst>
            </a:custGeom>
            <a:solidFill>
              <a:srgbClr val="9A731F"/>
            </a:solidFill>
            <a:ln>
              <a:noFill/>
            </a:ln>
          </p:spPr>
        </p:sp>
        <p:sp>
          <p:nvSpPr>
            <p:cNvPr id="11" name="Arc 11"/>
            <p:cNvSpPr/>
            <p:nvPr/>
          </p:nvSpPr>
          <p:spPr>
            <a:xfrm>
              <a:off x="1708293" y="4212393"/>
              <a:ext cx="1053957" cy="712032"/>
            </a:xfrm>
            <a:custGeom>
              <a:avLst/>
              <a:gdLst/>
              <a:ahLst/>
              <a:cxnLst/>
              <a:rect l="l" t="t" r="r" b="b"/>
              <a:pathLst>
                <a:path w="1053957" h="712032">
                  <a:moveTo>
                    <a:pt x="1053957" y="712032"/>
                  </a:moveTo>
                  <a:lnTo>
                    <a:pt x="982819" y="710530"/>
                  </a:lnTo>
                  <a:lnTo>
                    <a:pt x="911808" y="706028"/>
                  </a:lnTo>
                  <a:lnTo>
                    <a:pt x="841050" y="698534"/>
                  </a:lnTo>
                  <a:lnTo>
                    <a:pt x="770671" y="688061"/>
                  </a:lnTo>
                  <a:lnTo>
                    <a:pt x="700797" y="674627"/>
                  </a:lnTo>
                  <a:lnTo>
                    <a:pt x="631551" y="658257"/>
                  </a:lnTo>
                  <a:lnTo>
                    <a:pt x="563059" y="638980"/>
                  </a:lnTo>
                  <a:lnTo>
                    <a:pt x="495440" y="616830"/>
                  </a:lnTo>
                  <a:lnTo>
                    <a:pt x="428817" y="591847"/>
                  </a:lnTo>
                  <a:lnTo>
                    <a:pt x="363306" y="564074"/>
                  </a:lnTo>
                  <a:lnTo>
                    <a:pt x="299027" y="533562"/>
                  </a:lnTo>
                  <a:lnTo>
                    <a:pt x="236092" y="500365"/>
                  </a:lnTo>
                  <a:lnTo>
                    <a:pt x="174613" y="464542"/>
                  </a:lnTo>
                  <a:lnTo>
                    <a:pt x="114701" y="426157"/>
                  </a:lnTo>
                  <a:lnTo>
                    <a:pt x="56462" y="385278"/>
                  </a:lnTo>
                  <a:lnTo>
                    <a:pt x="0" y="341978"/>
                  </a:lnTo>
                  <a:lnTo>
                    <a:pt x="273910" y="0"/>
                  </a:lnTo>
                  <a:lnTo>
                    <a:pt x="315698" y="32047"/>
                  </a:lnTo>
                  <a:lnTo>
                    <a:pt x="358802" y="62302"/>
                  </a:lnTo>
                  <a:lnTo>
                    <a:pt x="403143" y="90711"/>
                  </a:lnTo>
                  <a:lnTo>
                    <a:pt x="448644" y="117225"/>
                  </a:lnTo>
                  <a:lnTo>
                    <a:pt x="495223" y="141794"/>
                  </a:lnTo>
                  <a:lnTo>
                    <a:pt x="542798" y="164376"/>
                  </a:lnTo>
                  <a:lnTo>
                    <a:pt x="591282" y="184931"/>
                  </a:lnTo>
                  <a:lnTo>
                    <a:pt x="640591" y="203422"/>
                  </a:lnTo>
                  <a:lnTo>
                    <a:pt x="690637" y="219815"/>
                  </a:lnTo>
                  <a:lnTo>
                    <a:pt x="741329" y="234083"/>
                  </a:lnTo>
                  <a:lnTo>
                    <a:pt x="792578" y="246198"/>
                  </a:lnTo>
                  <a:lnTo>
                    <a:pt x="844293" y="256141"/>
                  </a:lnTo>
                  <a:lnTo>
                    <a:pt x="896382" y="263892"/>
                  </a:lnTo>
                  <a:lnTo>
                    <a:pt x="948751" y="269438"/>
                  </a:lnTo>
                  <a:lnTo>
                    <a:pt x="1001307" y="272770"/>
                  </a:lnTo>
                  <a:lnTo>
                    <a:pt x="1053957" y="273882"/>
                  </a:lnTo>
                  <a:close/>
                </a:path>
              </a:pathLst>
            </a:custGeom>
            <a:solidFill>
              <a:srgbClr val="B98222"/>
            </a:solidFill>
            <a:ln>
              <a:noFill/>
            </a:ln>
          </p:spPr>
        </p:sp>
        <p:sp>
          <p:nvSpPr>
            <p:cNvPr id="12" name="Arc 12"/>
            <p:cNvSpPr/>
            <p:nvPr/>
          </p:nvSpPr>
          <p:spPr>
            <a:xfrm>
              <a:off x="1086528" y="3375570"/>
              <a:ext cx="793412" cy="1055059"/>
            </a:xfrm>
            <a:custGeom>
              <a:avLst/>
              <a:gdLst/>
              <a:ahLst/>
              <a:cxnLst/>
              <a:rect l="l" t="t" r="r" b="b"/>
              <a:pathLst>
                <a:path w="793412" h="1055059">
                  <a:moveTo>
                    <a:pt x="483593" y="1055059"/>
                  </a:moveTo>
                  <a:lnTo>
                    <a:pt x="434352" y="1003695"/>
                  </a:lnTo>
                  <a:lnTo>
                    <a:pt x="387323" y="950299"/>
                  </a:lnTo>
                  <a:lnTo>
                    <a:pt x="342589" y="894967"/>
                  </a:lnTo>
                  <a:lnTo>
                    <a:pt x="300229" y="837796"/>
                  </a:lnTo>
                  <a:lnTo>
                    <a:pt x="260319" y="778888"/>
                  </a:lnTo>
                  <a:lnTo>
                    <a:pt x="222931" y="718349"/>
                  </a:lnTo>
                  <a:lnTo>
                    <a:pt x="188130" y="656286"/>
                  </a:lnTo>
                  <a:lnTo>
                    <a:pt x="155979" y="592810"/>
                  </a:lnTo>
                  <a:lnTo>
                    <a:pt x="126535" y="528034"/>
                  </a:lnTo>
                  <a:lnTo>
                    <a:pt x="99851" y="462074"/>
                  </a:lnTo>
                  <a:lnTo>
                    <a:pt x="75973" y="395046"/>
                  </a:lnTo>
                  <a:lnTo>
                    <a:pt x="54945" y="327070"/>
                  </a:lnTo>
                  <a:lnTo>
                    <a:pt x="36804" y="258268"/>
                  </a:lnTo>
                  <a:lnTo>
                    <a:pt x="21582" y="188761"/>
                  </a:lnTo>
                  <a:lnTo>
                    <a:pt x="9307" y="118674"/>
                  </a:lnTo>
                  <a:lnTo>
                    <a:pt x="0" y="48131"/>
                  </a:lnTo>
                  <a:lnTo>
                    <a:pt x="435498" y="0"/>
                  </a:lnTo>
                  <a:lnTo>
                    <a:pt x="442387" y="52209"/>
                  </a:lnTo>
                  <a:lnTo>
                    <a:pt x="451472" y="104082"/>
                  </a:lnTo>
                  <a:lnTo>
                    <a:pt x="462737" y="155525"/>
                  </a:lnTo>
                  <a:lnTo>
                    <a:pt x="476164" y="206446"/>
                  </a:lnTo>
                  <a:lnTo>
                    <a:pt x="491727" y="256756"/>
                  </a:lnTo>
                  <a:lnTo>
                    <a:pt x="509399" y="306364"/>
                  </a:lnTo>
                  <a:lnTo>
                    <a:pt x="529149" y="355182"/>
                  </a:lnTo>
                  <a:lnTo>
                    <a:pt x="550940" y="403124"/>
                  </a:lnTo>
                  <a:lnTo>
                    <a:pt x="574736" y="450103"/>
                  </a:lnTo>
                  <a:lnTo>
                    <a:pt x="600492" y="496037"/>
                  </a:lnTo>
                  <a:lnTo>
                    <a:pt x="628164" y="540843"/>
                  </a:lnTo>
                  <a:lnTo>
                    <a:pt x="657702" y="584441"/>
                  </a:lnTo>
                  <a:lnTo>
                    <a:pt x="689053" y="626754"/>
                  </a:lnTo>
                  <a:lnTo>
                    <a:pt x="722161" y="667706"/>
                  </a:lnTo>
                  <a:lnTo>
                    <a:pt x="756968" y="707225"/>
                  </a:lnTo>
                  <a:lnTo>
                    <a:pt x="793412" y="745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65958" y="2608898"/>
              <a:ext cx="119258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09622" y="3346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正式案例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64991" y="4959668"/>
              <a:ext cx="2594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A–H 每分支 60 条 · 等量覆盖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38850" y="1428750"/>
            <a:ext cx="5619750" cy="2266950"/>
            <a:chOff x="6038850" y="1428750"/>
            <a:chExt cx="5619750" cy="2266950"/>
          </a:xfrm>
        </p:grpSpPr>
        <p:sp>
          <p:nvSpPr>
            <p:cNvPr id="17" name="Rectangle 17"/>
            <p:cNvSpPr/>
            <p:nvPr/>
          </p:nvSpPr>
          <p:spPr>
            <a:xfrm>
              <a:off x="6038850" y="1428750"/>
              <a:ext cx="5619750" cy="2266950"/>
            </a:xfrm>
            <a:prstGeom prst="roundRect">
              <a:avLst>
                <a:gd name="adj" fmla="val 1008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96406" y="16535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数据集划分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305550" y="2171700"/>
              <a:ext cx="1257300" cy="7429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387" y="22145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31254" y="2594610"/>
              <a:ext cx="80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DEV · 25%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34300" y="2171700"/>
              <a:ext cx="1257300" cy="742950"/>
            </a:xfrm>
            <a:prstGeom prst="roundRect">
              <a:avLst>
                <a:gd name="adj" fmla="val 2307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89137" y="22145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0004" y="2594610"/>
              <a:ext cx="80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VAL · 25%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63050" y="2171700"/>
              <a:ext cx="2228850" cy="7429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003662" y="22145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27590" y="2594610"/>
              <a:ext cx="8997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TEST · 50%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98692" y="3188018"/>
              <a:ext cx="4612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三条可执行路线用于工程回归；A–H 用于目标架构评估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38850" y="3924300"/>
            <a:ext cx="5619750" cy="1333500"/>
            <a:chOff x="6038850" y="3924300"/>
            <a:chExt cx="5619750" cy="1333500"/>
          </a:xfrm>
        </p:grpSpPr>
        <p:sp>
          <p:nvSpPr>
            <p:cNvPr id="30" name="Rectangle 30"/>
            <p:cNvSpPr/>
            <p:nvPr/>
          </p:nvSpPr>
          <p:spPr>
            <a:xfrm>
              <a:off x="6038850" y="3924300"/>
              <a:ext cx="5619750" cy="1333500"/>
            </a:xfrm>
            <a:prstGeom prst="roundRect">
              <a:avLst>
                <a:gd name="adj" fmla="val 171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97930" y="41433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专家深金标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07096" y="40300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98692" y="4578668"/>
              <a:ext cx="4514278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专家模式 240 / 智能模式 240　·　10 个领域各 48 条每分支 45 标准 + 15 压力　·　跨分支 / 冲突 / 噪声 / 注入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19150" y="5619750"/>
            <a:ext cx="10553700" cy="704850"/>
            <a:chOff x="819150" y="5619750"/>
            <a:chExt cx="10553700" cy="704850"/>
          </a:xfrm>
        </p:grpSpPr>
        <p:sp>
          <p:nvSpPr>
            <p:cNvPr id="35" name="Rectangle 35"/>
            <p:cNvSpPr/>
            <p:nvPr/>
          </p:nvSpPr>
          <p:spPr>
            <a:xfrm>
              <a:off x="819150" y="5619750"/>
              <a:ext cx="10553700" cy="704850"/>
            </a:xfrm>
            <a:prstGeom prst="roundRect">
              <a:avLst>
                <a:gd name="adj" fmla="val 29730"/>
              </a:avLst>
            </a:prstGeom>
            <a:solidFill>
              <a:srgbClr val="E9F6F1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91691" y="5836444"/>
              <a:ext cx="294509" cy="271462"/>
              <a:chOff x="1091691" y="5836444"/>
              <a:chExt cx="294509" cy="27146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091691" y="5836444"/>
                <a:ext cx="294509" cy="269139"/>
              </a:xfrm>
              <a:custGeom>
                <a:avLst/>
                <a:gdLst/>
                <a:ahLst/>
                <a:cxnLst/>
                <a:rect l="l" t="t" r="r" b="b"/>
                <a:pathLst>
                  <a:path w="294509" h="269139">
                    <a:moveTo>
                      <a:pt x="147940" y="269139"/>
                    </a:moveTo>
                    <a:cubicBezTo>
                      <a:pt x="53463" y="239854"/>
                      <a:pt x="0" y="140141"/>
                      <a:pt x="27893" y="45244"/>
                    </a:cubicBezTo>
                    <a:cubicBezTo>
                      <a:pt x="74879" y="47394"/>
                      <a:pt x="120857" y="31166"/>
                      <a:pt x="156084" y="0"/>
                    </a:cubicBezTo>
                    <a:cubicBezTo>
                      <a:pt x="191311" y="31166"/>
                      <a:pt x="237288" y="47394"/>
                      <a:pt x="284274" y="45244"/>
                    </a:cubicBezTo>
                    <a:cubicBezTo>
                      <a:pt x="294509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293018" y="60475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649730" y="5743575"/>
              <a:ext cx="2930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防泄漏检查 72,000 对，违规 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51254" y="6042660"/>
              <a:ext cx="3334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Jaccard 阈值 0.86 · 最高近邻相似度 0.8191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09600"/>
            <a:chOff x="533400" y="5810250"/>
            <a:chExt cx="110490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0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667750" y="-1828800"/>
            <a:ext cx="4381500" cy="4381500"/>
          </a:xfrm>
          <a:prstGeom prst="ellipse">
            <a:avLst/>
          </a:prstGeom>
          <a:solidFill>
            <a:schemeClr val="accent3">
              <a:alpha val="22000"/>
            </a:scheme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19684" y="361950"/>
            <a:ext cx="11138916" cy="1194625"/>
            <a:chOff x="519684" y="361950"/>
            <a:chExt cx="11138916" cy="1194625"/>
          </a:xfrm>
        </p:grpSpPr>
        <p:sp>
          <p:nvSpPr>
            <p:cNvPr id="5" name="TextBox 5"/>
            <p:cNvSpPr txBox="1"/>
            <p:nvPr/>
          </p:nvSpPr>
          <p:spPr>
            <a:xfrm>
              <a:off x="519684" y="394335"/>
              <a:ext cx="4744022" cy="928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下一阶段从“功能闭环”走向：专业能力资产化与可验证运行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810750" y="361950"/>
              <a:ext cx="1847850" cy="3238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FFFFFF">
                  <a:alpha val="28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78898" y="451485"/>
              <a:ext cx="1311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CODEX 架构对照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5592" y="1292542"/>
              <a:ext cx="6293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已落地：三路线 · A–H 元编排 · 专用 Agent · S1–S6 · 循环门控 · 能力画像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676400"/>
            <a:ext cx="3390900" cy="3752850"/>
            <a:chOff x="533400" y="1676400"/>
            <a:chExt cx="3390900" cy="3752850"/>
          </a:xfrm>
        </p:grpSpPr>
        <p:sp>
          <p:nvSpPr>
            <p:cNvPr id="10" name="Rectangle 10"/>
            <p:cNvSpPr/>
            <p:nvPr/>
          </p:nvSpPr>
          <p:spPr>
            <a:xfrm>
              <a:off x="5334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" y="1676400"/>
              <a:ext cx="33909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59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915954"/>
              <a:ext cx="1802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专业知识底座实装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422650" y="1914525"/>
              <a:ext cx="203199" cy="228600"/>
              <a:chOff x="3422650" y="1914525"/>
              <a:chExt cx="203199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422650" y="1914525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22650" y="19526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422650" y="20288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56666" y="2248852"/>
              <a:ext cx="272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架构目标：知识操作层由“契约”走向“实装”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6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542" y="2816542"/>
              <a:ext cx="281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Knowledge Pack → 业务知识资产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3517106"/>
              <a:ext cx="2777998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接入装备、条令、案例与前沿技术数据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型号 / 批次 / 参数 / 接口 / 时间版本建模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冲突保留、权限分域、变更追溯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rgbClr val="FFF7E8"/>
            </a:solidFill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0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685" y="4917281"/>
              <a:ext cx="2591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跨任务可检索 · 可复用 · 可版本对比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9066" y="51158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专家可维护术语、规则与实体关系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14800" y="1676400"/>
            <a:ext cx="3390900" cy="3752850"/>
            <a:chOff x="4114800" y="1676400"/>
            <a:chExt cx="3390900" cy="3752850"/>
          </a:xfrm>
        </p:grpSpPr>
        <p:sp>
          <p:nvSpPr>
            <p:cNvPr id="30" name="Rectangle 30"/>
            <p:cNvSpPr/>
            <p:nvPr/>
          </p:nvSpPr>
          <p:spPr>
            <a:xfrm>
              <a:off x="41148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14800" y="1676400"/>
              <a:ext cx="33909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434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673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068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推演仿真与需求验证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991350" y="1927225"/>
              <a:ext cx="228599" cy="203199"/>
            </a:xfrm>
            <a:custGeom>
              <a:avLst/>
              <a:gdLst/>
              <a:ahLst/>
              <a:cxnLst/>
              <a:rect l="l" t="t" r="r" b="b"/>
              <a:pathLst>
                <a:path w="228599" h="203199">
                  <a:moveTo>
                    <a:pt x="0" y="101600"/>
                  </a:moveTo>
                  <a:lnTo>
                    <a:pt x="50800" y="101600"/>
                  </a:lnTo>
                  <a:lnTo>
                    <a:pt x="88900" y="203199"/>
                  </a:lnTo>
                  <a:lnTo>
                    <a:pt x="139700" y="0"/>
                  </a:lnTo>
                  <a:lnTo>
                    <a:pt x="177800" y="101600"/>
                  </a:lnTo>
                  <a:lnTo>
                    <a:pt x="228599" y="1016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38066" y="224885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架构目标：体系仿真、效果链与蒙特卡洛推演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434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910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7418" y="2784158"/>
              <a:ext cx="2384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定性研判 → 参数化验证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373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37685" y="3517106"/>
              <a:ext cx="2415286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场景、红蓝体系依赖与任务链参数化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效果链 / Monte Carlo / 敏感性分析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失效注入、半实物联试与演训校准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3434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904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90085" y="4917281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每项重点需求形成可复核验证卡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90466" y="5115878"/>
              <a:ext cx="2498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假设 → 指标 → 仿真 → 结论 → 优先级调整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96200" y="1676400"/>
            <a:ext cx="3962400" cy="3752850"/>
            <a:chOff x="7696200" y="1676400"/>
            <a:chExt cx="3962400" cy="3752850"/>
          </a:xfrm>
        </p:grpSpPr>
        <p:sp>
          <p:nvSpPr>
            <p:cNvPr id="47" name="Rectangle 47"/>
            <p:cNvSpPr/>
            <p:nvPr/>
          </p:nvSpPr>
          <p:spPr>
            <a:xfrm>
              <a:off x="7696200" y="1676400"/>
              <a:ext cx="3962400" cy="3752850"/>
            </a:xfrm>
            <a:prstGeom prst="roundRect">
              <a:avLst>
                <a:gd name="adj" fmla="val 6091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96200" y="1676400"/>
              <a:ext cx="3962400" cy="7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248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87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82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持续研判与专家运营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1182350" y="1965325"/>
              <a:ext cx="228599" cy="127000"/>
              <a:chOff x="11182350" y="1965325"/>
              <a:chExt cx="228599" cy="1270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195050" y="1978025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322050" y="20415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58550" y="19780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182350" y="20669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385549" y="19653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919466" y="22488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架构目标：态势、对手、技术持续扫描与循环发现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24800" y="2476500"/>
              <a:ext cx="3505200" cy="628650"/>
            </a:xfrm>
            <a:prstGeom prst="roundRect">
              <a:avLst>
                <a:gd name="adj" fmla="val 24242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724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8818" y="2784158"/>
              <a:ext cx="2617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单次研究 → 持续能力运营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187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19085" y="3517106"/>
              <a:ext cx="2408174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主题订阅、变化基线与预警触发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增量检索、差异重跑、结论版本管理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专家批注 / 裁决 / 立项 / 回退闭环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24800" y="4610100"/>
              <a:ext cx="3505200" cy="647700"/>
            </a:xfrm>
            <a:prstGeom prst="roundRect">
              <a:avLst>
                <a:gd name="adj" fmla="val 23529"/>
              </a:avLst>
            </a:prstGeom>
            <a:solidFill>
              <a:srgbClr val="E9F6F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718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71485" y="4917281"/>
              <a:ext cx="262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变化自动触发相关 Agent 与需求复核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71866" y="511587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形成月度态势、专题预警、能力组合路线图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33400" y="5619750"/>
            <a:ext cx="11125200" cy="723900"/>
            <a:chOff x="533400" y="5619750"/>
            <a:chExt cx="11125200" cy="723900"/>
          </a:xfrm>
        </p:grpSpPr>
        <p:sp>
          <p:nvSpPr>
            <p:cNvPr id="69" name="Rectangle 69"/>
            <p:cNvSpPr/>
            <p:nvPr/>
          </p:nvSpPr>
          <p:spPr>
            <a:xfrm>
              <a:off x="533400" y="5619750"/>
              <a:ext cx="11125200" cy="723900"/>
            </a:xfrm>
            <a:prstGeom prst="roundRect">
              <a:avLst>
                <a:gd name="adj" fmla="val 31579"/>
              </a:avLst>
            </a:prstGeom>
            <a:solidFill>
              <a:srgbClr val="FFFFFF">
                <a:alpha val="13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92076" y="5855246"/>
              <a:ext cx="258224" cy="258246"/>
              <a:chOff x="792076" y="5855246"/>
              <a:chExt cx="258224" cy="25824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10432" y="596820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6456" y="5914231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67469" y="0"/>
                    </a:moveTo>
                    <a:cubicBezTo>
                      <a:pt x="30207" y="0"/>
                      <a:pt x="0" y="30207"/>
                      <a:pt x="0" y="67469"/>
                    </a:cubicBez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92076" y="5855246"/>
                <a:ext cx="258224" cy="258246"/>
              </a:xfrm>
              <a:custGeom>
                <a:avLst/>
                <a:gdLst/>
                <a:ahLst/>
                <a:cxnLst/>
                <a:rect l="l" t="t" r="r" b="b"/>
                <a:pathLst>
                  <a:path w="258224" h="258246">
                    <a:moveTo>
                      <a:pt x="145343" y="5752"/>
                    </a:moveTo>
                    <a:cubicBezTo>
                      <a:pt x="94071" y="0"/>
                      <a:pt x="44761" y="27272"/>
                      <a:pt x="22381" y="73759"/>
                    </a:cubicBezTo>
                    <a:cubicBezTo>
                      <a:pt x="0" y="120246"/>
                      <a:pt x="9435" y="175800"/>
                      <a:pt x="45908" y="212291"/>
                    </a:cubicBezTo>
                    <a:cubicBezTo>
                      <a:pt x="82382" y="248783"/>
                      <a:pt x="137930" y="258246"/>
                      <a:pt x="184429" y="235889"/>
                    </a:cubicBezTo>
                    <a:cubicBezTo>
                      <a:pt x="230927" y="213532"/>
                      <a:pt x="258224" y="164235"/>
                      <a:pt x="252498" y="112960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64407" y="5860256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lnTo>
                      <a:pt x="0" y="80963"/>
                    </a:lnTo>
                    <a:lnTo>
                      <a:pt x="40481" y="80963"/>
                    </a:lnTo>
                    <a:lnTo>
                      <a:pt x="80963" y="40481"/>
                    </a:lnTo>
                    <a:lnTo>
                      <a:pt x="40481" y="40481"/>
                    </a:lnTo>
                    <a:lnTo>
                      <a:pt x="40481" y="0"/>
                    </a:ln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23925" y="594121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51966" y="57635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建议本轮共同确认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49680" y="5991225"/>
              <a:ext cx="6715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首批知识库范围 · 首个仿真场景 · 监测主题 · 专家治理 · 消融验证矩阵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28638" y="6532245"/>
            <a:ext cx="5670608" cy="176212"/>
            <a:chOff x="528638" y="6532245"/>
            <a:chExt cx="5670608" cy="176212"/>
          </a:xfrm>
        </p:grpSpPr>
        <p:sp>
          <p:nvSpPr>
            <p:cNvPr id="79" name="TextBox 79"/>
            <p:cNvSpPr txBox="1"/>
            <p:nvPr/>
          </p:nvSpPr>
          <p:spPr>
            <a:xfrm>
              <a:off x="528638" y="6532245"/>
              <a:ext cx="56706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依据：架构设计文档核心模块与 Skill 要求 · 已落地代码及企业验收对照 · Benchmark 作为横向验证机制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151683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2026-07-23T02:59:21Z</dcterms:created>
  <dcterms:modified xsi:type="dcterms:W3CDTF">2026-07-23T02:59:21Z</dcterms:modified>
  <cp:category/>
  <cp:contentStatus/>
</cp:coreProperties>
</file>