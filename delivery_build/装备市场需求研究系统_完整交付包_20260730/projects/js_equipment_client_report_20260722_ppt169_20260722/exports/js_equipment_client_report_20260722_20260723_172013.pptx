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这一页用真实前端展示架构执行总览。顶部六个状态块对应任务理解、多源基线研究、发现结果收敛、S 一到 S 六专用 Agent、独立审计和报告交付；中部完整列出六个专用 Agent 及其本轮结果，下部展示 L 一到 L 四步骤门控、因果复核、残差回溯和元循环的执行次数与最近状态。页面最下方还展示本次由主控 Agent 根据 A 到 H 分支和当前输入动态选取的业务 Agent，因此从发现蓝图到专用推理、循环治理和业务协作的执行状态都能够被查看和回放。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Query，最终数量以专家终审为准。评测采用同题匿名 A/B Pairwise 盲评：Judge 不推测系统身份，先独立识别 A 到 H 或 OTHER 主路径并检查该路径规定产物，再从任务完成、证据事实、机理深度、军事价值、能力映射、前瞻性、跨场景稳健性、不确定性与验证、沟通效率九个维度比较两个回答。前五项核心维度各占百分之十五，总体胜者不按篇幅、术语密度或维度票数机械决定；只有核心质量实质相当才判平局。总体或路径置信度低于零点六五、引用需要核验、双方在不同核心维度各有明显优势或疑似严重失败时，结果自动进入人工仲裁，并以结构化 JSON 留存胜者、置信度、缺项、引用问题和仲裁原因。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下一阶段重点集中在三件事。第一，继续优化智能体设计和协作编排，细化主控、专用 Agent、业务 Agent 与 S1 到 S6 的职责边界，完善动态路由、并行协同、回溯再调和输入输出契约。第二，进一步梳理和完善端到端业务执行流程，让任务入口、三路线、A 到 H 分支、六步推理、证据门控、人工复核和成果交付保持一致，并补齐异常处理与状态回放。第三，持续完善 Benchmark 测试，扩充专家标注 Query，优化匿名 Pairwise 盲评和人工仲裁，同时增加主控编排、专用 Agent、S1 到 S6、证据门控、Recall 与工具链等模块的消融实验，量化各模块的实际贡献。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a44f57cd037ad2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158" y="407670"/>
            <a:ext cx="10994928" cy="710755"/>
            <a:chOff x="502158" y="407670"/>
            <a:chExt cx="10994928" cy="710755"/>
          </a:xfrm>
        </p:grpSpPr>
        <p:sp>
          <p:nvSpPr>
            <p:cNvPr id="2" name="TextBox 2"/>
            <p:cNvSpPr txBox="1"/>
            <p:nvPr/>
          </p:nvSpPr>
          <p:spPr>
            <a:xfrm>
              <a:off x="502158" y="407670"/>
              <a:ext cx="109949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架构执行总览将 A–H 蓝图、S1–S6 Agent 与四层循环完整展开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683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真实前端集中呈现发现蓝图、专用 Agent、循环门控状态与动态参与的业务 Agent。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33725" y="1371600"/>
            <a:ext cx="5924550" cy="5029200"/>
            <a:chOff x="3133725" y="1371600"/>
            <a:chExt cx="5924550" cy="5029200"/>
          </a:xfrm>
        </p:grpSpPr>
        <p:sp>
          <p:nvSpPr>
            <p:cNvPr id="5" name="Rectangle 5"/>
            <p:cNvSpPr/>
            <p:nvPr/>
          </p:nvSpPr>
          <p:spPr>
            <a:xfrm>
              <a:off x="3133725" y="1371600"/>
              <a:ext cx="592455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825" y="1409700"/>
              <a:ext cx="5848350" cy="4953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66700" y="1543050"/>
            <a:ext cx="4286250" cy="857250"/>
            <a:chOff x="266700" y="1543050"/>
            <a:chExt cx="4286250" cy="857250"/>
          </a:xfrm>
        </p:grpSpPr>
        <p:sp>
          <p:nvSpPr>
            <p:cNvPr id="8" name="Rectangle 8"/>
            <p:cNvSpPr/>
            <p:nvPr/>
          </p:nvSpPr>
          <p:spPr>
            <a:xfrm>
              <a:off x="266700" y="15430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9575" y="16859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536" y="1791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672114"/>
              <a:ext cx="1150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A–H 发现蓝图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1946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6"/>
                  </a:solidFill>
                  <a:latin typeface="+mn-lt"/>
                  <a:ea typeface="+mn-ea"/>
                  <a:cs typeface="+mn-cs"/>
                </a:rPr>
                <a:t>六阶段执行状态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38450" y="1885950"/>
              <a:ext cx="1638300" cy="85725"/>
            </a:xfrm>
            <a:custGeom>
              <a:avLst/>
              <a:gdLst/>
              <a:ahLst/>
              <a:cxnLst/>
              <a:rect l="l" t="t" r="r" b="b"/>
              <a:pathLst>
                <a:path w="1638300" h="85725">
                  <a:moveTo>
                    <a:pt x="0" y="85725"/>
                  </a:moveTo>
                  <a:cubicBezTo>
                    <a:pt x="171450" y="85725"/>
                    <a:pt x="190500" y="0"/>
                    <a:pt x="333375" y="0"/>
                  </a:cubicBezTo>
                  <a:lnTo>
                    <a:pt x="1638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4" name="Ellipse 14"/>
            <p:cNvSpPr/>
            <p:nvPr/>
          </p:nvSpPr>
          <p:spPr>
            <a:xfrm>
              <a:off x="4400550" y="18097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48175" y="18573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829550" y="2457450"/>
            <a:ext cx="4095750" cy="857250"/>
            <a:chOff x="7829550" y="2457450"/>
            <a:chExt cx="4095750" cy="857250"/>
          </a:xfrm>
        </p:grpSpPr>
        <p:sp>
          <p:nvSpPr>
            <p:cNvPr id="17" name="Rectangle 17"/>
            <p:cNvSpPr/>
            <p:nvPr/>
          </p:nvSpPr>
          <p:spPr>
            <a:xfrm>
              <a:off x="9353550" y="24574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496425" y="26003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138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8573" y="2586514"/>
              <a:ext cx="151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专用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8954" y="28613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6 / 6 已完成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05750" y="27813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1447800" y="104775"/>
                  </a:moveTo>
                  <a:cubicBezTo>
                    <a:pt x="1295400" y="10477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7829550" y="2705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77175" y="27527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4305300"/>
            <a:ext cx="4286250" cy="857250"/>
            <a:chOff x="266700" y="4305300"/>
            <a:chExt cx="4286250" cy="857250"/>
          </a:xfrm>
        </p:grpSpPr>
        <p:sp>
          <p:nvSpPr>
            <p:cNvPr id="26" name="Rectangle 26"/>
            <p:cNvSpPr/>
            <p:nvPr/>
          </p:nvSpPr>
          <p:spPr>
            <a:xfrm>
              <a:off x="266700" y="430530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3D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9575" y="44481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536" y="4553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4434364"/>
              <a:ext cx="1360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L1–L4 循环门控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709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次数与最近状态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838450" y="4733925"/>
              <a:ext cx="1638300" cy="28575"/>
            </a:xfrm>
            <a:custGeom>
              <a:avLst/>
              <a:gdLst/>
              <a:ahLst/>
              <a:cxnLst/>
              <a:rect l="l" t="t" r="r" b="b"/>
              <a:pathLst>
                <a:path w="1638300" h="28575">
                  <a:moveTo>
                    <a:pt x="0" y="0"/>
                  </a:moveTo>
                  <a:cubicBezTo>
                    <a:pt x="171450" y="0"/>
                    <a:pt x="190500" y="28575"/>
                    <a:pt x="333375" y="28575"/>
                  </a:cubicBezTo>
                  <a:lnTo>
                    <a:pt x="1638300" y="285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4400550" y="4686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48175" y="4733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829550" y="5429250"/>
            <a:ext cx="4095750" cy="857250"/>
            <a:chOff x="7829550" y="5429250"/>
            <a:chExt cx="4095750" cy="857250"/>
          </a:xfrm>
        </p:grpSpPr>
        <p:sp>
          <p:nvSpPr>
            <p:cNvPr id="35" name="Rectangle 35"/>
            <p:cNvSpPr/>
            <p:nvPr/>
          </p:nvSpPr>
          <p:spPr>
            <a:xfrm>
              <a:off x="9353550" y="54292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496425" y="5572125"/>
              <a:ext cx="323850" cy="3238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138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8573" y="5558314"/>
              <a:ext cx="1302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参与业务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954" y="5833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主控动态编排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905750" y="5810250"/>
              <a:ext cx="1447800" cy="47625"/>
            </a:xfrm>
            <a:custGeom>
              <a:avLst/>
              <a:gdLst/>
              <a:ahLst/>
              <a:cxnLst/>
              <a:rect l="l" t="t" r="r" b="b"/>
              <a:pathLst>
                <a:path w="1447800" h="47625">
                  <a:moveTo>
                    <a:pt x="1447800" y="47625"/>
                  </a:moveTo>
                  <a:cubicBezTo>
                    <a:pt x="1295400" y="4762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6"/>
              </a:solidFill>
              <a:round/>
            </a:ln>
          </p:spPr>
        </p:sp>
        <p:sp>
          <p:nvSpPr>
            <p:cNvPr id="41" name="Ellipse 41"/>
            <p:cNvSpPr/>
            <p:nvPr/>
          </p:nvSpPr>
          <p:spPr>
            <a:xfrm>
              <a:off x="782955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77175" y="57816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1208" y="426720"/>
            <a:ext cx="10704584" cy="720281"/>
            <a:chOff x="521208" y="426720"/>
            <a:chExt cx="10704584" cy="720281"/>
          </a:xfrm>
        </p:grpSpPr>
        <p:sp>
          <p:nvSpPr>
            <p:cNvPr id="2" name="TextBox 2"/>
            <p:cNvSpPr txBox="1"/>
            <p:nvPr/>
          </p:nvSpPr>
          <p:spPr>
            <a:xfrm>
              <a:off x="521208" y="426720"/>
              <a:ext cx="10704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Benchmark：约 100 条专家标注 Query 采用 Pairwise 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7785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条作为候选池；正式集先覆盖研究路径，再对同一 Query 的匿名 A/B 回答进行九维比较。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64628" y="3220402"/>
              <a:ext cx="1920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同题匿名 A/B Pairwise 盲评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6836" y="1352550"/>
            <a:ext cx="3411764" cy="2209800"/>
            <a:chOff x="8246836" y="1352550"/>
            <a:chExt cx="3411764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46836" y="1613535"/>
              <a:ext cx="1813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/ OTHER 路径覆盖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42450" y="3242310"/>
              <a:ext cx="242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Judge 先判主路径，再比较回答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01929"/>
              <a:ext cx="3570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Pairwise 对比方法｜匿名 A/B 盲评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43520" y="44586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识别主路径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447092" y="46653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A–H / OTHER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20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6009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702810" y="44586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检查规定产物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12513" y="4665345"/>
              <a:ext cx="1081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complete / partial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542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934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003266" y="4458652"/>
              <a:ext cx="967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九维 Pairwise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84775" y="4665345"/>
              <a:ext cx="604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A / B / tie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087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10267950" y="4362450"/>
              <a:ext cx="1123950" cy="495300"/>
            </a:xfrm>
            <a:prstGeom prst="roundRect">
              <a:avLst>
                <a:gd name="adj" fmla="val 2692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527754" y="445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452602" y="46653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F6F1"/>
                  </a:solidFill>
                  <a:latin typeface="+mn-lt"/>
                  <a:ea typeface="+mn-ea"/>
                  <a:cs typeface="+mn-cs"/>
                </a:rPr>
                <a:t>置信度 + 仲裁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261354" y="50139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五项核心维度各 15%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900416" y="5030152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任务完成 · 证据事实 · 机理深度 · 军事价值 · 能力映射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62116" y="5315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不按篇幅、术语密度、标题数量或引用数量加分；核心质量实质相当才判 tie</a:t>
              </a:r>
            </a:p>
          </p:txBody>
        </p:sp>
        <p:sp>
          <p:nvSpPr>
            <p:cNvPr id="122" name="Line 122"/>
            <p:cNvSpPr/>
            <p:nvPr/>
          </p:nvSpPr>
          <p:spPr>
            <a:xfrm>
              <a:off x="626745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67450" y="5695950"/>
              <a:ext cx="5124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058160" y="5773102"/>
              <a:ext cx="354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置信度 &lt; 0.65 · 引用待核 · 核心优势分化 → 人工仲裁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6" name="Rectangle 126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1924050"/>
            <a:ext cx="4191000" cy="4191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9684" y="451485"/>
            <a:ext cx="9708802" cy="813435"/>
            <a:chOff x="519684" y="451485"/>
            <a:chExt cx="9708802" cy="81343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451485"/>
              <a:ext cx="9708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下一阶段重点：智能体编排、业务流程与 Benchmark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830" y="9715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在现有功能闭环基础上，集中做好三项持续优化，不扩散新的建设主题。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619250"/>
            <a:ext cx="3429000" cy="3676650"/>
            <a:chOff x="533400" y="1619250"/>
            <a:chExt cx="3429000" cy="3676650"/>
          </a:xfrm>
        </p:grpSpPr>
        <p:sp>
          <p:nvSpPr>
            <p:cNvPr id="8" name="Rectangle 8"/>
            <p:cNvSpPr/>
            <p:nvPr/>
          </p:nvSpPr>
          <p:spPr>
            <a:xfrm>
              <a:off x="5334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619250"/>
              <a:ext cx="3429000" cy="8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42950" y="18669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63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355975" y="1917700"/>
              <a:ext cx="222250" cy="301625"/>
              <a:chOff x="3355975" y="1917700"/>
              <a:chExt cx="222250" cy="3016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371850" y="19494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467100" y="19177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41947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51472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5597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1472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419475" y="21717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4353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988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290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智能体设计与编排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104" y="2880360"/>
              <a:ext cx="284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优化 Agent 职责、协作关系与动态调度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细化主控、专用与业务 Agent 边界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优化分支选择、并行协同与动态路由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完善回溯再调和输入输出契约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81500" y="1619250"/>
            <a:ext cx="3429000" cy="3676650"/>
            <a:chOff x="4381500" y="1619250"/>
            <a:chExt cx="3429000" cy="3676650"/>
          </a:xfrm>
        </p:grpSpPr>
        <p:sp>
          <p:nvSpPr>
            <p:cNvPr id="27" name="Rectangle 27"/>
            <p:cNvSpPr/>
            <p:nvPr/>
          </p:nvSpPr>
          <p:spPr>
            <a:xfrm>
              <a:off x="43815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619250"/>
              <a:ext cx="3429000" cy="857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91050" y="18669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144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172325" y="1933575"/>
              <a:ext cx="285751" cy="285751"/>
              <a:chOff x="7172325" y="1933575"/>
              <a:chExt cx="285751" cy="28575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72325" y="21558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94576" y="1933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83450" y="196532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771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业务执行流程完善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80204" y="28803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让前端展示、后台执行与业务规则一致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6863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794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梳理任务入口到成果交付的全流程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补齐异常处理、人工介入与结果复核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完善状态回放与关键节点可追溯性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29600" y="1619250"/>
            <a:ext cx="3429000" cy="3676650"/>
            <a:chOff x="8229600" y="1619250"/>
            <a:chExt cx="3429000" cy="3676650"/>
          </a:xfrm>
        </p:grpSpPr>
        <p:sp>
          <p:nvSpPr>
            <p:cNvPr id="40" name="Rectangle 40"/>
            <p:cNvSpPr/>
            <p:nvPr/>
          </p:nvSpPr>
          <p:spPr>
            <a:xfrm>
              <a:off x="82296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29600" y="1619250"/>
              <a:ext cx="3429000" cy="85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439150" y="186690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1020425" y="1949450"/>
              <a:ext cx="285750" cy="263526"/>
              <a:chOff x="11020425" y="1949450"/>
              <a:chExt cx="285750" cy="2635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20425" y="20764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210925" y="20129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115675" y="194945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36300" y="220345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525256" y="2453640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Benchmark 与消融实验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28304" y="2880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用对比实验量化各模块的真实贡献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5344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27542" y="3492818"/>
              <a:ext cx="30998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扩充专家标注 Deep Research Query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 Pairwise 盲评与人工仲裁机制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 Agent、门控、Recall 等消融实验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5600700"/>
            <a:ext cx="11125200" cy="786384"/>
            <a:chOff x="533400" y="5600700"/>
            <a:chExt cx="11125200" cy="786384"/>
          </a:xfrm>
        </p:grpSpPr>
        <p:sp>
          <p:nvSpPr>
            <p:cNvPr id="54" name="Rectangle 54"/>
            <p:cNvSpPr/>
            <p:nvPr/>
          </p:nvSpPr>
          <p:spPr>
            <a:xfrm>
              <a:off x="533400" y="5600700"/>
              <a:ext cx="11125200" cy="781050"/>
            </a:xfrm>
            <a:prstGeom prst="roundRect">
              <a:avLst>
                <a:gd name="adj" fmla="val 31707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81040" y="58045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下一阶段目标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95510" y="6035040"/>
              <a:ext cx="620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可配置智能体编排 · 可复核业务流程 · 可量化评测体系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1683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2026-07-23T09:20:14Z</dcterms:created>
  <dcterms:modified xsi:type="dcterms:W3CDTF">2026-07-23T09:20:14Z</dcterms:modified>
  <cp:category/>
  <cp:contentStatus/>
</cp:coreProperties>
</file>