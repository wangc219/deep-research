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201fe9597d46d0" /><Relationship Type="http://schemas.openxmlformats.org/officeDocument/2006/relationships/extended-properties" Target="/docProps/app.xml" Id="R44f6398814064999" /><Relationship Type="http://schemas.openxmlformats.org/officeDocument/2006/relationships/officeDocument" Target="/ppt/presentation.xml" Id="R9e66009c69164b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8a5332e52c4262"/>
  </p:sldMasterIdLst>
  <p:notesMasterIdLst>
    <p:notesMasterId xmlns:r="http://schemas.openxmlformats.org/officeDocument/2006/relationships" r:id="R378d9e0acc834927"/>
  </p:notesMasterIdLst>
  <p:sldIdLst>
    <p:sldId xmlns:r="http://schemas.openxmlformats.org/officeDocument/2006/relationships" id="256" r:id="Reddfe209a5f74376"/>
    <p:sldId xmlns:r="http://schemas.openxmlformats.org/officeDocument/2006/relationships" id="257" r:id="R87835e2bf21b4c0f"/>
    <p:sldId xmlns:r="http://schemas.openxmlformats.org/officeDocument/2006/relationships" id="258" r:id="Rfc6288f22de547e4"/>
    <p:sldId xmlns:r="http://schemas.openxmlformats.org/officeDocument/2006/relationships" id="259" r:id="R833984bc31604517"/>
    <p:sldId xmlns:r="http://schemas.openxmlformats.org/officeDocument/2006/relationships" id="260" r:id="R8ac4158b860949cb"/>
    <p:sldId xmlns:r="http://schemas.openxmlformats.org/officeDocument/2006/relationships" id="261" r:id="Rfe168d41a6c54bca"/>
    <p:sldId xmlns:r="http://schemas.openxmlformats.org/officeDocument/2006/relationships" id="262" r:id="Rc93b31d4919940fe"/>
    <p:sldId xmlns:r="http://schemas.openxmlformats.org/officeDocument/2006/relationships" id="263" r:id="Rdf55684031524897"/>
    <p:sldId xmlns:r="http://schemas.openxmlformats.org/officeDocument/2006/relationships" id="264" r:id="R7d6fe6d7691648c1"/>
    <p:sldId xmlns:r="http://schemas.openxmlformats.org/officeDocument/2006/relationships" id="265" r:id="Rb49cafd7c5294a0f"/>
    <p:sldId xmlns:r="http://schemas.openxmlformats.org/officeDocument/2006/relationships" id="266" r:id="R7b65b1c2ef144769"/>
    <p:sldId xmlns:r="http://schemas.openxmlformats.org/officeDocument/2006/relationships" id="267" r:id="R0341ae606ada434f"/>
    <p:sldId xmlns:r="http://schemas.openxmlformats.org/officeDocument/2006/relationships" id="268" r:id="Refc1f0ef8656486c"/>
    <p:sldId xmlns:r="http://schemas.openxmlformats.org/officeDocument/2006/relationships" id="269" r:id="Rb182ebf3eb3345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a022ec66b24801" /><Relationship Type="http://schemas.openxmlformats.org/officeDocument/2006/relationships/slideMaster" Target="/ppt/slideMasters/slideMaster1.xml" Id="Rc98a5332e52c4262" /><Relationship Type="http://schemas.openxmlformats.org/officeDocument/2006/relationships/notesMaster" Target="/ppt/notesMasters/notesMaster1.xml" Id="R378d9e0acc834927" /><Relationship Type="http://schemas.openxmlformats.org/officeDocument/2006/relationships/presProps" Target="/ppt/presProps.xml" Id="Ra32bea5fc90e48e3" /><Relationship Type="http://schemas.openxmlformats.org/officeDocument/2006/relationships/tableStyles" Target="/ppt/tableStyles.xml" Id="Rdbc7fe54571247f7" /><Relationship Type="http://schemas.openxmlformats.org/officeDocument/2006/relationships/slide" Target="/ppt/slides/slide1.xml" Id="Reddfe209a5f74376" /><Relationship Type="http://schemas.openxmlformats.org/officeDocument/2006/relationships/slide" Target="/ppt/slides/slide2.xml" Id="R87835e2bf21b4c0f" /><Relationship Type="http://schemas.openxmlformats.org/officeDocument/2006/relationships/slide" Target="/ppt/slides/slide3.xml" Id="Rfc6288f22de547e4" /><Relationship Type="http://schemas.openxmlformats.org/officeDocument/2006/relationships/slide" Target="/ppt/slides/slide4.xml" Id="R833984bc31604517" /><Relationship Type="http://schemas.openxmlformats.org/officeDocument/2006/relationships/slide" Target="/ppt/slides/slide5.xml" Id="R8ac4158b860949cb" /><Relationship Type="http://schemas.openxmlformats.org/officeDocument/2006/relationships/slide" Target="/ppt/slides/slide6.xml" Id="Rfe168d41a6c54bca" /><Relationship Type="http://schemas.openxmlformats.org/officeDocument/2006/relationships/slide" Target="/ppt/slides/slide7.xml" Id="Rc93b31d4919940fe" /><Relationship Type="http://schemas.openxmlformats.org/officeDocument/2006/relationships/slide" Target="/ppt/slides/slide8.xml" Id="Rdf55684031524897" /><Relationship Type="http://schemas.openxmlformats.org/officeDocument/2006/relationships/slide" Target="/ppt/slides/slide9.xml" Id="R7d6fe6d7691648c1" /><Relationship Type="http://schemas.openxmlformats.org/officeDocument/2006/relationships/slide" Target="/ppt/slides/slide10.xml" Id="Rb49cafd7c5294a0f" /><Relationship Type="http://schemas.openxmlformats.org/officeDocument/2006/relationships/slide" Target="/ppt/slides/slide11.xml" Id="R7b65b1c2ef144769" /><Relationship Type="http://schemas.openxmlformats.org/officeDocument/2006/relationships/slide" Target="/ppt/slides/slide12.xml" Id="R0341ae606ada434f" /><Relationship Type="http://schemas.openxmlformats.org/officeDocument/2006/relationships/slide" Target="/ppt/slides/slide13.xml" Id="Refc1f0ef8656486c" /><Relationship Type="http://schemas.openxmlformats.org/officeDocument/2006/relationships/slide" Target="/ppt/slides/slide14.xml" Id="Rb182ebf3eb3345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42e8fb698647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7b676b41f44125" /><Relationship Type="http://schemas.openxmlformats.org/officeDocument/2006/relationships/notesMaster" Target="/ppt/notesMasters/notesMaster1.xml" Id="R08ccdcf24d5545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1adfdbfee4dbb" /><Relationship Type="http://schemas.openxmlformats.org/officeDocument/2006/relationships/notesMaster" Target="/ppt/notesMasters/notesMaster1.xml" Id="R65fde0c3683645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aff25563de4e29" /><Relationship Type="http://schemas.openxmlformats.org/officeDocument/2006/relationships/notesMaster" Target="/ppt/notesMasters/notesMaster1.xml" Id="Rcb49bd20e38d46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de2c438cba4d63" /><Relationship Type="http://schemas.openxmlformats.org/officeDocument/2006/relationships/notesMaster" Target="/ppt/notesMasters/notesMaster1.xml" Id="R71e5de83dcc44f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43e1f30b964fd1" /><Relationship Type="http://schemas.openxmlformats.org/officeDocument/2006/relationships/notesMaster" Target="/ppt/notesMasters/notesMaster1.xml" Id="R2ace91d014f24d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90850b22c34eb2" /><Relationship Type="http://schemas.openxmlformats.org/officeDocument/2006/relationships/notesMaster" Target="/ppt/notesMasters/notesMaster1.xml" Id="Rec5571214c7440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461122d8714acb" /><Relationship Type="http://schemas.openxmlformats.org/officeDocument/2006/relationships/notesMaster" Target="/ppt/notesMasters/notesMaster1.xml" Id="R73e6a34f405348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232ac9fd734f7e" /><Relationship Type="http://schemas.openxmlformats.org/officeDocument/2006/relationships/notesMaster" Target="/ppt/notesMasters/notesMaster1.xml" Id="R46c8bb4f2f5645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ef5071d06d45a2" /><Relationship Type="http://schemas.openxmlformats.org/officeDocument/2006/relationships/notesMaster" Target="/ppt/notesMasters/notesMaster1.xml" Id="R92622b54a4c146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85349eabd34c3b" /><Relationship Type="http://schemas.openxmlformats.org/officeDocument/2006/relationships/notesMaster" Target="/ppt/notesMasters/notesMaster1.xml" Id="R6f0f9bc2d8d34d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7017f6b0db40c0" /><Relationship Type="http://schemas.openxmlformats.org/officeDocument/2006/relationships/notesMaster" Target="/ppt/notesMasters/notesMaster1.xml" Id="R14d14d5c5dd245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4a837265c140b0" /><Relationship Type="http://schemas.openxmlformats.org/officeDocument/2006/relationships/notesMaster" Target="/ppt/notesMasters/notesMaster1.xml" Id="R54ca2864afdb4f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809f326a784908" /><Relationship Type="http://schemas.openxmlformats.org/officeDocument/2006/relationships/notesMaster" Target="/ppt/notesMasters/notesMaster1.xml" Id="Racc8fde62c2f46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91e8555a224dbb" /><Relationship Type="http://schemas.openxmlformats.org/officeDocument/2006/relationships/notesMaster" Target="/ppt/notesMasters/notesMaster1.xml" Id="Rd2c6a571f4bd4f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research/市场需求query及模板V2.docx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research/outputs/evals/web-benchmark-20260729-082159/summary.json</a:t>
            </a:r>
          </a:p>
          <a:p xmlns:a="http://schemas.openxmlformats.org/drawingml/2006/main">
            <a:r>
              <a:t>- /Users/wangchen/equipment research/outputs/evals/ablations/ablation-20260729-142922/ablation-report.md</a:t>
            </a:r>
          </a:p>
          <a:p xmlns:a="http://schemas.openxmlformats.org/drawingml/2006/main">
            <a:r>
              <a:t>- /Users/wangchen/equipment research/outputs/runs/run-a4106237-6032-4a8a-b0c8-70f68ffef540/architecture-acceptance.json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research/市场需求query及模板V2.docx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research/README.md</a:t>
            </a:r>
          </a:p>
          <a:p xmlns:a="http://schemas.openxmlformats.org/drawingml/2006/main">
            <a:r>
              <a:t>- /Users/wangchen/equipment research/configs/equipment_deep_research/harness.yaml</a:t>
            </a:r>
          </a:p>
          <a:p xmlns:a="http://schemas.openxmlformats.org/drawingml/2006/main">
            <a:r>
              <a:t>- /Users/wangchen/equipment research/outputs/runs/run-a4106237-6032-4a8a-b0c8-70f68ffef540/architecture-acceptance.json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research/docs/AGENT_ARCHITECTURE_IMPLEMENTATION.md</a:t>
            </a:r>
          </a:p>
          <a:p xmlns:a="http://schemas.openxmlformats.org/drawingml/2006/main">
            <a:r>
              <a:t>- /Users/wangchen/equipment research/outputs/runs/run-a4106237-6032-4a8a-b0c8-70f68ffef540/reasoning_traceability.json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research/市场需求query及模板V2.docx</a:t>
            </a:r>
          </a:p>
          <a:p xmlns:a="http://schemas.openxmlformats.org/drawingml/2006/main">
            <a:r>
              <a:t>- /Users/wangchen/equipment research/src/equipment_deep_research/agents/provider.py</a:t>
            </a:r>
          </a:p>
          <a:p xmlns:a="http://schemas.openxmlformats.org/drawingml/2006/main">
            <a:r>
              <a:t>- /Users/wangchen/equipment research/outputs/runs/run-a4106237-6032-4a8a-b0c8-70f68ffef540/report.md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research/evals/README.md</a:t>
            </a:r>
          </a:p>
          <a:p xmlns:a="http://schemas.openxmlformats.org/drawingml/2006/main">
            <a:r>
              <a:t>- /Users/wangchen/equipment research/outputs/evals/web-benchmark-20260729-082159/web-run.json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research/市场需求query及模板V2.docx</a:t>
            </a:r>
          </a:p>
          <a:p xmlns:a="http://schemas.openxmlformats.org/drawingml/2006/main">
            <a:r>
              <a:t>- /Users/wangchen/equipment research/outputs/evals/web-benchmark-20260729-082159/pairwise_prompt.md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research/outputs/evals/web-benchmark-20260729-082159/summary.json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research/outputs/evals/web-benchmark-20260729-082159/summary.json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15分钟为汇报建议目标，并非当前实测结果。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research/outputs/evals/web-benchmark-20260729-082159/summary.json</a:t>
            </a:r>
          </a:p>
          <a:p xmlns:a="http://schemas.openxmlformats.org/drawingml/2006/main">
            <a:r>
              <a:t>- /Users/wangchen/equipment research/outputs/evals/web-benchmark-20260729-082159/results.jsonl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research/outputs/evals/ablations/ablation-20260729-142922/manifest.json</a:t>
            </a:r>
          </a:p>
          <a:p xmlns:a="http://schemas.openxmlformats.org/drawingml/2006/main">
            <a:r>
              <a:t>- /Users/wangchen/equipment research/outputs/evals/ablations/ablation-20260729-142922/ablation-report.md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research/outputs/evals/ablations/ablation-20260729-142922/ablation-report.md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/Users/wangchen/equipment research/outputs/evals/web-benchmark-20260729-082159/summary.json</a:t>
            </a:r>
          </a:p>
          <a:p xmlns:a="http://schemas.openxmlformats.org/drawingml/2006/main">
            <a:r>
              <a:t>- /Users/wangchen/equipment research/outputs/evals/ablations/ablation-20260729-142922/ablation-report.md</a:t>
            </a:r>
          </a:p>
          <a:p xmlns:a="http://schemas.openxmlformats.org/drawingml/2006/main">
            <a:r>
              <a:t>- /Users/wangchen/equipment research/市场需求query及模板V2.docx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8b616f5434f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71639a1a545c4" /><Relationship Type="http://schemas.openxmlformats.org/officeDocument/2006/relationships/slideLayout" Target="/ppt/slideLayouts/slideLayout1.xml" Id="Rb47dda1341e04d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dda1341e04d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3fe384a8e45dc" /><Relationship Type="http://schemas.openxmlformats.org/officeDocument/2006/relationships/notesSlide" Target="/ppt/notesSlides/notesSlide1.xml" Id="Rc98e225b37a24c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672ffdfef4f00" /><Relationship Type="http://schemas.openxmlformats.org/officeDocument/2006/relationships/notesSlide" Target="/ppt/notesSlides/notesSlide2.xml" Id="R39c601ec75eb40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9def1b21c4cf5" /><Relationship Type="http://schemas.openxmlformats.org/officeDocument/2006/relationships/notesSlide" Target="/ppt/notesSlides/notesSlide3.xml" Id="R64a21292df9e4b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f35c834c84a78" /><Relationship Type="http://schemas.openxmlformats.org/officeDocument/2006/relationships/notesSlide" Target="/ppt/notesSlides/notesSlide4.xml" Id="R5762f6d0d6354d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602749ca74216" /><Relationship Type="http://schemas.openxmlformats.org/officeDocument/2006/relationships/notesSlide" Target="/ppt/notesSlides/notesSlide5.xml" Id="R8ff1e16c32c7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0c616e9cc4e32" /><Relationship Type="http://schemas.openxmlformats.org/officeDocument/2006/relationships/notesSlide" Target="/ppt/notesSlides/notesSlide6.xml" Id="Rf5a73b63a5af49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4ca32711b49fd" /><Relationship Type="http://schemas.openxmlformats.org/officeDocument/2006/relationships/notesSlide" Target="/ppt/notesSlides/notesSlide7.xml" Id="R7d4e6ede0d1a4d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e5ef0cb354da2" /><Relationship Type="http://schemas.openxmlformats.org/officeDocument/2006/relationships/notesSlide" Target="/ppt/notesSlides/notesSlide8.xml" Id="R195ea02aea2c45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22d768fe7443c" /><Relationship Type="http://schemas.openxmlformats.org/officeDocument/2006/relationships/chart" Target="/ppt/slides/charts/chart1.xml" Id="Rca68628ded5547df" /><Relationship Type="http://schemas.openxmlformats.org/officeDocument/2006/relationships/notesSlide" Target="/ppt/notesSlides/notesSlide9.xml" Id="R34ee2dcf86f742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3bb8dd2f14d53" /><Relationship Type="http://schemas.openxmlformats.org/officeDocument/2006/relationships/chart" Target="/ppt/slides/charts/chart2.xml" Id="R48779ca0173f4d36" /><Relationship Type="http://schemas.openxmlformats.org/officeDocument/2006/relationships/notesSlide" Target="/ppt/notesSlides/notesSlide10.xml" Id="R511de0eb4b4c42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83e45b5794ac8" /><Relationship Type="http://schemas.openxmlformats.org/officeDocument/2006/relationships/notesSlide" Target="/ppt/notesSlides/notesSlide11.xml" Id="R251ffce9807844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e58c212284146" /><Relationship Type="http://schemas.openxmlformats.org/officeDocument/2006/relationships/notesSlide" Target="/ppt/notesSlides/notesSlide12.xml" Id="R3b7cba8663874b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e272374b4429c" /><Relationship Type="http://schemas.openxmlformats.org/officeDocument/2006/relationships/chart" Target="/ppt/slides/charts/chart3.xml" Id="R6713c77ba61a4525" /><Relationship Type="http://schemas.openxmlformats.org/officeDocument/2006/relationships/notesSlide" Target="/ppt/notesSlides/notesSlide13.xml" Id="Ra7339fadff8b46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31593b6c5486a" /><Relationship Type="http://schemas.openxmlformats.org/officeDocument/2006/relationships/notesSlide" Target="/ppt/notesSlides/notesSlide14.xml" Id="R03962606d207401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完整方法得分率</c:v>
          </c:tx>
          <c:spPr>
            <a:solidFill xmlns:a="http://schemas.openxmlformats.org/drawingml/2006/main">
              <a:srgbClr val="2563A6"/>
            </a:solidFill>
          </c:spPr>
          <c:cat>
            <c:strLit>
              <c:ptCount val="3"/>
              <c:pt idx="0">
                <c:v>通用检索Agent</c:v>
              </c:pt>
              <c:pt idx="1">
                <c:v>纯LLM</c:v>
              </c:pt>
              <c:pt idx="2">
                <c:v>智谱LLM</c:v>
              </c:pt>
            </c:strLit>
          </c:cat>
          <c:val>
            <c:numLit>
              <c:formatCode>General</c:formatCode>
              <c:ptCount val="3"/>
              <c:pt idx="0">
                <c:v>82.5</c:v>
              </c:pt>
              <c:pt idx="1">
                <c:v>97.5</c:v>
              </c:pt>
              <c:pt idx="2">
                <c:v>97.5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0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完整方法</c:v>
          </c:tx>
          <c:spPr>
            <a:solidFill xmlns:a="http://schemas.openxmlformats.org/drawingml/2006/main">
              <a:srgbClr val="2563A6"/>
            </a:solidFill>
          </c:spPr>
          <c:cat>
            <c:strLit>
              <c:ptCount val="8"/>
              <c:pt idx="0">
                <c:v>任务完成</c:v>
              </c:pt>
              <c:pt idx="1">
                <c:v>事实证据</c:v>
              </c:pt>
              <c:pt idx="2">
                <c:v>因果机理</c:v>
              </c:pt>
              <c:pt idx="3">
                <c:v>能力映射</c:v>
              </c:pt>
              <c:pt idx="4">
                <c:v>不确定性</c:v>
              </c:pt>
              <c:pt idx="5">
                <c:v>军事价值</c:v>
              </c:pt>
              <c:pt idx="6">
                <c:v>前瞻性</c:v>
              </c:pt>
              <c:pt idx="7">
                <c:v>体系鲁棒</c:v>
              </c:pt>
            </c:strLit>
          </c:cat>
          <c:val>
            <c:numLit>
              <c:formatCode>General</c:formatCode>
              <c:ptCount val="8"/>
              <c:pt idx="0">
                <c:v>65</c:v>
              </c:pt>
              <c:pt idx="1">
                <c:v>16</c:v>
              </c:pt>
              <c:pt idx="2">
                <c:v>68</c:v>
              </c:pt>
              <c:pt idx="3">
                <c:v>69</c:v>
              </c:pt>
              <c:pt idx="4">
                <c:v>60</c:v>
              </c:pt>
              <c:pt idx="5">
                <c:v>69</c:v>
              </c:pt>
              <c:pt idx="6">
                <c:v>71</c:v>
              </c:pt>
              <c:pt idx="7">
                <c:v>66</c:v>
              </c:pt>
            </c:numLit>
          </c:val>
        </c:ser>
        <c:ser>
          <c:idx val="1"/>
          <c:order val="1"/>
          <c:tx>
            <c:v>通用Agent</c:v>
          </c:tx>
          <c:spPr>
            <a:solidFill xmlns:a="http://schemas.openxmlformats.org/drawingml/2006/main">
              <a:srgbClr val="AAB8C6"/>
            </a:solidFill>
          </c:spPr>
          <c:cat>
            <c:strLit>
              <c:ptCount val="8"/>
              <c:pt idx="0">
                <c:v>任务完成</c:v>
              </c:pt>
              <c:pt idx="1">
                <c:v>事实证据</c:v>
              </c:pt>
              <c:pt idx="2">
                <c:v>因果机理</c:v>
              </c:pt>
              <c:pt idx="3">
                <c:v>能力映射</c:v>
              </c:pt>
              <c:pt idx="4">
                <c:v>不确定性</c:v>
              </c:pt>
              <c:pt idx="5">
                <c:v>军事价值</c:v>
              </c:pt>
              <c:pt idx="6">
                <c:v>前瞻性</c:v>
              </c:pt>
              <c:pt idx="7">
                <c:v>体系鲁棒</c:v>
              </c:pt>
            </c:strLit>
          </c:cat>
          <c:val>
            <c:numLit>
              <c:formatCode>General</c:formatCode>
              <c:ptCount val="8"/>
              <c:pt idx="0">
                <c:v>13</c:v>
              </c:pt>
              <c:pt idx="1">
                <c:v>50</c:v>
              </c:pt>
              <c:pt idx="2">
                <c:v>12</c:v>
              </c:pt>
              <c:pt idx="3">
                <c:v>10</c:v>
              </c:pt>
              <c:pt idx="4">
                <c:v>16</c:v>
              </c:pt>
              <c:pt idx="5">
                <c:v>11</c:v>
              </c:pt>
              <c:pt idx="6">
                <c:v>4</c:v>
              </c:pt>
              <c:pt idx="7">
                <c:v>12</c:v>
              </c:pt>
            </c:numLit>
          </c:val>
        </c:ser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415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3415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完整方法得分率</c:v>
          </c:tx>
          <c:spPr>
            <a:solidFill xmlns:a="http://schemas.openxmlformats.org/drawingml/2006/main">
              <a:srgbClr val="2563A6"/>
            </a:solidFill>
          </c:spPr>
          <c:cat>
            <c:strLit>
              <c:ptCount val="2"/>
              <c:pt idx="0">
                <c:v>去多源基线</c:v>
              </c:pt>
              <c:pt idx="1">
                <c:v>去制胜机理</c:v>
              </c:pt>
            </c:strLit>
          </c:cat>
          <c:val>
            <c:numLit>
              <c:formatCode>General</c:formatCode>
              <c:ptCount val="2"/>
              <c:pt idx="0">
                <c:v>62.5</c:v>
              </c:pt>
              <c:pt idx="1">
                <c:v>93.75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0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7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3415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193F7-96BE-4E33-A550-EBE8FA6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E7878-1DE0-47AD-9974-1EEDA339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3EC19-B8E1-4A74-AF08-754C6216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7202A"/>
                </a:solidFill>
              </a:defRPr>
            </a:pPr>
            <a:r>
              <a:rPr sz="4050" b="1" i="0">
                <a:solidFill>
                  <a:srgbClr val="17202A"/>
                </a:solidFill>
              </a:rPr>
              <a:t>市场需求落实与评测汇报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93FBE-D342-448D-B861-5C5E1CFC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63A6"/>
                </a:solidFill>
              </a:defRPr>
            </a:pPr>
            <a:r>
              <a:rPr sz="1950" b="0" i="0">
                <a:solidFill>
                  <a:srgbClr val="2563A6"/>
                </a:solidFill>
              </a:rPr>
              <a:t>无人远程火力打击装备能力图像挖掘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326DE-BB65-4111-AAC4-22F78A1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EE0B6-037C-4823-B0E0-F27A700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334155"/>
                </a:solidFill>
              </a:defRPr>
            </a:pPr>
            <a:r>
              <a:rPr sz="1575" b="0" i="0">
                <a:solidFill>
                  <a:srgbClr val="334155"/>
                </a:solidFill>
              </a:rPr>
              <a:t>需求落实｜Benchmark 测试思路与结果｜消融实验设计与结果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9ACFA-FB0E-47F2-B031-AF3C6D6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汇报日期：2026年7月29日</a:t>
            </a:r>
          </a:p>
        </p:txBody>
      </p:sp>
    </p:spTree>
    <p:extLst>
      <p:ext uri="{BB962C8B-B14F-4D97-AF65-F5344CB8AC3E}">
        <p14:creationId xmlns:p14="http://schemas.microsoft.com/office/powerpoint/2010/main" val="721759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33E7D2-FA82-4ECB-BA05-7C17CB4C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4EBB7-4953-49B6-B2B7-2E2821DD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核心结论：需求合同已落地，方法有效性得到初步验证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570BB-23CD-40F8-BB8A-892953D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B3828-15E2-423F-8A53-79DF322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D8BEB-C982-43E8-B1E1-B23D5F2F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EB11B-D9E0-45E1-8B3F-4BD2921F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4F9E6-9502-4093-B34C-CF5940C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C7D10-234B-43E1-BA75-415C5A7A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</a:defRPr>
            </a:pPr>
            <a:r>
              <a:rPr sz="1800" b="1" i="0">
                <a:solidFill>
                  <a:srgbClr val="17202A"/>
                </a:solidFill>
              </a:rPr>
              <a:t>需求落实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F00C4-33D5-4837-B0B6-EAB6C350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三层九项报告、五判据审计、证据门控与九字段能力画像已进入生产主链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5B697-523F-4EDA-8BC7-9AFB855F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811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E0B6F-B35C-4F90-BEEE-E7FC055C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811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1BDA6-7431-42E6-93C3-A8F262EA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</a:defRPr>
            </a:pPr>
            <a:r>
              <a:rPr sz="1800" b="1" i="0">
                <a:solidFill>
                  <a:srgbClr val="17202A"/>
                </a:solidFill>
              </a:rPr>
              <a:t>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668FA-BF3F-4EA4-A078-DEA7B90D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20条问题真实盲评：相对通用检索基线取得15胜3平2负，得分率82.5%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58EF4-D9ED-4480-B1A3-C549BE3F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FF963-2DBF-4F2D-8F17-9CF13E11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B"/>
          </a:solidFill>
          <a:ln xmlns:a="http://schemas.openxmlformats.org/drawingml/2006/main" w="9525">
            <a:solidFill>
              <a:srgbClr val="C88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AAF4A-8729-451E-945F-4DD0A22E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</a:defRPr>
            </a:pPr>
            <a:r>
              <a:rPr sz="1800" b="1" i="0">
                <a:solidFill>
                  <a:srgbClr val="17202A"/>
                </a:solidFill>
              </a:rPr>
              <a:t>消融结论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25F1A-66BC-4861-A9F7-5E5AEA37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去除制胜机理后，完整方法7胜1平0负；核心链路贡献得到支持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7D6C9-C5E9-4958-96F6-A9388DB2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F0CE4-9373-4F19-9EBA-B17FB44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5524B"/>
                </a:solidFill>
              </a:defRPr>
            </a:pPr>
            <a:r>
              <a:rPr sz="1650" b="1" i="0">
                <a:solidFill>
                  <a:srgbClr val="B5524B"/>
                </a:solidFill>
              </a:rPr>
              <a:t>需要正视的短板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87C9D-E7C5-4267-8504-36D68EE7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24B"/>
          </a:solidFill>
          <a:ln xmlns:a="http://schemas.openxmlformats.org/drawingml/2006/main" w="0">
            <a:solidFill>
              <a:srgbClr val="B552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62142-B893-4322-976F-E2F256AF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相对通用Agent，事实与引用维度仅16票领先、50票落后、14票持平，证据绑定仍是首要优化项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AC855-F32E-455D-BDA0-4D55B1D6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24B"/>
          </a:solidFill>
          <a:ln xmlns:a="http://schemas.openxmlformats.org/drawingml/2006/main" w="0">
            <a:solidFill>
              <a:srgbClr val="B552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CC8CDE-5C1D-4030-BCC8-DEBCE13B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Benchmark完整方法平均耗时约22.9分钟，明显高于通用Agent约3.0分钟，需要持续优化质量—时延平衡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912008-2800-4B70-982B-1F625475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524B"/>
          </a:solidFill>
          <a:ln xmlns:a="http://schemas.openxmlformats.org/drawingml/2006/main" w="0">
            <a:solidFill>
              <a:srgbClr val="B552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F3D45D-330D-4A64-959C-DD8C3E91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去多源基线消融仅为方向性证据；8条样本、历史运行绑定，尚不足以形成统计性定论</a:t>
            </a:r>
          </a:p>
        </p:txBody>
      </p:sp>
    </p:spTree>
    <p:extLst>
      <p:ext uri="{BB962C8B-B14F-4D97-AF65-F5344CB8AC3E}">
        <p14:creationId xmlns:p14="http://schemas.microsoft.com/office/powerpoint/2010/main" val="102583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A661E-C018-47CC-9000-D0DECA4B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01 REQUIREMENT DECOMPOSITION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DC56A-2C90-4E7B-879A-14537447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原始需求被拆解为四类可验收能力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0D007-59F3-4A9B-BDFB-9ACF3913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ABCA5-FD96-4BB8-AC13-E12AAB14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C0730-7A2D-48AA-96EB-CAE75BD6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C76D2-99C3-4BB7-B4E9-B2BBB01E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E1131-4E41-4BFD-8B34-9ABEFBEE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4F"/>
                </a:solidFill>
              </a:defRPr>
            </a:pPr>
            <a:r>
              <a:rPr sz="1650" b="1" i="0">
                <a:solidFill>
                  <a:srgbClr val="16324F"/>
                </a:solidFill>
              </a:rPr>
              <a:t>研究范围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09164-36BE-4544-B0D4-238E22AD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1925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无人远程火力打击；体系化、实战化、智能化、颠覆化；兼顾通用化与规模化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048EA-BB5C-406E-999F-9A67CAE6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374CA-2E25-4F6D-BF1C-10D07139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4F"/>
                </a:solidFill>
              </a:defRPr>
            </a:pPr>
            <a:r>
              <a:rPr sz="1650" b="1" i="0">
                <a:solidFill>
                  <a:srgbClr val="16324F"/>
                </a:solidFill>
              </a:rPr>
              <a:t>问题空间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33541-6A66-475B-8310-18A80746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8605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正向扫描、局部战争、国际形势、潜在场景、技术革命、作战任务、新质毁伤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C2A62-00C9-46C0-9552-3CB0A0A6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56176-F17E-4B27-B58E-1304C609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4F"/>
                </a:solidFill>
              </a:defRPr>
            </a:pPr>
            <a:r>
              <a:rPr sz="1650" b="1" i="0">
                <a:solidFill>
                  <a:srgbClr val="16324F"/>
                </a:solidFill>
              </a:rPr>
              <a:t>颠覆逻辑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5B29A-7A05-48E7-AB77-07FD2917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5285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成本、平台、时间、毁伤、体系、伦理与博弈六个维度，支持继续发散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C6A21-666E-43AC-A207-09638993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1EC59-205F-49F8-9F7F-BABFC28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4F"/>
                </a:solidFill>
              </a:defRPr>
            </a:pPr>
            <a:r>
              <a:rPr sz="1650" b="1" i="0">
                <a:solidFill>
                  <a:srgbClr val="16324F"/>
                </a:solidFill>
              </a:rPr>
              <a:t>交付与验收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0EDBB-AAF9-4138-835D-A9F62EC6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19650"/>
            <a:ext cx="828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三层九项报告；领域符合性、能力图像、制胜效能、创新性、可实现性五项评估</a:t>
            </a:r>
          </a:p>
        </p:txBody>
      </p:sp>
    </p:spTree>
    <p:extLst>
      <p:ext uri="{BB962C8B-B14F-4D97-AF65-F5344CB8AC3E}">
        <p14:creationId xmlns:p14="http://schemas.microsoft.com/office/powerpoint/2010/main" val="19328713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1C8B58-FF46-467E-A3B5-40F9B786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02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8ACAB-0C07-4DEC-A73C-504E0F79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需求落实已形成“输入—研究—推理—交付—审计”闭环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4868C-5F06-49EA-AC01-F0F9411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B5A3E-BC7B-42A9-B23F-9628BAA2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19722-517F-40CA-8E03-75D5EA3C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C4F0B-373A-4049-84E5-1184C1DB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需求项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0C056-FDD1-46EA-85D8-625609C8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66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系统落实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12AC4-B9C0-4B8B-BBF6-F524C172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66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证据产物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4582D-EDEB-4C2D-9893-22369843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668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101AB-930E-4F26-826D-84CC4000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DC649-1373-422D-BF92-392496A1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需求项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74D03-D34D-4224-8162-1F77DF6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382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系统落实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64925-E9C8-435E-9F69-3BA06EED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38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证据产物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808B1-038A-4EC0-AE5F-F90F1A71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6F528-232F-424A-A13F-644EFC41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2C26B-77C8-4998-B3C3-19CA79C4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733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</a:defRPr>
            </a:pPr>
            <a:r>
              <a:rPr sz="1275" b="1" i="0">
                <a:solidFill>
                  <a:srgbClr val="17202A"/>
                </a:solidFill>
              </a:rPr>
              <a:t>多维需求扫描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26BFD-9795-4323-B513-AAE833E5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240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A–H驱动识别 + 三条研究路线 + 动态Agent选择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4E3CC-4579-44D8-922B-3C9D5EE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240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discovery_blueprint / agent_sessions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C1816-6435-4E30-9F58-75906CF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05025"/>
            <a:ext cx="838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9DA63-C6F2-4ABB-AA5C-790900A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050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E7D5B"/>
                </a:solidFill>
              </a:defRPr>
            </a:pPr>
            <a:r>
              <a:rPr sz="1050" b="1" i="0">
                <a:solidFill>
                  <a:srgbClr val="2E7D5B"/>
                </a:solidFill>
              </a:rPr>
              <a:t>已落实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609E0-7CDE-48FF-98BA-429E1A1B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029D0-116C-441E-A2A0-8B3CA72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733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</a:defRPr>
            </a:pPr>
            <a:r>
              <a:rPr sz="1275" b="1" i="0">
                <a:solidFill>
                  <a:srgbClr val="17202A"/>
                </a:solidFill>
              </a:rPr>
              <a:t>全链条制胜机理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389C8-831E-4821-851F-D744143C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S1–S6推理 + L1/L2/L3门控 + 定向Recall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6465A-1A05-4575-A3F5-134D0EA1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reasoning_traceability / checkpoints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C7AAC-5B59-47E4-A508-FE06A109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838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DB6C4-78DC-429D-AA41-ADCD571B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E7D5B"/>
                </a:solidFill>
              </a:defRPr>
            </a:pPr>
            <a:r>
              <a:rPr sz="1050" b="1" i="0">
                <a:solidFill>
                  <a:srgbClr val="2E7D5B"/>
                </a:solidFill>
              </a:rPr>
              <a:t>已落实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E9F0F-9E63-40DA-ACC8-033C9244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50769D-3B14-482E-8F73-8804646A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733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</a:defRPr>
            </a:pPr>
            <a:r>
              <a:rPr sz="1275" b="1" i="0">
                <a:solidFill>
                  <a:srgbClr val="17202A"/>
                </a:solidFill>
              </a:rPr>
              <a:t>三层九项模板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4702DA-78DF-42C2-B34E-C99A7CB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固定标题、九项完整性校验、质量门禁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92326B-9EE0-4789-BF9E-9519D922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report.md / report_quality_gate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6A4006-C5A5-45DF-B1C6-EEC5D209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05225"/>
            <a:ext cx="838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B979E6-24AA-4799-A7A9-5DDD1358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052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E7D5B"/>
                </a:solidFill>
              </a:defRPr>
            </a:pPr>
            <a:r>
              <a:rPr sz="1050" b="1" i="0">
                <a:solidFill>
                  <a:srgbClr val="2E7D5B"/>
                </a:solidFill>
              </a:rPr>
              <a:t>已落实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72B95B-D639-4B81-9276-436F26A3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A4534E-4E5E-4DFB-B03A-4BE316B1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1733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</a:defRPr>
            </a:pPr>
            <a:r>
              <a:rPr sz="1275" b="1" i="0">
                <a:solidFill>
                  <a:srgbClr val="17202A"/>
                </a:solidFill>
              </a:rPr>
              <a:t>五项效果评估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F86C6F-5F48-4E95-A6A5-5D20AABE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243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五判据审计 + 八维盲评Rubric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D2958C-B51E-428F-9258-84BFB41A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architecture-acceptance / judgments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380785-6223-4299-8060-0003FE5F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05325"/>
            <a:ext cx="838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85C3B9-864E-4C44-B8D1-CFB892E3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053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E7D5B"/>
                </a:solidFill>
              </a:defRPr>
            </a:pPr>
            <a:r>
              <a:rPr sz="1050" b="1" i="0">
                <a:solidFill>
                  <a:srgbClr val="2E7D5B"/>
                </a:solidFill>
              </a:rPr>
              <a:t>已落实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0E452A-14D9-488D-8511-6F4F6C07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A458BD-88D4-4C63-B61A-9EE638B7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733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</a:defRPr>
            </a:pPr>
            <a:r>
              <a:rPr sz="1275" b="1" i="0">
                <a:solidFill>
                  <a:srgbClr val="17202A"/>
                </a:solidFill>
              </a:rPr>
              <a:t>规模化长期记忆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062426-D8C8-4043-845E-83D537E9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244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材料化证据、索引、持久化与恢复已具备；跨任务知识沉淀仍需强化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E1F36A-2CAB-4B2D-92B2-003CEFAD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244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artifacts / run.db / knowledge index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274393-9853-48DA-922E-BCEB50D3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05425"/>
            <a:ext cx="8382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F3E3"/>
          </a:solidFill>
          <a:ln xmlns:a="http://schemas.openxmlformats.org/drawingml/2006/main" w="9525">
            <a:solidFill>
              <a:srgbClr val="FBF3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157D1C-0DC7-4D1F-AB85-A512C7A1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054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88A2B"/>
                </a:solidFill>
              </a:defRPr>
            </a:pPr>
            <a:r>
              <a:rPr sz="1050" b="1" i="0">
                <a:solidFill>
                  <a:srgbClr val="C88A2B"/>
                </a:solidFill>
              </a:rPr>
              <a:t>部分落实</a:t>
            </a:r>
          </a:p>
        </p:txBody>
      </p:sp>
    </p:spTree>
    <p:extLst>
      <p:ext uri="{BB962C8B-B14F-4D97-AF65-F5344CB8AC3E}">
        <p14:creationId xmlns:p14="http://schemas.microsoft.com/office/powerpoint/2010/main" val="902376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274C55-3DAD-4BAE-AA17-FB552804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02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6108C-3009-4956-9BC8-04622014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系统把开放式问题转化为可追溯的装备能力图像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EA676-6176-4ED9-B775-C6DA9E56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39464-EA5F-4FB4-9B31-9A00C8E8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0C970-B7DC-4F4A-89E8-B199ED95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37F66-E72E-47B8-A449-79A8BA2C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2318C-89AD-4DEC-A219-D0668B30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06177-7DCD-4DE1-9526-BD7649E6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39752-60D6-4D64-98F9-B64DAFE5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</a:defRPr>
            </a:pPr>
            <a:r>
              <a:rPr sz="1725" b="1" i="0">
                <a:solidFill>
                  <a:srgbClr val="17202A"/>
                </a:solidFill>
              </a:rPr>
              <a:t>任务解析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10B5B-7D66-456A-BBFE-D08B700D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识别场景、路线、约束与交付合同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A6680-AF08-4DC4-98B4-4B32031E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81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563A6"/>
                </a:solidFill>
              </a:defRPr>
            </a:pPr>
            <a:r>
              <a:rPr sz="2100" b="1" i="0">
                <a:solidFill>
                  <a:srgbClr val="2563A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B04D9-150F-44BC-AB1D-793AA69E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17719-5E15-4873-8DAB-5FA93BA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A086C-8E70-4FC5-9C11-9EE15DCC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19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EBEA1-05D2-46C7-94E1-AE6C04B1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47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</a:defRPr>
            </a:pPr>
            <a:r>
              <a:rPr sz="1725" b="1" i="0">
                <a:solidFill>
                  <a:srgbClr val="17202A"/>
                </a:solidFill>
              </a:rPr>
              <a:t>多源研究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28534-FCF9-4CD9-A006-1063E039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场景、装备、运用、技术等专业智能体分工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E5C76-56BB-40AD-B806-60F028B5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563A6"/>
                </a:solidFill>
              </a:defRPr>
            </a:pPr>
            <a:r>
              <a:rPr sz="2100" b="1" i="0">
                <a:solidFill>
                  <a:srgbClr val="2563A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9900B-51FA-499B-90E2-94B2EE47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563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08D0F-89E1-4D88-8DEB-AC8E18B4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DEEE6-8E9E-4236-948C-C176966A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19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22EB8-6021-418D-A5DB-39653516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</a:defRPr>
            </a:pPr>
            <a:r>
              <a:rPr sz="1725" b="1" i="0">
                <a:solidFill>
                  <a:srgbClr val="17202A"/>
                </a:solidFill>
              </a:rPr>
              <a:t>制胜推理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9A77A-494D-415A-989B-C796E411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S1–S6将事实转化为机制、能力与差距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F5D52-7096-4FE2-88CB-A80F4F9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563A6"/>
                </a:solidFill>
              </a:defRPr>
            </a:pPr>
            <a:r>
              <a:rPr sz="2100" b="1" i="0">
                <a:solidFill>
                  <a:srgbClr val="2563A6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C65DD-A6A4-4D6F-8713-47E58197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9FF33-44FD-4CDD-A913-A7DB7C16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A09F93-05E2-4EBC-94B8-19EB92FC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2C4E1-660F-4C56-B121-09AC9EFE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</a:defRPr>
            </a:pPr>
            <a:r>
              <a:rPr sz="1725" b="1" i="0">
                <a:solidFill>
                  <a:srgbClr val="17202A"/>
                </a:solidFill>
              </a:rPr>
              <a:t>报告生成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711D5-F669-46FB-A840-EE65D732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三层九项 + 九字段能力画像 + 验证矩阵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360AB-7124-44ED-98AB-F5E11C86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563A6"/>
                </a:solidFill>
              </a:defRPr>
            </a:pPr>
            <a:r>
              <a:rPr sz="2100" b="1" i="0">
                <a:solidFill>
                  <a:srgbClr val="2563A6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C5D72E-D90C-4F3B-AD14-F97DCC67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CCA96-1A07-4903-A301-E39918D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42CAF0-D62D-4080-BAB1-2AACE8CD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19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88C003-DEA3-4089-8BCF-8EE0436F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</a:defRPr>
            </a:pPr>
            <a:r>
              <a:rPr sz="1725" b="1" i="0">
                <a:solidFill>
                  <a:srgbClr val="17202A"/>
                </a:solidFill>
              </a:rPr>
              <a:t>门控审计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D259C4-5523-424B-B272-FF2FEA3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155"/>
                </a:solidFill>
              </a:defRPr>
            </a:pPr>
            <a:r>
              <a:rPr sz="1200" b="0" i="0">
                <a:solidFill>
                  <a:srgbClr val="334155"/>
                </a:solidFill>
              </a:rPr>
              <a:t>证据、覆盖、创新、可行性与限制说明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067180-2681-4592-9413-DCE5579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DFDEED-0C05-4A66-A72A-D6F729C9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关键设计原则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87D5B0-D6AD-4F00-9698-DB260067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不以一次生成代替研究：每项结论都应能回溯到 Query、证据、Agent Packet、推理步骤与能力条目。</a:t>
            </a:r>
          </a:p>
        </p:txBody>
      </p:sp>
    </p:spTree>
    <p:extLst>
      <p:ext uri="{BB962C8B-B14F-4D97-AF65-F5344CB8AC3E}">
        <p14:creationId xmlns:p14="http://schemas.microsoft.com/office/powerpoint/2010/main" val="318018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2C9CB9-9AAD-4DFD-9A66-27DC76BD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02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4E27E-0479-4B60-83A0-67FEB4B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三层九项模板已转化为强制输出合同与质量门禁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8186A-0F36-4ABC-916D-AF688537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504E5-02D2-495F-88A9-96EB6C39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BA513-6A68-4BF4-8E94-E7B227A0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D5592-5D4A-479F-B2D8-B0279D93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3337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563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83C37-119D-4764-9A35-F79C0CFB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563A6"/>
                </a:solidFill>
              </a:defRPr>
            </a:pPr>
            <a:r>
              <a:rPr sz="1725" b="1" i="0">
                <a:solidFill>
                  <a:srgbClr val="2563A6"/>
                </a:solidFill>
              </a:rPr>
              <a:t>第一层 需求挖掘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EF0BB-A886-4567-AB6D-8825761B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47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47551-AD23-4485-8827-08D5BF36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① 典型作战场景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DCDE0-6ED6-4DD7-ABC2-490CEC02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71CCC-D718-40EC-BDAF-9E753929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② 新战法/技术与制胜机理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33C75-0B13-4DE4-8617-292ED411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E234C-269B-48FA-BE54-5EDFE3D2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③ 装备能力特征与指标方向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C062B-39E8-476C-8C5E-0822096A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33337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BF3E3"/>
          </a:solidFill>
          <a:ln xmlns:a="http://schemas.openxmlformats.org/drawingml/2006/main" w="9525">
            <a:solidFill>
              <a:srgbClr val="C88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7237F-1DDC-4B57-9DE3-1F9A7943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335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88A2B"/>
                </a:solidFill>
              </a:defRPr>
            </a:pPr>
            <a:r>
              <a:rPr sz="1725" b="1" i="0">
                <a:solidFill>
                  <a:srgbClr val="C88A2B"/>
                </a:solidFill>
              </a:rPr>
              <a:t>第二层 技术攻关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3739C-7826-4C2A-B78A-E9C3AF6B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47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2B"/>
          </a:solidFill>
          <a:ln xmlns:a="http://schemas.openxmlformats.org/drawingml/2006/main" w="0">
            <a:solidFill>
              <a:srgbClr val="C88A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B6E2E-F76E-4583-82F4-3B2D8716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④ 实现途径：改进/集成/突破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42B36-E5A4-40AC-B061-93FCFAE6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2B"/>
          </a:solidFill>
          <a:ln xmlns:a="http://schemas.openxmlformats.org/drawingml/2006/main" w="0">
            <a:solidFill>
              <a:srgbClr val="C88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F8F29-F57B-4D25-BEFB-83F784CE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⑤ 核心技术、成熟度与优先级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50643-B897-4921-8674-71C92D28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2B"/>
          </a:solidFill>
          <a:ln xmlns:a="http://schemas.openxmlformats.org/drawingml/2006/main" w="0">
            <a:solidFill>
              <a:srgbClr val="C88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6AD0E-7FA7-4E33-9AF6-172FA4D8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⑥ 技术耦合与卡点风险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DE597-4CEF-4A85-A3F4-80243468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04950"/>
            <a:ext cx="33337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32484-8EC1-4555-9AA2-472A0DF9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E7D5B"/>
                </a:solidFill>
              </a:defRPr>
            </a:pPr>
            <a:r>
              <a:rPr sz="1725" b="1" i="0">
                <a:solidFill>
                  <a:srgbClr val="2E7D5B"/>
                </a:solidFill>
              </a:rPr>
              <a:t>第三层 能力与效能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8CE0B-95AD-40A3-B0AB-F02DF020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47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01BD2-E695-438C-BA22-87005544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⑦ 能力域、指标画像与谱系位置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1770B9-B636-4349-8D8F-893B16F5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E7BB7-D518-4A91-9EB8-112E4C92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⑧ 补链/强链/开链效能贡献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02E151-AF2C-41C3-A918-D8440AF8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DEEA2D-15EB-4D4B-8079-0C97B74D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62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⑨ 优先级与演示验证抓手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D7264-B7FD-440B-B223-C859DEBA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最终审计：领域符合性｜装备能力图像｜制胜效能｜创新性｜可实现性/成熟度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5CF91-7542-4F58-9DFB-CDF802C6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系统对标题顺序、九项实质内容、事实/推断边界、定量指标来源与验证条件进行自动检查。</a:t>
            </a:r>
          </a:p>
        </p:txBody>
      </p:sp>
    </p:spTree>
    <p:extLst>
      <p:ext uri="{BB962C8B-B14F-4D97-AF65-F5344CB8AC3E}">
        <p14:creationId xmlns:p14="http://schemas.microsoft.com/office/powerpoint/2010/main" val="445865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D0928-3DA0-48F5-B0AC-C8FD7213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03 BENCHMARK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F194E-A334-4C3A-869B-B017B2D3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Benchmark采用真实Query、强基线与双盲成对评审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14800-4F0C-4C25-AF98-C8B44EA2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741C9-01D9-4BAD-A40D-5DBCC0D4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CB329-BB6C-49D6-A137-30912F0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B351C-21FB-49E6-8D9D-143A5C32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200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5FC41-5237-4F4C-BA1C-B37FEF8B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数据集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623F7-EF46-4CAC-8E1C-240ED94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19250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战术精打前沿方向50条；本轮选择前20条问题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FF1D5-5BB9-4C55-BA06-8F86CD57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04950"/>
            <a:ext cx="5200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9FEBD-B313-4965-812C-8A6A099D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对照系统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644C3-7B26-410A-B9AC-6B08911E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完整方法 vs 通用检索Agent、纯LLM、智谱LLM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2E4C6-5FC0-46B0-97AF-17EC24FF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200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4DC8F-815A-480A-A56E-15B53D30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评审机制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206FB-A3EF-40EB-8E46-E3CD10F1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2名GPT-5.5评审 × A/B与B/A双顺序；系统身份隐藏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CB825-A55E-4F85-BBBE-D0DC73C1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200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2AE44-4E28-498D-B356-5FAF77CA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运行规模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B22F6-705E-4927-B1D3-ABB613A2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19400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4系统 × 20条 = 80份回答；120个盲评Pair；0个评审错误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36E70-4336-49AF-80B9-16117090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0FAD3-2B14-4CC6-9D0F-BB3AC254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63A6"/>
                </a:solidFill>
              </a:defRPr>
            </a:pPr>
            <a:r>
              <a:rPr sz="1575" b="1" i="0">
                <a:solidFill>
                  <a:srgbClr val="2563A6"/>
                </a:solidFill>
              </a:rPr>
              <a:t>公平性控制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E59A9-B67F-4F56-B648-DAAC7B7E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70B59-381C-47BD-89E0-61575C7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155"/>
                </a:solidFill>
              </a:defRPr>
            </a:pPr>
            <a:r>
              <a:rPr sz="1125" b="0" i="0">
                <a:solidFill>
                  <a:srgbClr val="334155"/>
                </a:solidFill>
              </a:rPr>
              <a:t>各基线接收同一份三层九项交付任务书，但不泄露项目内部A–H、S1–S6等方法信息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D67F1-008D-437A-A009-12C7C394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CB745-8E6C-4859-9272-87EA3FC5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155"/>
                </a:solidFill>
              </a:defRPr>
            </a:pPr>
            <a:r>
              <a:rPr sz="1125" b="0" i="0">
                <a:solidFill>
                  <a:srgbClr val="334155"/>
                </a:solidFill>
              </a:rPr>
              <a:t>通用Agent在隔离工作区运行并允许联网检索；纯LLM基线明确禁止浏览和虚构来源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63BE3-7912-4BA3-9EBB-D5E9345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62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957B4-EEE0-488F-B451-63EC4BF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155"/>
                </a:solidFill>
              </a:defRPr>
            </a:pPr>
            <a:r>
              <a:rPr sz="1125" b="0" i="0">
                <a:solidFill>
                  <a:srgbClr val="334155"/>
                </a:solidFill>
              </a:rPr>
              <a:t>公开Pair仅含Query与匿名回答；系统映射单独保存在管理文件中</a:t>
            </a:r>
          </a:p>
        </p:txBody>
      </p:sp>
    </p:spTree>
    <p:extLst>
      <p:ext uri="{BB962C8B-B14F-4D97-AF65-F5344CB8AC3E}">
        <p14:creationId xmlns:p14="http://schemas.microsoft.com/office/powerpoint/2010/main" val="1096807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83549D-4539-4C43-BB8F-479D8284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03 BENCHMARK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D4E7D-493C-4071-B7BB-726EDC09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评测标准把文档五项要求细化为八个可判别维度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0C8A2-9FD0-4965-BFA5-42D3DD1F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6EBE1-6CBA-4873-B311-C7EB4569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9D22F-EF7C-40BE-B72B-E0815C89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FED60-4187-4F52-9C0A-BB7A4C6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286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A83B8-E295-4517-9985-67F0403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领域符合性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E5891-F4EA-4F7D-A4B7-12AAB75F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155"/>
                </a:solidFill>
              </a:defRPr>
            </a:pPr>
            <a:r>
              <a:rPr sz="1425" b="0" i="0">
                <a:solidFill>
                  <a:srgbClr val="334155"/>
                </a:solidFill>
              </a:rPr>
              <a:t>路线任务完成度｜军事运用价值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6666A-8BBE-4306-BBB5-13390E71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6685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563A6"/>
                </a:solidFill>
              </a:defRPr>
            </a:pPr>
            <a:r>
              <a:rPr sz="1125" b="1" i="0">
                <a:solidFill>
                  <a:srgbClr val="2563A6"/>
                </a:solidFill>
              </a:rPr>
              <a:t>质量维度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09CE1-7834-40E7-AFA8-365E9404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86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FC76B-AE40-4D29-9D69-DBC20866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能力图像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DEDE8-36BE-46DD-837D-09FBE3F0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241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155"/>
                </a:solidFill>
              </a:defRPr>
            </a:pPr>
            <a:r>
              <a:rPr sz="1425" b="0" i="0">
                <a:solidFill>
                  <a:srgbClr val="334155"/>
                </a:solidFill>
              </a:rPr>
              <a:t>能力映射与需求质量｜跨场景体系鲁棒性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6D289-98F0-47C6-8B94-988A53FE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2410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563A6"/>
                </a:solidFill>
              </a:defRPr>
            </a:pPr>
            <a:r>
              <a:rPr sz="1125" b="1" i="0">
                <a:solidFill>
                  <a:srgbClr val="2563A6"/>
                </a:solidFill>
              </a:rPr>
              <a:t>质量维度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9EF7F-1CA3-4FBA-A443-C2246F56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286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93F20-A037-4167-9E8F-26ED9A10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制胜效能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65997-2200-41A8-8ABA-663DD54A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813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155"/>
                </a:solidFill>
              </a:defRPr>
            </a:pPr>
            <a:r>
              <a:rPr sz="1425" b="0" i="0">
                <a:solidFill>
                  <a:srgbClr val="334155"/>
                </a:solidFill>
              </a:rPr>
              <a:t>因果与机理深度｜军事运用价值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04DB1-187A-443E-88E5-CBA0FDC0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563A6"/>
                </a:solidFill>
              </a:defRPr>
            </a:pPr>
            <a:r>
              <a:rPr sz="1125" b="1" i="0">
                <a:solidFill>
                  <a:srgbClr val="2563A6"/>
                </a:solidFill>
              </a:rPr>
              <a:t>质量维度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7E2BA-7211-4080-B4E3-51BD57E7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286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4C7EA-AFA7-4A62-8AFE-20B6CE4B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创新性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91AC8-6ACF-4DB0-AF4C-C002396B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386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155"/>
                </a:solidFill>
              </a:defRPr>
            </a:pPr>
            <a:r>
              <a:rPr sz="1425" b="0" i="0">
                <a:solidFill>
                  <a:srgbClr val="334155"/>
                </a:solidFill>
              </a:rPr>
              <a:t>新颖性与前瞻性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10CF6-DB29-4B2D-926A-C676463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3860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563A6"/>
                </a:solidFill>
              </a:defRPr>
            </a:pPr>
            <a:r>
              <a:rPr sz="1125" b="1" i="0">
                <a:solidFill>
                  <a:srgbClr val="2563A6"/>
                </a:solidFill>
              </a:rPr>
              <a:t>质量维度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15D02-8335-4883-A9EB-272EC188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2860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ED593-DA7A-4815-8CDA-39823840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可实现性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AEB84-23FF-41CB-98A0-B5661148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958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155"/>
                </a:solidFill>
              </a:defRPr>
            </a:pPr>
            <a:r>
              <a:rPr sz="1425" b="0" i="0">
                <a:solidFill>
                  <a:srgbClr val="334155"/>
                </a:solidFill>
              </a:rPr>
              <a:t>事实与证据｜不确定性与验证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C4AB81-4BB1-47FB-A7D6-BEE36A8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88A2B"/>
                </a:solidFill>
              </a:defRPr>
            </a:pPr>
            <a:r>
              <a:rPr sz="1125" b="1" i="0">
                <a:solidFill>
                  <a:srgbClr val="C88A2B"/>
                </a:solidFill>
              </a:rPr>
              <a:t>可信边界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576E9-55BF-48EB-BF81-6906753F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4748B"/>
                </a:solidFill>
              </a:defRPr>
            </a:pPr>
            <a:r>
              <a:rPr sz="1275" b="0" i="0">
                <a:solidFill>
                  <a:srgbClr val="64748B"/>
                </a:solidFill>
              </a:rPr>
              <a:t>判定规则：逐维投票 + 总体胜负；同时记录硬失败、引用问题、置信度和需仲裁样本。</a:t>
            </a:r>
          </a:p>
        </p:txBody>
      </p:sp>
    </p:spTree>
    <p:extLst>
      <p:ext uri="{BB962C8B-B14F-4D97-AF65-F5344CB8AC3E}">
        <p14:creationId xmlns:p14="http://schemas.microsoft.com/office/powerpoint/2010/main" val="2137928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B7267-9A8B-4316-B51B-6DB4F7D4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04 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B6365-9008-462F-A4A3-EC6B1788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完整方法在三类基线上均取得显著总体优势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80C8D-E361-43EF-8EF0-76FEE359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6504C-F5A1-4756-B06E-62C98855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3C684-3922-4430-B5AB-BCDC51D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68580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68628ded5547d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A75A0-7089-47F0-AEEC-992C9E57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4861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563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E2EB4-2EE3-48A9-9158-A916A9BF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54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4F"/>
                </a:solidFill>
              </a:defRPr>
            </a:pPr>
            <a:r>
              <a:rPr sz="1350" b="1" i="0">
                <a:solidFill>
                  <a:srgbClr val="16324F"/>
                </a:solidFill>
              </a:rPr>
              <a:t>vs 通用Agent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F57F1-9686-4CAA-8B21-01F13736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764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2E7D5B"/>
                </a:solidFill>
              </a:defRPr>
            </a:pPr>
            <a:r>
              <a:rPr sz="1425" b="1" i="0">
                <a:solidFill>
                  <a:srgbClr val="2E7D5B"/>
                </a:solidFill>
              </a:rPr>
              <a:t>15胜 3平 2负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89F5E-4F8D-4BDC-BA1C-780B0F91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95%区间 65%–95%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D2059-D85D-430F-9F45-2A72B130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34861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04E1F-8DC5-4E70-B7E5-1B6C3C89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765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4F"/>
                </a:solidFill>
              </a:defRPr>
            </a:pPr>
            <a:r>
              <a:rPr sz="1350" b="1" i="0">
                <a:solidFill>
                  <a:srgbClr val="16324F"/>
                </a:solidFill>
              </a:rPr>
              <a:t>vs 纯LLM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A4BEE-18FC-4C6A-AB55-453515B1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2E7D5B"/>
                </a:solidFill>
              </a:defRPr>
            </a:pPr>
            <a:r>
              <a:rPr sz="1425" b="1" i="0">
                <a:solidFill>
                  <a:srgbClr val="2E7D5B"/>
                </a:solidFill>
              </a:rPr>
              <a:t>19胜 1平 0负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4B569-92C7-4047-9A1E-1DF6E71B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95%区间 92.5%–100%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D0C4B-C8A7-4F4A-8F74-D77ED61A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4861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AD582-236A-4469-A23F-11F07037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4F"/>
                </a:solidFill>
              </a:defRPr>
            </a:pPr>
            <a:r>
              <a:rPr sz="1350" b="1" i="0">
                <a:solidFill>
                  <a:srgbClr val="16324F"/>
                </a:solidFill>
              </a:rPr>
              <a:t>vs 智谱LLM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E4351-07FC-4E13-85CF-BFA874F0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386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2E7D5B"/>
                </a:solidFill>
              </a:defRPr>
            </a:pPr>
            <a:r>
              <a:rPr sz="1425" b="1" i="0">
                <a:solidFill>
                  <a:srgbClr val="2E7D5B"/>
                </a:solidFill>
              </a:rPr>
              <a:t>19胜 1平 0负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A8D34-8627-4F90-A903-171BECB3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95%区间 92.5%–100%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DD430-54E2-4BDD-B86B-2217DCD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口径：得分率 = 胜 + 0.5×平；20条Query，双评审双顺序。</a:t>
            </a:r>
          </a:p>
        </p:txBody>
      </p:sp>
    </p:spTree>
    <p:extLst>
      <p:ext uri="{BB962C8B-B14F-4D97-AF65-F5344CB8AC3E}">
        <p14:creationId xmlns:p14="http://schemas.microsoft.com/office/powerpoint/2010/main" val="1703585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35128-147F-4585-B1CD-15B97801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04 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E2665-0133-444E-BBD1-4A562E80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相对最强基线，方法优势集中在机理、能力映射与前瞻性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309A6-3BE2-43D0-968E-EBCE566D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39277-575E-49FE-BD2A-8A7E63C8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C1873-2A52-4DC5-AD60-229255E2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7962900" cy="4210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779ca0173f4d3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B19AE-7314-4BC5-B37E-AB6EAAE8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57350"/>
            <a:ext cx="2476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0E377-6ED0-48C6-B654-81941B60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47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E7D5B"/>
                </a:solidFill>
              </a:defRPr>
            </a:pPr>
            <a:r>
              <a:rPr sz="1575" b="1" i="0">
                <a:solidFill>
                  <a:srgbClr val="2E7D5B"/>
                </a:solidFill>
              </a:rPr>
              <a:t>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8CA34-6C8F-4F93-9D1B-D80F909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288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能力映射 69:10</a:t>
            </a:r>
          </a:p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军事价值 69:11</a:t>
            </a:r>
          </a:p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前瞻性 71:4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2B7C7-371A-4574-BDDA-39AB5A67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62350"/>
            <a:ext cx="2476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B552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805FD-B4CE-456E-A68D-F00A5178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5524B"/>
                </a:solidFill>
              </a:defRPr>
            </a:pPr>
            <a:r>
              <a:rPr sz="1575" b="1" i="0">
                <a:solidFill>
                  <a:srgbClr val="B5524B"/>
                </a:solidFill>
              </a:rPr>
              <a:t>短板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60D0E-54A9-47CB-A461-49912090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338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事实证据 16:50</a:t>
            </a:r>
          </a:p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另有14票持平</a:t>
            </a:r>
          </a:p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需强化正文—证据逐条绑定</a:t>
            </a:r>
          </a:p>
        </p:txBody>
      </p:sp>
    </p:spTree>
    <p:extLst>
      <p:ext uri="{BB962C8B-B14F-4D97-AF65-F5344CB8AC3E}">
        <p14:creationId xmlns:p14="http://schemas.microsoft.com/office/powerpoint/2010/main" val="3727608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16FAB-A212-43B7-BAF9-15DE825B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04 BENCHMARK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5A933-F54C-450C-9D09-78EF4C32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质量提升伴随明显时延成本，下一阶段需优化质量—效率前沿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A2F33-C4AD-4C86-9934-5854B7C5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BD9CF-E467-4FC7-93DB-176E2BEF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69041-9196-4E84-B1D4-0C82E932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83C15-C1B5-4B1D-A40E-5ACB81C4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</a:defRPr>
            </a:pPr>
            <a:r>
              <a:rPr sz="1350" b="1" i="0">
                <a:solidFill>
                  <a:srgbClr val="17202A"/>
                </a:solidFill>
              </a:rPr>
              <a:t>完整方法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C444D-039A-4F5B-97E7-0F661DC1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28775"/>
            <a:ext cx="632555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8DC6F-E5EB-4B94-AEC8-2FD42E24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9653" y="15811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63A6"/>
                </a:solidFill>
              </a:defRPr>
            </a:pPr>
            <a:r>
              <a:rPr sz="1275" b="1" i="0">
                <a:solidFill>
                  <a:srgbClr val="2563A6"/>
                </a:solidFill>
              </a:rPr>
              <a:t>22.9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4D0FE-5EAA-46F1-B9AE-FED9CBA2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14.3个来源/条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61441-6AC6-4ED7-94D0-E45835B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</a:defRPr>
            </a:pPr>
            <a:r>
              <a:rPr sz="1350" b="1" i="0">
                <a:solidFill>
                  <a:srgbClr val="17202A"/>
                </a:solidFill>
              </a:rPr>
              <a:t>通用Agent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264BC-ED47-48BC-BB4F-2CC3F806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05075"/>
            <a:ext cx="828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802A9-69CB-4FAA-91AC-046F01E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574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E7D5B"/>
                </a:solidFill>
              </a:defRPr>
            </a:pPr>
            <a:r>
              <a:rPr sz="1275" b="1" i="0">
                <a:solidFill>
                  <a:srgbClr val="2E7D5B"/>
                </a:solidFill>
              </a:rPr>
              <a:t>3.0 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027CE-EA32-47AB-BD37-0604CF8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574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11.8个来源/条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A1974-97EB-4B24-9BEF-93C8E19F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</a:defRPr>
            </a:pPr>
            <a:r>
              <a:rPr sz="1350" b="1" i="0">
                <a:solidFill>
                  <a:srgbClr val="17202A"/>
                </a:solidFill>
              </a:rPr>
              <a:t>纯LLM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AA34F-D31E-4F39-AB55-54EDDA90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81375"/>
            <a:ext cx="6905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B"/>
          </a:solidFill>
          <a:ln xmlns:a="http://schemas.openxmlformats.org/drawingml/2006/main" w="9525">
            <a:solidFill>
              <a:srgbClr val="C88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F4D9B-91D2-44F0-855D-123B00F2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3333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88A2B"/>
                </a:solidFill>
              </a:defRPr>
            </a:pPr>
            <a:r>
              <a:rPr sz="1275" b="1" i="0">
                <a:solidFill>
                  <a:srgbClr val="C88A2B"/>
                </a:solidFill>
              </a:rPr>
              <a:t>2.5 分钟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2E8AA-5498-4667-9590-A41C327F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无联网来源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AF902-F386-475D-A4AF-FD8BB59E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</a:defRPr>
            </a:pPr>
            <a:r>
              <a:rPr sz="1350" b="1" i="0">
                <a:solidFill>
                  <a:srgbClr val="17202A"/>
                </a:solidFill>
              </a:rPr>
              <a:t>智谱LLM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ABA13-4A01-48C2-B54C-5BD12BE6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5767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FAE"/>
          </a:solidFill>
          <a:ln xmlns:a="http://schemas.openxmlformats.org/drawingml/2006/main" w="9525">
            <a:solidFill>
              <a:srgbClr val="8B6F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98E01-B73D-4F9F-86A1-2DE27984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100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B6FAE"/>
                </a:solidFill>
              </a:defRPr>
            </a:pPr>
            <a:r>
              <a:rPr sz="1275" b="1" i="0">
                <a:solidFill>
                  <a:srgbClr val="8B6FAE"/>
                </a:solidFill>
              </a:rPr>
              <a:t>0.8 分钟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38C3E-D5D1-42DF-812C-207156EA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0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无联网来源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FF697-67C7-4A00-A8FB-3F13161F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1456F-26F0-47A8-95F3-5B8B13AF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6324F"/>
                </a:solidFill>
              </a:defRPr>
            </a:pPr>
            <a:r>
              <a:rPr sz="1275" b="0" i="0">
                <a:solidFill>
                  <a:srgbClr val="16324F"/>
                </a:solidFill>
              </a:rPr>
              <a:t>建议优化目标：在不降低五项审计门槛的前提下，将完整方法P50时延压缩至15分钟以内，并提升正式证据绑定率。</a:t>
            </a:r>
          </a:p>
        </p:txBody>
      </p:sp>
    </p:spTree>
    <p:extLst>
      <p:ext uri="{BB962C8B-B14F-4D97-AF65-F5344CB8AC3E}">
        <p14:creationId xmlns:p14="http://schemas.microsoft.com/office/powerpoint/2010/main" val="3937484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9D610-14A5-496F-850D-DB53DD29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05 ABLATION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BA077-2BC7-48C4-B3AA-8A0E82C9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消融实验分别验证“多源研究”和“制胜机理”两项核心设计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3E550-EAC7-4F2C-878D-133BD9CD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938DD-A1C6-472F-A3B0-F55271F0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A8C46-3E95-4227-B139-3EB4004F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6E153-A524-4F24-B453-1F9D8A2B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EB510-3E88-4446-AA65-EFA6AF91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E7D5B"/>
                </a:solidFill>
              </a:defRPr>
            </a:pPr>
            <a:r>
              <a:rPr sz="1650" b="1" i="0">
                <a:solidFill>
                  <a:srgbClr val="2E7D5B"/>
                </a:solidFill>
              </a:rPr>
              <a:t>完整方法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EB681-1855-4771-8C00-D4931389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多角色、多通道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77B2E-DC4E-430E-85A6-E74BB2C8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S1–S6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CEBA8-FF81-49D0-8375-3A869893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L1–L4启用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ACD7A-9B18-435C-89EA-5A760DC9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3E3"/>
          </a:solidFill>
          <a:ln xmlns:a="http://schemas.openxmlformats.org/drawingml/2006/main" w="9525">
            <a:solidFill>
              <a:srgbClr val="C88A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5DA81-19CB-4DFB-9485-71D10108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88A2B"/>
                </a:solidFill>
              </a:defRPr>
            </a:pPr>
            <a:r>
              <a:rPr sz="1650" b="1" i="0">
                <a:solidFill>
                  <a:srgbClr val="C88A2B"/>
                </a:solidFill>
              </a:rPr>
              <a:t>去多源基线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BA552-0154-4945-967F-0368942A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单通用Agent、单通道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1184E-2E55-4DE8-B4F9-FAB9A7ED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单次S1–S6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9475E-4FCC-4718-81F3-7081A5C5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循环关闭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3D86C-0206-4C47-8D8F-D3657EFE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B552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C1A86-115C-4797-85E9-0B5C73F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5524B"/>
                </a:solidFill>
              </a:defRPr>
            </a:pPr>
            <a:r>
              <a:rPr sz="1650" b="1" i="0">
                <a:solidFill>
                  <a:srgbClr val="B5524B"/>
                </a:solidFill>
              </a:rPr>
              <a:t>去制胜机理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FFCF6-7544-45A6-AFE0-57F39C5D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完整多源基线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93D3A-8892-4475-BA29-93424E8C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814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跳过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6CACA-D968-4D60-A8A3-12F76A10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155"/>
                </a:solidFill>
              </a:defRPr>
            </a:pPr>
            <a:r>
              <a:rPr sz="1350" b="0" i="0">
                <a:solidFill>
                  <a:srgbClr val="334155"/>
                </a:solidFill>
              </a:rPr>
              <a:t>循环关闭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02F6D-7C41-4965-9E63-8FDE4DE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324F"/>
                </a:solidFill>
              </a:defRPr>
            </a:pPr>
            <a:r>
              <a:rPr sz="1575" b="1" i="0">
                <a:solidFill>
                  <a:srgbClr val="16324F"/>
                </a:solidFill>
              </a:rPr>
              <a:t>实验控制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6B44A-381D-4157-A5D6-A0C5D5C1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8160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8条Query｜真实模式｜相同盲评规则｜检查被禁用阶段是否仍产生事件｜Bootstrap区间用于约束结论强度</a:t>
            </a:r>
          </a:p>
        </p:txBody>
      </p:sp>
    </p:spTree>
    <p:extLst>
      <p:ext uri="{BB962C8B-B14F-4D97-AF65-F5344CB8AC3E}">
        <p14:creationId xmlns:p14="http://schemas.microsoft.com/office/powerpoint/2010/main" val="4882330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068B1-BF9C-4309-8387-A43169D6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05 ABLATION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F6701-9C0E-4D1F-AC34-3B6069A4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制胜机理贡献明确；多源研究目前仅显示方向性收益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CA8DF-7242-4E3B-AA58-FF86CCF0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0B8B1-C694-4E3C-804A-01DF2836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8D0C3-AC95-48E1-B545-BC35E1C4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6400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13c77ba61a452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7A952-764C-480A-A4C8-B622280E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81150"/>
            <a:ext cx="3924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BF3E3"/>
          </a:solidFill>
          <a:ln xmlns:a="http://schemas.openxmlformats.org/drawingml/2006/main" w="9525">
            <a:solidFill>
              <a:srgbClr val="C88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EBE9B-36EC-4A15-9A19-23F7C077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88A2B"/>
                </a:solidFill>
              </a:defRPr>
            </a:pPr>
            <a:r>
              <a:rPr sz="1500" b="1" i="0">
                <a:solidFill>
                  <a:srgbClr val="C88A2B"/>
                </a:solidFill>
              </a:rPr>
              <a:t>去多源基线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AA162-7C51-4570-8FC0-FB4E9857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5胜0平3负｜得分率62.5%</a:t>
            </a:r>
          </a:p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95%配对区间跨0，仅能报告方向性证据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8B1CA-F7A4-4652-973E-172A64E8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3924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89812-792F-4875-A2F2-BCD8E6CE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E7D5B"/>
                </a:solidFill>
              </a:defRPr>
            </a:pPr>
            <a:r>
              <a:rPr sz="1500" b="1" i="0">
                <a:solidFill>
                  <a:srgbClr val="2E7D5B"/>
                </a:solidFill>
              </a:rPr>
              <a:t>去制胜机理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66F39-5D24-4520-A984-D22B9E3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7胜1平0负｜得分率93.8%</a:t>
            </a:r>
          </a:p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95%配对区间[62.5%,100%]，设计贡献得到支持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4B9A2-9C77-41DA-A590-CB9F14BD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3ABB7-AC5D-4B1D-A6D3-F22F719F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040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324F"/>
                </a:solidFill>
              </a:defRPr>
            </a:pPr>
            <a:r>
              <a:rPr sz="1350" b="1" i="0">
                <a:solidFill>
                  <a:srgbClr val="16324F"/>
                </a:solidFill>
              </a:rPr>
              <a:t>解释：S1–S6制胜链是当前质量跃升的主要来源；多源Agent的独立增益需要扩大样本并严格同版本重跑。</a:t>
            </a:r>
          </a:p>
        </p:txBody>
      </p:sp>
    </p:spTree>
    <p:extLst>
      <p:ext uri="{BB962C8B-B14F-4D97-AF65-F5344CB8AC3E}">
        <p14:creationId xmlns:p14="http://schemas.microsoft.com/office/powerpoint/2010/main" val="11070460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6CF9B-57CC-4B77-884F-907ACC97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563A6"/>
                </a:solidFill>
              </a:defRPr>
            </a:pPr>
            <a:r>
              <a:rPr sz="975" b="1" i="0">
                <a:solidFill>
                  <a:srgbClr val="2563A6"/>
                </a:solidFill>
              </a:rPr>
              <a:t>06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02B5A-93BD-4D7F-8581-918D434C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02A"/>
                </a:solidFill>
              </a:defRPr>
            </a:pPr>
            <a:r>
              <a:rPr sz="2700" b="1" i="0">
                <a:solidFill>
                  <a:srgbClr val="17202A"/>
                </a:solidFill>
              </a:rPr>
              <a:t>下一阶段聚焦证据闭环、规模验证与效率优化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8D971-7DD0-41C1-B63A-4F5D4EEC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CADF1-1562-4461-A10D-EA3E3D0D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4B7A9-7529-49A7-A19F-80E51F86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装备能力图像 Deep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78D64-F931-4631-A4E3-6545AFFA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B5524B"/>
          </a:solidFill>
          <a:ln xmlns:a="http://schemas.openxmlformats.org/drawingml/2006/main" w="9525">
            <a:solidFill>
              <a:srgbClr val="B552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01EDC-3DF7-4A29-B319-8F989681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209A1-7A7D-4E99-A761-43E2A3E5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668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</a:defRPr>
            </a:pPr>
            <a:r>
              <a:rPr sz="1500" b="1" i="0">
                <a:solidFill>
                  <a:srgbClr val="17202A"/>
                </a:solidFill>
              </a:rPr>
              <a:t>强化证据绑定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EFAD6-8C81-4898-89CA-C344F5EB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66850"/>
            <a:ext cx="720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正文关键结论逐条绑定正式Evidence ID；消除“证据卡未登记/需核验”的残留输出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51C06-F1FA-4C61-BE73-3A57AC14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23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B5524B"/>
          </a:solidFill>
          <a:ln xmlns:a="http://schemas.openxmlformats.org/drawingml/2006/main" w="9525">
            <a:solidFill>
              <a:srgbClr val="B552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2A855-8F9C-497F-939C-2AF5C753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2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1959B-7171-4182-B3F7-60693A36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05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</a:defRPr>
            </a:pPr>
            <a:r>
              <a:rPr sz="1500" b="1" i="0">
                <a:solidFill>
                  <a:srgbClr val="17202A"/>
                </a:solidFill>
              </a:rPr>
              <a:t>扩大Benchmark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0A6C1-6F32-4582-B956-2D051650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720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从20条扩至50条全量；加入专家人工抽检与跨评审模型一致性检查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955B4-8833-4D5B-BD00-F13BB45A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23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88A2B"/>
          </a:solidFill>
          <a:ln xmlns:a="http://schemas.openxmlformats.org/drawingml/2006/main" w="9525">
            <a:solidFill>
              <a:srgbClr val="C88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11CE6-D11F-4537-B193-A6E0DA21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2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E3FFF-6649-4B4D-8EB2-C68050F2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</a:defRPr>
            </a:pPr>
            <a:r>
              <a:rPr sz="1500" b="1" i="0">
                <a:solidFill>
                  <a:srgbClr val="17202A"/>
                </a:solidFill>
              </a:rPr>
              <a:t>严格重跑消融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05338-56F2-4E1F-8322-738A92D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720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同模型、同时间窗、同配置独立执行；增加去反馈循环、去证据门控等组别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4C609-DA08-4DA9-B0C0-C7C96CD5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23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88A2B"/>
          </a:solidFill>
          <a:ln xmlns:a="http://schemas.openxmlformats.org/drawingml/2006/main" w="9525">
            <a:solidFill>
              <a:srgbClr val="C88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0AE36-C536-49D1-AD43-694309D3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2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3D309-D05F-4C25-A212-D055034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</a:defRPr>
            </a:pPr>
            <a:r>
              <a:rPr sz="1500" b="1" i="0">
                <a:solidFill>
                  <a:srgbClr val="17202A"/>
                </a:solidFill>
              </a:rPr>
              <a:t>优化时延成本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905A2-CAD5-47E2-A5A1-250B547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81450"/>
            <a:ext cx="720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并发检索、增量搜索、上下文裁剪、局部恢复；建立质量—耗时Pareto看板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7343F-2A78-4298-963D-A01D1AEF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23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74C39-0E36-4F51-B2D8-AC7061CD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2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54BA5-0272-401B-ABE8-C88252A7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196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02A"/>
                </a:solidFill>
              </a:defRPr>
            </a:pPr>
            <a:r>
              <a:rPr sz="1500" b="1" i="0">
                <a:solidFill>
                  <a:srgbClr val="17202A"/>
                </a:solidFill>
              </a:rPr>
              <a:t>深化需求覆盖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2D24B-D469-4155-8697-DD9BEA09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19650"/>
            <a:ext cx="720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155"/>
                </a:solidFill>
              </a:defRPr>
            </a:pPr>
            <a:r>
              <a:rPr sz="1275" b="0" i="0">
                <a:solidFill>
                  <a:srgbClr val="334155"/>
                </a:solidFill>
              </a:rPr>
              <a:t>围绕文档12类分类提问和6类颠覆逻辑建立分层覆盖率与缺口清单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33AF9B-D5D4-43EA-8C52-24189178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097F30-A0E8-4B3B-BBE9-F13A75A2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5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建议决策：批准进入“证据质量专项 + 50条全量Benchmark + 同版本消融复测”阶段。</a:t>
            </a:r>
          </a:p>
        </p:txBody>
      </p:sp>
    </p:spTree>
    <p:extLst>
      <p:ext uri="{BB962C8B-B14F-4D97-AF65-F5344CB8AC3E}">
        <p14:creationId xmlns:p14="http://schemas.microsoft.com/office/powerpoint/2010/main" val="2114364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2026-07-29T10:50:14.3070000Z</dcterms:created>
  <dcterms:modified xsi:type="dcterms:W3CDTF">2026-07-29T10:50:14.3070000Z</dcterms:modified>
</coreProperties>
</file>