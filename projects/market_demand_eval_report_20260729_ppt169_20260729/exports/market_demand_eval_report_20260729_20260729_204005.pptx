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本次汇报聚焦三个问题：文档中的发散要求是否真正落地，完整方法在 Benchmark 中表现如何，以及关键模块到底贡献了什么。当前结论是，三层九项、制胜机理和评测闭环已经形成可运行系统，并获得初步效果证据。下一阶段的重点不是继续增加复杂度，而是补强证据质量、扩大样本并降低运行时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先看三点结论。第一，A 到 H 的研究路径、三层九项、S1 到 S6、L1 到 L4，以及审计恢复能力已经具备；第二，对最强通用 Agent 的得分率为百分之八十二点五；第三，事实证据维度和二十二点九分钟的平均耗时仍是规模化验证的主要约束。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原始文档允许研究路径、场景战法、装备技术和验证交付充分发散，但最终必须回到五项业务验收。也就是说，成果必须真正符合领域属性，形成装备能力图像，论证制胜效能，同时兼顾创新性和可实现性。这个拆解决定了项目不是一般性的资料检索工具。</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从落实情况看，需求层、技术层和装备决策层都已经映射成明确产物。运行验收显示，A 到 H 路由、六步推理、九字段能力画像、证据、审计、恢复和并发等主要检查均已通过。当前运行完成、发布就绪和审计批准状态都已经形成工程证据。</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项目主链从 Query 和模板开始，经由 A 到 H 路由与多源研究，进入 S1 到 S6 的制胜机理推理，再输出三层九项报告和能力画像。最后通过 L1 到 L4 完成复核、审计和恢复。这样每一步都有结构化产物，也能追溯结论来自哪里。</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的作用，是允许研究过程发散，同时保证交付不会失控。需求挖掘层回答场景、战法机理和能力特征，技术攻关层回答实现途径、核心技术和耦合短板，装备决策层回答装备映射、演示验证和优先级抓手。S1 到 S6 负责机理收敛，L1 到 L4 负责质量回路。</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Benchmark 使用同一批二十条 Query 比较四套系统，并复用真实完成的研究报告。总计形成八十份回答和一百二十个盲评配对，由两名 GPT-5.5 评审专家分别执行 A 对 B 和 B 对 A 的双顺序评审。本轮评审错误数为零，前端也保留了完整运行记录。</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五项业务验收进一步拆成八个可判维度，避免只凭总体印象判断。评审关注任务完成、事实证据、因果机理、军事价值、能力映射、前瞻创新、体系稳健和不确定性验证。篇幅更长、格式更复杂或者术语更多，都不会自动获得更高评价。</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总体结果显示，完整方法对三类基线均领先。对通用 Agent 是十五胜三平两负，得分率百分之八十二点五，百分之九十五区间为百分之六十五到百分之九十五；对纯 LLM 和智谱 GLM 均为十九胜一平零负，得分率百分之九十七点五。右侧截图展示了前端保存的真实结果和八维票型。</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进一步看最强基线，完整方法在任务完成、因果机理、能力映射、军事价值、前瞻性、体系稳健和不确定性七个维度领先。唯一明显反向的是证据与事实可靠性，完整方法、平票、通用 Agent 的票型为十六比十四比五十。这说明下一阶段最优先的工作不是继续增加推理层次，而是把正文结论和可靠证据强绑定。</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质量优势伴随着明显的运行成本。完整方法平均耗时二十二点九分钟，约为通用 Agent 的七点五倍，但平均来源数也达到十四点三。建议采用轻量筛选、按需升级深研、复用证据缓存和控制并行预算的分层策略。</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消融实验设置了完整方法、去多源基线和去制胜机理三组。去多源组只把研究基线替换为单一受限通用检索 Agent，其余机理和循环保留；去制胜机理组保留多源基线，但跳过 S1 到 S6 并关闭质量循环。本轮使用八条 Query 和双 Judge，结果定位为探索性证据。</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去多源实验中，完整方法五胜零平三负，得分率百分之六十二点五，但区间跨越零，因此只能视为方向性证据。去制胜机理实验中，完整方法七胜一平零负，得分率百分之九十三点八，区间为百分之六十二点五到百分之百，对设计贡献形成了较明确支持。两组结果都提示正式复测必须采用同版本、同批次运行。</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建议下一阶段批准三个工作包。第一，启动证据质量专项，完成正文与证据卡强绑定、关键数字核验和来源分级；第二，完成五十条全量 Benchmark，并固定版本和预注册口径；第三，开展同版本消融复测，同时记录质量、时延和成本。完成这三项后，项目才能从初步有效走向稳定可信和可规模化。</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rket_demand_eval_report_20260729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rket_demand_eval_report_20260729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2e24efd05c412dc.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99a5d2f83b9cdc4.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5fb4a68b2532c6.jp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9e7e58d71cf94de.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chemeClr val="accent1"/>
          </a:solidFill>
          <a:ln>
            <a:noFill/>
          </a:ln>
        </p:spPr>
      </p:sp>
      <p:grpSp>
        <p:nvGrpSpPr>
          <p:cNvPr id="7" name="Group 7"/>
          <p:cNvGrpSpPr/>
          <p:nvPr/>
        </p:nvGrpSpPr>
        <p:grpSpPr>
          <a:xfrm>
            <a:off x="688848" y="1378268"/>
            <a:ext cx="4232529" cy="2265616"/>
            <a:chOff x="688848" y="1378268"/>
            <a:chExt cx="4232529" cy="2265616"/>
          </a:xfrm>
        </p:grpSpPr>
        <p:sp>
          <p:nvSpPr>
            <p:cNvPr id="3" name="TextBox 3"/>
            <p:cNvSpPr txBox="1"/>
            <p:nvPr/>
          </p:nvSpPr>
          <p:spPr>
            <a:xfrm>
              <a:off x="697992" y="1378268"/>
              <a:ext cx="173113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阶段评审 · 2026.07</a:t>
              </a:r>
            </a:p>
          </p:txBody>
        </p:sp>
        <p:sp>
          <p:nvSpPr>
            <p:cNvPr id="4" name="TextBox 4"/>
            <p:cNvSpPr txBox="1"/>
            <p:nvPr/>
          </p:nvSpPr>
          <p:spPr>
            <a:xfrm>
              <a:off x="688848" y="1869758"/>
              <a:ext cx="4232529" cy="1187577"/>
            </a:xfrm>
            <a:prstGeom prst="rect">
              <a:avLst/>
            </a:prstGeom>
            <a:noFill/>
            <a:ln>
              <a:noFill/>
            </a:ln>
          </p:spPr>
          <p:txBody>
            <a:bodyPr wrap="square" lIns="0" tIns="0" rIns="0" bIns="0" anchor="t" anchorCtr="0"/>
            <a:lstStyle/>
            <a:p>
              <a:pPr algn="l">
                <a:lnSpc>
                  <a:spcPts val="4500"/>
                </a:lnSpc>
              </a:pPr>
              <a:r>
                <a:rPr lang="zh-CN" sz="3150" b="1" dirty="0">
                  <a:solidFill>
                    <a:schemeClr val="accent1"/>
                  </a:solidFill>
                  <a:latin typeface="+mn-lt"/>
                  <a:ea typeface="+mn-ea"/>
                  <a:cs typeface="+mn-cs"/>
                </a:rPr>
                <a:t>市场需求发散要求落实与评测汇报</a:t>
              </a:r>
            </a:p>
          </p:txBody>
        </p:sp>
        <p:sp>
          <p:nvSpPr>
            <p:cNvPr id="5" name="Rectangle 5"/>
            <p:cNvSpPr/>
            <p:nvPr/>
          </p:nvSpPr>
          <p:spPr>
            <a:xfrm>
              <a:off x="704850" y="3105150"/>
              <a:ext cx="1257300" cy="47625"/>
            </a:xfrm>
            <a:prstGeom prst="rect">
              <a:avLst/>
            </a:prstGeom>
            <a:solidFill>
              <a:schemeClr val="accent2"/>
            </a:solidFill>
            <a:ln>
              <a:noFill/>
            </a:ln>
          </p:spPr>
        </p:sp>
        <p:sp>
          <p:nvSpPr>
            <p:cNvPr id="6" name="TextBox 6"/>
            <p:cNvSpPr txBox="1"/>
            <p:nvPr/>
          </p:nvSpPr>
          <p:spPr>
            <a:xfrm>
              <a:off x="695706" y="3291840"/>
              <a:ext cx="378561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项目落实 · Benchmark · 消融实验</a:t>
              </a:r>
            </a:p>
          </p:txBody>
        </p:sp>
      </p:grpSp>
      <p:grpSp>
        <p:nvGrpSpPr>
          <p:cNvPr id="18" name="Group 18"/>
          <p:cNvGrpSpPr/>
          <p:nvPr/>
        </p:nvGrpSpPr>
        <p:grpSpPr>
          <a:xfrm>
            <a:off x="685800" y="4229100"/>
            <a:ext cx="10839450" cy="999173"/>
            <a:chOff x="685800" y="4229100"/>
            <a:chExt cx="10839450" cy="999173"/>
          </a:xfrm>
        </p:grpSpPr>
        <p:sp>
          <p:nvSpPr>
            <p:cNvPr id="8" name="Line 8"/>
            <p:cNvSpPr/>
            <p:nvPr/>
          </p:nvSpPr>
          <p:spPr>
            <a:xfrm>
              <a:off x="704850" y="4229100"/>
              <a:ext cx="10820400" cy="9525"/>
            </a:xfrm>
            <a:custGeom>
              <a:avLst/>
              <a:gdLst/>
              <a:ahLst/>
              <a:cxnLst/>
              <a:rect l="l" t="t" r="r" b="b"/>
              <a:pathLst>
                <a:path w="10820400" h="9525">
                  <a:moveTo>
                    <a:pt x="0" y="0"/>
                  </a:moveTo>
                  <a:lnTo>
                    <a:pt x="10820400" y="0"/>
                  </a:lnTo>
                </a:path>
              </a:pathLst>
            </a:custGeom>
            <a:noFill/>
            <a:ln w="19050">
              <a:solidFill>
                <a:srgbClr val="D8E1EA"/>
              </a:solidFill>
            </a:ln>
          </p:spPr>
        </p:sp>
        <p:sp>
          <p:nvSpPr>
            <p:cNvPr id="9" name="TextBox 9"/>
            <p:cNvSpPr txBox="1"/>
            <p:nvPr/>
          </p:nvSpPr>
          <p:spPr>
            <a:xfrm>
              <a:off x="6858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10" name="TextBox 10"/>
            <p:cNvSpPr txBox="1"/>
            <p:nvPr/>
          </p:nvSpPr>
          <p:spPr>
            <a:xfrm>
              <a:off x="1572006" y="4415790"/>
              <a:ext cx="179931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三层九项已落地</a:t>
              </a:r>
            </a:p>
          </p:txBody>
        </p:sp>
        <p:sp>
          <p:nvSpPr>
            <p:cNvPr id="11" name="TextBox 11"/>
            <p:cNvSpPr txBox="1"/>
            <p:nvPr/>
          </p:nvSpPr>
          <p:spPr>
            <a:xfrm>
              <a:off x="1574292" y="4807268"/>
              <a:ext cx="310324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需求合同与工程闭环具备运行验收证据</a:t>
              </a:r>
            </a:p>
          </p:txBody>
        </p:sp>
        <p:sp>
          <p:nvSpPr>
            <p:cNvPr id="12" name="TextBox 12"/>
            <p:cNvSpPr txBox="1"/>
            <p:nvPr/>
          </p:nvSpPr>
          <p:spPr>
            <a:xfrm>
              <a:off x="459105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3" name="TextBox 13"/>
            <p:cNvSpPr txBox="1"/>
            <p:nvPr/>
          </p:nvSpPr>
          <p:spPr>
            <a:xfrm>
              <a:off x="5477256" y="4415790"/>
              <a:ext cx="243779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Benchmark 初步领先</a:t>
              </a:r>
            </a:p>
          </p:txBody>
        </p:sp>
        <p:sp>
          <p:nvSpPr>
            <p:cNvPr id="14" name="TextBox 14"/>
            <p:cNvSpPr txBox="1"/>
            <p:nvPr/>
          </p:nvSpPr>
          <p:spPr>
            <a:xfrm>
              <a:off x="5479542" y="4807268"/>
              <a:ext cx="269711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对最强通用 Agent 得分率 82.5%</a:t>
              </a:r>
            </a:p>
          </p:txBody>
        </p:sp>
        <p:sp>
          <p:nvSpPr>
            <p:cNvPr id="15" name="TextBox 15"/>
            <p:cNvSpPr txBox="1"/>
            <p:nvPr/>
          </p:nvSpPr>
          <p:spPr>
            <a:xfrm>
              <a:off x="80391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16" name="TextBox 16"/>
            <p:cNvSpPr txBox="1"/>
            <p:nvPr/>
          </p:nvSpPr>
          <p:spPr>
            <a:xfrm>
              <a:off x="8925306" y="4415790"/>
              <a:ext cx="154487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补证据与效率</a:t>
              </a:r>
            </a:p>
          </p:txBody>
        </p:sp>
        <p:sp>
          <p:nvSpPr>
            <p:cNvPr id="17" name="TextBox 17"/>
            <p:cNvSpPr txBox="1"/>
            <p:nvPr/>
          </p:nvSpPr>
          <p:spPr>
            <a:xfrm>
              <a:off x="8927592" y="4807268"/>
              <a:ext cx="201282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扩大样本并降低平均时延</a:t>
              </a:r>
            </a:p>
          </p:txBody>
        </p:sp>
      </p:grpSp>
      <p:grpSp>
        <p:nvGrpSpPr>
          <p:cNvPr id="21" name="Group 21"/>
          <p:cNvGrpSpPr/>
          <p:nvPr/>
        </p:nvGrpSpPr>
        <p:grpSpPr>
          <a:xfrm>
            <a:off x="697992" y="6216968"/>
            <a:ext cx="10834116" cy="264033"/>
            <a:chOff x="697992" y="6216968"/>
            <a:chExt cx="10834116" cy="264033"/>
          </a:xfrm>
        </p:grpSpPr>
        <p:sp>
          <p:nvSpPr>
            <p:cNvPr id="19" name="TextBox 19"/>
            <p:cNvSpPr txBox="1"/>
            <p:nvPr/>
          </p:nvSpPr>
          <p:spPr>
            <a:xfrm>
              <a:off x="697992" y="6216968"/>
              <a:ext cx="27670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装备能力图像 · 市场需求挖掘项目</a:t>
              </a:r>
            </a:p>
          </p:txBody>
        </p:sp>
        <p:sp>
          <p:nvSpPr>
            <p:cNvPr id="20" name="TextBox 20"/>
            <p:cNvSpPr txBox="1"/>
            <p:nvPr/>
          </p:nvSpPr>
          <p:spPr>
            <a:xfrm>
              <a:off x="11318481" y="62169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181302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核心结论</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02</a:t>
              </a:r>
            </a:p>
          </p:txBody>
        </p:sp>
        <p:sp>
          <p:nvSpPr>
            <p:cNvPr id="4" name="Rectangle 4"/>
            <p:cNvSpPr/>
            <p:nvPr/>
          </p:nvSpPr>
          <p:spPr>
            <a:xfrm>
              <a:off x="609600" y="1066800"/>
              <a:ext cx="876300" cy="47625"/>
            </a:xfrm>
            <a:prstGeom prst="rect">
              <a:avLst/>
            </a:prstGeom>
            <a:solidFill>
              <a:schemeClr val="accent2"/>
            </a:solidFill>
            <a:ln>
              <a:noFill/>
            </a:ln>
          </p:spPr>
        </p:sp>
      </p:grpSp>
      <p:grpSp>
        <p:nvGrpSpPr>
          <p:cNvPr id="14" name="Group 14"/>
          <p:cNvGrpSpPr/>
          <p:nvPr/>
        </p:nvGrpSpPr>
        <p:grpSpPr>
          <a:xfrm>
            <a:off x="609600" y="1657350"/>
            <a:ext cx="3429000" cy="3333750"/>
            <a:chOff x="609600" y="1657350"/>
            <a:chExt cx="3429000" cy="3333750"/>
          </a:xfrm>
        </p:grpSpPr>
        <p:sp>
          <p:nvSpPr>
            <p:cNvPr id="6" name="Rectangle 6"/>
            <p:cNvSpPr/>
            <p:nvPr/>
          </p:nvSpPr>
          <p:spPr>
            <a:xfrm>
              <a:off x="609600" y="1657350"/>
              <a:ext cx="3429000" cy="3333750"/>
            </a:xfrm>
            <a:prstGeom prst="roundRect">
              <a:avLst>
                <a:gd name="adj" fmla="val 3429"/>
              </a:avLst>
            </a:prstGeom>
            <a:solidFill>
              <a:schemeClr val="accent5"/>
            </a:solidFill>
            <a:ln>
              <a:noFill/>
            </a:ln>
          </p:spPr>
        </p:sp>
        <p:sp>
          <p:nvSpPr>
            <p:cNvPr id="7" name="Rectangle 7"/>
            <p:cNvSpPr/>
            <p:nvPr/>
          </p:nvSpPr>
          <p:spPr>
            <a:xfrm>
              <a:off x="609600" y="1657350"/>
              <a:ext cx="3429000" cy="76200"/>
            </a:xfrm>
            <a:prstGeom prst="rect">
              <a:avLst/>
            </a:prstGeom>
            <a:solidFill>
              <a:schemeClr val="accent3"/>
            </a:solidFill>
            <a:ln>
              <a:noFill/>
            </a:ln>
          </p:spPr>
        </p:sp>
        <p:sp>
          <p:nvSpPr>
            <p:cNvPr id="8" name="TextBox 8"/>
            <p:cNvSpPr txBox="1"/>
            <p:nvPr/>
          </p:nvSpPr>
          <p:spPr>
            <a:xfrm>
              <a:off x="8572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9" name="TextBox 9"/>
            <p:cNvSpPr txBox="1"/>
            <p:nvPr/>
          </p:nvSpPr>
          <p:spPr>
            <a:xfrm>
              <a:off x="8641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主链已跑通</a:t>
              </a:r>
            </a:p>
          </p:txBody>
        </p:sp>
        <p:sp>
          <p:nvSpPr>
            <p:cNvPr id="10" name="TextBox 10"/>
            <p:cNvSpPr txBox="1"/>
            <p:nvPr/>
          </p:nvSpPr>
          <p:spPr>
            <a:xfrm>
              <a:off x="867156" y="3101340"/>
              <a:ext cx="154167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A–H 发散路径</a:t>
              </a:r>
            </a:p>
          </p:txBody>
        </p:sp>
        <p:sp>
          <p:nvSpPr>
            <p:cNvPr id="11" name="TextBox 11"/>
            <p:cNvSpPr txBox="1"/>
            <p:nvPr/>
          </p:nvSpPr>
          <p:spPr>
            <a:xfrm>
              <a:off x="867156" y="346329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三层九项 · S1–S6</a:t>
              </a:r>
            </a:p>
          </p:txBody>
        </p:sp>
        <p:sp>
          <p:nvSpPr>
            <p:cNvPr id="12" name="TextBox 12"/>
            <p:cNvSpPr txBox="1"/>
            <p:nvPr/>
          </p:nvSpPr>
          <p:spPr>
            <a:xfrm>
              <a:off x="867156" y="382524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L1–L4 · 审计恢复</a:t>
              </a:r>
            </a:p>
          </p:txBody>
        </p:sp>
        <p:sp>
          <p:nvSpPr>
            <p:cNvPr id="13" name="TextBox 13"/>
            <p:cNvSpPr txBox="1"/>
            <p:nvPr/>
          </p:nvSpPr>
          <p:spPr>
            <a:xfrm>
              <a:off x="869442" y="4483418"/>
              <a:ext cx="1876520" cy="264033"/>
            </a:xfrm>
            <a:prstGeom prst="rect">
              <a:avLst/>
            </a:prstGeom>
            <a:noFill/>
            <a:ln>
              <a:noFill/>
            </a:ln>
          </p:spPr>
          <p:txBody>
            <a:bodyPr wrap="none" lIns="0" tIns="0" rIns="0" bIns="0" anchor="t" anchorCtr="0">
              <a:spAutoFit/>
            </a:bodyPr>
            <a:lstStyle/>
            <a:p>
              <a:pPr algn="l"/>
              <a:r>
                <a:rPr lang="en-US" sz="1350" dirty="0">
                  <a:solidFill>
                    <a:srgbClr val="6B7785"/>
                  </a:solidFill>
                  <a:latin typeface="+mn-lt"/>
                  <a:ea typeface="+mn-ea"/>
                  <a:cs typeface="+mn-cs"/>
                </a:rPr>
                <a:t>release_ready = true</a:t>
              </a:r>
            </a:p>
          </p:txBody>
        </p:sp>
      </p:grpSp>
      <p:grpSp>
        <p:nvGrpSpPr>
          <p:cNvPr id="22" name="Group 22"/>
          <p:cNvGrpSpPr/>
          <p:nvPr/>
        </p:nvGrpSpPr>
        <p:grpSpPr>
          <a:xfrm>
            <a:off x="4381500" y="1657350"/>
            <a:ext cx="3429000" cy="3333750"/>
            <a:chOff x="4381500" y="1657350"/>
            <a:chExt cx="3429000" cy="3333750"/>
          </a:xfrm>
        </p:grpSpPr>
        <p:sp>
          <p:nvSpPr>
            <p:cNvPr id="15" name="Rectangle 15"/>
            <p:cNvSpPr/>
            <p:nvPr/>
          </p:nvSpPr>
          <p:spPr>
            <a:xfrm>
              <a:off x="4381500" y="1657350"/>
              <a:ext cx="3429000" cy="3333750"/>
            </a:xfrm>
            <a:prstGeom prst="roundRect">
              <a:avLst>
                <a:gd name="adj" fmla="val 3429"/>
              </a:avLst>
            </a:prstGeom>
            <a:solidFill>
              <a:schemeClr val="accent5"/>
            </a:solidFill>
            <a:ln>
              <a:noFill/>
            </a:ln>
          </p:spPr>
        </p:sp>
        <p:sp>
          <p:nvSpPr>
            <p:cNvPr id="16" name="Rectangle 16"/>
            <p:cNvSpPr/>
            <p:nvPr/>
          </p:nvSpPr>
          <p:spPr>
            <a:xfrm>
              <a:off x="4381500" y="1657350"/>
              <a:ext cx="3429000" cy="76200"/>
            </a:xfrm>
            <a:prstGeom prst="rect">
              <a:avLst/>
            </a:prstGeom>
            <a:solidFill>
              <a:schemeClr val="accent2"/>
            </a:solidFill>
            <a:ln>
              <a:noFill/>
            </a:ln>
          </p:spPr>
        </p:sp>
        <p:sp>
          <p:nvSpPr>
            <p:cNvPr id="17" name="TextBox 17"/>
            <p:cNvSpPr txBox="1"/>
            <p:nvPr/>
          </p:nvSpPr>
          <p:spPr>
            <a:xfrm>
              <a:off x="4629150" y="1732598"/>
              <a:ext cx="210217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82.5%</a:t>
              </a:r>
            </a:p>
          </p:txBody>
        </p:sp>
        <p:sp>
          <p:nvSpPr>
            <p:cNvPr id="18" name="TextBox 18"/>
            <p:cNvSpPr txBox="1"/>
            <p:nvPr/>
          </p:nvSpPr>
          <p:spPr>
            <a:xfrm>
              <a:off x="4636008" y="25412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初步效果领先</a:t>
              </a:r>
            </a:p>
          </p:txBody>
        </p:sp>
        <p:sp>
          <p:nvSpPr>
            <p:cNvPr id="19" name="TextBox 19"/>
            <p:cNvSpPr txBox="1"/>
            <p:nvPr/>
          </p:nvSpPr>
          <p:spPr>
            <a:xfrm>
              <a:off x="4639056" y="3158490"/>
              <a:ext cx="15008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对通用 Agent</a:t>
              </a:r>
            </a:p>
          </p:txBody>
        </p:sp>
        <p:sp>
          <p:nvSpPr>
            <p:cNvPr id="20" name="TextBox 20"/>
            <p:cNvSpPr txBox="1"/>
            <p:nvPr/>
          </p:nvSpPr>
          <p:spPr>
            <a:xfrm>
              <a:off x="4636770" y="3605212"/>
              <a:ext cx="2694394"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15 胜 · 3 平 · 2 负</a:t>
              </a:r>
            </a:p>
          </p:txBody>
        </p:sp>
        <p:sp>
          <p:nvSpPr>
            <p:cNvPr id="21" name="TextBox 21"/>
            <p:cNvSpPr txBox="1"/>
            <p:nvPr/>
          </p:nvSpPr>
          <p:spPr>
            <a:xfrm>
              <a:off x="4641342" y="4197668"/>
              <a:ext cx="227228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Bootstrap 95%：65%–95%</a:t>
              </a:r>
            </a:p>
          </p:txBody>
        </p:sp>
      </p:grpSp>
      <p:grpSp>
        <p:nvGrpSpPr>
          <p:cNvPr id="30" name="Group 30"/>
          <p:cNvGrpSpPr/>
          <p:nvPr/>
        </p:nvGrpSpPr>
        <p:grpSpPr>
          <a:xfrm>
            <a:off x="8153400" y="1657350"/>
            <a:ext cx="3429000" cy="3333750"/>
            <a:chOff x="8153400" y="1657350"/>
            <a:chExt cx="3429000" cy="3333750"/>
          </a:xfrm>
        </p:grpSpPr>
        <p:sp>
          <p:nvSpPr>
            <p:cNvPr id="23" name="Rectangle 23"/>
            <p:cNvSpPr/>
            <p:nvPr/>
          </p:nvSpPr>
          <p:spPr>
            <a:xfrm>
              <a:off x="8153400" y="1657350"/>
              <a:ext cx="3429000" cy="3333750"/>
            </a:xfrm>
            <a:prstGeom prst="roundRect">
              <a:avLst>
                <a:gd name="adj" fmla="val 3429"/>
              </a:avLst>
            </a:prstGeom>
            <a:solidFill>
              <a:schemeClr val="accent5"/>
            </a:solidFill>
            <a:ln>
              <a:noFill/>
            </a:ln>
          </p:spPr>
        </p:sp>
        <p:sp>
          <p:nvSpPr>
            <p:cNvPr id="24" name="Rectangle 24"/>
            <p:cNvSpPr/>
            <p:nvPr/>
          </p:nvSpPr>
          <p:spPr>
            <a:xfrm>
              <a:off x="8153400" y="1657350"/>
              <a:ext cx="3429000" cy="76200"/>
            </a:xfrm>
            <a:prstGeom prst="rect">
              <a:avLst/>
            </a:prstGeom>
            <a:solidFill>
              <a:schemeClr val="accent6"/>
            </a:solidFill>
            <a:ln>
              <a:noFill/>
            </a:ln>
          </p:spPr>
        </p:sp>
        <p:sp>
          <p:nvSpPr>
            <p:cNvPr id="25" name="TextBox 25"/>
            <p:cNvSpPr txBox="1"/>
            <p:nvPr/>
          </p:nvSpPr>
          <p:spPr>
            <a:xfrm>
              <a:off x="84010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6" name="TextBox 26"/>
            <p:cNvSpPr txBox="1"/>
            <p:nvPr/>
          </p:nvSpPr>
          <p:spPr>
            <a:xfrm>
              <a:off x="84079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短板已暴露</a:t>
              </a:r>
            </a:p>
          </p:txBody>
        </p:sp>
        <p:sp>
          <p:nvSpPr>
            <p:cNvPr id="27" name="TextBox 27"/>
            <p:cNvSpPr txBox="1"/>
            <p:nvPr/>
          </p:nvSpPr>
          <p:spPr>
            <a:xfrm>
              <a:off x="8410956" y="3139440"/>
              <a:ext cx="212643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事实证据 16:14:50</a:t>
              </a:r>
            </a:p>
          </p:txBody>
        </p:sp>
        <p:sp>
          <p:nvSpPr>
            <p:cNvPr id="28" name="TextBox 28"/>
            <p:cNvSpPr txBox="1"/>
            <p:nvPr/>
          </p:nvSpPr>
          <p:spPr>
            <a:xfrm>
              <a:off x="8410956" y="3615690"/>
              <a:ext cx="215066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平均耗时 22.9 分钟</a:t>
              </a:r>
            </a:p>
          </p:txBody>
        </p:sp>
        <p:sp>
          <p:nvSpPr>
            <p:cNvPr id="29" name="TextBox 29"/>
            <p:cNvSpPr txBox="1"/>
            <p:nvPr/>
          </p:nvSpPr>
          <p:spPr>
            <a:xfrm>
              <a:off x="8413242" y="4197668"/>
              <a:ext cx="183108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规模化验证的核心约束</a:t>
              </a:r>
            </a:p>
          </p:txBody>
        </p:sp>
      </p:grpSp>
      <p:grpSp>
        <p:nvGrpSpPr>
          <p:cNvPr id="33" name="Group 33"/>
          <p:cNvGrpSpPr/>
          <p:nvPr/>
        </p:nvGrpSpPr>
        <p:grpSpPr>
          <a:xfrm>
            <a:off x="609600" y="5372100"/>
            <a:ext cx="10972800" cy="876300"/>
            <a:chOff x="609600" y="5372100"/>
            <a:chExt cx="10972800" cy="876300"/>
          </a:xfrm>
        </p:grpSpPr>
        <p:sp>
          <p:nvSpPr>
            <p:cNvPr id="31" name="Rectangle 31"/>
            <p:cNvSpPr/>
            <p:nvPr/>
          </p:nvSpPr>
          <p:spPr>
            <a:xfrm>
              <a:off x="609600" y="5372100"/>
              <a:ext cx="10972800" cy="876300"/>
            </a:xfrm>
            <a:prstGeom prst="rect">
              <a:avLst/>
            </a:prstGeom>
            <a:solidFill>
              <a:schemeClr val="accent1"/>
            </a:solidFill>
            <a:ln>
              <a:noFill/>
            </a:ln>
          </p:spPr>
        </p:sp>
        <p:sp>
          <p:nvSpPr>
            <p:cNvPr id="32" name="TextBox 32"/>
            <p:cNvSpPr txBox="1"/>
            <p:nvPr/>
          </p:nvSpPr>
          <p:spPr>
            <a:xfrm>
              <a:off x="867156" y="5711190"/>
              <a:ext cx="8684971"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建议决策：优先启动证据质量专项、50 条全量 Benchmark、同版本消融复测</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原始需求拆解</a:t>
              </a:r>
            </a:p>
          </p:txBody>
        </p:sp>
        <p:sp>
          <p:nvSpPr>
            <p:cNvPr id="3" name="TextBox 3"/>
            <p:cNvSpPr txBox="1"/>
            <p:nvPr/>
          </p:nvSpPr>
          <p:spPr>
            <a:xfrm>
              <a:off x="600456" y="1024890"/>
              <a:ext cx="345917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从“开放发散”转化为“固定验收”</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03</a:t>
              </a:r>
            </a:p>
          </p:txBody>
        </p:sp>
      </p:grpSp>
      <p:grpSp>
        <p:nvGrpSpPr>
          <p:cNvPr id="21" name="Group 21"/>
          <p:cNvGrpSpPr/>
          <p:nvPr/>
        </p:nvGrpSpPr>
        <p:grpSpPr>
          <a:xfrm>
            <a:off x="609600" y="1695450"/>
            <a:ext cx="4476750" cy="4324350"/>
            <a:chOff x="609600" y="1695450"/>
            <a:chExt cx="4476750" cy="4324350"/>
          </a:xfrm>
        </p:grpSpPr>
        <p:sp>
          <p:nvSpPr>
            <p:cNvPr id="6" name="Rectangle 6"/>
            <p:cNvSpPr/>
            <p:nvPr/>
          </p:nvSpPr>
          <p:spPr>
            <a:xfrm>
              <a:off x="609600" y="1695450"/>
              <a:ext cx="4476750" cy="4324350"/>
            </a:xfrm>
            <a:prstGeom prst="rect">
              <a:avLst/>
            </a:prstGeom>
            <a:solidFill>
              <a:schemeClr val="accent5"/>
            </a:solidFill>
            <a:ln>
              <a:noFill/>
            </a:ln>
          </p:spPr>
        </p:sp>
        <p:sp>
          <p:nvSpPr>
            <p:cNvPr id="7" name="TextBox 7"/>
            <p:cNvSpPr txBox="1"/>
            <p:nvPr/>
          </p:nvSpPr>
          <p:spPr>
            <a:xfrm>
              <a:off x="864108" y="18935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四类发散输入</a:t>
              </a:r>
            </a:p>
          </p:txBody>
        </p:sp>
        <p:sp>
          <p:nvSpPr>
            <p:cNvPr id="8" name="Line 8"/>
            <p:cNvSpPr/>
            <p:nvPr/>
          </p:nvSpPr>
          <p:spPr>
            <a:xfrm>
              <a:off x="876300" y="2343150"/>
              <a:ext cx="3943350" cy="9525"/>
            </a:xfrm>
            <a:custGeom>
              <a:avLst/>
              <a:gdLst/>
              <a:ahLst/>
              <a:cxnLst/>
              <a:rect l="l" t="t" r="r" b="b"/>
              <a:pathLst>
                <a:path w="3943350" h="9525">
                  <a:moveTo>
                    <a:pt x="0" y="0"/>
                  </a:moveTo>
                  <a:lnTo>
                    <a:pt x="3943350" y="0"/>
                  </a:lnTo>
                </a:path>
              </a:pathLst>
            </a:custGeom>
            <a:noFill/>
            <a:ln w="19050">
              <a:solidFill>
                <a:srgbClr val="D8E1EA"/>
              </a:solidFill>
            </a:ln>
          </p:spPr>
        </p:sp>
        <p:sp>
          <p:nvSpPr>
            <p:cNvPr id="9" name="Ellipse 9"/>
            <p:cNvSpPr/>
            <p:nvPr/>
          </p:nvSpPr>
          <p:spPr>
            <a:xfrm>
              <a:off x="876300" y="2705100"/>
              <a:ext cx="304800" cy="304800"/>
            </a:xfrm>
            <a:prstGeom prst="ellipse">
              <a:avLst/>
            </a:prstGeom>
            <a:solidFill>
              <a:schemeClr val="accent2"/>
            </a:solidFill>
            <a:ln>
              <a:noFill/>
            </a:ln>
          </p:spPr>
        </p:sp>
        <p:sp>
          <p:nvSpPr>
            <p:cNvPr id="10" name="TextBox 10"/>
            <p:cNvSpPr txBox="1"/>
            <p:nvPr/>
          </p:nvSpPr>
          <p:spPr>
            <a:xfrm>
              <a:off x="969365" y="2787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1" name="TextBox 11"/>
            <p:cNvSpPr txBox="1"/>
            <p:nvPr/>
          </p:nvSpPr>
          <p:spPr>
            <a:xfrm>
              <a:off x="1343406" y="27393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研究路径发散</a:t>
              </a:r>
            </a:p>
          </p:txBody>
        </p:sp>
        <p:sp>
          <p:nvSpPr>
            <p:cNvPr id="12" name="Ellipse 12"/>
            <p:cNvSpPr/>
            <p:nvPr/>
          </p:nvSpPr>
          <p:spPr>
            <a:xfrm>
              <a:off x="876300" y="3467100"/>
              <a:ext cx="304800" cy="304800"/>
            </a:xfrm>
            <a:prstGeom prst="ellipse">
              <a:avLst/>
            </a:prstGeom>
            <a:solidFill>
              <a:schemeClr val="accent2"/>
            </a:solidFill>
            <a:ln>
              <a:noFill/>
            </a:ln>
          </p:spPr>
        </p:sp>
        <p:sp>
          <p:nvSpPr>
            <p:cNvPr id="13" name="TextBox 13"/>
            <p:cNvSpPr txBox="1"/>
            <p:nvPr/>
          </p:nvSpPr>
          <p:spPr>
            <a:xfrm>
              <a:off x="969365" y="3549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14" name="TextBox 14"/>
            <p:cNvSpPr txBox="1"/>
            <p:nvPr/>
          </p:nvSpPr>
          <p:spPr>
            <a:xfrm>
              <a:off x="1343406" y="3501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场景与战法发散</a:t>
              </a:r>
            </a:p>
          </p:txBody>
        </p:sp>
        <p:sp>
          <p:nvSpPr>
            <p:cNvPr id="15" name="Ellipse 15"/>
            <p:cNvSpPr/>
            <p:nvPr/>
          </p:nvSpPr>
          <p:spPr>
            <a:xfrm>
              <a:off x="876300" y="4229100"/>
              <a:ext cx="304800" cy="304800"/>
            </a:xfrm>
            <a:prstGeom prst="ellipse">
              <a:avLst/>
            </a:prstGeom>
            <a:solidFill>
              <a:schemeClr val="accent2"/>
            </a:solidFill>
            <a:ln>
              <a:noFill/>
            </a:ln>
          </p:spPr>
        </p:sp>
        <p:sp>
          <p:nvSpPr>
            <p:cNvPr id="16" name="TextBox 16"/>
            <p:cNvSpPr txBox="1"/>
            <p:nvPr/>
          </p:nvSpPr>
          <p:spPr>
            <a:xfrm>
              <a:off x="969365" y="4311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17" name="TextBox 17"/>
            <p:cNvSpPr txBox="1"/>
            <p:nvPr/>
          </p:nvSpPr>
          <p:spPr>
            <a:xfrm>
              <a:off x="1343406" y="42633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装备能力与技术发散</a:t>
              </a:r>
            </a:p>
          </p:txBody>
        </p:sp>
        <p:sp>
          <p:nvSpPr>
            <p:cNvPr id="18" name="Ellipse 18"/>
            <p:cNvSpPr/>
            <p:nvPr/>
          </p:nvSpPr>
          <p:spPr>
            <a:xfrm>
              <a:off x="876300" y="4991100"/>
              <a:ext cx="304800" cy="304800"/>
            </a:xfrm>
            <a:prstGeom prst="ellipse">
              <a:avLst/>
            </a:prstGeom>
            <a:solidFill>
              <a:schemeClr val="accent2"/>
            </a:solidFill>
            <a:ln>
              <a:noFill/>
            </a:ln>
          </p:spPr>
        </p:sp>
        <p:sp>
          <p:nvSpPr>
            <p:cNvPr id="19" name="TextBox 19"/>
            <p:cNvSpPr txBox="1"/>
            <p:nvPr/>
          </p:nvSpPr>
          <p:spPr>
            <a:xfrm>
              <a:off x="969365" y="5073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20" name="TextBox 20"/>
            <p:cNvSpPr txBox="1"/>
            <p:nvPr/>
          </p:nvSpPr>
          <p:spPr>
            <a:xfrm>
              <a:off x="1343406" y="5025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验证与交付发散</a:t>
              </a:r>
            </a:p>
          </p:txBody>
        </p:sp>
      </p:grpSp>
      <p:grpSp>
        <p:nvGrpSpPr>
          <p:cNvPr id="26" name="Group 26"/>
          <p:cNvGrpSpPr/>
          <p:nvPr/>
        </p:nvGrpSpPr>
        <p:grpSpPr>
          <a:xfrm>
            <a:off x="5429250" y="3025140"/>
            <a:ext cx="1123950" cy="1188911"/>
            <a:chOff x="5429250" y="3025140"/>
            <a:chExt cx="1123950" cy="1188911"/>
          </a:xfrm>
        </p:grpSpPr>
        <p:sp>
          <p:nvSpPr>
            <p:cNvPr id="22" name="Line 22"/>
            <p:cNvSpPr/>
            <p:nvPr/>
          </p:nvSpPr>
          <p:spPr>
            <a:xfrm>
              <a:off x="5429250" y="3562350"/>
              <a:ext cx="1123950" cy="9525"/>
            </a:xfrm>
            <a:custGeom>
              <a:avLst/>
              <a:gdLst/>
              <a:ahLst/>
              <a:cxnLst/>
              <a:rect l="l" t="t" r="r" b="b"/>
              <a:pathLst>
                <a:path w="1123950" h="9525">
                  <a:moveTo>
                    <a:pt x="0" y="0"/>
                  </a:moveTo>
                  <a:lnTo>
                    <a:pt x="1123950" y="0"/>
                  </a:lnTo>
                </a:path>
              </a:pathLst>
            </a:custGeom>
            <a:noFill/>
            <a:ln w="38100">
              <a:solidFill>
                <a:schemeClr val="accent2"/>
              </a:solidFill>
            </a:ln>
          </p:spPr>
        </p:sp>
        <p:sp>
          <p:nvSpPr>
            <p:cNvPr id="23" name="Polygon 23"/>
            <p:cNvSpPr/>
            <p:nvPr/>
          </p:nvSpPr>
          <p:spPr>
            <a:xfrm>
              <a:off x="6343650" y="342900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24" name="TextBox 24"/>
            <p:cNvSpPr txBox="1"/>
            <p:nvPr/>
          </p:nvSpPr>
          <p:spPr>
            <a:xfrm>
              <a:off x="5600433" y="30251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收敛为</a:t>
              </a:r>
            </a:p>
          </p:txBody>
        </p:sp>
        <p:sp>
          <p:nvSpPr>
            <p:cNvPr id="25" name="TextBox 25"/>
            <p:cNvSpPr txBox="1"/>
            <p:nvPr/>
          </p:nvSpPr>
          <p:spPr>
            <a:xfrm>
              <a:off x="5439156" y="395001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统一验收口径</a:t>
              </a:r>
            </a:p>
          </p:txBody>
        </p:sp>
      </p:grpSp>
      <p:grpSp>
        <p:nvGrpSpPr>
          <p:cNvPr id="35" name="Group 35"/>
          <p:cNvGrpSpPr/>
          <p:nvPr/>
        </p:nvGrpSpPr>
        <p:grpSpPr>
          <a:xfrm>
            <a:off x="6896100" y="1695450"/>
            <a:ext cx="4686300" cy="4324350"/>
            <a:chOff x="6896100" y="1695450"/>
            <a:chExt cx="4686300" cy="4324350"/>
          </a:xfrm>
        </p:grpSpPr>
        <p:sp>
          <p:nvSpPr>
            <p:cNvPr id="27" name="Rectangle 27"/>
            <p:cNvSpPr/>
            <p:nvPr/>
          </p:nvSpPr>
          <p:spPr>
            <a:xfrm>
              <a:off x="6896100" y="1695450"/>
              <a:ext cx="4686300" cy="4324350"/>
            </a:xfrm>
            <a:prstGeom prst="rect">
              <a:avLst/>
            </a:prstGeom>
            <a:solidFill>
              <a:schemeClr val="accent1"/>
            </a:solidFill>
            <a:ln>
              <a:noFill/>
            </a:ln>
          </p:spPr>
        </p:sp>
        <p:sp>
          <p:nvSpPr>
            <p:cNvPr id="28" name="TextBox 28"/>
            <p:cNvSpPr txBox="1"/>
            <p:nvPr/>
          </p:nvSpPr>
          <p:spPr>
            <a:xfrm>
              <a:off x="7188708" y="18935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五项验收标准</a:t>
              </a:r>
            </a:p>
          </p:txBody>
        </p:sp>
        <p:sp>
          <p:nvSpPr>
            <p:cNvPr id="29" name="Line 29"/>
            <p:cNvSpPr/>
            <p:nvPr/>
          </p:nvSpPr>
          <p:spPr>
            <a:xfrm>
              <a:off x="7200900" y="2343150"/>
              <a:ext cx="4076700" cy="9525"/>
            </a:xfrm>
            <a:custGeom>
              <a:avLst/>
              <a:gdLst/>
              <a:ahLst/>
              <a:cxnLst/>
              <a:rect l="l" t="t" r="r" b="b"/>
              <a:pathLst>
                <a:path w="4076700" h="9525">
                  <a:moveTo>
                    <a:pt x="0" y="0"/>
                  </a:moveTo>
                  <a:lnTo>
                    <a:pt x="4076700" y="0"/>
                  </a:lnTo>
                </a:path>
              </a:pathLst>
            </a:custGeom>
            <a:noFill/>
            <a:ln w="19050">
              <a:solidFill>
                <a:srgbClr val="6D89A3"/>
              </a:solidFill>
            </a:ln>
          </p:spPr>
        </p:sp>
        <p:sp>
          <p:nvSpPr>
            <p:cNvPr id="30" name="TextBox 30"/>
            <p:cNvSpPr txBox="1"/>
            <p:nvPr/>
          </p:nvSpPr>
          <p:spPr>
            <a:xfrm>
              <a:off x="7191756" y="2701290"/>
              <a:ext cx="21555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01 领域属性符合性</a:t>
              </a:r>
            </a:p>
          </p:txBody>
        </p:sp>
        <p:sp>
          <p:nvSpPr>
            <p:cNvPr id="31" name="TextBox 31"/>
            <p:cNvSpPr txBox="1"/>
            <p:nvPr/>
          </p:nvSpPr>
          <p:spPr>
            <a:xfrm>
              <a:off x="7191756" y="3329940"/>
              <a:ext cx="1901083"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02 装备能力图像</a:t>
              </a:r>
            </a:p>
          </p:txBody>
        </p:sp>
        <p:sp>
          <p:nvSpPr>
            <p:cNvPr id="32" name="TextBox 32"/>
            <p:cNvSpPr txBox="1"/>
            <p:nvPr/>
          </p:nvSpPr>
          <p:spPr>
            <a:xfrm>
              <a:off x="7191756" y="39585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03 制胜效能</a:t>
              </a:r>
            </a:p>
          </p:txBody>
        </p:sp>
        <p:sp>
          <p:nvSpPr>
            <p:cNvPr id="33" name="TextBox 33"/>
            <p:cNvSpPr txBox="1"/>
            <p:nvPr/>
          </p:nvSpPr>
          <p:spPr>
            <a:xfrm>
              <a:off x="7191756" y="4587240"/>
              <a:ext cx="1137788"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04 创新性</a:t>
              </a:r>
            </a:p>
          </p:txBody>
        </p:sp>
        <p:sp>
          <p:nvSpPr>
            <p:cNvPr id="34" name="TextBox 34"/>
            <p:cNvSpPr txBox="1"/>
            <p:nvPr/>
          </p:nvSpPr>
          <p:spPr>
            <a:xfrm>
              <a:off x="7191756" y="5215890"/>
              <a:ext cx="2448112"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05 可实现性 / 成熟度</a:t>
              </a:r>
            </a:p>
          </p:txBody>
        </p:sp>
      </p:grpSp>
      <p:sp>
        <p:nvSpPr>
          <p:cNvPr id="36" name="TextBox 36"/>
          <p:cNvSpPr txBox="1"/>
          <p:nvPr/>
        </p:nvSpPr>
        <p:spPr>
          <a:xfrm>
            <a:off x="602742" y="6293168"/>
            <a:ext cx="271962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来源：市场需求 query 及模板 V2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359404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发散要求落实矩阵</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04</a:t>
              </a:r>
            </a:p>
          </p:txBody>
        </p:sp>
        <p:sp>
          <p:nvSpPr>
            <p:cNvPr id="4" name="Rectangle 4"/>
            <p:cNvSpPr/>
            <p:nvPr/>
          </p:nvSpPr>
          <p:spPr>
            <a:xfrm>
              <a:off x="609600" y="1066800"/>
              <a:ext cx="1104900" cy="47625"/>
            </a:xfrm>
            <a:prstGeom prst="rect">
              <a:avLst/>
            </a:prstGeom>
            <a:solidFill>
              <a:schemeClr val="accent3"/>
            </a:solidFill>
            <a:ln>
              <a:noFill/>
            </a:ln>
          </p:spPr>
        </p:sp>
      </p:grpSp>
      <p:grpSp>
        <p:nvGrpSpPr>
          <p:cNvPr id="30" name="Group 30"/>
          <p:cNvGrpSpPr/>
          <p:nvPr/>
        </p:nvGrpSpPr>
        <p:grpSpPr>
          <a:xfrm>
            <a:off x="609600" y="1543050"/>
            <a:ext cx="7543800" cy="4476750"/>
            <a:chOff x="609600" y="1543050"/>
            <a:chExt cx="7543800" cy="4476750"/>
          </a:xfrm>
        </p:grpSpPr>
        <p:sp>
          <p:nvSpPr>
            <p:cNvPr id="6" name="Rectangle 6"/>
            <p:cNvSpPr/>
            <p:nvPr/>
          </p:nvSpPr>
          <p:spPr>
            <a:xfrm>
              <a:off x="609600" y="1543050"/>
              <a:ext cx="7543800" cy="4476750"/>
            </a:xfrm>
            <a:prstGeom prst="rect">
              <a:avLst/>
            </a:prstGeom>
            <a:solidFill>
              <a:schemeClr val="accent5"/>
            </a:solidFill>
            <a:ln>
              <a:noFill/>
            </a:ln>
          </p:spPr>
        </p:sp>
        <p:sp>
          <p:nvSpPr>
            <p:cNvPr id="7" name="TextBox 7"/>
            <p:cNvSpPr txBox="1"/>
            <p:nvPr/>
          </p:nvSpPr>
          <p:spPr>
            <a:xfrm>
              <a:off x="867156" y="1767840"/>
              <a:ext cx="205374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三层九项交付合同</a:t>
              </a:r>
            </a:p>
          </p:txBody>
        </p:sp>
        <p:sp>
          <p:nvSpPr>
            <p:cNvPr id="8" name="Rectangle 8"/>
            <p:cNvSpPr/>
            <p:nvPr/>
          </p:nvSpPr>
          <p:spPr>
            <a:xfrm>
              <a:off x="876300" y="2209800"/>
              <a:ext cx="2095500" cy="1047750"/>
            </a:xfrm>
            <a:prstGeom prst="rect">
              <a:avLst/>
            </a:prstGeom>
            <a:solidFill>
              <a:srgbClr val="DCE9F5"/>
            </a:solidFill>
            <a:ln>
              <a:noFill/>
            </a:ln>
          </p:spPr>
        </p:sp>
        <p:sp>
          <p:nvSpPr>
            <p:cNvPr id="9" name="TextBox 9"/>
            <p:cNvSpPr txBox="1"/>
            <p:nvPr/>
          </p:nvSpPr>
          <p:spPr>
            <a:xfrm>
              <a:off x="10218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第一层 · 需求挖掘</a:t>
              </a:r>
            </a:p>
          </p:txBody>
        </p:sp>
        <p:sp>
          <p:nvSpPr>
            <p:cNvPr id="10" name="TextBox 10"/>
            <p:cNvSpPr txBox="1"/>
            <p:nvPr/>
          </p:nvSpPr>
          <p:spPr>
            <a:xfrm>
              <a:off x="1021842" y="2730818"/>
              <a:ext cx="15675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场景 ② 战法/机理</a:t>
              </a:r>
            </a:p>
          </p:txBody>
        </p:sp>
        <p:sp>
          <p:nvSpPr>
            <p:cNvPr id="11" name="TextBox 11"/>
            <p:cNvSpPr txBox="1"/>
            <p:nvPr/>
          </p:nvSpPr>
          <p:spPr>
            <a:xfrm>
              <a:off x="10218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能力特征</a:t>
              </a:r>
            </a:p>
          </p:txBody>
        </p:sp>
        <p:sp>
          <p:nvSpPr>
            <p:cNvPr id="12" name="Rectangle 12"/>
            <p:cNvSpPr/>
            <p:nvPr/>
          </p:nvSpPr>
          <p:spPr>
            <a:xfrm>
              <a:off x="3086100" y="2209800"/>
              <a:ext cx="2324100" cy="1047750"/>
            </a:xfrm>
            <a:prstGeom prst="rect">
              <a:avLst/>
            </a:prstGeom>
            <a:solidFill>
              <a:srgbClr val="E6EEF6"/>
            </a:solidFill>
            <a:ln>
              <a:noFill/>
            </a:ln>
          </p:spPr>
        </p:sp>
        <p:sp>
          <p:nvSpPr>
            <p:cNvPr id="13" name="TextBox 13"/>
            <p:cNvSpPr txBox="1"/>
            <p:nvPr/>
          </p:nvSpPr>
          <p:spPr>
            <a:xfrm>
              <a:off x="32316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第二层 · 技术攻关</a:t>
              </a:r>
            </a:p>
          </p:txBody>
        </p:sp>
        <p:sp>
          <p:nvSpPr>
            <p:cNvPr id="14" name="TextBox 14"/>
            <p:cNvSpPr txBox="1"/>
            <p:nvPr/>
          </p:nvSpPr>
          <p:spPr>
            <a:xfrm>
              <a:off x="32316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④ 实现途径 ⑤ 核心技术</a:t>
              </a:r>
            </a:p>
          </p:txBody>
        </p:sp>
        <p:sp>
          <p:nvSpPr>
            <p:cNvPr id="15" name="TextBox 15"/>
            <p:cNvSpPr txBox="1"/>
            <p:nvPr/>
          </p:nvSpPr>
          <p:spPr>
            <a:xfrm>
              <a:off x="32316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⑥ 耦合短板</a:t>
              </a:r>
            </a:p>
          </p:txBody>
        </p:sp>
        <p:sp>
          <p:nvSpPr>
            <p:cNvPr id="16" name="Rectangle 16"/>
            <p:cNvSpPr/>
            <p:nvPr/>
          </p:nvSpPr>
          <p:spPr>
            <a:xfrm>
              <a:off x="5524500" y="2209800"/>
              <a:ext cx="2362200" cy="1047750"/>
            </a:xfrm>
            <a:prstGeom prst="rect">
              <a:avLst/>
            </a:prstGeom>
            <a:solidFill>
              <a:srgbClr val="DDEDE7"/>
            </a:solidFill>
            <a:ln>
              <a:noFill/>
            </a:ln>
          </p:spPr>
        </p:sp>
        <p:sp>
          <p:nvSpPr>
            <p:cNvPr id="17" name="TextBox 17"/>
            <p:cNvSpPr txBox="1"/>
            <p:nvPr/>
          </p:nvSpPr>
          <p:spPr>
            <a:xfrm>
              <a:off x="56700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第三层 · 装备决策</a:t>
              </a:r>
            </a:p>
          </p:txBody>
        </p:sp>
        <p:sp>
          <p:nvSpPr>
            <p:cNvPr id="18" name="TextBox 18"/>
            <p:cNvSpPr txBox="1"/>
            <p:nvPr/>
          </p:nvSpPr>
          <p:spPr>
            <a:xfrm>
              <a:off x="56700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⑦ 装备映射 ⑧ 演示验证</a:t>
              </a:r>
            </a:p>
          </p:txBody>
        </p:sp>
        <p:sp>
          <p:nvSpPr>
            <p:cNvPr id="19" name="TextBox 19"/>
            <p:cNvSpPr txBox="1"/>
            <p:nvPr/>
          </p:nvSpPr>
          <p:spPr>
            <a:xfrm>
              <a:off x="5670042" y="2978468"/>
              <a:ext cx="107687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⑨ 优先级抓手</a:t>
              </a:r>
            </a:p>
          </p:txBody>
        </p:sp>
        <p:sp>
          <p:nvSpPr>
            <p:cNvPr id="20" name="Line 20"/>
            <p:cNvSpPr/>
            <p:nvPr/>
          </p:nvSpPr>
          <p:spPr>
            <a:xfrm>
              <a:off x="876300" y="3619500"/>
              <a:ext cx="7010400" cy="9525"/>
            </a:xfrm>
            <a:custGeom>
              <a:avLst/>
              <a:gdLst/>
              <a:ahLst/>
              <a:cxnLst/>
              <a:rect l="l" t="t" r="r" b="b"/>
              <a:pathLst>
                <a:path w="7010400" h="9525">
                  <a:moveTo>
                    <a:pt x="0" y="0"/>
                  </a:moveTo>
                  <a:lnTo>
                    <a:pt x="7010400" y="0"/>
                  </a:lnTo>
                </a:path>
              </a:pathLst>
            </a:custGeom>
            <a:noFill/>
            <a:ln w="19050">
              <a:solidFill>
                <a:srgbClr val="C9D5E0"/>
              </a:solidFill>
            </a:ln>
          </p:spPr>
        </p:sp>
        <p:sp>
          <p:nvSpPr>
            <p:cNvPr id="21" name="TextBox 21"/>
            <p:cNvSpPr txBox="1"/>
            <p:nvPr/>
          </p:nvSpPr>
          <p:spPr>
            <a:xfrm>
              <a:off x="867156" y="38252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关键运行验收</a:t>
              </a:r>
            </a:p>
          </p:txBody>
        </p:sp>
        <p:sp>
          <p:nvSpPr>
            <p:cNvPr id="22" name="TextBox 22"/>
            <p:cNvSpPr txBox="1"/>
            <p:nvPr/>
          </p:nvSpPr>
          <p:spPr>
            <a:xfrm>
              <a:off x="869442" y="4292918"/>
              <a:ext cx="115625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A–H 路由检查</a:t>
              </a:r>
            </a:p>
          </p:txBody>
        </p:sp>
        <p:sp>
          <p:nvSpPr>
            <p:cNvPr id="23" name="TextBox 23"/>
            <p:cNvSpPr txBox="1"/>
            <p:nvPr/>
          </p:nvSpPr>
          <p:spPr>
            <a:xfrm>
              <a:off x="3003042" y="42929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六步推理检查</a:t>
              </a:r>
            </a:p>
          </p:txBody>
        </p:sp>
        <p:sp>
          <p:nvSpPr>
            <p:cNvPr id="24" name="TextBox 24"/>
            <p:cNvSpPr txBox="1"/>
            <p:nvPr/>
          </p:nvSpPr>
          <p:spPr>
            <a:xfrm>
              <a:off x="5136642" y="42929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九字段能力画像</a:t>
              </a:r>
            </a:p>
          </p:txBody>
        </p:sp>
        <p:sp>
          <p:nvSpPr>
            <p:cNvPr id="25" name="TextBox 25"/>
            <p:cNvSpPr txBox="1"/>
            <p:nvPr/>
          </p:nvSpPr>
          <p:spPr>
            <a:xfrm>
              <a:off x="8694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证据引用与绑定</a:t>
              </a:r>
            </a:p>
          </p:txBody>
        </p:sp>
        <p:sp>
          <p:nvSpPr>
            <p:cNvPr id="26" name="TextBox 26"/>
            <p:cNvSpPr txBox="1"/>
            <p:nvPr/>
          </p:nvSpPr>
          <p:spPr>
            <a:xfrm>
              <a:off x="3003042" y="473106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审计与恢复</a:t>
              </a:r>
            </a:p>
          </p:txBody>
        </p:sp>
        <p:sp>
          <p:nvSpPr>
            <p:cNvPr id="27" name="TextBox 27"/>
            <p:cNvSpPr txBox="1"/>
            <p:nvPr/>
          </p:nvSpPr>
          <p:spPr>
            <a:xfrm>
              <a:off x="51366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并发与任务编排</a:t>
              </a:r>
            </a:p>
          </p:txBody>
        </p:sp>
        <p:sp>
          <p:nvSpPr>
            <p:cNvPr id="28" name="Rectangle 28"/>
            <p:cNvSpPr/>
            <p:nvPr/>
          </p:nvSpPr>
          <p:spPr>
            <a:xfrm>
              <a:off x="876300" y="5257800"/>
              <a:ext cx="7010400" cy="514350"/>
            </a:xfrm>
            <a:prstGeom prst="rect">
              <a:avLst/>
            </a:prstGeom>
            <a:solidFill>
              <a:schemeClr val="accent3"/>
            </a:solidFill>
            <a:ln>
              <a:noFill/>
            </a:ln>
          </p:spPr>
        </p:sp>
        <p:sp>
          <p:nvSpPr>
            <p:cNvPr id="29" name="TextBox 29"/>
            <p:cNvSpPr txBox="1"/>
            <p:nvPr/>
          </p:nvSpPr>
          <p:spPr>
            <a:xfrm>
              <a:off x="3163805" y="5396865"/>
              <a:ext cx="2435390"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主要验收项均为 true</a:t>
              </a:r>
            </a:p>
          </p:txBody>
        </p:sp>
      </p:grpSp>
      <p:grpSp>
        <p:nvGrpSpPr>
          <p:cNvPr id="40" name="Group 40"/>
          <p:cNvGrpSpPr/>
          <p:nvPr/>
        </p:nvGrpSpPr>
        <p:grpSpPr>
          <a:xfrm>
            <a:off x="8420100" y="1543050"/>
            <a:ext cx="3162300" cy="4476750"/>
            <a:chOff x="8420100" y="1543050"/>
            <a:chExt cx="3162300" cy="4476750"/>
          </a:xfrm>
        </p:grpSpPr>
        <p:sp>
          <p:nvSpPr>
            <p:cNvPr id="31" name="Rectangle 31"/>
            <p:cNvSpPr/>
            <p:nvPr/>
          </p:nvSpPr>
          <p:spPr>
            <a:xfrm>
              <a:off x="8420100" y="1543050"/>
              <a:ext cx="3162300" cy="4476750"/>
            </a:xfrm>
            <a:prstGeom prst="rect">
              <a:avLst/>
            </a:prstGeom>
            <a:solidFill>
              <a:schemeClr val="accent1"/>
            </a:solidFill>
            <a:ln>
              <a:noFill/>
            </a:ln>
          </p:spPr>
        </p:sp>
        <p:sp>
          <p:nvSpPr>
            <p:cNvPr id="32" name="TextBox 32"/>
            <p:cNvSpPr txBox="1"/>
            <p:nvPr/>
          </p:nvSpPr>
          <p:spPr>
            <a:xfrm>
              <a:off x="8674608" y="174117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工程状态</a:t>
              </a:r>
            </a:p>
          </p:txBody>
        </p:sp>
        <p:sp>
          <p:nvSpPr>
            <p:cNvPr id="33" name="TextBox 33"/>
            <p:cNvSpPr txBox="1"/>
            <p:nvPr/>
          </p:nvSpPr>
          <p:spPr>
            <a:xfrm>
              <a:off x="8667750" y="21897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4" name="TextBox 34"/>
            <p:cNvSpPr txBox="1"/>
            <p:nvPr/>
          </p:nvSpPr>
          <p:spPr>
            <a:xfrm>
              <a:off x="8677656" y="2948940"/>
              <a:ext cx="21264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runtime_complete</a:t>
              </a:r>
            </a:p>
          </p:txBody>
        </p:sp>
        <p:sp>
          <p:nvSpPr>
            <p:cNvPr id="35" name="TextBox 35"/>
            <p:cNvSpPr txBox="1"/>
            <p:nvPr/>
          </p:nvSpPr>
          <p:spPr>
            <a:xfrm>
              <a:off x="8667750" y="31803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6" name="TextBox 36"/>
            <p:cNvSpPr txBox="1"/>
            <p:nvPr/>
          </p:nvSpPr>
          <p:spPr>
            <a:xfrm>
              <a:off x="8677656" y="393954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release_ready</a:t>
              </a:r>
            </a:p>
          </p:txBody>
        </p:sp>
        <p:sp>
          <p:nvSpPr>
            <p:cNvPr id="37" name="Line 37"/>
            <p:cNvSpPr/>
            <p:nvPr/>
          </p:nvSpPr>
          <p:spPr>
            <a:xfrm>
              <a:off x="8686800" y="4514850"/>
              <a:ext cx="2628900" cy="9525"/>
            </a:xfrm>
            <a:custGeom>
              <a:avLst/>
              <a:gdLst/>
              <a:ahLst/>
              <a:cxnLst/>
              <a:rect l="l" t="t" r="r" b="b"/>
              <a:pathLst>
                <a:path w="2628900" h="9525">
                  <a:moveTo>
                    <a:pt x="0" y="0"/>
                  </a:moveTo>
                  <a:lnTo>
                    <a:pt x="2628900" y="0"/>
                  </a:lnTo>
                </a:path>
              </a:pathLst>
            </a:custGeom>
            <a:noFill/>
            <a:ln w="19050">
              <a:solidFill>
                <a:srgbClr val="6D89A3"/>
              </a:solidFill>
            </a:ln>
          </p:spPr>
        </p:sp>
        <p:sp>
          <p:nvSpPr>
            <p:cNvPr id="38" name="TextBox 38"/>
            <p:cNvSpPr txBox="1"/>
            <p:nvPr/>
          </p:nvSpPr>
          <p:spPr>
            <a:xfrm>
              <a:off x="8677656" y="47586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审计状态</a:t>
              </a:r>
            </a:p>
          </p:txBody>
        </p:sp>
        <p:sp>
          <p:nvSpPr>
            <p:cNvPr id="39" name="TextBox 39"/>
            <p:cNvSpPr txBox="1"/>
            <p:nvPr/>
          </p:nvSpPr>
          <p:spPr>
            <a:xfrm>
              <a:off x="8675370" y="5186362"/>
              <a:ext cx="1568653"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APPROVED</a:t>
              </a:r>
            </a:p>
          </p:txBody>
        </p:sp>
      </p:grpSp>
      <p:sp>
        <p:nvSpPr>
          <p:cNvPr id="41" name="TextBox 41"/>
          <p:cNvSpPr txBox="1"/>
          <p:nvPr/>
        </p:nvSpPr>
        <p:spPr>
          <a:xfrm>
            <a:off x="602742" y="6293168"/>
            <a:ext cx="559380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来源：architecture-acceptance.json；市场需求 query 及模板 V2</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403930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项目主链已形成闭环</a:t>
              </a:r>
            </a:p>
          </p:txBody>
        </p:sp>
        <p:sp>
          <p:nvSpPr>
            <p:cNvPr id="3" name="TextBox 3"/>
            <p:cNvSpPr txBox="1"/>
            <p:nvPr/>
          </p:nvSpPr>
          <p:spPr>
            <a:xfrm>
              <a:off x="600456" y="1062990"/>
              <a:ext cx="6279551"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 Query 到能力画像，每一步都有结构化产物与审计状态</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05</a:t>
              </a:r>
            </a:p>
          </p:txBody>
        </p:sp>
      </p:grpSp>
      <p:grpSp>
        <p:nvGrpSpPr>
          <p:cNvPr id="27" name="Group 27"/>
          <p:cNvGrpSpPr/>
          <p:nvPr/>
        </p:nvGrpSpPr>
        <p:grpSpPr>
          <a:xfrm>
            <a:off x="689869" y="2914650"/>
            <a:ext cx="10818160" cy="1528001"/>
            <a:chOff x="689869" y="2914650"/>
            <a:chExt cx="10818160" cy="1528001"/>
          </a:xfrm>
        </p:grpSpPr>
        <p:sp>
          <p:nvSpPr>
            <p:cNvPr id="6" name="Line 6"/>
            <p:cNvSpPr/>
            <p:nvPr/>
          </p:nvSpPr>
          <p:spPr>
            <a:xfrm>
              <a:off x="1257300" y="3238500"/>
              <a:ext cx="9677400" cy="9525"/>
            </a:xfrm>
            <a:custGeom>
              <a:avLst/>
              <a:gdLst/>
              <a:ahLst/>
              <a:cxnLst/>
              <a:rect l="l" t="t" r="r" b="b"/>
              <a:pathLst>
                <a:path w="9677400" h="9525">
                  <a:moveTo>
                    <a:pt x="0" y="0"/>
                  </a:moveTo>
                  <a:lnTo>
                    <a:pt x="9677400" y="0"/>
                  </a:lnTo>
                </a:path>
              </a:pathLst>
            </a:custGeom>
            <a:noFill/>
            <a:ln w="38100">
              <a:solidFill>
                <a:srgbClr val="B7C7D6"/>
              </a:solidFill>
            </a:ln>
          </p:spPr>
        </p:sp>
        <p:sp>
          <p:nvSpPr>
            <p:cNvPr id="7" name="Ellipse 7"/>
            <p:cNvSpPr/>
            <p:nvPr/>
          </p:nvSpPr>
          <p:spPr>
            <a:xfrm>
              <a:off x="933450" y="2914650"/>
              <a:ext cx="647700" cy="647700"/>
            </a:xfrm>
            <a:prstGeom prst="ellipse">
              <a:avLst/>
            </a:prstGeom>
            <a:solidFill>
              <a:schemeClr val="accent1"/>
            </a:solidFill>
            <a:ln>
              <a:noFill/>
            </a:ln>
          </p:spPr>
        </p:sp>
        <p:sp>
          <p:nvSpPr>
            <p:cNvPr id="8" name="Ellipse 8"/>
            <p:cNvSpPr/>
            <p:nvPr/>
          </p:nvSpPr>
          <p:spPr>
            <a:xfrm>
              <a:off x="3352800" y="2914650"/>
              <a:ext cx="647700" cy="647700"/>
            </a:xfrm>
            <a:prstGeom prst="ellipse">
              <a:avLst/>
            </a:prstGeom>
            <a:solidFill>
              <a:schemeClr val="accent2"/>
            </a:solidFill>
            <a:ln>
              <a:noFill/>
            </a:ln>
          </p:spPr>
        </p:sp>
        <p:sp>
          <p:nvSpPr>
            <p:cNvPr id="9" name="Ellipse 9"/>
            <p:cNvSpPr/>
            <p:nvPr/>
          </p:nvSpPr>
          <p:spPr>
            <a:xfrm>
              <a:off x="5772150" y="2914650"/>
              <a:ext cx="647700" cy="647700"/>
            </a:xfrm>
            <a:prstGeom prst="ellipse">
              <a:avLst/>
            </a:prstGeom>
            <a:solidFill>
              <a:schemeClr val="accent2"/>
            </a:solidFill>
            <a:ln>
              <a:noFill/>
            </a:ln>
          </p:spPr>
        </p:sp>
        <p:sp>
          <p:nvSpPr>
            <p:cNvPr id="10" name="Ellipse 10"/>
            <p:cNvSpPr/>
            <p:nvPr/>
          </p:nvSpPr>
          <p:spPr>
            <a:xfrm>
              <a:off x="8191500" y="2914650"/>
              <a:ext cx="647700" cy="647700"/>
            </a:xfrm>
            <a:prstGeom prst="ellipse">
              <a:avLst/>
            </a:prstGeom>
            <a:solidFill>
              <a:schemeClr val="accent3"/>
            </a:solidFill>
            <a:ln>
              <a:noFill/>
            </a:ln>
          </p:spPr>
        </p:sp>
        <p:sp>
          <p:nvSpPr>
            <p:cNvPr id="11" name="Ellipse 11"/>
            <p:cNvSpPr/>
            <p:nvPr/>
          </p:nvSpPr>
          <p:spPr>
            <a:xfrm>
              <a:off x="10610850" y="2914650"/>
              <a:ext cx="647700" cy="647700"/>
            </a:xfrm>
            <a:prstGeom prst="ellipse">
              <a:avLst/>
            </a:prstGeom>
            <a:solidFill>
              <a:schemeClr val="accent1"/>
            </a:solidFill>
            <a:ln>
              <a:noFill/>
            </a:ln>
          </p:spPr>
        </p:sp>
        <p:sp>
          <p:nvSpPr>
            <p:cNvPr id="12" name="TextBox 12"/>
            <p:cNvSpPr txBox="1"/>
            <p:nvPr/>
          </p:nvSpPr>
          <p:spPr>
            <a:xfrm>
              <a:off x="11584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1</a:t>
              </a:r>
            </a:p>
          </p:txBody>
        </p:sp>
        <p:sp>
          <p:nvSpPr>
            <p:cNvPr id="13" name="TextBox 13"/>
            <p:cNvSpPr txBox="1"/>
            <p:nvPr/>
          </p:nvSpPr>
          <p:spPr>
            <a:xfrm>
              <a:off x="35777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2</a:t>
              </a:r>
            </a:p>
          </p:txBody>
        </p:sp>
        <p:sp>
          <p:nvSpPr>
            <p:cNvPr id="14" name="TextBox 14"/>
            <p:cNvSpPr txBox="1"/>
            <p:nvPr/>
          </p:nvSpPr>
          <p:spPr>
            <a:xfrm>
              <a:off x="59971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3</a:t>
              </a:r>
            </a:p>
          </p:txBody>
        </p:sp>
        <p:sp>
          <p:nvSpPr>
            <p:cNvPr id="15" name="TextBox 15"/>
            <p:cNvSpPr txBox="1"/>
            <p:nvPr/>
          </p:nvSpPr>
          <p:spPr>
            <a:xfrm>
              <a:off x="84164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4</a:t>
              </a:r>
            </a:p>
          </p:txBody>
        </p:sp>
        <p:sp>
          <p:nvSpPr>
            <p:cNvPr id="16" name="TextBox 16"/>
            <p:cNvSpPr txBox="1"/>
            <p:nvPr/>
          </p:nvSpPr>
          <p:spPr>
            <a:xfrm>
              <a:off x="108358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5</a:t>
              </a:r>
            </a:p>
          </p:txBody>
        </p:sp>
        <p:sp>
          <p:nvSpPr>
            <p:cNvPr id="17" name="TextBox 17"/>
            <p:cNvSpPr txBox="1"/>
            <p:nvPr/>
          </p:nvSpPr>
          <p:spPr>
            <a:xfrm>
              <a:off x="9937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输入</a:t>
              </a:r>
            </a:p>
          </p:txBody>
        </p:sp>
        <p:sp>
          <p:nvSpPr>
            <p:cNvPr id="18" name="TextBox 18"/>
            <p:cNvSpPr txBox="1"/>
            <p:nvPr/>
          </p:nvSpPr>
          <p:spPr>
            <a:xfrm>
              <a:off x="689869" y="4178618"/>
              <a:ext cx="1134862"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Query / 模板</a:t>
              </a:r>
            </a:p>
          </p:txBody>
        </p:sp>
        <p:sp>
          <p:nvSpPr>
            <p:cNvPr id="19" name="TextBox 19"/>
            <p:cNvSpPr txBox="1"/>
            <p:nvPr/>
          </p:nvSpPr>
          <p:spPr>
            <a:xfrm>
              <a:off x="34130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研究</a:t>
              </a:r>
            </a:p>
          </p:txBody>
        </p:sp>
        <p:sp>
          <p:nvSpPr>
            <p:cNvPr id="20" name="TextBox 20"/>
            <p:cNvSpPr txBox="1"/>
            <p:nvPr/>
          </p:nvSpPr>
          <p:spPr>
            <a:xfrm>
              <a:off x="2988107" y="4178618"/>
              <a:ext cx="1377086"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A–H 路由 · 多源</a:t>
              </a:r>
            </a:p>
          </p:txBody>
        </p:sp>
        <p:sp>
          <p:nvSpPr>
            <p:cNvPr id="21" name="TextBox 21"/>
            <p:cNvSpPr txBox="1"/>
            <p:nvPr/>
          </p:nvSpPr>
          <p:spPr>
            <a:xfrm>
              <a:off x="58324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推理</a:t>
              </a:r>
            </a:p>
          </p:txBody>
        </p:sp>
        <p:sp>
          <p:nvSpPr>
            <p:cNvPr id="22" name="TextBox 22"/>
            <p:cNvSpPr txBox="1"/>
            <p:nvPr/>
          </p:nvSpPr>
          <p:spPr>
            <a:xfrm>
              <a:off x="5412257" y="4178618"/>
              <a:ext cx="1367485"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S1–S6 制胜机理</a:t>
              </a:r>
            </a:p>
          </p:txBody>
        </p:sp>
        <p:sp>
          <p:nvSpPr>
            <p:cNvPr id="23" name="TextBox 23"/>
            <p:cNvSpPr txBox="1"/>
            <p:nvPr/>
          </p:nvSpPr>
          <p:spPr>
            <a:xfrm>
              <a:off x="82517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交付</a:t>
              </a:r>
            </a:p>
          </p:txBody>
        </p:sp>
        <p:sp>
          <p:nvSpPr>
            <p:cNvPr id="24" name="TextBox 24"/>
            <p:cNvSpPr txBox="1"/>
            <p:nvPr/>
          </p:nvSpPr>
          <p:spPr>
            <a:xfrm>
              <a:off x="7677045" y="4178618"/>
              <a:ext cx="1676610"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三层九项 · 能力画像</a:t>
              </a:r>
            </a:p>
          </p:txBody>
        </p:sp>
        <p:sp>
          <p:nvSpPr>
            <p:cNvPr id="25" name="TextBox 25"/>
            <p:cNvSpPr txBox="1"/>
            <p:nvPr/>
          </p:nvSpPr>
          <p:spPr>
            <a:xfrm>
              <a:off x="106711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审计</a:t>
              </a:r>
            </a:p>
          </p:txBody>
        </p:sp>
        <p:sp>
          <p:nvSpPr>
            <p:cNvPr id="26" name="TextBox 26"/>
            <p:cNvSpPr txBox="1"/>
            <p:nvPr/>
          </p:nvSpPr>
          <p:spPr>
            <a:xfrm>
              <a:off x="10361371" y="4178618"/>
              <a:ext cx="114665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L1–L4 · 恢复</a:t>
              </a:r>
            </a:p>
          </p:txBody>
        </p:sp>
      </p:grpSp>
      <p:grpSp>
        <p:nvGrpSpPr>
          <p:cNvPr id="31" name="Group 31"/>
          <p:cNvGrpSpPr/>
          <p:nvPr/>
        </p:nvGrpSpPr>
        <p:grpSpPr>
          <a:xfrm>
            <a:off x="2918738" y="2045018"/>
            <a:ext cx="6515824" cy="264033"/>
            <a:chOff x="2918738" y="2045018"/>
            <a:chExt cx="6515824" cy="264033"/>
          </a:xfrm>
        </p:grpSpPr>
        <p:sp>
          <p:nvSpPr>
            <p:cNvPr id="28" name="TextBox 28"/>
            <p:cNvSpPr txBox="1"/>
            <p:nvPr/>
          </p:nvSpPr>
          <p:spPr>
            <a:xfrm>
              <a:off x="2918738" y="2045018"/>
              <a:ext cx="1515824"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RESEARCH LANES</a:t>
              </a:r>
            </a:p>
          </p:txBody>
        </p:sp>
        <p:sp>
          <p:nvSpPr>
            <p:cNvPr id="29" name="TextBox 29"/>
            <p:cNvSpPr txBox="1"/>
            <p:nvPr/>
          </p:nvSpPr>
          <p:spPr>
            <a:xfrm>
              <a:off x="5574998" y="2045018"/>
              <a:ext cx="1042005"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MECHANISM</a:t>
              </a:r>
            </a:p>
          </p:txBody>
        </p:sp>
        <p:sp>
          <p:nvSpPr>
            <p:cNvPr id="30" name="TextBox 30"/>
            <p:cNvSpPr txBox="1"/>
            <p:nvPr/>
          </p:nvSpPr>
          <p:spPr>
            <a:xfrm>
              <a:off x="7596138" y="2045018"/>
              <a:ext cx="1838424"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DELIVERY CONTRACT</a:t>
              </a:r>
            </a:p>
          </p:txBody>
        </p:sp>
      </p:grpSp>
      <p:grpSp>
        <p:nvGrpSpPr>
          <p:cNvPr id="34" name="Group 34"/>
          <p:cNvGrpSpPr/>
          <p:nvPr/>
        </p:nvGrpSpPr>
        <p:grpSpPr>
          <a:xfrm>
            <a:off x="602742" y="6057900"/>
            <a:ext cx="10979658" cy="480251"/>
            <a:chOff x="602742" y="6057900"/>
            <a:chExt cx="10979658" cy="480251"/>
          </a:xfrm>
        </p:grpSpPr>
        <p:sp>
          <p:nvSpPr>
            <p:cNvPr id="32" name="Line 32"/>
            <p:cNvSpPr/>
            <p:nvPr/>
          </p:nvSpPr>
          <p:spPr>
            <a:xfrm>
              <a:off x="609600" y="6057900"/>
              <a:ext cx="10972800" cy="9525"/>
            </a:xfrm>
            <a:custGeom>
              <a:avLst/>
              <a:gdLst/>
              <a:ahLst/>
              <a:cxnLst/>
              <a:rect l="l" t="t" r="r" b="b"/>
              <a:pathLst>
                <a:path w="10972800" h="9525">
                  <a:moveTo>
                    <a:pt x="0" y="0"/>
                  </a:moveTo>
                  <a:lnTo>
                    <a:pt x="10972800" y="0"/>
                  </a:lnTo>
                </a:path>
              </a:pathLst>
            </a:custGeom>
            <a:noFill/>
            <a:ln w="19050">
              <a:solidFill>
                <a:srgbClr val="D8E1EA"/>
              </a:solidFill>
            </a:ln>
          </p:spPr>
        </p:sp>
        <p:sp>
          <p:nvSpPr>
            <p:cNvPr id="33" name="TextBox 33"/>
            <p:cNvSpPr txBox="1"/>
            <p:nvPr/>
          </p:nvSpPr>
          <p:spPr>
            <a:xfrm>
              <a:off x="602742" y="6274118"/>
              <a:ext cx="348489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形成“可追溯、可复核、可恢复”的研究闭环</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760135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三层九项把发散研究约束为可验收产物</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06</a:t>
              </a:r>
            </a:p>
          </p:txBody>
        </p:sp>
        <p:sp>
          <p:nvSpPr>
            <p:cNvPr id="4" name="TextBox 4"/>
            <p:cNvSpPr txBox="1"/>
            <p:nvPr/>
          </p:nvSpPr>
          <p:spPr>
            <a:xfrm>
              <a:off x="600456" y="1062990"/>
              <a:ext cx="534924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研究路径可以发散，交付结构与验证口径保持稳定</a:t>
              </a:r>
            </a:p>
          </p:txBody>
        </p:sp>
      </p:grpSp>
      <p:grpSp>
        <p:nvGrpSpPr>
          <p:cNvPr id="9" name="Group 9"/>
          <p:cNvGrpSpPr/>
          <p:nvPr/>
        </p:nvGrpSpPr>
        <p:grpSpPr>
          <a:xfrm>
            <a:off x="933450" y="1828800"/>
            <a:ext cx="6477000" cy="1257300"/>
            <a:chOff x="933450" y="1828800"/>
            <a:chExt cx="6477000" cy="1257300"/>
          </a:xfrm>
        </p:grpSpPr>
        <p:sp>
          <p:nvSpPr>
            <p:cNvPr id="6" name="Polygon 6"/>
            <p:cNvSpPr/>
            <p:nvPr/>
          </p:nvSpPr>
          <p:spPr>
            <a:xfrm>
              <a:off x="933450" y="1828800"/>
              <a:ext cx="6477000" cy="1257300"/>
            </a:xfrm>
            <a:custGeom>
              <a:avLst/>
              <a:gdLst/>
              <a:ahLst/>
              <a:cxnLst/>
              <a:rect l="l" t="t" r="r" b="b"/>
              <a:pathLst>
                <a:path w="6477000" h="1257300">
                  <a:moveTo>
                    <a:pt x="0" y="1257300"/>
                  </a:moveTo>
                  <a:lnTo>
                    <a:pt x="6477000" y="1257300"/>
                  </a:lnTo>
                  <a:lnTo>
                    <a:pt x="5619750" y="0"/>
                  </a:lnTo>
                  <a:lnTo>
                    <a:pt x="857250" y="0"/>
                  </a:lnTo>
                  <a:close/>
                </a:path>
              </a:pathLst>
            </a:custGeom>
            <a:solidFill>
              <a:schemeClr val="accent3"/>
            </a:solidFill>
            <a:ln>
              <a:noFill/>
            </a:ln>
          </p:spPr>
        </p:sp>
        <p:sp>
          <p:nvSpPr>
            <p:cNvPr id="7" name="TextBox 7"/>
            <p:cNvSpPr txBox="1"/>
            <p:nvPr/>
          </p:nvSpPr>
          <p:spPr>
            <a:xfrm>
              <a:off x="3125996" y="205359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第三层 · 装备决策</a:t>
              </a:r>
            </a:p>
          </p:txBody>
        </p:sp>
        <p:sp>
          <p:nvSpPr>
            <p:cNvPr id="8" name="TextBox 8"/>
            <p:cNvSpPr txBox="1"/>
            <p:nvPr/>
          </p:nvSpPr>
          <p:spPr>
            <a:xfrm>
              <a:off x="2570350" y="2540318"/>
              <a:ext cx="3203200"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⑦ 装备映射　⑧ 演示验证　⑨ 优先级抓手</a:t>
              </a:r>
            </a:p>
          </p:txBody>
        </p:sp>
      </p:grpSp>
      <p:grpSp>
        <p:nvGrpSpPr>
          <p:cNvPr id="13" name="Group 13"/>
          <p:cNvGrpSpPr/>
          <p:nvPr/>
        </p:nvGrpSpPr>
        <p:grpSpPr>
          <a:xfrm>
            <a:off x="933450" y="3200400"/>
            <a:ext cx="6477000" cy="1143000"/>
            <a:chOff x="933450" y="3200400"/>
            <a:chExt cx="6477000" cy="1143000"/>
          </a:xfrm>
        </p:grpSpPr>
        <p:sp>
          <p:nvSpPr>
            <p:cNvPr id="10" name="Polygon 10"/>
            <p:cNvSpPr/>
            <p:nvPr/>
          </p:nvSpPr>
          <p:spPr>
            <a:xfrm>
              <a:off x="933450" y="3200400"/>
              <a:ext cx="6477000" cy="1143000"/>
            </a:xfrm>
            <a:custGeom>
              <a:avLst/>
              <a:gdLst/>
              <a:ahLst/>
              <a:cxnLst/>
              <a:rect l="l" t="t" r="r" b="b"/>
              <a:pathLst>
                <a:path w="6477000" h="1143000">
                  <a:moveTo>
                    <a:pt x="285750" y="1143000"/>
                  </a:moveTo>
                  <a:lnTo>
                    <a:pt x="6191250" y="1143000"/>
                  </a:lnTo>
                  <a:lnTo>
                    <a:pt x="6477000" y="0"/>
                  </a:lnTo>
                  <a:lnTo>
                    <a:pt x="0" y="0"/>
                  </a:lnTo>
                  <a:close/>
                </a:path>
              </a:pathLst>
            </a:custGeom>
            <a:solidFill>
              <a:schemeClr val="accent2"/>
            </a:solidFill>
            <a:ln>
              <a:noFill/>
            </a:ln>
          </p:spPr>
        </p:sp>
        <p:sp>
          <p:nvSpPr>
            <p:cNvPr id="11" name="TextBox 11"/>
            <p:cNvSpPr txBox="1"/>
            <p:nvPr/>
          </p:nvSpPr>
          <p:spPr>
            <a:xfrm>
              <a:off x="3125996" y="34061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第二层 · 技术攻关</a:t>
              </a:r>
            </a:p>
          </p:txBody>
        </p:sp>
        <p:sp>
          <p:nvSpPr>
            <p:cNvPr id="12" name="TextBox 12"/>
            <p:cNvSpPr txBox="1"/>
            <p:nvPr/>
          </p:nvSpPr>
          <p:spPr>
            <a:xfrm>
              <a:off x="2661218" y="3892868"/>
              <a:ext cx="302146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④ 实现途径　⑤ 核心技术　⑥ 耦合短板</a:t>
              </a:r>
            </a:p>
          </p:txBody>
        </p:sp>
      </p:grpSp>
      <p:grpSp>
        <p:nvGrpSpPr>
          <p:cNvPr id="17" name="Group 17"/>
          <p:cNvGrpSpPr/>
          <p:nvPr/>
        </p:nvGrpSpPr>
        <p:grpSpPr>
          <a:xfrm>
            <a:off x="1219200" y="4457700"/>
            <a:ext cx="5905500" cy="1143000"/>
            <a:chOff x="1219200" y="4457700"/>
            <a:chExt cx="5905500" cy="1143000"/>
          </a:xfrm>
        </p:grpSpPr>
        <p:sp>
          <p:nvSpPr>
            <p:cNvPr id="14" name="Polygon 14"/>
            <p:cNvSpPr/>
            <p:nvPr/>
          </p:nvSpPr>
          <p:spPr>
            <a:xfrm>
              <a:off x="1219200" y="4457700"/>
              <a:ext cx="5905500" cy="1143000"/>
            </a:xfrm>
            <a:custGeom>
              <a:avLst/>
              <a:gdLst/>
              <a:ahLst/>
              <a:cxnLst/>
              <a:rect l="l" t="t" r="r" b="b"/>
              <a:pathLst>
                <a:path w="5905500" h="1143000">
                  <a:moveTo>
                    <a:pt x="285750" y="1143000"/>
                  </a:moveTo>
                  <a:lnTo>
                    <a:pt x="5619750" y="1143000"/>
                  </a:lnTo>
                  <a:lnTo>
                    <a:pt x="5905500" y="0"/>
                  </a:lnTo>
                  <a:lnTo>
                    <a:pt x="0" y="0"/>
                  </a:lnTo>
                  <a:close/>
                </a:path>
              </a:pathLst>
            </a:custGeom>
            <a:solidFill>
              <a:schemeClr val="accent1"/>
            </a:solidFill>
            <a:ln>
              <a:noFill/>
            </a:ln>
          </p:spPr>
        </p:sp>
        <p:sp>
          <p:nvSpPr>
            <p:cNvPr id="15" name="TextBox 15"/>
            <p:cNvSpPr txBox="1"/>
            <p:nvPr/>
          </p:nvSpPr>
          <p:spPr>
            <a:xfrm>
              <a:off x="3125996" y="46634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第一层 · 需求挖掘</a:t>
              </a:r>
            </a:p>
          </p:txBody>
        </p:sp>
        <p:sp>
          <p:nvSpPr>
            <p:cNvPr id="16" name="TextBox 16"/>
            <p:cNvSpPr txBox="1"/>
            <p:nvPr/>
          </p:nvSpPr>
          <p:spPr>
            <a:xfrm>
              <a:off x="2429504" y="5150168"/>
              <a:ext cx="348489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① 典型场景　② 战法/制胜机理　③ 能力特征</a:t>
              </a:r>
            </a:p>
          </p:txBody>
        </p:sp>
      </p:grpSp>
      <p:grpSp>
        <p:nvGrpSpPr>
          <p:cNvPr id="29" name="Group 29"/>
          <p:cNvGrpSpPr/>
          <p:nvPr/>
        </p:nvGrpSpPr>
        <p:grpSpPr>
          <a:xfrm>
            <a:off x="8096250" y="1828800"/>
            <a:ext cx="3486150" cy="3771900"/>
            <a:chOff x="8096250" y="1828800"/>
            <a:chExt cx="3486150" cy="3771900"/>
          </a:xfrm>
        </p:grpSpPr>
        <p:sp>
          <p:nvSpPr>
            <p:cNvPr id="18" name="Rectangle 18"/>
            <p:cNvSpPr/>
            <p:nvPr/>
          </p:nvSpPr>
          <p:spPr>
            <a:xfrm>
              <a:off x="8096250" y="1828800"/>
              <a:ext cx="3486150" cy="3771900"/>
            </a:xfrm>
            <a:prstGeom prst="rect">
              <a:avLst/>
            </a:prstGeom>
            <a:solidFill>
              <a:schemeClr val="accent5"/>
            </a:solidFill>
            <a:ln>
              <a:noFill/>
            </a:ln>
          </p:spPr>
        </p:sp>
        <p:sp>
          <p:nvSpPr>
            <p:cNvPr id="19" name="TextBox 19"/>
            <p:cNvSpPr txBox="1"/>
            <p:nvPr/>
          </p:nvSpPr>
          <p:spPr>
            <a:xfrm>
              <a:off x="8369808" y="2045970"/>
              <a:ext cx="138135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固定合同</a:t>
              </a:r>
            </a:p>
          </p:txBody>
        </p:sp>
        <p:sp>
          <p:nvSpPr>
            <p:cNvPr id="20" name="Line 20"/>
            <p:cNvSpPr/>
            <p:nvPr/>
          </p:nvSpPr>
          <p:spPr>
            <a:xfrm>
              <a:off x="8382000" y="25146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1" name="TextBox 21"/>
            <p:cNvSpPr txBox="1"/>
            <p:nvPr/>
          </p:nvSpPr>
          <p:spPr>
            <a:xfrm>
              <a:off x="8372856" y="28536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每项都有输入</a:t>
              </a:r>
            </a:p>
          </p:txBody>
        </p:sp>
        <p:sp>
          <p:nvSpPr>
            <p:cNvPr id="22" name="TextBox 22"/>
            <p:cNvSpPr txBox="1"/>
            <p:nvPr/>
          </p:nvSpPr>
          <p:spPr>
            <a:xfrm>
              <a:off x="8372856" y="33108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每项都有产物</a:t>
              </a:r>
            </a:p>
          </p:txBody>
        </p:sp>
        <p:sp>
          <p:nvSpPr>
            <p:cNvPr id="23" name="TextBox 23"/>
            <p:cNvSpPr txBox="1"/>
            <p:nvPr/>
          </p:nvSpPr>
          <p:spPr>
            <a:xfrm>
              <a:off x="8372856" y="37680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每项都有验证</a:t>
              </a:r>
            </a:p>
          </p:txBody>
        </p:sp>
        <p:sp>
          <p:nvSpPr>
            <p:cNvPr id="24" name="Line 24"/>
            <p:cNvSpPr/>
            <p:nvPr/>
          </p:nvSpPr>
          <p:spPr>
            <a:xfrm>
              <a:off x="8382000" y="43053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5" name="TextBox 25"/>
            <p:cNvSpPr txBox="1"/>
            <p:nvPr/>
          </p:nvSpPr>
          <p:spPr>
            <a:xfrm>
              <a:off x="8370570" y="451961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S1–S6</a:t>
              </a:r>
            </a:p>
          </p:txBody>
        </p:sp>
        <p:sp>
          <p:nvSpPr>
            <p:cNvPr id="26" name="TextBox 26"/>
            <p:cNvSpPr txBox="1"/>
            <p:nvPr/>
          </p:nvSpPr>
          <p:spPr>
            <a:xfrm>
              <a:off x="9575292" y="46167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机理收敛</a:t>
              </a:r>
            </a:p>
          </p:txBody>
        </p:sp>
        <p:sp>
          <p:nvSpPr>
            <p:cNvPr id="27" name="TextBox 27"/>
            <p:cNvSpPr txBox="1"/>
            <p:nvPr/>
          </p:nvSpPr>
          <p:spPr>
            <a:xfrm>
              <a:off x="8370570" y="499586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L1–L4</a:t>
              </a:r>
            </a:p>
          </p:txBody>
        </p:sp>
        <p:sp>
          <p:nvSpPr>
            <p:cNvPr id="28" name="TextBox 28"/>
            <p:cNvSpPr txBox="1"/>
            <p:nvPr/>
          </p:nvSpPr>
          <p:spPr>
            <a:xfrm>
              <a:off x="9575292" y="50930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质量回路</a:t>
              </a:r>
            </a:p>
          </p:txBody>
        </p:sp>
      </p:grpSp>
      <p:sp>
        <p:nvSpPr>
          <p:cNvPr id="30" name="TextBox 30"/>
          <p:cNvSpPr txBox="1"/>
          <p:nvPr/>
        </p:nvSpPr>
        <p:spPr>
          <a:xfrm>
            <a:off x="602742" y="6274118"/>
            <a:ext cx="437540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三层结构保证发散研究最终回到可验收的装备需求成果</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26613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测试思路</a:t>
              </a:r>
            </a:p>
          </p:txBody>
        </p:sp>
        <p:sp>
          <p:nvSpPr>
            <p:cNvPr id="3" name="TextBox 3"/>
            <p:cNvSpPr txBox="1"/>
            <p:nvPr/>
          </p:nvSpPr>
          <p:spPr>
            <a:xfrm>
              <a:off x="600456" y="1024890"/>
              <a:ext cx="5049317"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真实产物复用 + 匿名 A/B 与 B/A 双顺序盲评</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07</a:t>
              </a:r>
            </a:p>
          </p:txBody>
        </p:sp>
      </p:grpSp>
      <p:grpSp>
        <p:nvGrpSpPr>
          <p:cNvPr id="18" name="Group 18"/>
          <p:cNvGrpSpPr/>
          <p:nvPr/>
        </p:nvGrpSpPr>
        <p:grpSpPr>
          <a:xfrm>
            <a:off x="600456" y="1767840"/>
            <a:ext cx="4066794" cy="3794760"/>
            <a:chOff x="600456" y="1767840"/>
            <a:chExt cx="4066794" cy="3794760"/>
          </a:xfrm>
        </p:grpSpPr>
        <p:sp>
          <p:nvSpPr>
            <p:cNvPr id="6" name="TextBox 6"/>
            <p:cNvSpPr txBox="1"/>
            <p:nvPr/>
          </p:nvSpPr>
          <p:spPr>
            <a:xfrm>
              <a:off x="600456" y="1767840"/>
              <a:ext cx="26557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同一 Query，四套系统</a:t>
              </a:r>
            </a:p>
          </p:txBody>
        </p:sp>
        <p:sp>
          <p:nvSpPr>
            <p:cNvPr id="7" name="Line 7"/>
            <p:cNvSpPr/>
            <p:nvPr/>
          </p:nvSpPr>
          <p:spPr>
            <a:xfrm>
              <a:off x="838200" y="2400300"/>
              <a:ext cx="9525" cy="2324100"/>
            </a:xfrm>
            <a:custGeom>
              <a:avLst/>
              <a:gdLst/>
              <a:ahLst/>
              <a:cxnLst/>
              <a:rect l="l" t="t" r="r" b="b"/>
              <a:pathLst>
                <a:path w="9525" h="2324100">
                  <a:moveTo>
                    <a:pt x="0" y="0"/>
                  </a:moveTo>
                  <a:lnTo>
                    <a:pt x="0" y="2324100"/>
                  </a:lnTo>
                </a:path>
              </a:pathLst>
            </a:custGeom>
            <a:noFill/>
            <a:ln w="38100">
              <a:solidFill>
                <a:srgbClr val="B7C7D6"/>
              </a:solidFill>
            </a:ln>
          </p:spPr>
        </p:sp>
        <p:sp>
          <p:nvSpPr>
            <p:cNvPr id="8" name="Ellipse 8"/>
            <p:cNvSpPr/>
            <p:nvPr/>
          </p:nvSpPr>
          <p:spPr>
            <a:xfrm>
              <a:off x="666750" y="2362200"/>
              <a:ext cx="342900" cy="342900"/>
            </a:xfrm>
            <a:prstGeom prst="ellipse">
              <a:avLst/>
            </a:prstGeom>
            <a:solidFill>
              <a:schemeClr val="accent2"/>
            </a:solidFill>
            <a:ln>
              <a:noFill/>
            </a:ln>
          </p:spPr>
        </p:sp>
        <p:sp>
          <p:nvSpPr>
            <p:cNvPr id="9" name="TextBox 9"/>
            <p:cNvSpPr txBox="1"/>
            <p:nvPr/>
          </p:nvSpPr>
          <p:spPr>
            <a:xfrm>
              <a:off x="1133856" y="24155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完整方法</a:t>
              </a:r>
            </a:p>
          </p:txBody>
        </p:sp>
        <p:sp>
          <p:nvSpPr>
            <p:cNvPr id="10" name="Ellipse 10"/>
            <p:cNvSpPr/>
            <p:nvPr/>
          </p:nvSpPr>
          <p:spPr>
            <a:xfrm>
              <a:off x="666750" y="3009900"/>
              <a:ext cx="342900" cy="342900"/>
            </a:xfrm>
            <a:prstGeom prst="ellipse">
              <a:avLst/>
            </a:prstGeom>
            <a:solidFill>
              <a:schemeClr val="accent2"/>
            </a:solidFill>
            <a:ln>
              <a:noFill/>
            </a:ln>
          </p:spPr>
        </p:sp>
        <p:sp>
          <p:nvSpPr>
            <p:cNvPr id="11" name="TextBox 11"/>
            <p:cNvSpPr txBox="1"/>
            <p:nvPr/>
          </p:nvSpPr>
          <p:spPr>
            <a:xfrm>
              <a:off x="1133856" y="3063240"/>
              <a:ext cx="20032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通用 Codex Agent</a:t>
              </a:r>
            </a:p>
          </p:txBody>
        </p:sp>
        <p:sp>
          <p:nvSpPr>
            <p:cNvPr id="12" name="Ellipse 12"/>
            <p:cNvSpPr/>
            <p:nvPr/>
          </p:nvSpPr>
          <p:spPr>
            <a:xfrm>
              <a:off x="666750" y="3657600"/>
              <a:ext cx="342900" cy="342900"/>
            </a:xfrm>
            <a:prstGeom prst="ellipse">
              <a:avLst/>
            </a:prstGeom>
            <a:solidFill>
              <a:schemeClr val="accent2"/>
            </a:solidFill>
            <a:ln>
              <a:noFill/>
            </a:ln>
          </p:spPr>
        </p:sp>
        <p:sp>
          <p:nvSpPr>
            <p:cNvPr id="13" name="TextBox 13"/>
            <p:cNvSpPr txBox="1"/>
            <p:nvPr/>
          </p:nvSpPr>
          <p:spPr>
            <a:xfrm>
              <a:off x="1133856" y="3710940"/>
              <a:ext cx="82478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纯 LLM</a:t>
              </a:r>
            </a:p>
          </p:txBody>
        </p:sp>
        <p:sp>
          <p:nvSpPr>
            <p:cNvPr id="14" name="Ellipse 14"/>
            <p:cNvSpPr/>
            <p:nvPr/>
          </p:nvSpPr>
          <p:spPr>
            <a:xfrm>
              <a:off x="666750" y="4305300"/>
              <a:ext cx="342900" cy="342900"/>
            </a:xfrm>
            <a:prstGeom prst="ellipse">
              <a:avLst/>
            </a:prstGeom>
            <a:solidFill>
              <a:schemeClr val="accent2"/>
            </a:solidFill>
            <a:ln>
              <a:noFill/>
            </a:ln>
          </p:spPr>
        </p:sp>
        <p:sp>
          <p:nvSpPr>
            <p:cNvPr id="15" name="TextBox 15"/>
            <p:cNvSpPr txBox="1"/>
            <p:nvPr/>
          </p:nvSpPr>
          <p:spPr>
            <a:xfrm>
              <a:off x="1133856" y="4358640"/>
              <a:ext cx="108082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智谱 GLM</a:t>
              </a:r>
            </a:p>
          </p:txBody>
        </p:sp>
        <p:sp>
          <p:nvSpPr>
            <p:cNvPr id="16" name="Rectangle 16"/>
            <p:cNvSpPr/>
            <p:nvPr/>
          </p:nvSpPr>
          <p:spPr>
            <a:xfrm>
              <a:off x="609600" y="4895850"/>
              <a:ext cx="4057650" cy="666750"/>
            </a:xfrm>
            <a:prstGeom prst="rect">
              <a:avLst/>
            </a:prstGeom>
            <a:solidFill>
              <a:schemeClr val="accent1"/>
            </a:solidFill>
            <a:ln>
              <a:noFill/>
            </a:ln>
          </p:spPr>
        </p:sp>
        <p:sp>
          <p:nvSpPr>
            <p:cNvPr id="17" name="TextBox 17"/>
            <p:cNvSpPr txBox="1"/>
            <p:nvPr/>
          </p:nvSpPr>
          <p:spPr>
            <a:xfrm>
              <a:off x="1316989" y="5120640"/>
              <a:ext cx="2642872"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匿名双顺序 · 双 Judge</a:t>
              </a:r>
            </a:p>
          </p:txBody>
        </p:sp>
      </p:grpSp>
      <p:grpSp>
        <p:nvGrpSpPr>
          <p:cNvPr id="22" name="Group 22"/>
          <p:cNvGrpSpPr/>
          <p:nvPr/>
        </p:nvGrpSpPr>
        <p:grpSpPr>
          <a:xfrm>
            <a:off x="5003292" y="1657350"/>
            <a:ext cx="6579108" cy="4137851"/>
            <a:chOff x="5003292" y="1657350"/>
            <a:chExt cx="6579108" cy="4137851"/>
          </a:xfrm>
        </p:grpSpPr>
        <p:sp>
          <p:nvSpPr>
            <p:cNvPr id="19" name="Rectangle 19"/>
            <p:cNvSpPr/>
            <p:nvPr/>
          </p:nvSpPr>
          <p:spPr>
            <a:xfrm>
              <a:off x="5010150" y="1657350"/>
              <a:ext cx="6572250" cy="3695700"/>
            </a:xfrm>
            <a:prstGeom prst="rect">
              <a:avLst/>
            </a:prstGeom>
            <a:solidFill>
              <a:schemeClr val="accent5"/>
            </a:solidFill>
            <a:ln w="19050">
              <a:solidFill>
                <a:schemeClr val="accent2"/>
              </a:solidFill>
            </a:ln>
          </p:spPr>
        </p:sp>
        <p:pic>
          <p:nvPicPr>
            <p:cNvPr id="20" name="Image 20"/>
            <p:cNvPicPr>
              <a:picLocks noChangeAspect="1"/>
            </p:cNvPicPr>
            <p:nvPr/>
          </p:nvPicPr>
          <p:blipFill>
            <a:blip r:embed="rId2"/>
            <a:stretch>
              <a:fillRect/>
            </a:stretch>
          </p:blipFill>
          <p:spPr>
            <a:xfrm>
              <a:off x="5124450" y="1771650"/>
              <a:ext cx="6343650" cy="3571875"/>
            </a:xfrm>
            <a:prstGeom prst="rect">
              <a:avLst/>
            </a:prstGeom>
          </p:spPr>
        </p:pic>
        <p:sp>
          <p:nvSpPr>
            <p:cNvPr id="21" name="TextBox 21"/>
            <p:cNvSpPr txBox="1"/>
            <p:nvPr/>
          </p:nvSpPr>
          <p:spPr>
            <a:xfrm>
              <a:off x="5003292" y="5531168"/>
              <a:ext cx="563727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前端真实运行记录：历史 Benchmark、80/80 结果与 120 个盲化配对</a:t>
              </a:r>
            </a:p>
          </p:txBody>
        </p:sp>
      </p:grpSp>
      <p:grpSp>
        <p:nvGrpSpPr>
          <p:cNvPr id="33" name="Group 33"/>
          <p:cNvGrpSpPr/>
          <p:nvPr/>
        </p:nvGrpSpPr>
        <p:grpSpPr>
          <a:xfrm>
            <a:off x="598170" y="6062662"/>
            <a:ext cx="9650829" cy="440055"/>
            <a:chOff x="598170" y="6062662"/>
            <a:chExt cx="9650829" cy="440055"/>
          </a:xfrm>
        </p:grpSpPr>
        <p:sp>
          <p:nvSpPr>
            <p:cNvPr id="23" name="TextBox 23"/>
            <p:cNvSpPr txBox="1"/>
            <p:nvPr/>
          </p:nvSpPr>
          <p:spPr>
            <a:xfrm>
              <a:off x="5981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20</a:t>
              </a:r>
            </a:p>
          </p:txBody>
        </p:sp>
        <p:sp>
          <p:nvSpPr>
            <p:cNvPr id="24" name="TextBox 24"/>
            <p:cNvSpPr txBox="1"/>
            <p:nvPr/>
          </p:nvSpPr>
          <p:spPr>
            <a:xfrm>
              <a:off x="1078992" y="6140768"/>
              <a:ext cx="55590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Query</a:t>
              </a:r>
            </a:p>
          </p:txBody>
        </p:sp>
        <p:sp>
          <p:nvSpPr>
            <p:cNvPr id="25" name="TextBox 25"/>
            <p:cNvSpPr txBox="1"/>
            <p:nvPr/>
          </p:nvSpPr>
          <p:spPr>
            <a:xfrm>
              <a:off x="23126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26" name="TextBox 26"/>
            <p:cNvSpPr txBox="1"/>
            <p:nvPr/>
          </p:nvSpPr>
          <p:spPr>
            <a:xfrm>
              <a:off x="2793492" y="61407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回答</a:t>
              </a:r>
            </a:p>
          </p:txBody>
        </p:sp>
        <p:sp>
          <p:nvSpPr>
            <p:cNvPr id="27" name="TextBox 27"/>
            <p:cNvSpPr txBox="1"/>
            <p:nvPr/>
          </p:nvSpPr>
          <p:spPr>
            <a:xfrm>
              <a:off x="4027170" y="60626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120</a:t>
              </a:r>
            </a:p>
          </p:txBody>
        </p:sp>
        <p:sp>
          <p:nvSpPr>
            <p:cNvPr id="28" name="TextBox 28"/>
            <p:cNvSpPr txBox="1"/>
            <p:nvPr/>
          </p:nvSpPr>
          <p:spPr>
            <a:xfrm>
              <a:off x="4660392" y="6140768"/>
              <a:ext cx="37311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Pair</a:t>
              </a:r>
            </a:p>
          </p:txBody>
        </p:sp>
        <p:sp>
          <p:nvSpPr>
            <p:cNvPr id="29" name="TextBox 29"/>
            <p:cNvSpPr txBox="1"/>
            <p:nvPr/>
          </p:nvSpPr>
          <p:spPr>
            <a:xfrm>
              <a:off x="6179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a:t>
              </a:r>
            </a:p>
          </p:txBody>
        </p:sp>
        <p:sp>
          <p:nvSpPr>
            <p:cNvPr id="30" name="TextBox 30"/>
            <p:cNvSpPr txBox="1"/>
            <p:nvPr/>
          </p:nvSpPr>
          <p:spPr>
            <a:xfrm>
              <a:off x="6508242" y="6140768"/>
              <a:ext cx="13031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GPT-5.5 Judge</a:t>
              </a:r>
            </a:p>
          </p:txBody>
        </p:sp>
        <p:sp>
          <p:nvSpPr>
            <p:cNvPr id="31" name="TextBox 31"/>
            <p:cNvSpPr txBox="1"/>
            <p:nvPr/>
          </p:nvSpPr>
          <p:spPr>
            <a:xfrm>
              <a:off x="8846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a:t>
              </a:r>
            </a:p>
          </p:txBody>
        </p:sp>
        <p:sp>
          <p:nvSpPr>
            <p:cNvPr id="32" name="TextBox 32"/>
            <p:cNvSpPr txBox="1"/>
            <p:nvPr/>
          </p:nvSpPr>
          <p:spPr>
            <a:xfrm>
              <a:off x="9175242" y="6140768"/>
              <a:ext cx="107375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Judge error</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537507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从五项要求到八维评测标准</a:t>
              </a:r>
            </a:p>
          </p:txBody>
        </p:sp>
        <p:sp>
          <p:nvSpPr>
            <p:cNvPr id="3" name="TextBox 3"/>
            <p:cNvSpPr txBox="1"/>
            <p:nvPr/>
          </p:nvSpPr>
          <p:spPr>
            <a:xfrm>
              <a:off x="600456" y="10439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不奖励篇幅、格式或术语密度，只判断成果质量</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08</a:t>
              </a:r>
            </a:p>
          </p:txBody>
        </p:sp>
      </p:grpSp>
      <p:grpSp>
        <p:nvGrpSpPr>
          <p:cNvPr id="13" name="Group 13"/>
          <p:cNvGrpSpPr/>
          <p:nvPr/>
        </p:nvGrpSpPr>
        <p:grpSpPr>
          <a:xfrm>
            <a:off x="609600" y="1657350"/>
            <a:ext cx="3905250" cy="4191000"/>
            <a:chOff x="609600" y="1657350"/>
            <a:chExt cx="3905250" cy="4191000"/>
          </a:xfrm>
        </p:grpSpPr>
        <p:sp>
          <p:nvSpPr>
            <p:cNvPr id="6" name="Rectangle 6"/>
            <p:cNvSpPr/>
            <p:nvPr/>
          </p:nvSpPr>
          <p:spPr>
            <a:xfrm>
              <a:off x="609600" y="1657350"/>
              <a:ext cx="3905250" cy="4191000"/>
            </a:xfrm>
            <a:prstGeom prst="rect">
              <a:avLst/>
            </a:prstGeom>
            <a:solidFill>
              <a:schemeClr val="accent1"/>
            </a:solidFill>
            <a:ln>
              <a:noFill/>
            </a:ln>
          </p:spPr>
        </p:sp>
        <p:sp>
          <p:nvSpPr>
            <p:cNvPr id="7" name="TextBox 7"/>
            <p:cNvSpPr txBox="1"/>
            <p:nvPr/>
          </p:nvSpPr>
          <p:spPr>
            <a:xfrm>
              <a:off x="864108" y="183642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五项业务验收</a:t>
              </a:r>
            </a:p>
          </p:txBody>
        </p:sp>
        <p:sp>
          <p:nvSpPr>
            <p:cNvPr id="8" name="TextBox 8"/>
            <p:cNvSpPr txBox="1"/>
            <p:nvPr/>
          </p:nvSpPr>
          <p:spPr>
            <a:xfrm>
              <a:off x="867156" y="2529840"/>
              <a:ext cx="222336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01　领域属性符合性</a:t>
              </a:r>
            </a:p>
          </p:txBody>
        </p:sp>
        <p:sp>
          <p:nvSpPr>
            <p:cNvPr id="9" name="TextBox 9"/>
            <p:cNvSpPr txBox="1"/>
            <p:nvPr/>
          </p:nvSpPr>
          <p:spPr>
            <a:xfrm>
              <a:off x="867156" y="3139440"/>
              <a:ext cx="19810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02　装备能力图像</a:t>
              </a:r>
            </a:p>
          </p:txBody>
        </p:sp>
        <p:sp>
          <p:nvSpPr>
            <p:cNvPr id="10" name="TextBox 10"/>
            <p:cNvSpPr txBox="1"/>
            <p:nvPr/>
          </p:nvSpPr>
          <p:spPr>
            <a:xfrm>
              <a:off x="867156" y="3749040"/>
              <a:ext cx="14964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03　制胜效能</a:t>
              </a:r>
            </a:p>
          </p:txBody>
        </p:sp>
        <p:sp>
          <p:nvSpPr>
            <p:cNvPr id="11" name="TextBox 11"/>
            <p:cNvSpPr txBox="1"/>
            <p:nvPr/>
          </p:nvSpPr>
          <p:spPr>
            <a:xfrm>
              <a:off x="867156" y="4358640"/>
              <a:ext cx="12541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04　创新性</a:t>
              </a:r>
            </a:p>
          </p:txBody>
        </p:sp>
        <p:sp>
          <p:nvSpPr>
            <p:cNvPr id="12" name="TextBox 12"/>
            <p:cNvSpPr txBox="1"/>
            <p:nvPr/>
          </p:nvSpPr>
          <p:spPr>
            <a:xfrm>
              <a:off x="867156" y="4968240"/>
              <a:ext cx="2502027"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05　可实现性 / 成熟度</a:t>
              </a:r>
            </a:p>
          </p:txBody>
        </p:sp>
      </p:grpSp>
      <p:grpSp>
        <p:nvGrpSpPr>
          <p:cNvPr id="18" name="Group 18"/>
          <p:cNvGrpSpPr/>
          <p:nvPr/>
        </p:nvGrpSpPr>
        <p:grpSpPr>
          <a:xfrm>
            <a:off x="4914900" y="3139440"/>
            <a:ext cx="1104900" cy="1207961"/>
            <a:chOff x="4914900" y="3139440"/>
            <a:chExt cx="1104900" cy="1207961"/>
          </a:xfrm>
        </p:grpSpPr>
        <p:sp>
          <p:nvSpPr>
            <p:cNvPr id="14" name="Line 14"/>
            <p:cNvSpPr/>
            <p:nvPr/>
          </p:nvSpPr>
          <p:spPr>
            <a:xfrm>
              <a:off x="4914900" y="3695700"/>
              <a:ext cx="1104900" cy="9525"/>
            </a:xfrm>
            <a:custGeom>
              <a:avLst/>
              <a:gdLst/>
              <a:ahLst/>
              <a:cxnLst/>
              <a:rect l="l" t="t" r="r" b="b"/>
              <a:pathLst>
                <a:path w="1104900" h="9525">
                  <a:moveTo>
                    <a:pt x="0" y="0"/>
                  </a:moveTo>
                  <a:lnTo>
                    <a:pt x="1104900" y="0"/>
                  </a:lnTo>
                </a:path>
              </a:pathLst>
            </a:custGeom>
            <a:noFill/>
            <a:ln w="38100">
              <a:solidFill>
                <a:schemeClr val="accent2"/>
              </a:solidFill>
            </a:ln>
          </p:spPr>
        </p:sp>
        <p:sp>
          <p:nvSpPr>
            <p:cNvPr id="15" name="Polygon 15"/>
            <p:cNvSpPr/>
            <p:nvPr/>
          </p:nvSpPr>
          <p:spPr>
            <a:xfrm>
              <a:off x="5810250" y="356235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16" name="TextBox 16"/>
            <p:cNvSpPr txBox="1"/>
            <p:nvPr/>
          </p:nvSpPr>
          <p:spPr>
            <a:xfrm>
              <a:off x="5076558" y="31394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映射为</a:t>
              </a:r>
            </a:p>
          </p:txBody>
        </p:sp>
        <p:sp>
          <p:nvSpPr>
            <p:cNvPr id="17" name="TextBox 17"/>
            <p:cNvSpPr txBox="1"/>
            <p:nvPr/>
          </p:nvSpPr>
          <p:spPr>
            <a:xfrm>
              <a:off x="4915281" y="408336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可判、可复核</a:t>
              </a:r>
            </a:p>
          </p:txBody>
        </p:sp>
      </p:grpSp>
      <p:grpSp>
        <p:nvGrpSpPr>
          <p:cNvPr id="31" name="Group 31"/>
          <p:cNvGrpSpPr/>
          <p:nvPr/>
        </p:nvGrpSpPr>
        <p:grpSpPr>
          <a:xfrm>
            <a:off x="6419850" y="1657350"/>
            <a:ext cx="5162550" cy="4191000"/>
            <a:chOff x="6419850" y="1657350"/>
            <a:chExt cx="5162550" cy="4191000"/>
          </a:xfrm>
        </p:grpSpPr>
        <p:sp>
          <p:nvSpPr>
            <p:cNvPr id="19" name="Rectangle 19"/>
            <p:cNvSpPr/>
            <p:nvPr/>
          </p:nvSpPr>
          <p:spPr>
            <a:xfrm>
              <a:off x="6419850" y="1657350"/>
              <a:ext cx="5162550" cy="4191000"/>
            </a:xfrm>
            <a:prstGeom prst="rect">
              <a:avLst/>
            </a:prstGeom>
            <a:solidFill>
              <a:schemeClr val="accent5"/>
            </a:solidFill>
            <a:ln>
              <a:noFill/>
            </a:ln>
          </p:spPr>
        </p:sp>
        <p:sp>
          <p:nvSpPr>
            <p:cNvPr id="20" name="TextBox 20"/>
            <p:cNvSpPr txBox="1"/>
            <p:nvPr/>
          </p:nvSpPr>
          <p:spPr>
            <a:xfrm>
              <a:off x="6693408" y="1836420"/>
              <a:ext cx="2996675"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八维 Pairwise 评测</a:t>
              </a:r>
            </a:p>
          </p:txBody>
        </p:sp>
        <p:sp>
          <p:nvSpPr>
            <p:cNvPr id="21" name="TextBox 21"/>
            <p:cNvSpPr txBox="1"/>
            <p:nvPr/>
          </p:nvSpPr>
          <p:spPr>
            <a:xfrm>
              <a:off x="6698742" y="250221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01 路径与任务完成</a:t>
              </a:r>
            </a:p>
          </p:txBody>
        </p:sp>
        <p:sp>
          <p:nvSpPr>
            <p:cNvPr id="22" name="TextBox 22"/>
            <p:cNvSpPr txBox="1"/>
            <p:nvPr/>
          </p:nvSpPr>
          <p:spPr>
            <a:xfrm>
              <a:off x="9118092" y="2502218"/>
              <a:ext cx="180746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02 证据与事实可靠性</a:t>
              </a:r>
            </a:p>
          </p:txBody>
        </p:sp>
        <p:sp>
          <p:nvSpPr>
            <p:cNvPr id="23" name="TextBox 23"/>
            <p:cNvSpPr txBox="1"/>
            <p:nvPr/>
          </p:nvSpPr>
          <p:spPr>
            <a:xfrm>
              <a:off x="6698742" y="31308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03 因果与机理深度</a:t>
              </a:r>
            </a:p>
          </p:txBody>
        </p:sp>
        <p:sp>
          <p:nvSpPr>
            <p:cNvPr id="24" name="TextBox 24"/>
            <p:cNvSpPr txBox="1"/>
            <p:nvPr/>
          </p:nvSpPr>
          <p:spPr>
            <a:xfrm>
              <a:off x="9118092" y="3130868"/>
              <a:ext cx="142581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04 军事运用价值</a:t>
              </a:r>
            </a:p>
          </p:txBody>
        </p:sp>
        <p:sp>
          <p:nvSpPr>
            <p:cNvPr id="25" name="TextBox 25"/>
            <p:cNvSpPr txBox="1"/>
            <p:nvPr/>
          </p:nvSpPr>
          <p:spPr>
            <a:xfrm>
              <a:off x="6698742" y="375951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05 能力映射与需求质量</a:t>
              </a:r>
            </a:p>
          </p:txBody>
        </p:sp>
        <p:sp>
          <p:nvSpPr>
            <p:cNvPr id="26" name="TextBox 26"/>
            <p:cNvSpPr txBox="1"/>
            <p:nvPr/>
          </p:nvSpPr>
          <p:spPr>
            <a:xfrm>
              <a:off x="9118092" y="3759518"/>
              <a:ext cx="123498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06 前瞻创新性</a:t>
              </a:r>
            </a:p>
          </p:txBody>
        </p:sp>
        <p:sp>
          <p:nvSpPr>
            <p:cNvPr id="27" name="TextBox 27"/>
            <p:cNvSpPr txBox="1"/>
            <p:nvPr/>
          </p:nvSpPr>
          <p:spPr>
            <a:xfrm>
              <a:off x="6698742" y="438816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07 体系与跨场景稳健性</a:t>
              </a:r>
            </a:p>
          </p:txBody>
        </p:sp>
        <p:sp>
          <p:nvSpPr>
            <p:cNvPr id="28" name="TextBox 28"/>
            <p:cNvSpPr txBox="1"/>
            <p:nvPr/>
          </p:nvSpPr>
          <p:spPr>
            <a:xfrm>
              <a:off x="9118092" y="43881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08 不确定性与验证</a:t>
              </a:r>
            </a:p>
          </p:txBody>
        </p:sp>
        <p:sp>
          <p:nvSpPr>
            <p:cNvPr id="29" name="Line 29"/>
            <p:cNvSpPr/>
            <p:nvPr/>
          </p:nvSpPr>
          <p:spPr>
            <a:xfrm>
              <a:off x="6705600" y="4953000"/>
              <a:ext cx="4591050" cy="9525"/>
            </a:xfrm>
            <a:custGeom>
              <a:avLst/>
              <a:gdLst/>
              <a:ahLst/>
              <a:cxnLst/>
              <a:rect l="l" t="t" r="r" b="b"/>
              <a:pathLst>
                <a:path w="4591050" h="9525">
                  <a:moveTo>
                    <a:pt x="0" y="0"/>
                  </a:moveTo>
                  <a:lnTo>
                    <a:pt x="4591050" y="0"/>
                  </a:lnTo>
                </a:path>
              </a:pathLst>
            </a:custGeom>
            <a:noFill/>
            <a:ln w="19050">
              <a:solidFill>
                <a:srgbClr val="C9D5E0"/>
              </a:solidFill>
            </a:ln>
          </p:spPr>
        </p:sp>
        <p:sp>
          <p:nvSpPr>
            <p:cNvPr id="30" name="TextBox 30"/>
            <p:cNvSpPr txBox="1"/>
            <p:nvPr/>
          </p:nvSpPr>
          <p:spPr>
            <a:xfrm>
              <a:off x="6698742" y="5226368"/>
              <a:ext cx="29215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总体胜负基于八维加权与硬失败检查</a:t>
              </a:r>
            </a:p>
          </p:txBody>
        </p:sp>
      </p:grpSp>
      <p:sp>
        <p:nvSpPr>
          <p:cNvPr id="32" name="TextBox 32"/>
          <p:cNvSpPr txBox="1"/>
          <p:nvPr/>
        </p:nvSpPr>
        <p:spPr>
          <a:xfrm>
            <a:off x="602742" y="6274118"/>
            <a:ext cx="312141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来源：pairwise_prompt_v1 评审口径</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381807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总结果</a:t>
              </a:r>
            </a:p>
          </p:txBody>
        </p:sp>
        <p:sp>
          <p:nvSpPr>
            <p:cNvPr id="3" name="TextBox 3"/>
            <p:cNvSpPr txBox="1"/>
            <p:nvPr/>
          </p:nvSpPr>
          <p:spPr>
            <a:xfrm>
              <a:off x="600456" y="1062990"/>
              <a:ext cx="292608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完整方法对三类基线均领先</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09</a:t>
              </a:r>
            </a:p>
          </p:txBody>
        </p:sp>
      </p:grpSp>
      <p:grpSp>
        <p:nvGrpSpPr>
          <p:cNvPr id="22" name="Group 22"/>
          <p:cNvGrpSpPr/>
          <p:nvPr/>
        </p:nvGrpSpPr>
        <p:grpSpPr>
          <a:xfrm>
            <a:off x="609600" y="1676400"/>
            <a:ext cx="5048250" cy="4095750"/>
            <a:chOff x="609600" y="1676400"/>
            <a:chExt cx="5048250" cy="4095750"/>
          </a:xfrm>
        </p:grpSpPr>
        <p:sp>
          <p:nvSpPr>
            <p:cNvPr id="6" name="Rectangle 6"/>
            <p:cNvSpPr/>
            <p:nvPr/>
          </p:nvSpPr>
          <p:spPr>
            <a:xfrm>
              <a:off x="609600" y="1676400"/>
              <a:ext cx="5048250" cy="4095750"/>
            </a:xfrm>
            <a:prstGeom prst="rect">
              <a:avLst/>
            </a:prstGeom>
            <a:solidFill>
              <a:schemeClr val="accent5"/>
            </a:solidFill>
            <a:ln>
              <a:noFill/>
            </a:ln>
          </p:spPr>
        </p:sp>
        <p:sp>
          <p:nvSpPr>
            <p:cNvPr id="7" name="TextBox 7"/>
            <p:cNvSpPr txBox="1"/>
            <p:nvPr/>
          </p:nvSpPr>
          <p:spPr>
            <a:xfrm>
              <a:off x="867156" y="1882140"/>
              <a:ext cx="179931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完整方法得分率</a:t>
              </a:r>
            </a:p>
          </p:txBody>
        </p:sp>
        <p:grpSp>
          <p:nvGrpSpPr>
            <p:cNvPr id="21" name="Group 21"/>
            <p:cNvGrpSpPr/>
            <p:nvPr/>
          </p:nvGrpSpPr>
          <p:grpSpPr>
            <a:xfrm>
              <a:off x="1009650" y="2166938"/>
              <a:ext cx="4305300" cy="3228213"/>
              <a:chOff x="1009650" y="2166938"/>
              <a:chExt cx="4305300" cy="3228213"/>
            </a:xfrm>
          </p:grpSpPr>
          <p:sp>
            <p:nvSpPr>
              <p:cNvPr id="8" name="Line 8"/>
              <p:cNvSpPr/>
              <p:nvPr/>
            </p:nvSpPr>
            <p:spPr>
              <a:xfrm>
                <a:off x="1009650" y="4953000"/>
                <a:ext cx="4305300" cy="9525"/>
              </a:xfrm>
              <a:custGeom>
                <a:avLst/>
                <a:gdLst/>
                <a:ahLst/>
                <a:cxnLst/>
                <a:rect l="l" t="t" r="r" b="b"/>
                <a:pathLst>
                  <a:path w="4305300" h="9525">
                    <a:moveTo>
                      <a:pt x="0" y="0"/>
                    </a:moveTo>
                    <a:lnTo>
                      <a:pt x="4305300" y="0"/>
                    </a:lnTo>
                  </a:path>
                </a:pathLst>
              </a:custGeom>
              <a:noFill/>
              <a:ln w="19050">
                <a:solidFill>
                  <a:srgbClr val="94A3B8"/>
                </a:solidFill>
              </a:ln>
            </p:spPr>
          </p:sp>
          <p:sp>
            <p:nvSpPr>
              <p:cNvPr id="9" name="Line 9"/>
              <p:cNvSpPr/>
              <p:nvPr/>
            </p:nvSpPr>
            <p:spPr>
              <a:xfrm>
                <a:off x="1009650" y="2476500"/>
                <a:ext cx="9525" cy="2476500"/>
              </a:xfrm>
              <a:custGeom>
                <a:avLst/>
                <a:gdLst/>
                <a:ahLst/>
                <a:cxnLst/>
                <a:rect l="l" t="t" r="r" b="b"/>
                <a:pathLst>
                  <a:path w="9525" h="2476500">
                    <a:moveTo>
                      <a:pt x="0" y="0"/>
                    </a:moveTo>
                    <a:lnTo>
                      <a:pt x="0" y="2476500"/>
                    </a:lnTo>
                  </a:path>
                </a:pathLst>
              </a:custGeom>
              <a:noFill/>
              <a:ln w="19050">
                <a:solidFill>
                  <a:srgbClr val="94A3B8"/>
                </a:solidFill>
              </a:ln>
            </p:spPr>
          </p:sp>
          <p:sp>
            <p:nvSpPr>
              <p:cNvPr id="10" name="Line 10"/>
              <p:cNvSpPr/>
              <p:nvPr/>
            </p:nvSpPr>
            <p:spPr>
              <a:xfrm>
                <a:off x="1009650" y="371475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1" name="Line 11"/>
              <p:cNvSpPr/>
              <p:nvPr/>
            </p:nvSpPr>
            <p:spPr>
              <a:xfrm>
                <a:off x="1009650" y="247650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2" name="Rectangle 12"/>
              <p:cNvSpPr/>
              <p:nvPr/>
            </p:nvSpPr>
            <p:spPr>
              <a:xfrm>
                <a:off x="1584960" y="2909888"/>
                <a:ext cx="876300" cy="2043112"/>
              </a:xfrm>
              <a:prstGeom prst="rect">
                <a:avLst/>
              </a:prstGeom>
              <a:solidFill>
                <a:schemeClr val="accent2"/>
              </a:solidFill>
              <a:ln>
                <a:noFill/>
              </a:ln>
            </p:spPr>
          </p:sp>
          <p:sp>
            <p:nvSpPr>
              <p:cNvPr id="13" name="Rectangle 13"/>
              <p:cNvSpPr/>
              <p:nvPr/>
            </p:nvSpPr>
            <p:spPr>
              <a:xfrm>
                <a:off x="2724150" y="2538412"/>
                <a:ext cx="876300" cy="2414588"/>
              </a:xfrm>
              <a:prstGeom prst="rect">
                <a:avLst/>
              </a:prstGeom>
              <a:solidFill>
                <a:schemeClr val="accent3"/>
              </a:solidFill>
              <a:ln>
                <a:noFill/>
              </a:ln>
            </p:spPr>
          </p:sp>
          <p:sp>
            <p:nvSpPr>
              <p:cNvPr id="14" name="Rectangle 14"/>
              <p:cNvSpPr/>
              <p:nvPr/>
            </p:nvSpPr>
            <p:spPr>
              <a:xfrm>
                <a:off x="3863340" y="2538412"/>
                <a:ext cx="876300" cy="2414588"/>
              </a:xfrm>
              <a:prstGeom prst="rect">
                <a:avLst/>
              </a:prstGeom>
              <a:solidFill>
                <a:schemeClr val="accent3"/>
              </a:solidFill>
              <a:ln>
                <a:noFill/>
              </a:ln>
            </p:spPr>
          </p:sp>
          <p:sp>
            <p:nvSpPr>
              <p:cNvPr id="15" name="TextBox 15"/>
              <p:cNvSpPr txBox="1"/>
              <p:nvPr/>
            </p:nvSpPr>
            <p:spPr>
              <a:xfrm>
                <a:off x="1542571" y="2538412"/>
                <a:ext cx="961077"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82.5%</a:t>
                </a:r>
              </a:p>
            </p:txBody>
          </p:sp>
          <p:sp>
            <p:nvSpPr>
              <p:cNvPr id="16" name="TextBox 16"/>
              <p:cNvSpPr txBox="1"/>
              <p:nvPr/>
            </p:nvSpPr>
            <p:spPr>
              <a:xfrm>
                <a:off x="268176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7" name="TextBox 17"/>
              <p:cNvSpPr txBox="1"/>
              <p:nvPr/>
            </p:nvSpPr>
            <p:spPr>
              <a:xfrm>
                <a:off x="382095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8" name="TextBox 18"/>
              <p:cNvSpPr txBox="1"/>
              <p:nvPr/>
            </p:nvSpPr>
            <p:spPr>
              <a:xfrm>
                <a:off x="1552171" y="5131118"/>
                <a:ext cx="94187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通用 Agent</a:t>
                </a:r>
              </a:p>
            </p:txBody>
          </p:sp>
          <p:sp>
            <p:nvSpPr>
              <p:cNvPr id="19" name="TextBox 19"/>
              <p:cNvSpPr txBox="1"/>
              <p:nvPr/>
            </p:nvSpPr>
            <p:spPr>
              <a:xfrm>
                <a:off x="2853004" y="5131118"/>
                <a:ext cx="61859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纯 LLM</a:t>
                </a:r>
              </a:p>
            </p:txBody>
          </p:sp>
          <p:sp>
            <p:nvSpPr>
              <p:cNvPr id="20" name="TextBox 20"/>
              <p:cNvSpPr txBox="1"/>
              <p:nvPr/>
            </p:nvSpPr>
            <p:spPr>
              <a:xfrm>
                <a:off x="3896182" y="5131118"/>
                <a:ext cx="81061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智谱 GLM</a:t>
                </a:r>
              </a:p>
            </p:txBody>
          </p:sp>
        </p:grpSp>
      </p:grpSp>
      <p:grpSp>
        <p:nvGrpSpPr>
          <p:cNvPr id="26" name="Group 26"/>
          <p:cNvGrpSpPr/>
          <p:nvPr/>
        </p:nvGrpSpPr>
        <p:grpSpPr>
          <a:xfrm>
            <a:off x="5955792" y="1676400"/>
            <a:ext cx="5626608" cy="3699701"/>
            <a:chOff x="5955792" y="1676400"/>
            <a:chExt cx="5626608" cy="3699701"/>
          </a:xfrm>
        </p:grpSpPr>
        <p:sp>
          <p:nvSpPr>
            <p:cNvPr id="23" name="Rectangle 23"/>
            <p:cNvSpPr/>
            <p:nvPr/>
          </p:nvSpPr>
          <p:spPr>
            <a:xfrm>
              <a:off x="5962650" y="1676400"/>
              <a:ext cx="5619750" cy="3295650"/>
            </a:xfrm>
            <a:prstGeom prst="rect">
              <a:avLst/>
            </a:prstGeom>
            <a:solidFill>
              <a:schemeClr val="lt1"/>
            </a:solidFill>
            <a:ln w="19050">
              <a:solidFill>
                <a:schemeClr val="accent2"/>
              </a:solidFill>
            </a:ln>
          </p:spPr>
        </p:sp>
        <p:pic>
          <p:nvPicPr>
            <p:cNvPr id="24" name="Image 24"/>
            <p:cNvPicPr>
              <a:picLocks noChangeAspect="1"/>
            </p:cNvPicPr>
            <p:nvPr/>
          </p:nvPicPr>
          <p:blipFill>
            <a:blip r:embed="rId2"/>
            <a:stretch>
              <a:fillRect/>
            </a:stretch>
          </p:blipFill>
          <p:spPr>
            <a:xfrm>
              <a:off x="6057900" y="1771650"/>
              <a:ext cx="5429250" cy="3057525"/>
            </a:xfrm>
            <a:prstGeom prst="rect">
              <a:avLst/>
            </a:prstGeom>
          </p:spPr>
        </p:pic>
        <p:sp>
          <p:nvSpPr>
            <p:cNvPr id="25" name="TextBox 25"/>
            <p:cNvSpPr txBox="1"/>
            <p:nvPr/>
          </p:nvSpPr>
          <p:spPr>
            <a:xfrm>
              <a:off x="5955792" y="5112068"/>
              <a:ext cx="379069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前端结果证据：15胜3平2负及八维 Judge 票型</a:t>
              </a:r>
            </a:p>
          </p:txBody>
        </p:sp>
      </p:grpSp>
      <p:grpSp>
        <p:nvGrpSpPr>
          <p:cNvPr id="29" name="Group 29"/>
          <p:cNvGrpSpPr/>
          <p:nvPr/>
        </p:nvGrpSpPr>
        <p:grpSpPr>
          <a:xfrm>
            <a:off x="602742" y="6121718"/>
            <a:ext cx="8449772" cy="264033"/>
            <a:chOff x="602742" y="6121718"/>
            <a:chExt cx="8449772" cy="264033"/>
          </a:xfrm>
        </p:grpSpPr>
        <p:sp>
          <p:nvSpPr>
            <p:cNvPr id="27" name="TextBox 27"/>
            <p:cNvSpPr txBox="1"/>
            <p:nvPr/>
          </p:nvSpPr>
          <p:spPr>
            <a:xfrm>
              <a:off x="602742" y="6121718"/>
              <a:ext cx="393923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通用 Agent：15胜3平2负，95% CI 65%–95%</a:t>
              </a:r>
            </a:p>
          </p:txBody>
        </p:sp>
        <p:sp>
          <p:nvSpPr>
            <p:cNvPr id="28" name="TextBox 28"/>
            <p:cNvSpPr txBox="1"/>
            <p:nvPr/>
          </p:nvSpPr>
          <p:spPr>
            <a:xfrm>
              <a:off x="6051042" y="6121718"/>
              <a:ext cx="300147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纯 LLM / 智谱：均为19胜1平0负</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514286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对通用 Agent 的八维票型</a:t>
              </a:r>
            </a:p>
          </p:txBody>
        </p:sp>
        <p:sp>
          <p:nvSpPr>
            <p:cNvPr id="3" name="TextBox 3"/>
            <p:cNvSpPr txBox="1"/>
            <p:nvPr/>
          </p:nvSpPr>
          <p:spPr>
            <a:xfrm>
              <a:off x="600456" y="1024890"/>
              <a:ext cx="316839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七维领先，一维证据明显落后</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a:t>
              </a:r>
            </a:p>
          </p:txBody>
        </p:sp>
      </p:grpSp>
      <p:grpSp>
        <p:nvGrpSpPr>
          <p:cNvPr id="46" name="Group 46"/>
          <p:cNvGrpSpPr/>
          <p:nvPr/>
        </p:nvGrpSpPr>
        <p:grpSpPr>
          <a:xfrm>
            <a:off x="602742" y="1866900"/>
            <a:ext cx="8987691" cy="3775901"/>
            <a:chOff x="602742" y="1866900"/>
            <a:chExt cx="8987691" cy="3775901"/>
          </a:xfrm>
        </p:grpSpPr>
        <p:grpSp>
          <p:nvGrpSpPr>
            <p:cNvPr id="45" name="Group 45"/>
            <p:cNvGrpSpPr/>
            <p:nvPr/>
          </p:nvGrpSpPr>
          <p:grpSpPr>
            <a:xfrm>
              <a:off x="602742" y="1866900"/>
              <a:ext cx="8987691" cy="3775901"/>
              <a:chOff x="602742" y="1866900"/>
              <a:chExt cx="8987691"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643438" cy="228600"/>
              </a:xfrm>
              <a:prstGeom prst="rect">
                <a:avLst/>
              </a:prstGeom>
              <a:solidFill>
                <a:schemeClr val="accent2"/>
              </a:solidFill>
              <a:ln>
                <a:noFill/>
              </a:ln>
            </p:spPr>
          </p:sp>
          <p:sp>
            <p:nvSpPr>
              <p:cNvPr id="9" name="Rectangle 9"/>
              <p:cNvSpPr/>
              <p:nvPr/>
            </p:nvSpPr>
            <p:spPr>
              <a:xfrm>
                <a:off x="7500938" y="1981200"/>
                <a:ext cx="142875" cy="228600"/>
              </a:xfrm>
              <a:prstGeom prst="rect">
                <a:avLst/>
              </a:prstGeom>
              <a:solidFill>
                <a:srgbClr val="B7C7D6"/>
              </a:solidFill>
              <a:ln>
                <a:noFill/>
              </a:ln>
            </p:spPr>
          </p:sp>
          <p:sp>
            <p:nvSpPr>
              <p:cNvPr id="10" name="Rectangle 10"/>
              <p:cNvSpPr/>
              <p:nvPr/>
            </p:nvSpPr>
            <p:spPr>
              <a:xfrm>
                <a:off x="7643812" y="1981200"/>
                <a:ext cx="928688" cy="228600"/>
              </a:xfrm>
              <a:prstGeom prst="rect">
                <a:avLst/>
              </a:prstGeom>
              <a:solidFill>
                <a:schemeClr val="accent6"/>
              </a:solidFill>
              <a:ln>
                <a:noFill/>
              </a:ln>
            </p:spPr>
          </p:sp>
          <p:sp>
            <p:nvSpPr>
              <p:cNvPr id="11" name="TextBox 11"/>
              <p:cNvSpPr txBox="1"/>
              <p:nvPr/>
            </p:nvSpPr>
            <p:spPr>
              <a:xfrm>
                <a:off x="8737092" y="20259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65:2:13</a:t>
                </a:r>
              </a:p>
            </p:txBody>
          </p:sp>
          <p:sp>
            <p:nvSpPr>
              <p:cNvPr id="12" name="TextBox 12"/>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证据与事实可靠性</a:t>
                </a:r>
              </a:p>
            </p:txBody>
          </p:sp>
          <p:sp>
            <p:nvSpPr>
              <p:cNvPr id="13" name="Rectangle 13"/>
              <p:cNvSpPr/>
              <p:nvPr/>
            </p:nvSpPr>
            <p:spPr>
              <a:xfrm>
                <a:off x="2857500" y="2457450"/>
                <a:ext cx="1143000" cy="228600"/>
              </a:xfrm>
              <a:prstGeom prst="rect">
                <a:avLst/>
              </a:prstGeom>
              <a:solidFill>
                <a:schemeClr val="accent2"/>
              </a:solidFill>
              <a:ln>
                <a:noFill/>
              </a:ln>
            </p:spPr>
          </p:sp>
          <p:sp>
            <p:nvSpPr>
              <p:cNvPr id="14" name="Rectangle 14"/>
              <p:cNvSpPr/>
              <p:nvPr/>
            </p:nvSpPr>
            <p:spPr>
              <a:xfrm>
                <a:off x="4000500" y="2457450"/>
                <a:ext cx="1000125" cy="228600"/>
              </a:xfrm>
              <a:prstGeom prst="rect">
                <a:avLst/>
              </a:prstGeom>
              <a:solidFill>
                <a:srgbClr val="B7C7D6"/>
              </a:solidFill>
              <a:ln>
                <a:noFill/>
              </a:ln>
            </p:spPr>
          </p:sp>
          <p:sp>
            <p:nvSpPr>
              <p:cNvPr id="15" name="Rectangle 15"/>
              <p:cNvSpPr/>
              <p:nvPr/>
            </p:nvSpPr>
            <p:spPr>
              <a:xfrm>
                <a:off x="5000625" y="2457450"/>
                <a:ext cx="3571875" cy="228600"/>
              </a:xfrm>
              <a:prstGeom prst="rect">
                <a:avLst/>
              </a:prstGeom>
              <a:solidFill>
                <a:schemeClr val="accent6"/>
              </a:solidFill>
              <a:ln>
                <a:noFill/>
              </a:ln>
            </p:spPr>
          </p:sp>
          <p:sp>
            <p:nvSpPr>
              <p:cNvPr id="16" name="TextBox 16"/>
              <p:cNvSpPr txBox="1"/>
              <p:nvPr/>
            </p:nvSpPr>
            <p:spPr>
              <a:xfrm>
                <a:off x="8737092" y="2502218"/>
                <a:ext cx="853341"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16:14:50</a:t>
                </a:r>
              </a:p>
            </p:txBody>
          </p:sp>
          <p:sp>
            <p:nvSpPr>
              <p:cNvPr id="17" name="TextBox 17"/>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8" name="Rectangle 18"/>
              <p:cNvSpPr/>
              <p:nvPr/>
            </p:nvSpPr>
            <p:spPr>
              <a:xfrm>
                <a:off x="2857500" y="2933700"/>
                <a:ext cx="4857750" cy="228600"/>
              </a:xfrm>
              <a:prstGeom prst="rect">
                <a:avLst/>
              </a:prstGeom>
              <a:solidFill>
                <a:schemeClr val="accent2"/>
              </a:solidFill>
              <a:ln>
                <a:noFill/>
              </a:ln>
            </p:spPr>
          </p:sp>
          <p:sp>
            <p:nvSpPr>
              <p:cNvPr id="19" name="Rectangle 19"/>
              <p:cNvSpPr/>
              <p:nvPr/>
            </p:nvSpPr>
            <p:spPr>
              <a:xfrm>
                <a:off x="7715250" y="2933700"/>
                <a:ext cx="857250" cy="228600"/>
              </a:xfrm>
              <a:prstGeom prst="rect">
                <a:avLst/>
              </a:prstGeom>
              <a:solidFill>
                <a:schemeClr val="accent6"/>
              </a:solidFill>
              <a:ln>
                <a:noFill/>
              </a:ln>
            </p:spPr>
          </p:sp>
          <p:sp>
            <p:nvSpPr>
              <p:cNvPr id="20" name="TextBox 20"/>
              <p:cNvSpPr txBox="1"/>
              <p:nvPr/>
            </p:nvSpPr>
            <p:spPr>
              <a:xfrm>
                <a:off x="8737092" y="29784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68:0:12</a:t>
                </a:r>
              </a:p>
            </p:txBody>
          </p:sp>
          <p:sp>
            <p:nvSpPr>
              <p:cNvPr id="21" name="TextBox 21"/>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22" name="Rectangle 22"/>
              <p:cNvSpPr/>
              <p:nvPr/>
            </p:nvSpPr>
            <p:spPr>
              <a:xfrm>
                <a:off x="2857500" y="3409950"/>
                <a:ext cx="4929188" cy="228600"/>
              </a:xfrm>
              <a:prstGeom prst="rect">
                <a:avLst/>
              </a:prstGeom>
              <a:solidFill>
                <a:schemeClr val="accent2"/>
              </a:solidFill>
              <a:ln>
                <a:noFill/>
              </a:ln>
            </p:spPr>
          </p:sp>
          <p:sp>
            <p:nvSpPr>
              <p:cNvPr id="23" name="Rectangle 23"/>
              <p:cNvSpPr/>
              <p:nvPr/>
            </p:nvSpPr>
            <p:spPr>
              <a:xfrm>
                <a:off x="7786688" y="3409950"/>
                <a:ext cx="71438" cy="228600"/>
              </a:xfrm>
              <a:prstGeom prst="rect">
                <a:avLst/>
              </a:prstGeom>
              <a:solidFill>
                <a:srgbClr val="B7C7D6"/>
              </a:solidFill>
              <a:ln>
                <a:noFill/>
              </a:ln>
            </p:spPr>
          </p:sp>
          <p:sp>
            <p:nvSpPr>
              <p:cNvPr id="24" name="Rectangle 24"/>
              <p:cNvSpPr/>
              <p:nvPr/>
            </p:nvSpPr>
            <p:spPr>
              <a:xfrm>
                <a:off x="7858125" y="3409950"/>
                <a:ext cx="714375" cy="228600"/>
              </a:xfrm>
              <a:prstGeom prst="rect">
                <a:avLst/>
              </a:prstGeom>
              <a:solidFill>
                <a:schemeClr val="accent6"/>
              </a:solidFill>
              <a:ln>
                <a:noFill/>
              </a:ln>
            </p:spPr>
          </p:sp>
          <p:sp>
            <p:nvSpPr>
              <p:cNvPr id="25" name="TextBox 25"/>
              <p:cNvSpPr txBox="1"/>
              <p:nvPr/>
            </p:nvSpPr>
            <p:spPr>
              <a:xfrm>
                <a:off x="8737092" y="34547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69:1:10</a:t>
                </a:r>
              </a:p>
            </p:txBody>
          </p:sp>
          <p:sp>
            <p:nvSpPr>
              <p:cNvPr id="26" name="TextBox 26"/>
              <p:cNvSpPr txBox="1"/>
              <p:nvPr/>
            </p:nvSpPr>
            <p:spPr>
              <a:xfrm>
                <a:off x="602742" y="3950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不确定性与验证</a:t>
                </a:r>
              </a:p>
            </p:txBody>
          </p:sp>
          <p:sp>
            <p:nvSpPr>
              <p:cNvPr id="27" name="Rectangle 27"/>
              <p:cNvSpPr/>
              <p:nvPr/>
            </p:nvSpPr>
            <p:spPr>
              <a:xfrm>
                <a:off x="2857500" y="3886200"/>
                <a:ext cx="4286250" cy="228600"/>
              </a:xfrm>
              <a:prstGeom prst="rect">
                <a:avLst/>
              </a:prstGeom>
              <a:solidFill>
                <a:schemeClr val="accent2"/>
              </a:solidFill>
              <a:ln>
                <a:noFill/>
              </a:ln>
            </p:spPr>
          </p:sp>
          <p:sp>
            <p:nvSpPr>
              <p:cNvPr id="28" name="Rectangle 28"/>
              <p:cNvSpPr/>
              <p:nvPr/>
            </p:nvSpPr>
            <p:spPr>
              <a:xfrm>
                <a:off x="7143750" y="3886200"/>
                <a:ext cx="285750" cy="228600"/>
              </a:xfrm>
              <a:prstGeom prst="rect">
                <a:avLst/>
              </a:prstGeom>
              <a:solidFill>
                <a:srgbClr val="B7C7D6"/>
              </a:solidFill>
              <a:ln>
                <a:noFill/>
              </a:ln>
            </p:spPr>
          </p:sp>
          <p:sp>
            <p:nvSpPr>
              <p:cNvPr id="29" name="Rectangle 29"/>
              <p:cNvSpPr/>
              <p:nvPr/>
            </p:nvSpPr>
            <p:spPr>
              <a:xfrm>
                <a:off x="7429500" y="3886200"/>
                <a:ext cx="1143000" cy="228600"/>
              </a:xfrm>
              <a:prstGeom prst="rect">
                <a:avLst/>
              </a:prstGeom>
              <a:solidFill>
                <a:schemeClr val="accent6"/>
              </a:solidFill>
              <a:ln>
                <a:noFill/>
              </a:ln>
            </p:spPr>
          </p:sp>
          <p:sp>
            <p:nvSpPr>
              <p:cNvPr id="30" name="TextBox 30"/>
              <p:cNvSpPr txBox="1"/>
              <p:nvPr/>
            </p:nvSpPr>
            <p:spPr>
              <a:xfrm>
                <a:off x="8737092" y="39309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60:4:16</a:t>
                </a:r>
              </a:p>
            </p:txBody>
          </p:sp>
          <p:sp>
            <p:nvSpPr>
              <p:cNvPr id="31" name="TextBox 31"/>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32" name="Rectangle 32"/>
              <p:cNvSpPr/>
              <p:nvPr/>
            </p:nvSpPr>
            <p:spPr>
              <a:xfrm>
                <a:off x="2857500" y="4362450"/>
                <a:ext cx="4929188" cy="228600"/>
              </a:xfrm>
              <a:prstGeom prst="rect">
                <a:avLst/>
              </a:prstGeom>
              <a:solidFill>
                <a:schemeClr val="accent2"/>
              </a:solidFill>
              <a:ln>
                <a:noFill/>
              </a:ln>
            </p:spPr>
          </p:sp>
          <p:sp>
            <p:nvSpPr>
              <p:cNvPr id="33" name="Rectangle 33"/>
              <p:cNvSpPr/>
              <p:nvPr/>
            </p:nvSpPr>
            <p:spPr>
              <a:xfrm>
                <a:off x="7786688" y="4362450"/>
                <a:ext cx="785812" cy="228600"/>
              </a:xfrm>
              <a:prstGeom prst="rect">
                <a:avLst/>
              </a:prstGeom>
              <a:solidFill>
                <a:schemeClr val="accent6"/>
              </a:solidFill>
              <a:ln>
                <a:noFill/>
              </a:ln>
            </p:spPr>
          </p:sp>
          <p:sp>
            <p:nvSpPr>
              <p:cNvPr id="34" name="TextBox 34"/>
              <p:cNvSpPr txBox="1"/>
              <p:nvPr/>
            </p:nvSpPr>
            <p:spPr>
              <a:xfrm>
                <a:off x="8737092" y="44072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69:0:11</a:t>
                </a:r>
              </a:p>
            </p:txBody>
          </p:sp>
          <p:sp>
            <p:nvSpPr>
              <p:cNvPr id="35" name="TextBox 35"/>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6" name="Rectangle 36"/>
              <p:cNvSpPr/>
              <p:nvPr/>
            </p:nvSpPr>
            <p:spPr>
              <a:xfrm>
                <a:off x="2857500" y="4838700"/>
                <a:ext cx="5072062" cy="228600"/>
              </a:xfrm>
              <a:prstGeom prst="rect">
                <a:avLst/>
              </a:prstGeom>
              <a:solidFill>
                <a:schemeClr val="accent2"/>
              </a:solidFill>
              <a:ln>
                <a:noFill/>
              </a:ln>
            </p:spPr>
          </p:sp>
          <p:sp>
            <p:nvSpPr>
              <p:cNvPr id="37" name="Rectangle 37"/>
              <p:cNvSpPr/>
              <p:nvPr/>
            </p:nvSpPr>
            <p:spPr>
              <a:xfrm>
                <a:off x="7929562" y="4838700"/>
                <a:ext cx="357188" cy="228600"/>
              </a:xfrm>
              <a:prstGeom prst="rect">
                <a:avLst/>
              </a:prstGeom>
              <a:solidFill>
                <a:srgbClr val="B7C7D6"/>
              </a:solidFill>
              <a:ln>
                <a:noFill/>
              </a:ln>
            </p:spPr>
          </p:sp>
          <p:sp>
            <p:nvSpPr>
              <p:cNvPr id="38" name="Rectangle 38"/>
              <p:cNvSpPr/>
              <p:nvPr/>
            </p:nvSpPr>
            <p:spPr>
              <a:xfrm>
                <a:off x="8286750" y="4838700"/>
                <a:ext cx="285750" cy="228600"/>
              </a:xfrm>
              <a:prstGeom prst="rect">
                <a:avLst/>
              </a:prstGeom>
              <a:solidFill>
                <a:schemeClr val="accent6"/>
              </a:solidFill>
              <a:ln>
                <a:noFill/>
              </a:ln>
            </p:spPr>
          </p:sp>
          <p:sp>
            <p:nvSpPr>
              <p:cNvPr id="39" name="TextBox 39"/>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71:5:4</a:t>
                </a:r>
              </a:p>
            </p:txBody>
          </p:sp>
          <p:sp>
            <p:nvSpPr>
              <p:cNvPr id="40" name="TextBox 40"/>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41" name="Rectangle 41"/>
              <p:cNvSpPr/>
              <p:nvPr/>
            </p:nvSpPr>
            <p:spPr>
              <a:xfrm>
                <a:off x="2857500" y="5314950"/>
                <a:ext cx="4714875" cy="228600"/>
              </a:xfrm>
              <a:prstGeom prst="rect">
                <a:avLst/>
              </a:prstGeom>
              <a:solidFill>
                <a:schemeClr val="accent2"/>
              </a:solidFill>
              <a:ln>
                <a:noFill/>
              </a:ln>
            </p:spPr>
          </p:sp>
          <p:sp>
            <p:nvSpPr>
              <p:cNvPr id="42" name="Rectangle 42"/>
              <p:cNvSpPr/>
              <p:nvPr/>
            </p:nvSpPr>
            <p:spPr>
              <a:xfrm>
                <a:off x="7572375" y="5314950"/>
                <a:ext cx="142875" cy="228600"/>
              </a:xfrm>
              <a:prstGeom prst="rect">
                <a:avLst/>
              </a:prstGeom>
              <a:solidFill>
                <a:srgbClr val="B7C7D6"/>
              </a:solidFill>
              <a:ln>
                <a:noFill/>
              </a:ln>
            </p:spPr>
          </p:sp>
          <p:sp>
            <p:nvSpPr>
              <p:cNvPr id="43" name="Rectangle 43"/>
              <p:cNvSpPr/>
              <p:nvPr/>
            </p:nvSpPr>
            <p:spPr>
              <a:xfrm>
                <a:off x="7715250" y="5314950"/>
                <a:ext cx="857250" cy="228600"/>
              </a:xfrm>
              <a:prstGeom prst="rect">
                <a:avLst/>
              </a:prstGeom>
              <a:solidFill>
                <a:schemeClr val="accent6"/>
              </a:solidFill>
              <a:ln>
                <a:noFill/>
              </a:ln>
            </p:spPr>
          </p:sp>
          <p:sp>
            <p:nvSpPr>
              <p:cNvPr id="44" name="TextBox 44"/>
              <p:cNvSpPr txBox="1"/>
              <p:nvPr/>
            </p:nvSpPr>
            <p:spPr>
              <a:xfrm>
                <a:off x="8737092" y="53597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66:2:12</a:t>
                </a:r>
              </a:p>
            </p:txBody>
          </p:sp>
        </p:grpSp>
      </p:grpSp>
      <p:grpSp>
        <p:nvGrpSpPr>
          <p:cNvPr id="56" name="Group 56"/>
          <p:cNvGrpSpPr/>
          <p:nvPr/>
        </p:nvGrpSpPr>
        <p:grpSpPr>
          <a:xfrm>
            <a:off x="9277350" y="1657350"/>
            <a:ext cx="2305050" cy="3886200"/>
            <a:chOff x="9277350" y="1657350"/>
            <a:chExt cx="2305050" cy="3886200"/>
          </a:xfrm>
        </p:grpSpPr>
        <p:sp>
          <p:nvSpPr>
            <p:cNvPr id="47" name="Rectangle 47"/>
            <p:cNvSpPr/>
            <p:nvPr/>
          </p:nvSpPr>
          <p:spPr>
            <a:xfrm>
              <a:off x="9277350" y="1657350"/>
              <a:ext cx="2305050" cy="3886200"/>
            </a:xfrm>
            <a:prstGeom prst="rect">
              <a:avLst/>
            </a:prstGeom>
            <a:solidFill>
              <a:schemeClr val="accent1"/>
            </a:solidFill>
            <a:ln>
              <a:noFill/>
            </a:ln>
          </p:spPr>
        </p:sp>
        <p:sp>
          <p:nvSpPr>
            <p:cNvPr id="48" name="TextBox 48"/>
            <p:cNvSpPr txBox="1"/>
            <p:nvPr/>
          </p:nvSpPr>
          <p:spPr>
            <a:xfrm>
              <a:off x="9496806" y="192024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最大短板</a:t>
              </a:r>
            </a:p>
          </p:txBody>
        </p:sp>
        <p:sp>
          <p:nvSpPr>
            <p:cNvPr id="49" name="TextBox 49"/>
            <p:cNvSpPr txBox="1"/>
            <p:nvPr/>
          </p:nvSpPr>
          <p:spPr>
            <a:xfrm>
              <a:off x="9486900" y="22659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50</a:t>
              </a:r>
            </a:p>
          </p:txBody>
        </p:sp>
        <p:sp>
          <p:nvSpPr>
            <p:cNvPr id="50" name="TextBox 50"/>
            <p:cNvSpPr txBox="1"/>
            <p:nvPr/>
          </p:nvSpPr>
          <p:spPr>
            <a:xfrm>
              <a:off x="9499092" y="3035618"/>
              <a:ext cx="114048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baseline 胜票</a:t>
              </a:r>
            </a:p>
          </p:txBody>
        </p:sp>
        <p:sp>
          <p:nvSpPr>
            <p:cNvPr id="51" name="Line 51"/>
            <p:cNvSpPr/>
            <p:nvPr/>
          </p:nvSpPr>
          <p:spPr>
            <a:xfrm>
              <a:off x="9505950" y="352425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52" name="TextBox 52"/>
            <p:cNvSpPr txBox="1"/>
            <p:nvPr/>
          </p:nvSpPr>
          <p:spPr>
            <a:xfrm>
              <a:off x="9496806" y="37490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证据事实维度</a:t>
              </a:r>
            </a:p>
          </p:txBody>
        </p:sp>
        <p:sp>
          <p:nvSpPr>
            <p:cNvPr id="53" name="TextBox 53"/>
            <p:cNvSpPr txBox="1"/>
            <p:nvPr/>
          </p:nvSpPr>
          <p:spPr>
            <a:xfrm>
              <a:off x="9499092" y="4197668"/>
              <a:ext cx="120409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正文—证据绑定</a:t>
              </a:r>
            </a:p>
          </p:txBody>
        </p:sp>
        <p:sp>
          <p:nvSpPr>
            <p:cNvPr id="54" name="TextBox 54"/>
            <p:cNvSpPr txBox="1"/>
            <p:nvPr/>
          </p:nvSpPr>
          <p:spPr>
            <a:xfrm>
              <a:off x="9499092" y="4502468"/>
              <a:ext cx="11041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关键数字核验</a:t>
              </a:r>
            </a:p>
          </p:txBody>
        </p:sp>
        <p:sp>
          <p:nvSpPr>
            <p:cNvPr id="55" name="TextBox 55"/>
            <p:cNvSpPr txBox="1"/>
            <p:nvPr/>
          </p:nvSpPr>
          <p:spPr>
            <a:xfrm>
              <a:off x="9499092" y="4807268"/>
              <a:ext cx="11041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来源质量分级</a:t>
              </a:r>
            </a:p>
          </p:txBody>
        </p:sp>
      </p:grpSp>
      <p:grpSp>
        <p:nvGrpSpPr>
          <p:cNvPr id="63" name="Group 63"/>
          <p:cNvGrpSpPr/>
          <p:nvPr/>
        </p:nvGrpSpPr>
        <p:grpSpPr>
          <a:xfrm>
            <a:off x="609600" y="6172200"/>
            <a:ext cx="4021120" cy="270701"/>
            <a:chOff x="609600" y="6172200"/>
            <a:chExt cx="4021120" cy="270701"/>
          </a:xfrm>
        </p:grpSpPr>
        <p:sp>
          <p:nvSpPr>
            <p:cNvPr id="57" name="Rectangle 57"/>
            <p:cNvSpPr/>
            <p:nvPr/>
          </p:nvSpPr>
          <p:spPr>
            <a:xfrm>
              <a:off x="609600" y="6172200"/>
              <a:ext cx="171450" cy="171450"/>
            </a:xfrm>
            <a:prstGeom prst="rect">
              <a:avLst/>
            </a:prstGeom>
            <a:solidFill>
              <a:schemeClr val="accent2"/>
            </a:solidFill>
            <a:ln>
              <a:noFill/>
            </a:ln>
          </p:spPr>
        </p:sp>
        <p:sp>
          <p:nvSpPr>
            <p:cNvPr id="58" name="TextBox 58"/>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9" name="Rectangle 59"/>
            <p:cNvSpPr/>
            <p:nvPr/>
          </p:nvSpPr>
          <p:spPr>
            <a:xfrm>
              <a:off x="2190750" y="6172200"/>
              <a:ext cx="171450" cy="171450"/>
            </a:xfrm>
            <a:prstGeom prst="rect">
              <a:avLst/>
            </a:prstGeom>
            <a:solidFill>
              <a:srgbClr val="B7C7D6"/>
            </a:solidFill>
            <a:ln>
              <a:noFill/>
            </a:ln>
          </p:spPr>
        </p:sp>
        <p:sp>
          <p:nvSpPr>
            <p:cNvPr id="60" name="TextBox 60"/>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61" name="Rectangle 61"/>
            <p:cNvSpPr/>
            <p:nvPr/>
          </p:nvSpPr>
          <p:spPr>
            <a:xfrm>
              <a:off x="3429000" y="6172200"/>
              <a:ext cx="171450" cy="171450"/>
            </a:xfrm>
            <a:prstGeom prst="rect">
              <a:avLst/>
            </a:prstGeom>
            <a:solidFill>
              <a:schemeClr val="accent6"/>
            </a:solidFill>
            <a:ln>
              <a:noFill/>
            </a:ln>
          </p:spPr>
        </p:sp>
        <p:sp>
          <p:nvSpPr>
            <p:cNvPr id="62" name="TextBox 62"/>
            <p:cNvSpPr txBox="1"/>
            <p:nvPr/>
          </p:nvSpPr>
          <p:spPr>
            <a:xfrm>
              <a:off x="3688842" y="6178868"/>
              <a:ext cx="941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通用 Agent</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294842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质量—时延权衡</a:t>
              </a:r>
            </a:p>
          </p:txBody>
        </p:sp>
        <p:sp>
          <p:nvSpPr>
            <p:cNvPr id="3" name="TextBox 3"/>
            <p:cNvSpPr txBox="1"/>
            <p:nvPr/>
          </p:nvSpPr>
          <p:spPr>
            <a:xfrm>
              <a:off x="600456" y="1043940"/>
              <a:ext cx="5311567"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效果领先，但平均耗时比通用 Agent 高约 7.5 倍</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11</a:t>
              </a:r>
            </a:p>
          </p:txBody>
        </p:sp>
      </p:grpSp>
      <p:grpSp>
        <p:nvGrpSpPr>
          <p:cNvPr id="26" name="Group 26"/>
          <p:cNvGrpSpPr/>
          <p:nvPr/>
        </p:nvGrpSpPr>
        <p:grpSpPr>
          <a:xfrm>
            <a:off x="520636" y="1657350"/>
            <a:ext cx="7841800" cy="4171950"/>
            <a:chOff x="520636" y="1657350"/>
            <a:chExt cx="7841800" cy="4171950"/>
          </a:xfrm>
        </p:grpSpPr>
        <p:sp>
          <p:nvSpPr>
            <p:cNvPr id="6" name="Rectangle 6"/>
            <p:cNvSpPr/>
            <p:nvPr/>
          </p:nvSpPr>
          <p:spPr>
            <a:xfrm>
              <a:off x="609600" y="1657350"/>
              <a:ext cx="7429500" cy="4171950"/>
            </a:xfrm>
            <a:prstGeom prst="rect">
              <a:avLst/>
            </a:prstGeom>
            <a:solidFill>
              <a:schemeClr val="accent5"/>
            </a:solidFill>
            <a:ln>
              <a:noFill/>
            </a:ln>
          </p:spPr>
        </p:sp>
        <p:grpSp>
          <p:nvGrpSpPr>
            <p:cNvPr id="25" name="Group 25"/>
            <p:cNvGrpSpPr/>
            <p:nvPr/>
          </p:nvGrpSpPr>
          <p:grpSpPr>
            <a:xfrm>
              <a:off x="520636" y="2133600"/>
              <a:ext cx="7841800" cy="3604451"/>
              <a:chOff x="520636" y="2133600"/>
              <a:chExt cx="7841800" cy="3604451"/>
            </a:xfrm>
          </p:grpSpPr>
          <p:sp>
            <p:nvSpPr>
              <p:cNvPr id="7" name="Line 7"/>
              <p:cNvSpPr/>
              <p:nvPr/>
            </p:nvSpPr>
            <p:spPr>
              <a:xfrm>
                <a:off x="1181100" y="5219700"/>
                <a:ext cx="6477000" cy="9525"/>
              </a:xfrm>
              <a:custGeom>
                <a:avLst/>
                <a:gdLst/>
                <a:ahLst/>
                <a:cxnLst/>
                <a:rect l="l" t="t" r="r" b="b"/>
                <a:pathLst>
                  <a:path w="6477000" h="9525">
                    <a:moveTo>
                      <a:pt x="0" y="0"/>
                    </a:moveTo>
                    <a:lnTo>
                      <a:pt x="6477000" y="0"/>
                    </a:lnTo>
                  </a:path>
                </a:pathLst>
              </a:custGeom>
              <a:noFill/>
              <a:ln w="19050">
                <a:solidFill>
                  <a:schemeClr val="accent1"/>
                </a:solidFill>
              </a:ln>
            </p:spPr>
          </p:sp>
          <p:sp>
            <p:nvSpPr>
              <p:cNvPr id="8" name="Line 8"/>
              <p:cNvSpPr/>
              <p:nvPr/>
            </p:nvSpPr>
            <p:spPr>
              <a:xfrm>
                <a:off x="1181100" y="2133600"/>
                <a:ext cx="9525" cy="3086100"/>
              </a:xfrm>
              <a:custGeom>
                <a:avLst/>
                <a:gdLst/>
                <a:ahLst/>
                <a:cxnLst/>
                <a:rect l="l" t="t" r="r" b="b"/>
                <a:pathLst>
                  <a:path w="9525" h="3086100">
                    <a:moveTo>
                      <a:pt x="0" y="0"/>
                    </a:moveTo>
                    <a:lnTo>
                      <a:pt x="0" y="3086100"/>
                    </a:lnTo>
                  </a:path>
                </a:pathLst>
              </a:custGeom>
              <a:noFill/>
              <a:ln w="19050">
                <a:solidFill>
                  <a:schemeClr val="accent1"/>
                </a:solidFill>
              </a:ln>
            </p:spPr>
          </p:sp>
          <p:sp>
            <p:nvSpPr>
              <p:cNvPr id="9" name="Line 9"/>
              <p:cNvSpPr/>
              <p:nvPr/>
            </p:nvSpPr>
            <p:spPr>
              <a:xfrm>
                <a:off x="2533650" y="2133600"/>
                <a:ext cx="9525" cy="3086100"/>
              </a:xfrm>
              <a:custGeom>
                <a:avLst/>
                <a:gdLst/>
                <a:ahLst/>
                <a:cxnLst/>
                <a:rect l="l" t="t" r="r" b="b"/>
                <a:pathLst>
                  <a:path w="9525" h="3086100">
                    <a:moveTo>
                      <a:pt x="0" y="0"/>
                    </a:moveTo>
                    <a:lnTo>
                      <a:pt x="0" y="3086100"/>
                    </a:lnTo>
                  </a:path>
                </a:pathLst>
              </a:custGeom>
              <a:noFill/>
              <a:ln w="19050">
                <a:solidFill>
                  <a:srgbClr val="B7C7D6"/>
                </a:solidFill>
                <a:custDash>
                  <a:ds d="300000" sp="300000"/>
                </a:custDash>
              </a:ln>
            </p:spPr>
          </p:sp>
          <p:sp>
            <p:nvSpPr>
              <p:cNvPr id="10" name="Line 10"/>
              <p:cNvSpPr/>
              <p:nvPr/>
            </p:nvSpPr>
            <p:spPr>
              <a:xfrm>
                <a:off x="1181100" y="2750820"/>
                <a:ext cx="6477000" cy="9525"/>
              </a:xfrm>
              <a:custGeom>
                <a:avLst/>
                <a:gdLst/>
                <a:ahLst/>
                <a:cxnLst/>
                <a:rect l="l" t="t" r="r" b="b"/>
                <a:pathLst>
                  <a:path w="6477000" h="9525">
                    <a:moveTo>
                      <a:pt x="0" y="0"/>
                    </a:moveTo>
                    <a:lnTo>
                      <a:pt x="6477000" y="0"/>
                    </a:lnTo>
                  </a:path>
                </a:pathLst>
              </a:custGeom>
              <a:noFill/>
              <a:ln w="19050">
                <a:solidFill>
                  <a:srgbClr val="B7C7D6"/>
                </a:solidFill>
                <a:custDash>
                  <a:ds d="300000" sp="300000"/>
                </a:custDash>
              </a:ln>
            </p:spPr>
          </p:sp>
          <p:sp>
            <p:nvSpPr>
              <p:cNvPr id="11" name="TextBox 11"/>
              <p:cNvSpPr txBox="1"/>
              <p:nvPr/>
            </p:nvSpPr>
            <p:spPr>
              <a:xfrm>
                <a:off x="1288542" y="2235518"/>
                <a:ext cx="13781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高质量 · 低时延</a:t>
                </a:r>
              </a:p>
            </p:txBody>
          </p:sp>
          <p:sp>
            <p:nvSpPr>
              <p:cNvPr id="12" name="TextBox 12"/>
              <p:cNvSpPr txBox="1"/>
              <p:nvPr/>
            </p:nvSpPr>
            <p:spPr>
              <a:xfrm>
                <a:off x="5974842" y="2235518"/>
                <a:ext cx="1378107"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高质量 · 高时延</a:t>
                </a:r>
              </a:p>
            </p:txBody>
          </p:sp>
          <p:sp>
            <p:nvSpPr>
              <p:cNvPr id="13" name="Ellipse 13"/>
              <p:cNvSpPr/>
              <p:nvPr/>
            </p:nvSpPr>
            <p:spPr>
              <a:xfrm>
                <a:off x="7038975" y="2349818"/>
                <a:ext cx="647700" cy="647700"/>
              </a:xfrm>
              <a:prstGeom prst="ellipse">
                <a:avLst/>
              </a:prstGeom>
              <a:solidFill>
                <a:schemeClr val="accent2">
                  <a:alpha val="82000"/>
                </a:schemeClr>
              </a:solidFill>
              <a:ln>
                <a:noFill/>
              </a:ln>
            </p:spPr>
          </p:sp>
          <p:sp>
            <p:nvSpPr>
              <p:cNvPr id="14" name="TextBox 14"/>
              <p:cNvSpPr txBox="1"/>
              <p:nvPr/>
            </p:nvSpPr>
            <p:spPr>
              <a:xfrm>
                <a:off x="6813042" y="305466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完整方法</a:t>
                </a:r>
              </a:p>
            </p:txBody>
          </p:sp>
          <p:sp>
            <p:nvSpPr>
              <p:cNvPr id="15" name="TextBox 15"/>
              <p:cNvSpPr txBox="1"/>
              <p:nvPr/>
            </p:nvSpPr>
            <p:spPr>
              <a:xfrm>
                <a:off x="6813042" y="3283268"/>
                <a:ext cx="1549394"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22.9 min · 14.3源</a:t>
                </a:r>
              </a:p>
            </p:txBody>
          </p:sp>
          <p:sp>
            <p:nvSpPr>
              <p:cNvPr id="16" name="Ellipse 16"/>
              <p:cNvSpPr/>
              <p:nvPr/>
            </p:nvSpPr>
            <p:spPr>
              <a:xfrm>
                <a:off x="1704975" y="4393882"/>
                <a:ext cx="571500" cy="571500"/>
              </a:xfrm>
              <a:prstGeom prst="ellipse">
                <a:avLst/>
              </a:prstGeom>
              <a:solidFill>
                <a:schemeClr val="accent6">
                  <a:alpha val="78000"/>
                </a:schemeClr>
              </a:solidFill>
              <a:ln>
                <a:noFill/>
              </a:ln>
            </p:spPr>
          </p:sp>
          <p:sp>
            <p:nvSpPr>
              <p:cNvPr id="17" name="TextBox 17"/>
              <p:cNvSpPr txBox="1"/>
              <p:nvPr/>
            </p:nvSpPr>
            <p:spPr>
              <a:xfrm>
                <a:off x="2317242" y="4464368"/>
                <a:ext cx="988286"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通用 Agent</a:t>
                </a:r>
              </a:p>
            </p:txBody>
          </p:sp>
          <p:sp>
            <p:nvSpPr>
              <p:cNvPr id="18" name="TextBox 18"/>
              <p:cNvSpPr txBox="1"/>
              <p:nvPr/>
            </p:nvSpPr>
            <p:spPr>
              <a:xfrm>
                <a:off x="2317242" y="4692968"/>
                <a:ext cx="1449438"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3.0 min · 11.8源</a:t>
                </a:r>
              </a:p>
            </p:txBody>
          </p:sp>
          <p:sp>
            <p:nvSpPr>
              <p:cNvPr id="19" name="Ellipse 19"/>
              <p:cNvSpPr/>
              <p:nvPr/>
            </p:nvSpPr>
            <p:spPr>
              <a:xfrm>
                <a:off x="1762125" y="5047298"/>
                <a:ext cx="190500" cy="190500"/>
              </a:xfrm>
              <a:prstGeom prst="ellipse">
                <a:avLst/>
              </a:prstGeom>
              <a:solidFill>
                <a:srgbClr val="6B7785"/>
              </a:solidFill>
              <a:ln>
                <a:noFill/>
              </a:ln>
            </p:spPr>
          </p:sp>
          <p:sp>
            <p:nvSpPr>
              <p:cNvPr id="20" name="TextBox 20"/>
              <p:cNvSpPr txBox="1"/>
              <p:nvPr/>
            </p:nvSpPr>
            <p:spPr>
              <a:xfrm>
                <a:off x="2088642" y="4997768"/>
                <a:ext cx="148072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纯 LLM · 2.5 min</a:t>
                </a:r>
              </a:p>
            </p:txBody>
          </p:sp>
          <p:sp>
            <p:nvSpPr>
              <p:cNvPr id="21" name="Ellipse 21"/>
              <p:cNvSpPr/>
              <p:nvPr/>
            </p:nvSpPr>
            <p:spPr>
              <a:xfrm>
                <a:off x="1304925" y="5047298"/>
                <a:ext cx="190500" cy="190500"/>
              </a:xfrm>
              <a:prstGeom prst="ellipse">
                <a:avLst/>
              </a:prstGeom>
              <a:solidFill>
                <a:srgbClr val="B7C7D6"/>
              </a:solidFill>
              <a:ln>
                <a:noFill/>
              </a:ln>
            </p:spPr>
          </p:sp>
          <p:sp>
            <p:nvSpPr>
              <p:cNvPr id="22" name="TextBox 22"/>
              <p:cNvSpPr txBox="1"/>
              <p:nvPr/>
            </p:nvSpPr>
            <p:spPr>
              <a:xfrm>
                <a:off x="1021842" y="5397818"/>
                <a:ext cx="123135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智谱 · 0.8 min</a:t>
                </a:r>
              </a:p>
            </p:txBody>
          </p:sp>
          <p:sp>
            <p:nvSpPr>
              <p:cNvPr id="23" name="TextBox 23"/>
              <p:cNvSpPr txBox="1"/>
              <p:nvPr/>
            </p:nvSpPr>
            <p:spPr>
              <a:xfrm>
                <a:off x="3608556" y="5474018"/>
                <a:ext cx="162208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平均耗时（分钟） →</a:t>
                </a:r>
              </a:p>
            </p:txBody>
          </p:sp>
          <p:sp>
            <p:nvSpPr>
              <p:cNvPr id="24" name="TextBox 24"/>
              <p:cNvSpPr txBox="1"/>
              <p:nvPr/>
            </p:nvSpPr>
            <p:spPr>
              <a:xfrm>
                <a:off x="520636" y="3759518"/>
                <a:ext cx="558927"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得分率</a:t>
                </a:r>
              </a:p>
            </p:txBody>
          </p:sp>
        </p:grpSp>
      </p:grpSp>
      <p:grpSp>
        <p:nvGrpSpPr>
          <p:cNvPr id="36" name="Group 36"/>
          <p:cNvGrpSpPr/>
          <p:nvPr/>
        </p:nvGrpSpPr>
        <p:grpSpPr>
          <a:xfrm>
            <a:off x="8343900" y="1657350"/>
            <a:ext cx="3238500" cy="4171950"/>
            <a:chOff x="8343900" y="1657350"/>
            <a:chExt cx="3238500" cy="4171950"/>
          </a:xfrm>
        </p:grpSpPr>
        <p:sp>
          <p:nvSpPr>
            <p:cNvPr id="27" name="Rectangle 27"/>
            <p:cNvSpPr/>
            <p:nvPr/>
          </p:nvSpPr>
          <p:spPr>
            <a:xfrm>
              <a:off x="8343900" y="1657350"/>
              <a:ext cx="3238500" cy="4171950"/>
            </a:xfrm>
            <a:prstGeom prst="rect">
              <a:avLst/>
            </a:prstGeom>
            <a:solidFill>
              <a:schemeClr val="accent1"/>
            </a:solidFill>
            <a:ln>
              <a:noFill/>
            </a:ln>
          </p:spPr>
        </p:sp>
        <p:sp>
          <p:nvSpPr>
            <p:cNvPr id="28" name="TextBox 28"/>
            <p:cNvSpPr txBox="1"/>
            <p:nvPr/>
          </p:nvSpPr>
          <p:spPr>
            <a:xfrm>
              <a:off x="8598408" y="18554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效率优化方向</a:t>
              </a:r>
            </a:p>
          </p:txBody>
        </p:sp>
        <p:sp>
          <p:nvSpPr>
            <p:cNvPr id="29" name="TextBox 29"/>
            <p:cNvSpPr txBox="1"/>
            <p:nvPr/>
          </p:nvSpPr>
          <p:spPr>
            <a:xfrm>
              <a:off x="8591550" y="2265998"/>
              <a:ext cx="1577412"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7.5×</a:t>
              </a:r>
            </a:p>
          </p:txBody>
        </p:sp>
        <p:sp>
          <p:nvSpPr>
            <p:cNvPr id="30" name="TextBox 30"/>
            <p:cNvSpPr txBox="1"/>
            <p:nvPr/>
          </p:nvSpPr>
          <p:spPr>
            <a:xfrm>
              <a:off x="8603742" y="3035618"/>
              <a:ext cx="2283577"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相对通用 Agent 的时延倍数</a:t>
              </a:r>
            </a:p>
          </p:txBody>
        </p:sp>
        <p:sp>
          <p:nvSpPr>
            <p:cNvPr id="31" name="Line 31"/>
            <p:cNvSpPr/>
            <p:nvPr/>
          </p:nvSpPr>
          <p:spPr>
            <a:xfrm>
              <a:off x="8610600" y="3524250"/>
              <a:ext cx="2705100" cy="9525"/>
            </a:xfrm>
            <a:custGeom>
              <a:avLst/>
              <a:gdLst/>
              <a:ahLst/>
              <a:cxnLst/>
              <a:rect l="l" t="t" r="r" b="b"/>
              <a:pathLst>
                <a:path w="2705100" h="9525">
                  <a:moveTo>
                    <a:pt x="0" y="0"/>
                  </a:moveTo>
                  <a:lnTo>
                    <a:pt x="2705100" y="0"/>
                  </a:lnTo>
                </a:path>
              </a:pathLst>
            </a:custGeom>
            <a:noFill/>
            <a:ln w="19050">
              <a:solidFill>
                <a:srgbClr val="6D89A3"/>
              </a:solidFill>
            </a:ln>
          </p:spPr>
        </p:sp>
        <p:sp>
          <p:nvSpPr>
            <p:cNvPr id="32" name="TextBox 32"/>
            <p:cNvSpPr txBox="1"/>
            <p:nvPr/>
          </p:nvSpPr>
          <p:spPr>
            <a:xfrm>
              <a:off x="8601456" y="38061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01 轻量筛选</a:t>
              </a:r>
            </a:p>
          </p:txBody>
        </p:sp>
        <p:sp>
          <p:nvSpPr>
            <p:cNvPr id="33" name="TextBox 33"/>
            <p:cNvSpPr txBox="1"/>
            <p:nvPr/>
          </p:nvSpPr>
          <p:spPr>
            <a:xfrm>
              <a:off x="8601456" y="42252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02 深研升级</a:t>
              </a:r>
            </a:p>
          </p:txBody>
        </p:sp>
        <p:sp>
          <p:nvSpPr>
            <p:cNvPr id="34" name="TextBox 34"/>
            <p:cNvSpPr txBox="1"/>
            <p:nvPr/>
          </p:nvSpPr>
          <p:spPr>
            <a:xfrm>
              <a:off x="8601456" y="46443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03 证据缓存</a:t>
              </a:r>
            </a:p>
          </p:txBody>
        </p:sp>
        <p:sp>
          <p:nvSpPr>
            <p:cNvPr id="35" name="TextBox 35"/>
            <p:cNvSpPr txBox="1"/>
            <p:nvPr/>
          </p:nvSpPr>
          <p:spPr>
            <a:xfrm>
              <a:off x="8601456" y="50634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04 并行预算</a:t>
              </a:r>
            </a:p>
          </p:txBody>
        </p:sp>
      </p:grpSp>
      <p:sp>
        <p:nvSpPr>
          <p:cNvPr id="37" name="TextBox 37"/>
          <p:cNvSpPr txBox="1"/>
          <p:nvPr/>
        </p:nvSpPr>
        <p:spPr>
          <a:xfrm>
            <a:off x="602742" y="6236018"/>
            <a:ext cx="471740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气泡大小表示平均来源数；得分率采用 Pairwise 评测口径</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消融实验设计</a:t>
              </a:r>
            </a:p>
          </p:txBody>
        </p:sp>
        <p:sp>
          <p:nvSpPr>
            <p:cNvPr id="3" name="TextBox 3"/>
            <p:cNvSpPr txBox="1"/>
            <p:nvPr/>
          </p:nvSpPr>
          <p:spPr>
            <a:xfrm>
              <a:off x="600456" y="1024890"/>
              <a:ext cx="437997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分别验证多源基线与制胜机理的边际贡献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12</a:t>
              </a:r>
            </a:p>
          </p:txBody>
        </p:sp>
      </p:grpSp>
      <p:grpSp>
        <p:nvGrpSpPr>
          <p:cNvPr id="11" name="Group 11"/>
          <p:cNvGrpSpPr/>
          <p:nvPr/>
        </p:nvGrpSpPr>
        <p:grpSpPr>
          <a:xfrm>
            <a:off x="609600" y="1581150"/>
            <a:ext cx="3429000" cy="1657350"/>
            <a:chOff x="609600" y="1581150"/>
            <a:chExt cx="3429000" cy="1657350"/>
          </a:xfrm>
        </p:grpSpPr>
        <p:sp>
          <p:nvSpPr>
            <p:cNvPr id="6" name="Rectangle 6"/>
            <p:cNvSpPr/>
            <p:nvPr/>
          </p:nvSpPr>
          <p:spPr>
            <a:xfrm>
              <a:off x="609600" y="1581150"/>
              <a:ext cx="3429000" cy="1657350"/>
            </a:xfrm>
            <a:prstGeom prst="rect">
              <a:avLst/>
            </a:prstGeom>
            <a:solidFill>
              <a:schemeClr val="accent1"/>
            </a:solidFill>
            <a:ln>
              <a:noFill/>
            </a:ln>
          </p:spPr>
        </p:sp>
        <p:sp>
          <p:nvSpPr>
            <p:cNvPr id="7" name="TextBox 7"/>
            <p:cNvSpPr txBox="1"/>
            <p:nvPr/>
          </p:nvSpPr>
          <p:spPr>
            <a:xfrm>
              <a:off x="829056" y="17868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完整方法</a:t>
              </a:r>
            </a:p>
          </p:txBody>
        </p:sp>
        <p:sp>
          <p:nvSpPr>
            <p:cNvPr id="8" name="TextBox 8"/>
            <p:cNvSpPr txBox="1"/>
            <p:nvPr/>
          </p:nvSpPr>
          <p:spPr>
            <a:xfrm>
              <a:off x="831342" y="2254568"/>
              <a:ext cx="128587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多角色、多通道</a:t>
              </a:r>
            </a:p>
          </p:txBody>
        </p:sp>
        <p:sp>
          <p:nvSpPr>
            <p:cNvPr id="9" name="TextBox 9"/>
            <p:cNvSpPr txBox="1"/>
            <p:nvPr/>
          </p:nvSpPr>
          <p:spPr>
            <a:xfrm>
              <a:off x="831342" y="2559368"/>
              <a:ext cx="129067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S1–S6 + L1–L4</a:t>
              </a:r>
            </a:p>
          </p:txBody>
        </p:sp>
        <p:sp>
          <p:nvSpPr>
            <p:cNvPr id="10" name="TextBox 10"/>
            <p:cNvSpPr txBox="1"/>
            <p:nvPr/>
          </p:nvSpPr>
          <p:spPr>
            <a:xfrm>
              <a:off x="831342" y="2883218"/>
              <a:ext cx="58618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控制组</a:t>
              </a:r>
            </a:p>
          </p:txBody>
        </p:sp>
      </p:grpSp>
      <p:grpSp>
        <p:nvGrpSpPr>
          <p:cNvPr id="18" name="Group 18"/>
          <p:cNvGrpSpPr/>
          <p:nvPr/>
        </p:nvGrpSpPr>
        <p:grpSpPr>
          <a:xfrm>
            <a:off x="4381500" y="1581150"/>
            <a:ext cx="3429000" cy="1657350"/>
            <a:chOff x="4381500" y="1581150"/>
            <a:chExt cx="3429000" cy="1657350"/>
          </a:xfrm>
        </p:grpSpPr>
        <p:sp>
          <p:nvSpPr>
            <p:cNvPr id="12" name="Rectangle 12"/>
            <p:cNvSpPr/>
            <p:nvPr/>
          </p:nvSpPr>
          <p:spPr>
            <a:xfrm>
              <a:off x="4381500" y="1581150"/>
              <a:ext cx="3429000" cy="1657350"/>
            </a:xfrm>
            <a:prstGeom prst="rect">
              <a:avLst/>
            </a:prstGeom>
            <a:solidFill>
              <a:schemeClr val="accent5"/>
            </a:solidFill>
            <a:ln>
              <a:noFill/>
            </a:ln>
          </p:spPr>
        </p:sp>
        <p:sp>
          <p:nvSpPr>
            <p:cNvPr id="13" name="Rectangle 13"/>
            <p:cNvSpPr/>
            <p:nvPr/>
          </p:nvSpPr>
          <p:spPr>
            <a:xfrm>
              <a:off x="4381500" y="1581150"/>
              <a:ext cx="3429000" cy="66675"/>
            </a:xfrm>
            <a:prstGeom prst="rect">
              <a:avLst/>
            </a:prstGeom>
            <a:solidFill>
              <a:schemeClr val="accent2"/>
            </a:solidFill>
            <a:ln>
              <a:noFill/>
            </a:ln>
          </p:spPr>
        </p:sp>
        <p:sp>
          <p:nvSpPr>
            <p:cNvPr id="14" name="TextBox 14"/>
            <p:cNvSpPr txBox="1"/>
            <p:nvPr/>
          </p:nvSpPr>
          <p:spPr>
            <a:xfrm>
              <a:off x="46009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去多源基线</a:t>
              </a:r>
            </a:p>
          </p:txBody>
        </p:sp>
        <p:sp>
          <p:nvSpPr>
            <p:cNvPr id="15" name="TextBox 15"/>
            <p:cNvSpPr txBox="1"/>
            <p:nvPr/>
          </p:nvSpPr>
          <p:spPr>
            <a:xfrm>
              <a:off x="4603242" y="2254568"/>
              <a:ext cx="186085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单受限通用检索 Agent</a:t>
              </a:r>
            </a:p>
          </p:txBody>
        </p:sp>
        <p:sp>
          <p:nvSpPr>
            <p:cNvPr id="16" name="TextBox 16"/>
            <p:cNvSpPr txBox="1"/>
            <p:nvPr/>
          </p:nvSpPr>
          <p:spPr>
            <a:xfrm>
              <a:off x="4603242" y="2559368"/>
              <a:ext cx="17323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 S1–S6 + L1–L4</a:t>
              </a:r>
            </a:p>
          </p:txBody>
        </p:sp>
        <p:sp>
          <p:nvSpPr>
            <p:cNvPr id="17" name="TextBox 17"/>
            <p:cNvSpPr txBox="1"/>
            <p:nvPr/>
          </p:nvSpPr>
          <p:spPr>
            <a:xfrm>
              <a:off x="46032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验证多源贡献</a:t>
              </a:r>
            </a:p>
          </p:txBody>
        </p:sp>
      </p:grpSp>
      <p:grpSp>
        <p:nvGrpSpPr>
          <p:cNvPr id="25" name="Group 25"/>
          <p:cNvGrpSpPr/>
          <p:nvPr/>
        </p:nvGrpSpPr>
        <p:grpSpPr>
          <a:xfrm>
            <a:off x="8153400" y="1581150"/>
            <a:ext cx="3429000" cy="1657350"/>
            <a:chOff x="8153400" y="1581150"/>
            <a:chExt cx="3429000" cy="1657350"/>
          </a:xfrm>
        </p:grpSpPr>
        <p:sp>
          <p:nvSpPr>
            <p:cNvPr id="19" name="Rectangle 19"/>
            <p:cNvSpPr/>
            <p:nvPr/>
          </p:nvSpPr>
          <p:spPr>
            <a:xfrm>
              <a:off x="8153400" y="1581150"/>
              <a:ext cx="3429000" cy="1657350"/>
            </a:xfrm>
            <a:prstGeom prst="rect">
              <a:avLst/>
            </a:prstGeom>
            <a:solidFill>
              <a:schemeClr val="accent5"/>
            </a:solidFill>
            <a:ln>
              <a:noFill/>
            </a:ln>
          </p:spPr>
        </p:sp>
        <p:sp>
          <p:nvSpPr>
            <p:cNvPr id="20" name="Rectangle 20"/>
            <p:cNvSpPr/>
            <p:nvPr/>
          </p:nvSpPr>
          <p:spPr>
            <a:xfrm>
              <a:off x="8153400" y="1581150"/>
              <a:ext cx="3429000" cy="66675"/>
            </a:xfrm>
            <a:prstGeom prst="rect">
              <a:avLst/>
            </a:prstGeom>
            <a:solidFill>
              <a:schemeClr val="accent6"/>
            </a:solidFill>
            <a:ln>
              <a:noFill/>
            </a:ln>
          </p:spPr>
        </p:sp>
        <p:sp>
          <p:nvSpPr>
            <p:cNvPr id="21" name="TextBox 21"/>
            <p:cNvSpPr txBox="1"/>
            <p:nvPr/>
          </p:nvSpPr>
          <p:spPr>
            <a:xfrm>
              <a:off x="83728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去制胜机理</a:t>
              </a:r>
            </a:p>
          </p:txBody>
        </p:sp>
        <p:sp>
          <p:nvSpPr>
            <p:cNvPr id="22" name="TextBox 22"/>
            <p:cNvSpPr txBox="1"/>
            <p:nvPr/>
          </p:nvSpPr>
          <p:spPr>
            <a:xfrm>
              <a:off x="8375142" y="22545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保留多源基线</a:t>
              </a:r>
            </a:p>
          </p:txBody>
        </p:sp>
        <p:sp>
          <p:nvSpPr>
            <p:cNvPr id="23" name="TextBox 23"/>
            <p:cNvSpPr txBox="1"/>
            <p:nvPr/>
          </p:nvSpPr>
          <p:spPr>
            <a:xfrm>
              <a:off x="8375142" y="2559368"/>
              <a:ext cx="194355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跳过 S1–S6，循环关闭</a:t>
              </a:r>
            </a:p>
          </p:txBody>
        </p:sp>
        <p:sp>
          <p:nvSpPr>
            <p:cNvPr id="24" name="TextBox 24"/>
            <p:cNvSpPr txBox="1"/>
            <p:nvPr/>
          </p:nvSpPr>
          <p:spPr>
            <a:xfrm>
              <a:off x="83751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验证机理贡献</a:t>
              </a:r>
            </a:p>
          </p:txBody>
        </p:sp>
      </p:grpSp>
      <p:grpSp>
        <p:nvGrpSpPr>
          <p:cNvPr id="33" name="Group 33"/>
          <p:cNvGrpSpPr/>
          <p:nvPr/>
        </p:nvGrpSpPr>
        <p:grpSpPr>
          <a:xfrm>
            <a:off x="609600" y="3390900"/>
            <a:ext cx="4953000" cy="3105150"/>
            <a:chOff x="609600" y="3390900"/>
            <a:chExt cx="4953000" cy="3105150"/>
          </a:xfrm>
        </p:grpSpPr>
        <p:sp>
          <p:nvSpPr>
            <p:cNvPr id="26" name="Rectangle 26"/>
            <p:cNvSpPr/>
            <p:nvPr/>
          </p:nvSpPr>
          <p:spPr>
            <a:xfrm>
              <a:off x="609600" y="3390900"/>
              <a:ext cx="4953000" cy="3105150"/>
            </a:xfrm>
            <a:prstGeom prst="rect">
              <a:avLst/>
            </a:prstGeom>
            <a:solidFill>
              <a:schemeClr val="accent1"/>
            </a:solidFill>
            <a:ln>
              <a:noFill/>
            </a:ln>
          </p:spPr>
        </p:sp>
        <p:sp>
          <p:nvSpPr>
            <p:cNvPr id="27" name="TextBox 27"/>
            <p:cNvSpPr txBox="1"/>
            <p:nvPr/>
          </p:nvSpPr>
          <p:spPr>
            <a:xfrm>
              <a:off x="864108" y="362712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实验口径</a:t>
              </a:r>
            </a:p>
          </p:txBody>
        </p:sp>
        <p:sp>
          <p:nvSpPr>
            <p:cNvPr id="28" name="TextBox 28"/>
            <p:cNvSpPr txBox="1"/>
            <p:nvPr/>
          </p:nvSpPr>
          <p:spPr>
            <a:xfrm>
              <a:off x="857250" y="4094798"/>
              <a:ext cx="2727012"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8 Query</a:t>
              </a:r>
            </a:p>
          </p:txBody>
        </p:sp>
        <p:sp>
          <p:nvSpPr>
            <p:cNvPr id="29" name="TextBox 29"/>
            <p:cNvSpPr txBox="1"/>
            <p:nvPr/>
          </p:nvSpPr>
          <p:spPr>
            <a:xfrm>
              <a:off x="867156" y="4911090"/>
              <a:ext cx="251789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匿名正反序 · 双 Judge</a:t>
              </a:r>
            </a:p>
          </p:txBody>
        </p:sp>
        <p:sp>
          <p:nvSpPr>
            <p:cNvPr id="30" name="Line 30"/>
            <p:cNvSpPr/>
            <p:nvPr/>
          </p:nvSpPr>
          <p:spPr>
            <a:xfrm>
              <a:off x="876300" y="5429250"/>
              <a:ext cx="4419600" cy="9525"/>
            </a:xfrm>
            <a:custGeom>
              <a:avLst/>
              <a:gdLst/>
              <a:ahLst/>
              <a:cxnLst/>
              <a:rect l="l" t="t" r="r" b="b"/>
              <a:pathLst>
                <a:path w="4419600" h="9525">
                  <a:moveTo>
                    <a:pt x="0" y="0"/>
                  </a:moveTo>
                  <a:lnTo>
                    <a:pt x="4419600" y="0"/>
                  </a:lnTo>
                </a:path>
              </a:pathLst>
            </a:custGeom>
            <a:noFill/>
            <a:ln w="19050">
              <a:solidFill>
                <a:srgbClr val="6D89A3"/>
              </a:solidFill>
            </a:ln>
          </p:spPr>
        </p:sp>
        <p:sp>
          <p:nvSpPr>
            <p:cNvPr id="31" name="TextBox 31"/>
            <p:cNvSpPr txBox="1"/>
            <p:nvPr/>
          </p:nvSpPr>
          <p:spPr>
            <a:xfrm>
              <a:off x="869442" y="5702618"/>
              <a:ext cx="2558034"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探索性结果，不作最终因果结论</a:t>
              </a:r>
            </a:p>
          </p:txBody>
        </p:sp>
        <p:sp>
          <p:nvSpPr>
            <p:cNvPr id="32" name="TextBox 32"/>
            <p:cNvSpPr txBox="1"/>
            <p:nvPr/>
          </p:nvSpPr>
          <p:spPr>
            <a:xfrm>
              <a:off x="869442" y="6045518"/>
              <a:ext cx="2012823"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观察：质量、票型、耗时</a:t>
              </a:r>
            </a:p>
          </p:txBody>
        </p:sp>
      </p:grpSp>
      <p:grpSp>
        <p:nvGrpSpPr>
          <p:cNvPr id="36" name="Group 36"/>
          <p:cNvGrpSpPr/>
          <p:nvPr/>
        </p:nvGrpSpPr>
        <p:grpSpPr>
          <a:xfrm>
            <a:off x="5962650" y="3390900"/>
            <a:ext cx="5619750" cy="3162300"/>
            <a:chOff x="5962650" y="3390900"/>
            <a:chExt cx="5619750" cy="3162300"/>
          </a:xfrm>
        </p:grpSpPr>
        <p:sp>
          <p:nvSpPr>
            <p:cNvPr id="34" name="Rectangle 34"/>
            <p:cNvSpPr/>
            <p:nvPr/>
          </p:nvSpPr>
          <p:spPr>
            <a:xfrm>
              <a:off x="5962650" y="3390900"/>
              <a:ext cx="5619750" cy="3162300"/>
            </a:xfrm>
            <a:prstGeom prst="rect">
              <a:avLst/>
            </a:prstGeom>
            <a:solidFill>
              <a:schemeClr val="accent5"/>
            </a:solidFill>
            <a:ln w="19050">
              <a:solidFill>
                <a:schemeClr val="accent2"/>
              </a:solidFill>
            </a:ln>
          </p:spPr>
        </p:sp>
        <p:pic>
          <p:nvPicPr>
            <p:cNvPr id="35" name="Image 35"/>
            <p:cNvPicPr>
              <a:picLocks noChangeAspect="1"/>
            </p:cNvPicPr>
            <p:nvPr/>
          </p:nvPicPr>
          <p:blipFill>
            <a:blip r:embed="rId2"/>
            <a:stretch>
              <a:fillRect/>
            </a:stretch>
          </p:blipFill>
          <p:spPr>
            <a:xfrm>
              <a:off x="6057900" y="3486150"/>
              <a:ext cx="5429250" cy="3057525"/>
            </a:xfrm>
            <a:prstGeom prst="rect">
              <a:avLst/>
            </a:prstGeom>
          </p:spPr>
        </p:pic>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消融实验结果</a:t>
              </a:r>
            </a:p>
          </p:txBody>
        </p:sp>
        <p:sp>
          <p:nvSpPr>
            <p:cNvPr id="3" name="TextBox 3"/>
            <p:cNvSpPr txBox="1"/>
            <p:nvPr/>
          </p:nvSpPr>
          <p:spPr>
            <a:xfrm>
              <a:off x="600456" y="1043940"/>
              <a:ext cx="4864608"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制胜机理贡献明确，多源贡献需扩大样本复测</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13</a:t>
              </a:r>
            </a:p>
          </p:txBody>
        </p:sp>
      </p:grpSp>
      <p:grpSp>
        <p:nvGrpSpPr>
          <p:cNvPr id="18" name="Group 18"/>
          <p:cNvGrpSpPr/>
          <p:nvPr/>
        </p:nvGrpSpPr>
        <p:grpSpPr>
          <a:xfrm>
            <a:off x="609600" y="1657350"/>
            <a:ext cx="5029200" cy="4114800"/>
            <a:chOff x="609600" y="1657350"/>
            <a:chExt cx="5029200" cy="4114800"/>
          </a:xfrm>
        </p:grpSpPr>
        <p:sp>
          <p:nvSpPr>
            <p:cNvPr id="6" name="Rectangle 6"/>
            <p:cNvSpPr/>
            <p:nvPr/>
          </p:nvSpPr>
          <p:spPr>
            <a:xfrm>
              <a:off x="609600" y="1657350"/>
              <a:ext cx="5029200" cy="4114800"/>
            </a:xfrm>
            <a:prstGeom prst="rect">
              <a:avLst/>
            </a:prstGeom>
            <a:solidFill>
              <a:schemeClr val="accent5"/>
            </a:solidFill>
            <a:ln>
              <a:noFill/>
            </a:ln>
          </p:spPr>
        </p:sp>
        <p:grpSp>
          <p:nvGrpSpPr>
            <p:cNvPr id="16" name="Group 16"/>
            <p:cNvGrpSpPr/>
            <p:nvPr/>
          </p:nvGrpSpPr>
          <p:grpSpPr>
            <a:xfrm>
              <a:off x="1104900" y="2119312"/>
              <a:ext cx="4152900" cy="3275839"/>
              <a:chOff x="1104900" y="2119312"/>
              <a:chExt cx="4152900" cy="3275839"/>
            </a:xfrm>
          </p:grpSpPr>
          <p:sp>
            <p:nvSpPr>
              <p:cNvPr id="7" name="Line 7"/>
              <p:cNvSpPr/>
              <p:nvPr/>
            </p:nvSpPr>
            <p:spPr>
              <a:xfrm>
                <a:off x="1104900" y="4972050"/>
                <a:ext cx="4152900" cy="9525"/>
              </a:xfrm>
              <a:custGeom>
                <a:avLst/>
                <a:gdLst/>
                <a:ahLst/>
                <a:cxnLst/>
                <a:rect l="l" t="t" r="r" b="b"/>
                <a:pathLst>
                  <a:path w="4152900" h="9525">
                    <a:moveTo>
                      <a:pt x="0" y="0"/>
                    </a:moveTo>
                    <a:lnTo>
                      <a:pt x="4152900" y="0"/>
                    </a:lnTo>
                  </a:path>
                </a:pathLst>
              </a:custGeom>
              <a:noFill/>
              <a:ln w="19050">
                <a:solidFill>
                  <a:srgbClr val="94A3B8"/>
                </a:solidFill>
              </a:ln>
            </p:spPr>
          </p:sp>
          <p:sp>
            <p:nvSpPr>
              <p:cNvPr id="8" name="Line 8"/>
              <p:cNvSpPr/>
              <p:nvPr/>
            </p:nvSpPr>
            <p:spPr>
              <a:xfrm>
                <a:off x="1104900" y="2343150"/>
                <a:ext cx="9525" cy="2628900"/>
              </a:xfrm>
              <a:custGeom>
                <a:avLst/>
                <a:gdLst/>
                <a:ahLst/>
                <a:cxnLst/>
                <a:rect l="l" t="t" r="r" b="b"/>
                <a:pathLst>
                  <a:path w="9525" h="2628900">
                    <a:moveTo>
                      <a:pt x="0" y="0"/>
                    </a:moveTo>
                    <a:lnTo>
                      <a:pt x="0" y="2628900"/>
                    </a:lnTo>
                  </a:path>
                </a:pathLst>
              </a:custGeom>
              <a:noFill/>
              <a:ln w="19050">
                <a:solidFill>
                  <a:srgbClr val="94A3B8"/>
                </a:solidFill>
              </a:ln>
            </p:spPr>
          </p:sp>
          <p:sp>
            <p:nvSpPr>
              <p:cNvPr id="9" name="Line 9"/>
              <p:cNvSpPr/>
              <p:nvPr/>
            </p:nvSpPr>
            <p:spPr>
              <a:xfrm>
                <a:off x="1104900" y="3657600"/>
                <a:ext cx="4152900" cy="9525"/>
              </a:xfrm>
              <a:custGeom>
                <a:avLst/>
                <a:gdLst/>
                <a:ahLst/>
                <a:cxnLst/>
                <a:rect l="l" t="t" r="r" b="b"/>
                <a:pathLst>
                  <a:path w="4152900" h="9525">
                    <a:moveTo>
                      <a:pt x="0" y="0"/>
                    </a:moveTo>
                    <a:lnTo>
                      <a:pt x="4152900" y="0"/>
                    </a:lnTo>
                  </a:path>
                </a:pathLst>
              </a:custGeom>
              <a:noFill/>
              <a:ln w="19050">
                <a:solidFill>
                  <a:srgbClr val="D8E1EA"/>
                </a:solidFill>
                <a:custDash>
                  <a:ds d="300000" sp="300000"/>
                </a:custDash>
              </a:ln>
            </p:spPr>
          </p:sp>
          <p:sp>
            <p:nvSpPr>
              <p:cNvPr id="10" name="Rectangle 10"/>
              <p:cNvSpPr/>
              <p:nvPr/>
            </p:nvSpPr>
            <p:spPr>
              <a:xfrm>
                <a:off x="1976438" y="3328988"/>
                <a:ext cx="1047750" cy="1643062"/>
              </a:xfrm>
              <a:prstGeom prst="rect">
                <a:avLst/>
              </a:prstGeom>
              <a:solidFill>
                <a:schemeClr val="accent2"/>
              </a:solidFill>
              <a:ln>
                <a:noFill/>
              </a:ln>
            </p:spPr>
          </p:sp>
          <p:sp>
            <p:nvSpPr>
              <p:cNvPr id="11" name="Rectangle 11"/>
              <p:cNvSpPr/>
              <p:nvPr/>
            </p:nvSpPr>
            <p:spPr>
              <a:xfrm>
                <a:off x="3338512" y="2506028"/>
                <a:ext cx="1047750" cy="2466022"/>
              </a:xfrm>
              <a:prstGeom prst="rect">
                <a:avLst/>
              </a:prstGeom>
              <a:solidFill>
                <a:schemeClr val="accent3"/>
              </a:solidFill>
              <a:ln>
                <a:noFill/>
              </a:ln>
            </p:spPr>
          </p:sp>
          <p:sp>
            <p:nvSpPr>
              <p:cNvPr id="12" name="TextBox 12"/>
              <p:cNvSpPr txBox="1"/>
              <p:nvPr/>
            </p:nvSpPr>
            <p:spPr>
              <a:xfrm>
                <a:off x="2019774" y="2938462"/>
                <a:ext cx="961077"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62.5%</a:t>
                </a:r>
              </a:p>
            </p:txBody>
          </p:sp>
          <p:sp>
            <p:nvSpPr>
              <p:cNvPr id="13" name="TextBox 13"/>
              <p:cNvSpPr txBox="1"/>
              <p:nvPr/>
            </p:nvSpPr>
            <p:spPr>
              <a:xfrm>
                <a:off x="3381849" y="2119312"/>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93.8%</a:t>
                </a:r>
              </a:p>
            </p:txBody>
          </p:sp>
          <p:sp>
            <p:nvSpPr>
              <p:cNvPr id="14" name="TextBox 14"/>
              <p:cNvSpPr txBox="1"/>
              <p:nvPr/>
            </p:nvSpPr>
            <p:spPr>
              <a:xfrm>
                <a:off x="2093633" y="5131118"/>
                <a:ext cx="813359"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vs 去多源</a:t>
                </a:r>
              </a:p>
            </p:txBody>
          </p:sp>
          <p:sp>
            <p:nvSpPr>
              <p:cNvPr id="15" name="TextBox 15"/>
              <p:cNvSpPr txBox="1"/>
              <p:nvPr/>
            </p:nvSpPr>
            <p:spPr>
              <a:xfrm>
                <a:off x="3273971" y="5131118"/>
                <a:ext cx="1176833"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vs 去制胜机理</a:t>
                </a:r>
              </a:p>
            </p:txBody>
          </p:sp>
        </p:grpSp>
        <p:sp>
          <p:nvSpPr>
            <p:cNvPr id="17" name="TextBox 17"/>
            <p:cNvSpPr txBox="1"/>
            <p:nvPr/>
          </p:nvSpPr>
          <p:spPr>
            <a:xfrm>
              <a:off x="867156" y="1844040"/>
              <a:ext cx="179931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完整方法得分率</a:t>
              </a:r>
            </a:p>
          </p:txBody>
        </p:sp>
      </p:grpSp>
      <p:grpSp>
        <p:nvGrpSpPr>
          <p:cNvPr id="22" name="Group 22"/>
          <p:cNvGrpSpPr/>
          <p:nvPr/>
        </p:nvGrpSpPr>
        <p:grpSpPr>
          <a:xfrm>
            <a:off x="5955792" y="1657350"/>
            <a:ext cx="5626608" cy="3566351"/>
            <a:chOff x="5955792" y="1657350"/>
            <a:chExt cx="5626608" cy="3566351"/>
          </a:xfrm>
        </p:grpSpPr>
        <p:sp>
          <p:nvSpPr>
            <p:cNvPr id="19" name="Rectangle 19"/>
            <p:cNvSpPr/>
            <p:nvPr/>
          </p:nvSpPr>
          <p:spPr>
            <a:xfrm>
              <a:off x="5962650" y="1657350"/>
              <a:ext cx="5619750" cy="3162300"/>
            </a:xfrm>
            <a:prstGeom prst="rect">
              <a:avLst/>
            </a:prstGeom>
            <a:solidFill>
              <a:schemeClr val="lt1"/>
            </a:solidFill>
            <a:ln w="19050">
              <a:solidFill>
                <a:schemeClr val="accent2"/>
              </a:solidFill>
            </a:ln>
          </p:spPr>
        </p:sp>
        <p:pic>
          <p:nvPicPr>
            <p:cNvPr id="20" name="Image 20"/>
            <p:cNvPicPr>
              <a:picLocks noChangeAspect="1"/>
            </p:cNvPicPr>
            <p:nvPr/>
          </p:nvPicPr>
          <p:blipFill>
            <a:blip r:embed="rId2"/>
            <a:stretch>
              <a:fillRect/>
            </a:stretch>
          </p:blipFill>
          <p:spPr>
            <a:xfrm>
              <a:off x="6057900" y="1752600"/>
              <a:ext cx="5429250" cy="3057525"/>
            </a:xfrm>
            <a:prstGeom prst="rect">
              <a:avLst/>
            </a:prstGeom>
          </p:spPr>
        </p:pic>
        <p:sp>
          <p:nvSpPr>
            <p:cNvPr id="21" name="TextBox 21"/>
            <p:cNvSpPr txBox="1"/>
            <p:nvPr/>
          </p:nvSpPr>
          <p:spPr>
            <a:xfrm>
              <a:off x="5955792" y="4959668"/>
              <a:ext cx="3579327"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前端结果证据：8 条 Query 的两组消融票型</a:t>
              </a:r>
            </a:p>
          </p:txBody>
        </p:sp>
      </p:grpSp>
      <p:grpSp>
        <p:nvGrpSpPr>
          <p:cNvPr id="29" name="Group 29"/>
          <p:cNvGrpSpPr/>
          <p:nvPr/>
        </p:nvGrpSpPr>
        <p:grpSpPr>
          <a:xfrm>
            <a:off x="609600" y="5905500"/>
            <a:ext cx="10972800" cy="632651"/>
            <a:chOff x="609600" y="5905500"/>
            <a:chExt cx="10972800" cy="632651"/>
          </a:xfrm>
        </p:grpSpPr>
        <p:sp>
          <p:nvSpPr>
            <p:cNvPr id="23" name="Rectangle 23"/>
            <p:cNvSpPr/>
            <p:nvPr/>
          </p:nvSpPr>
          <p:spPr>
            <a:xfrm>
              <a:off x="609600" y="5905500"/>
              <a:ext cx="5257800" cy="590550"/>
            </a:xfrm>
            <a:prstGeom prst="rect">
              <a:avLst/>
            </a:prstGeom>
            <a:solidFill>
              <a:srgbClr val="FFF4E8"/>
            </a:solidFill>
            <a:ln>
              <a:noFill/>
            </a:ln>
          </p:spPr>
        </p:sp>
        <p:sp>
          <p:nvSpPr>
            <p:cNvPr id="24" name="TextBox 24"/>
            <p:cNvSpPr txBox="1"/>
            <p:nvPr/>
          </p:nvSpPr>
          <p:spPr>
            <a:xfrm>
              <a:off x="774192" y="6026468"/>
              <a:ext cx="967835"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方向性证据</a:t>
              </a:r>
            </a:p>
          </p:txBody>
        </p:sp>
        <p:sp>
          <p:nvSpPr>
            <p:cNvPr id="25" name="TextBox 25"/>
            <p:cNvSpPr txBox="1"/>
            <p:nvPr/>
          </p:nvSpPr>
          <p:spPr>
            <a:xfrm>
              <a:off x="774192" y="6274118"/>
              <a:ext cx="406645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去多源：5胜0平3负，区间跨0；1545秒 vs 1274秒</a:t>
              </a:r>
            </a:p>
          </p:txBody>
        </p:sp>
        <p:sp>
          <p:nvSpPr>
            <p:cNvPr id="26" name="Rectangle 26"/>
            <p:cNvSpPr/>
            <p:nvPr/>
          </p:nvSpPr>
          <p:spPr>
            <a:xfrm>
              <a:off x="6057900" y="5905500"/>
              <a:ext cx="5524500" cy="590550"/>
            </a:xfrm>
            <a:prstGeom prst="rect">
              <a:avLst/>
            </a:prstGeom>
            <a:solidFill>
              <a:srgbClr val="EAF5F0"/>
            </a:solidFill>
            <a:ln>
              <a:noFill/>
            </a:ln>
          </p:spPr>
        </p:sp>
        <p:sp>
          <p:nvSpPr>
            <p:cNvPr id="27" name="TextBox 27"/>
            <p:cNvSpPr txBox="1"/>
            <p:nvPr/>
          </p:nvSpPr>
          <p:spPr>
            <a:xfrm>
              <a:off x="6222492" y="6026468"/>
              <a:ext cx="777011"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得到支持</a:t>
              </a:r>
            </a:p>
          </p:txBody>
        </p:sp>
        <p:sp>
          <p:nvSpPr>
            <p:cNvPr id="28" name="TextBox 28"/>
            <p:cNvSpPr txBox="1"/>
            <p:nvPr/>
          </p:nvSpPr>
          <p:spPr>
            <a:xfrm>
              <a:off x="6222492" y="6274118"/>
              <a:ext cx="456622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去制胜机理：7胜1平0负；95%区间62.5%–100%；804秒</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555308"/>
            <a:ext cx="10995660" cy="916876"/>
            <a:chOff x="593598" y="555308"/>
            <a:chExt cx="10995660" cy="916876"/>
          </a:xfrm>
        </p:grpSpPr>
        <p:sp>
          <p:nvSpPr>
            <p:cNvPr id="2" name="TextBox 2"/>
            <p:cNvSpPr txBox="1"/>
            <p:nvPr/>
          </p:nvSpPr>
          <p:spPr>
            <a:xfrm>
              <a:off x="593598" y="555308"/>
              <a:ext cx="7156094"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下一阶段：补证据、扩样本、降时延</a:t>
              </a:r>
            </a:p>
          </p:txBody>
        </p:sp>
        <p:sp>
          <p:nvSpPr>
            <p:cNvPr id="3" name="TextBox 3"/>
            <p:cNvSpPr txBox="1"/>
            <p:nvPr/>
          </p:nvSpPr>
          <p:spPr>
            <a:xfrm>
              <a:off x="600456" y="1120140"/>
              <a:ext cx="5591556" cy="352044"/>
            </a:xfrm>
            <a:prstGeom prst="rect">
              <a:avLst/>
            </a:prstGeom>
            <a:noFill/>
            <a:ln>
              <a:noFill/>
            </a:ln>
          </p:spPr>
          <p:txBody>
            <a:bodyPr wrap="none" lIns="0" tIns="0" rIns="0" bIns="0" anchor="t" anchorCtr="0">
              <a:spAutoFit/>
            </a:bodyPr>
            <a:lstStyle/>
            <a:p>
              <a:pPr algn="l"/>
              <a:r>
                <a:rPr lang="zh-CN" sz="1800" dirty="0">
                  <a:solidFill>
                    <a:srgbClr val="C8D5E2"/>
                  </a:solidFill>
                  <a:latin typeface="+mn-lt"/>
                  <a:ea typeface="+mn-ea"/>
                  <a:cs typeface="+mn-cs"/>
                </a:rPr>
                <a:t>不再扩大方法复杂度，先把可信度与规模化能力做实</a:t>
              </a:r>
            </a:p>
          </p:txBody>
        </p:sp>
        <p:sp>
          <p:nvSpPr>
            <p:cNvPr id="4" name="TextBox 4"/>
            <p:cNvSpPr txBox="1"/>
            <p:nvPr/>
          </p:nvSpPr>
          <p:spPr>
            <a:xfrm>
              <a:off x="11375631" y="711518"/>
              <a:ext cx="213627" cy="264033"/>
            </a:xfrm>
            <a:prstGeom prst="rect">
              <a:avLst/>
            </a:prstGeom>
            <a:noFill/>
            <a:ln>
              <a:noFill/>
            </a:ln>
          </p:spPr>
          <p:txBody>
            <a:bodyPr wrap="none" lIns="0" tIns="0" rIns="0" bIns="0" anchor="t" anchorCtr="0">
              <a:spAutoFit/>
            </a:bodyPr>
            <a:lstStyle/>
            <a:p>
              <a:pPr algn="r"/>
              <a:r>
                <a:rPr lang="en-US" sz="1350" dirty="0">
                  <a:solidFill>
                    <a:srgbClr val="C8D5E2"/>
                  </a:solidFill>
                  <a:latin typeface="+mn-lt"/>
                  <a:ea typeface="+mn-ea"/>
                  <a:cs typeface="+mn-cs"/>
                </a:rPr>
                <a:t>14</a:t>
              </a:r>
            </a:p>
          </p:txBody>
        </p:sp>
      </p:grpSp>
      <p:grpSp>
        <p:nvGrpSpPr>
          <p:cNvPr id="12" name="Group 12"/>
          <p:cNvGrpSpPr/>
          <p:nvPr/>
        </p:nvGrpSpPr>
        <p:grpSpPr>
          <a:xfrm>
            <a:off x="590550" y="2037398"/>
            <a:ext cx="3028950" cy="2635186"/>
            <a:chOff x="590550" y="2037398"/>
            <a:chExt cx="3028950" cy="2635186"/>
          </a:xfrm>
        </p:grpSpPr>
        <p:sp>
          <p:nvSpPr>
            <p:cNvPr id="6" name="TextBox 6"/>
            <p:cNvSpPr txBox="1"/>
            <p:nvPr/>
          </p:nvSpPr>
          <p:spPr>
            <a:xfrm>
              <a:off x="5905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7" name="TextBox 7"/>
            <p:cNvSpPr txBox="1"/>
            <p:nvPr/>
          </p:nvSpPr>
          <p:spPr>
            <a:xfrm>
              <a:off x="597408" y="28079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证据质量专项</a:t>
              </a:r>
            </a:p>
          </p:txBody>
        </p:sp>
        <p:sp>
          <p:nvSpPr>
            <p:cNvPr id="8" name="Line 8"/>
            <p:cNvSpPr/>
            <p:nvPr/>
          </p:nvSpPr>
          <p:spPr>
            <a:xfrm>
              <a:off x="6096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9" name="TextBox 9"/>
            <p:cNvSpPr txBox="1"/>
            <p:nvPr/>
          </p:nvSpPr>
          <p:spPr>
            <a:xfrm>
              <a:off x="600456" y="3520440"/>
              <a:ext cx="209009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正文—证据卡强绑定</a:t>
              </a:r>
            </a:p>
          </p:txBody>
        </p:sp>
        <p:sp>
          <p:nvSpPr>
            <p:cNvPr id="10" name="TextBox 10"/>
            <p:cNvSpPr txBox="1"/>
            <p:nvPr/>
          </p:nvSpPr>
          <p:spPr>
            <a:xfrm>
              <a:off x="600456" y="392049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关键数字核验</a:t>
              </a:r>
            </a:p>
          </p:txBody>
        </p:sp>
        <p:sp>
          <p:nvSpPr>
            <p:cNvPr id="11" name="TextBox 11"/>
            <p:cNvSpPr txBox="1"/>
            <p:nvPr/>
          </p:nvSpPr>
          <p:spPr>
            <a:xfrm>
              <a:off x="600456" y="432054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来源质量分级</a:t>
              </a:r>
            </a:p>
          </p:txBody>
        </p:sp>
      </p:grpSp>
      <p:grpSp>
        <p:nvGrpSpPr>
          <p:cNvPr id="19" name="Group 19"/>
          <p:cNvGrpSpPr/>
          <p:nvPr/>
        </p:nvGrpSpPr>
        <p:grpSpPr>
          <a:xfrm>
            <a:off x="4457700" y="2037398"/>
            <a:ext cx="3393796" cy="2635186"/>
            <a:chOff x="4457700" y="2037398"/>
            <a:chExt cx="3393796" cy="2635186"/>
          </a:xfrm>
        </p:grpSpPr>
        <p:sp>
          <p:nvSpPr>
            <p:cNvPr id="13" name="TextBox 13"/>
            <p:cNvSpPr txBox="1"/>
            <p:nvPr/>
          </p:nvSpPr>
          <p:spPr>
            <a:xfrm>
              <a:off x="445770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4" name="TextBox 14"/>
            <p:cNvSpPr txBox="1"/>
            <p:nvPr/>
          </p:nvSpPr>
          <p:spPr>
            <a:xfrm>
              <a:off x="4464558" y="2807970"/>
              <a:ext cx="33869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50 条全量 Benchmark</a:t>
              </a:r>
            </a:p>
          </p:txBody>
        </p:sp>
        <p:sp>
          <p:nvSpPr>
            <p:cNvPr id="15" name="Line 15"/>
            <p:cNvSpPr/>
            <p:nvPr/>
          </p:nvSpPr>
          <p:spPr>
            <a:xfrm>
              <a:off x="447675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16" name="TextBox 16"/>
            <p:cNvSpPr txBox="1"/>
            <p:nvPr/>
          </p:nvSpPr>
          <p:spPr>
            <a:xfrm>
              <a:off x="4467606" y="3520440"/>
              <a:ext cx="219913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固定代码与模型版本</a:t>
              </a:r>
            </a:p>
          </p:txBody>
        </p:sp>
        <p:sp>
          <p:nvSpPr>
            <p:cNvPr id="17" name="TextBox 17"/>
            <p:cNvSpPr txBox="1"/>
            <p:nvPr/>
          </p:nvSpPr>
          <p:spPr>
            <a:xfrm>
              <a:off x="4467606" y="3920490"/>
              <a:ext cx="17145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预注册评测口径</a:t>
              </a:r>
            </a:p>
          </p:txBody>
        </p:sp>
        <p:sp>
          <p:nvSpPr>
            <p:cNvPr id="18" name="TextBox 18"/>
            <p:cNvSpPr txBox="1"/>
            <p:nvPr/>
          </p:nvSpPr>
          <p:spPr>
            <a:xfrm>
              <a:off x="4467606" y="432054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报告置信区间</a:t>
              </a:r>
            </a:p>
          </p:txBody>
        </p:sp>
      </p:grpSp>
      <p:grpSp>
        <p:nvGrpSpPr>
          <p:cNvPr id="26" name="Group 26"/>
          <p:cNvGrpSpPr/>
          <p:nvPr/>
        </p:nvGrpSpPr>
        <p:grpSpPr>
          <a:xfrm>
            <a:off x="8324850" y="2037398"/>
            <a:ext cx="3028950" cy="2635186"/>
            <a:chOff x="8324850" y="2037398"/>
            <a:chExt cx="3028950" cy="2635186"/>
          </a:xfrm>
        </p:grpSpPr>
        <p:sp>
          <p:nvSpPr>
            <p:cNvPr id="20" name="TextBox 20"/>
            <p:cNvSpPr txBox="1"/>
            <p:nvPr/>
          </p:nvSpPr>
          <p:spPr>
            <a:xfrm>
              <a:off x="83248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1" name="TextBox 21"/>
            <p:cNvSpPr txBox="1"/>
            <p:nvPr/>
          </p:nvSpPr>
          <p:spPr>
            <a:xfrm>
              <a:off x="83317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同版本消融复测</a:t>
              </a:r>
            </a:p>
          </p:txBody>
        </p:sp>
        <p:sp>
          <p:nvSpPr>
            <p:cNvPr id="22" name="Line 22"/>
            <p:cNvSpPr/>
            <p:nvPr/>
          </p:nvSpPr>
          <p:spPr>
            <a:xfrm>
              <a:off x="83439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23" name="TextBox 23"/>
            <p:cNvSpPr txBox="1"/>
            <p:nvPr/>
          </p:nvSpPr>
          <p:spPr>
            <a:xfrm>
              <a:off x="83347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完整方法同批运行</a:t>
              </a:r>
            </a:p>
          </p:txBody>
        </p:sp>
        <p:sp>
          <p:nvSpPr>
            <p:cNvPr id="24" name="TextBox 24"/>
            <p:cNvSpPr txBox="1"/>
            <p:nvPr/>
          </p:nvSpPr>
          <p:spPr>
            <a:xfrm>
              <a:off x="8334756" y="3920490"/>
              <a:ext cx="2514143"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记录质量 / 时延 / 成本</a:t>
              </a:r>
            </a:p>
          </p:txBody>
        </p:sp>
        <p:sp>
          <p:nvSpPr>
            <p:cNvPr id="25" name="TextBox 25"/>
            <p:cNvSpPr txBox="1"/>
            <p:nvPr/>
          </p:nvSpPr>
          <p:spPr>
            <a:xfrm>
              <a:off x="8334756" y="43205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形成稳定因果证据</a:t>
              </a:r>
            </a:p>
          </p:txBody>
        </p:sp>
      </p:grpSp>
      <p:grpSp>
        <p:nvGrpSpPr>
          <p:cNvPr id="30" name="Group 30"/>
          <p:cNvGrpSpPr/>
          <p:nvPr/>
        </p:nvGrpSpPr>
        <p:grpSpPr>
          <a:xfrm>
            <a:off x="609600" y="5372100"/>
            <a:ext cx="10972800" cy="914400"/>
            <a:chOff x="609600" y="5372100"/>
            <a:chExt cx="10972800" cy="914400"/>
          </a:xfrm>
        </p:grpSpPr>
        <p:sp>
          <p:nvSpPr>
            <p:cNvPr id="27" name="Rectangle 27"/>
            <p:cNvSpPr/>
            <p:nvPr/>
          </p:nvSpPr>
          <p:spPr>
            <a:xfrm>
              <a:off x="609600" y="5372100"/>
              <a:ext cx="10972800" cy="914400"/>
            </a:xfrm>
            <a:prstGeom prst="rect">
              <a:avLst/>
            </a:prstGeom>
            <a:solidFill>
              <a:schemeClr val="lt1"/>
            </a:solidFill>
            <a:ln>
              <a:noFill/>
            </a:ln>
          </p:spPr>
        </p:sp>
        <p:sp>
          <p:nvSpPr>
            <p:cNvPr id="28" name="TextBox 28"/>
            <p:cNvSpPr txBox="1"/>
            <p:nvPr/>
          </p:nvSpPr>
          <p:spPr>
            <a:xfrm>
              <a:off x="864108" y="5684520"/>
              <a:ext cx="613074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建议决策：批准三项工作包进入下一阶段</a:t>
              </a:r>
            </a:p>
          </p:txBody>
        </p:sp>
        <p:sp>
          <p:nvSpPr>
            <p:cNvPr id="29" name="TextBox 29"/>
            <p:cNvSpPr txBox="1"/>
            <p:nvPr/>
          </p:nvSpPr>
          <p:spPr>
            <a:xfrm>
              <a:off x="10867415" y="5700712"/>
              <a:ext cx="459715" cy="440055"/>
            </a:xfrm>
            <a:prstGeom prst="rect">
              <a:avLst/>
            </a:prstGeom>
            <a:noFill/>
            <a:ln>
              <a:noFill/>
            </a:ln>
          </p:spPr>
          <p:txBody>
            <a:bodyPr wrap="none" lIns="0" tIns="0" rIns="0" bIns="0" anchor="t" anchorCtr="0">
              <a:spAutoFit/>
            </a:bodyPr>
            <a:lstStyle/>
            <a:p>
              <a:pPr algn="r"/>
              <a:r>
                <a:rPr lang="en-US" sz="2250" b="1" dirty="0">
                  <a:solidFill>
                    <a:schemeClr val="accent3"/>
                  </a:solidFill>
                  <a:latin typeface="+mn-lt"/>
                  <a:ea typeface="+mn-ea"/>
                  <a:cs typeface="+mn-cs"/>
                </a:rPr>
                <a:t>GO</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2026-07-29T12:40:05Z</dcterms:created>
  <dcterms:modified xsi:type="dcterms:W3CDTF">2026-07-29T12:40:05Z</dcterms:modified>
  <cp:category/>
  <cp:contentStatus/>
</cp:coreProperties>
</file>