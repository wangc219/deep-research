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 S 一到 S 六 Agent 工作台的真实界面，而不是单个推理节点详情。左侧可以进入 S 一到 S 六 Agent 模块并选择研究任务，同时查看任务完成状态；右上区域展示当前任务的研究路线、输入 Packet、证据索引和当前轮次，右下区域展示 Agent 可调用的理论工具库、战例库和前沿证据等共享受控资源。界面把任务组织、输入上下文和知识资源放在同一工作台中，便于定位和复核运行基础。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Query，最终数量以专家终审为准。入选题目必须具备多源检索、跨源综合或机理分析的必要性，紧贴 JS 装备需求业务，并形成完整的分支、模式、预期输出、评分规则、证据包和安全边界标注。正式测试覆盖 A 到 H 全部分支，每个分支预计约十二到十三条，同时纳入跨分支、歧义、证据冲突、Recall 或 Agent 缺口及安全注入等挑战样本，并结合模块消融 Baseline、绝对评分、Pairwise 和专家盲评进行验证。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对照架构设计和现有代码，三条研究路线、A 到 H 元编排、专用 Agent、S1 到 S6、循环门控和能力画像已经形成完整运行闭环，下一阶段不必把证据数量或前置 Agent 效率作为当前主线。第一项重点是专业知识底座实装，把现有 Knowledge Pack、增量记忆和专业 Agent 契约进一步对接甲方装备、条令、案例与技术数据，形成可版本化、可复用、可维护的专业知识资产。第二项重点是推演仿真与需求验证，把体系对抗和能力卡片从定性研判推进到场景参数化、效果链、蒙特卡洛、敏感性分析和失效注入，形成从假设、指标、仿真到优先级调整的闭环。第三项重点是持续研判与专家运营，把单次任务升级为主题订阅、变化基线、增量重跑、预警触发和专家裁决流程；模块消融 Baseline、约一百条专家标注且适合 Deep Research 的 A 到 H 全分支正式 Benchmark 和专家盲评继续保留为横向验证机制，请甲方共同确认首批知识库、首个仿真场景、监测主题和专家治理流程。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f888bf9d6a897a2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521459"/>
            <a:chOff x="7224522" y="1444942"/>
            <a:chExt cx="5121592" cy="252145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4825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· 2026-07-22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539" y="453866"/>
            <a:ext cx="10654351" cy="693135"/>
            <a:chOff x="502539" y="453866"/>
            <a:chExt cx="10654351" cy="693135"/>
          </a:xfrm>
        </p:grpSpPr>
        <p:sp>
          <p:nvSpPr>
            <p:cNvPr id="2" name="TextBox 2"/>
            <p:cNvSpPr txBox="1"/>
            <p:nvPr/>
          </p:nvSpPr>
          <p:spPr>
            <a:xfrm>
              <a:off x="502539" y="453866"/>
              <a:ext cx="106543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Agent 工作台集中呈现研究任务、输入包与共享受控资源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6510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真实界面展示 Agent 模块入口、任务状态、当前输入上下文和可调用知识资源。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57350" y="1428750"/>
            <a:ext cx="8877300" cy="5029200"/>
            <a:chOff x="1657350" y="1428750"/>
            <a:chExt cx="8877300" cy="5029200"/>
          </a:xfrm>
        </p:grpSpPr>
        <p:sp>
          <p:nvSpPr>
            <p:cNvPr id="5" name="Rectangle 5"/>
            <p:cNvSpPr/>
            <p:nvPr/>
          </p:nvSpPr>
          <p:spPr>
            <a:xfrm>
              <a:off x="1657350" y="1428750"/>
              <a:ext cx="8877300" cy="50292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5450" y="1466850"/>
              <a:ext cx="8801100" cy="4953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95250" y="2000250"/>
            <a:ext cx="2857500" cy="1466850"/>
            <a:chOff x="95250" y="2000250"/>
            <a:chExt cx="2857500" cy="1466850"/>
          </a:xfrm>
        </p:grpSpPr>
        <p:sp>
          <p:nvSpPr>
            <p:cNvPr id="8" name="Rectangle 8"/>
            <p:cNvSpPr/>
            <p:nvPr/>
          </p:nvSpPr>
          <p:spPr>
            <a:xfrm>
              <a:off x="95250" y="200025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19075" y="212407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4986" y="2210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023" y="2148364"/>
              <a:ext cx="100294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Agent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模块入口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581150" y="2381250"/>
              <a:ext cx="1295400" cy="1009650"/>
            </a:xfrm>
            <a:custGeom>
              <a:avLst/>
              <a:gdLst/>
              <a:ahLst/>
              <a:cxnLst/>
              <a:rect l="l" t="t" r="r" b="b"/>
              <a:pathLst>
                <a:path w="1295400" h="1009650">
                  <a:moveTo>
                    <a:pt x="0" y="0"/>
                  </a:moveTo>
                  <a:lnTo>
                    <a:pt x="228600" y="0"/>
                  </a:lnTo>
                  <a:lnTo>
                    <a:pt x="1295400" y="100965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2800350" y="33147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847975" y="33623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5250" y="4229100"/>
            <a:ext cx="5238750" cy="1219200"/>
            <a:chOff x="95250" y="4229100"/>
            <a:chExt cx="5238750" cy="1219200"/>
          </a:xfrm>
        </p:grpSpPr>
        <p:sp>
          <p:nvSpPr>
            <p:cNvPr id="16" name="Rectangle 16"/>
            <p:cNvSpPr/>
            <p:nvPr/>
          </p:nvSpPr>
          <p:spPr>
            <a:xfrm>
              <a:off x="95250" y="468630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rgbClr val="FFF3D8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19075" y="48101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4986" y="4896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023" y="4834414"/>
              <a:ext cx="1037082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研究任务列表与完成状态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81150" y="4305300"/>
              <a:ext cx="3676650" cy="762000"/>
            </a:xfrm>
            <a:custGeom>
              <a:avLst/>
              <a:gdLst/>
              <a:ahLst/>
              <a:cxnLst/>
              <a:rect l="l" t="t" r="r" b="b"/>
              <a:pathLst>
                <a:path w="3676650" h="762000">
                  <a:moveTo>
                    <a:pt x="0" y="762000"/>
                  </a:moveTo>
                  <a:lnTo>
                    <a:pt x="247650" y="762000"/>
                  </a:lnTo>
                  <a:lnTo>
                    <a:pt x="36766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5181600" y="4229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229225" y="4276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277350" y="2000250"/>
            <a:ext cx="2819400" cy="2152650"/>
            <a:chOff x="9277350" y="2000250"/>
            <a:chExt cx="2819400" cy="2152650"/>
          </a:xfrm>
        </p:grpSpPr>
        <p:sp>
          <p:nvSpPr>
            <p:cNvPr id="24" name="Rectangle 24"/>
            <p:cNvSpPr/>
            <p:nvPr/>
          </p:nvSpPr>
          <p:spPr>
            <a:xfrm>
              <a:off x="10610850" y="200025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734675" y="2124075"/>
              <a:ext cx="285750" cy="285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90586" y="2210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0623" y="2148364"/>
              <a:ext cx="69570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当前任务输入包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9353550" y="2381250"/>
              <a:ext cx="1257300" cy="1695450"/>
            </a:xfrm>
            <a:custGeom>
              <a:avLst/>
              <a:gdLst/>
              <a:ahLst/>
              <a:cxnLst/>
              <a:rect l="l" t="t" r="r" b="b"/>
              <a:pathLst>
                <a:path w="1257300" h="1695450">
                  <a:moveTo>
                    <a:pt x="1257300" y="0"/>
                  </a:moveTo>
                  <a:lnTo>
                    <a:pt x="1028700" y="0"/>
                  </a:lnTo>
                  <a:lnTo>
                    <a:pt x="0" y="16954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9277350" y="40005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324975" y="40481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8039100" y="4686300"/>
            <a:ext cx="4057650" cy="857250"/>
            <a:chOff x="8039100" y="4686300"/>
            <a:chExt cx="4057650" cy="857250"/>
          </a:xfrm>
        </p:grpSpPr>
        <p:sp>
          <p:nvSpPr>
            <p:cNvPr id="32" name="Rectangle 32"/>
            <p:cNvSpPr/>
            <p:nvPr/>
          </p:nvSpPr>
          <p:spPr>
            <a:xfrm>
              <a:off x="10610850" y="4686300"/>
              <a:ext cx="1485900" cy="762000"/>
            </a:xfrm>
            <a:prstGeom prst="roundRect">
              <a:avLst>
                <a:gd name="adj" fmla="val 22500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734675" y="4810125"/>
              <a:ext cx="285750" cy="2857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790586" y="4896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0623" y="4834414"/>
              <a:ext cx="695706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共享受控资源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115300" y="5067300"/>
              <a:ext cx="2495550" cy="400050"/>
            </a:xfrm>
            <a:custGeom>
              <a:avLst/>
              <a:gdLst/>
              <a:ahLst/>
              <a:cxnLst/>
              <a:rect l="l" t="t" r="r" b="b"/>
              <a:pathLst>
                <a:path w="2495550" h="400050">
                  <a:moveTo>
                    <a:pt x="2495550" y="0"/>
                  </a:moveTo>
                  <a:lnTo>
                    <a:pt x="2266950" y="0"/>
                  </a:lnTo>
                  <a:lnTo>
                    <a:pt x="0" y="4000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7" name="Ellipse 37"/>
            <p:cNvSpPr/>
            <p:nvPr/>
          </p:nvSpPr>
          <p:spPr>
            <a:xfrm>
              <a:off x="8039100" y="53911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086725" y="54387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410528"/>
            <a:ext cx="10706800" cy="736473"/>
            <a:chOff x="520446" y="410528"/>
            <a:chExt cx="10706800" cy="736473"/>
          </a:xfrm>
        </p:grpSpPr>
        <p:sp>
          <p:nvSpPr>
            <p:cNvPr id="2" name="TextBox 2"/>
            <p:cNvSpPr txBox="1"/>
            <p:nvPr/>
          </p:nvSpPr>
          <p:spPr>
            <a:xfrm>
              <a:off x="520446" y="410528"/>
              <a:ext cx="10706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Benchmark：专家筛选约 100 条 Deep Research Query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8059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条保留为候选题库，不直接全部运行；正式集强调专家筛选、A–H 全分支覆盖与可复核性。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3014" y="32204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全链路、全分支正式测试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8650" y="1352550"/>
            <a:ext cx="3409950" cy="2209800"/>
            <a:chOff x="8248650" y="1352550"/>
            <a:chExt cx="3409950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48431" y="1613535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全分支测试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69739" y="3242310"/>
              <a:ext cx="176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预计每分支约 12–13 条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40029"/>
              <a:ext cx="15793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全分支测试协议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684112" y="4518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标准任务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905750" y="44386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407222" y="45186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跨分支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544050" y="44386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68205" y="4518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歧义与证据冲突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2674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586739" y="4937760"/>
              <a:ext cx="885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Recall 缺口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905750" y="485775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228512" y="4937760"/>
              <a:ext cx="878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缺口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544050" y="4857750"/>
              <a:ext cx="18478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122637" y="4937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安全注入</a:t>
              </a:r>
            </a:p>
          </p:txBody>
        </p:sp>
        <p:sp>
          <p:nvSpPr>
            <p:cNvPr id="116" name="Line 116"/>
            <p:cNvSpPr/>
            <p:nvPr/>
          </p:nvSpPr>
          <p:spPr>
            <a:xfrm>
              <a:off x="6267450" y="53530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260592" y="5474018"/>
              <a:ext cx="432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专家模式 / 智能模式按题适配 · 绝对评分 + Pairwise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260592" y="5759768"/>
              <a:ext cx="4337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模块消融 Baseline · 专家盲评 · 全链路结果可追溯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3" name="TextBox 123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10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667750" y="-1828800"/>
            <a:ext cx="4381500" cy="4381500"/>
          </a:xfrm>
          <a:prstGeom prst="ellipse">
            <a:avLst/>
          </a:prstGeom>
          <a:solidFill>
            <a:schemeClr val="accent3">
              <a:alpha val="22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19684" y="361950"/>
            <a:ext cx="11138916" cy="1194625"/>
            <a:chOff x="519684" y="361950"/>
            <a:chExt cx="11138916" cy="119462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394335"/>
              <a:ext cx="4744022" cy="9281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下一阶段从“功能闭环”走向：专业能力资产化与可验证运行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810750" y="361950"/>
              <a:ext cx="1847850" cy="3238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FFFFFF">
                  <a:alpha val="28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78898" y="451485"/>
              <a:ext cx="1311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CODEX 架构对照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5592" y="1292542"/>
              <a:ext cx="629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已落地：三路线 · A–H 元编排 · 专用 Agent · S1–S6 · 循环门控 · 能力画像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676400"/>
            <a:ext cx="3390900" cy="3752850"/>
            <a:chOff x="533400" y="1676400"/>
            <a:chExt cx="3390900" cy="3752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676400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59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915954"/>
              <a:ext cx="1802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专业知识底座实装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422650" y="1914525"/>
              <a:ext cx="203199" cy="228600"/>
              <a:chOff x="3422650" y="1914525"/>
              <a:chExt cx="203199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22650" y="1914525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22650" y="19526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422650" y="20288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56666" y="2248852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架构目标：知识操作层由“契约”走向“实装”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2816542"/>
              <a:ext cx="281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Knowledge Pack → 业务知识资产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3517106"/>
              <a:ext cx="2777998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接入装备、条令、案例与前沿技术数据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 / 批次 / 参数 / 接口 / 时间版本建模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冲突保留、权限分域、变更追溯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rgbClr val="FFF7E8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0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4917281"/>
              <a:ext cx="2591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跨任务可检索 · 可复用 · 可版本对比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1158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专家可维护术语、规则与实体关系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14800" y="1676400"/>
            <a:ext cx="3390900" cy="3752850"/>
            <a:chOff x="4114800" y="1676400"/>
            <a:chExt cx="3390900" cy="3752850"/>
          </a:xfrm>
        </p:grpSpPr>
        <p:sp>
          <p:nvSpPr>
            <p:cNvPr id="30" name="Rectangle 30"/>
            <p:cNvSpPr/>
            <p:nvPr/>
          </p:nvSpPr>
          <p:spPr>
            <a:xfrm>
              <a:off x="4114800" y="1676400"/>
              <a:ext cx="3390900" cy="3752850"/>
            </a:xfrm>
            <a:prstGeom prst="roundRect">
              <a:avLst>
                <a:gd name="adj" fmla="val 674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14800" y="1676400"/>
              <a:ext cx="33909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434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673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068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推演仿真与需求验证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991350" y="1927225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8066" y="2248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架构目标：体系仿真、效果链与蒙特卡洛推演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3400" y="2476500"/>
              <a:ext cx="2933700" cy="628650"/>
            </a:xfrm>
            <a:prstGeom prst="roundRect">
              <a:avLst>
                <a:gd name="adj" fmla="val 24242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910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7418" y="2784158"/>
              <a:ext cx="2384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定性研判 → 参数化验证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73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7685" y="3517106"/>
              <a:ext cx="2415286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场景、红蓝体系依赖与任务链参数化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效果链 / Monte Carlo / 敏感性分析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失效注入、半实物联试与演训校准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43400" y="4610100"/>
              <a:ext cx="2933700" cy="64770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904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0085" y="4917281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每项重点需求形成可复核验证卡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90466" y="5115878"/>
              <a:ext cx="24984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假设 → 指标 → 仿真 → 结论 → 优先级调整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96200" y="1676400"/>
            <a:ext cx="3962400" cy="3752850"/>
            <a:chOff x="7696200" y="1676400"/>
            <a:chExt cx="3962400" cy="3752850"/>
          </a:xfrm>
        </p:grpSpPr>
        <p:sp>
          <p:nvSpPr>
            <p:cNvPr id="47" name="Rectangle 47"/>
            <p:cNvSpPr/>
            <p:nvPr/>
          </p:nvSpPr>
          <p:spPr>
            <a:xfrm>
              <a:off x="7696200" y="1676400"/>
              <a:ext cx="3962400" cy="3752850"/>
            </a:xfrm>
            <a:prstGeom prst="roundRect">
              <a:avLst>
                <a:gd name="adj" fmla="val 6091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0" y="1676400"/>
              <a:ext cx="3962400" cy="76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18859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48732" y="19373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8299" y="1915954"/>
              <a:ext cx="20260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持续研判与专家运营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82350" y="1965325"/>
              <a:ext cx="228599" cy="127000"/>
              <a:chOff x="11182350" y="1965325"/>
              <a:chExt cx="228599" cy="1270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195050" y="1978025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322050" y="2041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58550" y="19780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82350" y="2066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385549" y="19653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919466" y="22488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架构目标：态势、对手、技术持续扫描与循环发现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2476500"/>
              <a:ext cx="3505200" cy="628650"/>
            </a:xfrm>
            <a:prstGeom prst="roundRect">
              <a:avLst>
                <a:gd name="adj" fmla="val 24242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072438" y="2598420"/>
              <a:ext cx="11735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当前基础 → 目标形态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8818" y="2784158"/>
              <a:ext cx="2617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单次研究 → 持续能力运营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18704" y="3242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下一步建设动作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19085" y="3517106"/>
              <a:ext cx="2408174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主题订阅、变化基线与预警触发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增量检索、差异重跑、结论版本管理</a:t>
              </a:r>
            </a:p>
            <a:p>
              <a:pPr algn="l" marL="120904" indent="-120904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专家批注 / 裁决 / 立项 / 回退闭环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24800" y="4610100"/>
              <a:ext cx="3505200" cy="647700"/>
            </a:xfrm>
            <a:prstGeom prst="roundRect">
              <a:avLst>
                <a:gd name="adj" fmla="val 23529"/>
              </a:avLst>
            </a:prstGeom>
            <a:solidFill>
              <a:srgbClr val="E9F6F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71866" y="471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验收形态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71485" y="4917281"/>
              <a:ext cx="262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变化自动触发相关 Agent 与需求复核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71866" y="511587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形成月度态势、专题预警、能力组合路线图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33400" y="5619750"/>
            <a:ext cx="11125200" cy="723900"/>
            <a:chOff x="533400" y="5619750"/>
            <a:chExt cx="11125200" cy="723900"/>
          </a:xfrm>
        </p:grpSpPr>
        <p:sp>
          <p:nvSpPr>
            <p:cNvPr id="69" name="Rectangle 69"/>
            <p:cNvSpPr/>
            <p:nvPr/>
          </p:nvSpPr>
          <p:spPr>
            <a:xfrm>
              <a:off x="533400" y="5619750"/>
              <a:ext cx="11125200" cy="723900"/>
            </a:xfrm>
            <a:prstGeom prst="roundRect">
              <a:avLst>
                <a:gd name="adj" fmla="val 31579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92076" y="5855246"/>
              <a:ext cx="258224" cy="258246"/>
              <a:chOff x="792076" y="5855246"/>
              <a:chExt cx="258224" cy="25824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0432" y="59682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6456" y="5914231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92076" y="5855246"/>
                <a:ext cx="258224" cy="258246"/>
              </a:xfrm>
              <a:custGeom>
                <a:avLst/>
                <a:gdLst/>
                <a:ahLst/>
                <a:cxnLst/>
                <a:rect l="l" t="t" r="r" b="b"/>
                <a:pathLst>
                  <a:path w="258224" h="258246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1" y="73759"/>
                    </a:cubicBezTo>
                    <a:cubicBezTo>
                      <a:pt x="0" y="120246"/>
                      <a:pt x="9435" y="175800"/>
                      <a:pt x="45908" y="212291"/>
                    </a:cubicBezTo>
                    <a:cubicBezTo>
                      <a:pt x="82382" y="248783"/>
                      <a:pt x="137930" y="258246"/>
                      <a:pt x="184429" y="235889"/>
                    </a:cubicBezTo>
                    <a:cubicBezTo>
                      <a:pt x="230927" y="213532"/>
                      <a:pt x="258224" y="164235"/>
                      <a:pt x="252498" y="112960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64407" y="5860256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lnTo>
                      <a:pt x="0" y="80963"/>
                    </a:lnTo>
                    <a:lnTo>
                      <a:pt x="40481" y="80963"/>
                    </a:lnTo>
                    <a:lnTo>
                      <a:pt x="80963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23925" y="594121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51966" y="57635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建议本轮共同确认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49680" y="5991225"/>
              <a:ext cx="6715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首批知识库范围 · 首个仿真场景 · 监测主题 · 专家治理 · 消融验证矩阵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28638" y="6532245"/>
            <a:ext cx="5815051" cy="176212"/>
            <a:chOff x="528638" y="6532245"/>
            <a:chExt cx="5815051" cy="176212"/>
          </a:xfrm>
        </p:grpSpPr>
        <p:sp>
          <p:nvSpPr>
            <p:cNvPr id="79" name="TextBox 79"/>
            <p:cNvSpPr txBox="1"/>
            <p:nvPr/>
          </p:nvSpPr>
          <p:spPr>
            <a:xfrm>
              <a:off x="528638" y="6532245"/>
              <a:ext cx="58150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依据：架构设计与已落地功能对照 · 横向验证采用约100条专家标注全分支 Benchmark + 模块消融 Baseline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2026-07-23T03:47:03Z</dcterms:created>
  <dcterms:modified xsi:type="dcterms:W3CDTF">2026-07-23T03:47:03Z</dcterms:modified>
  <cp:category/>
  <cp:contentStatus/>
</cp:coreProperties>
</file>