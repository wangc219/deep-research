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本次汇报的核心结论是，项目已经不是把多个 Agent 拼在一起的功能原型，而是形成了从问题定义到审计交付的研究操作系统。AI Query 负责把研究入口标准化，质量集群和动态蜂群在同一条制胜机理链上提供不同的执行强度，专家评审和报告模板保证结果可以治理、追溯和交付。后面我们会先看入口如何建立，再说明两种策略为什么能服务不同复杂度的任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这一页先澄清一个关键认识：需求 Query 不是让模型一次性吐几个标题，而是一个独立、异步运行的选题发现服务。左侧的“围绕母题发散”，由用户给出课题边界，例如复杂电磁环境下的精确打击需求，再补充需求牵引、技术驱动等约束，系统从需求、技术、体系、颠覆和规模建设等不同角度，拆出互不重复的研究入口。右侧的“自动态势发散”则不要求用户先有题目：系统守住无人、低空、远程火力和精确打击等领域边界，Agent 从公开态势与技术信号中自己挑出值得研究的矛盾和机会。最大的区别不是模型能力，而是问题边界由谁定义：前者是用户，后者是系统。两种模式进入的是同一条受治理链路：联网校验、20 个覆盖槽位的结构化生成、质量去重与来源校验、草稿审核发布，再进入 Deep Research。联网来源只帮助形成选题线索，不能替代正式报告中的证据。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这不是一个会卡住页面的生成按钮。前端调用接口后只创建任务，独立 Query Worker 会异步领取并执行；页面会明确显示排队、联网校验、Query 生成、保存中和完成或失败，用户离开也不影响任务，失败可以重试。运行时先做轻量联网校验，读取 3 到 5 个公开检索线索，最多保留 8 个实际访问的 HTTPS 来源；之后按 20 个覆盖槽位生成 4 到 20 条 Query，并做单条质量、去重和来源校验，整批通过才原子写入草稿库。每条草稿不只是短标题，还带有覆盖视角、研究边界、形成理由和来源线索；人工审核发布后才带入 Deep Research。右侧是项目真实工作台，现场可以直接演示这一闭环。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不急着讲技术名词，先讲它们在解决什么问题。无论选质量集群还是动态蜂群，大家都在走同一条研究路：先看清问题，再想出方向，拿证据核验，最后形成可交付结论。差别只在带队方式：质量集群像固定、成熟的专家组快速会诊；动态蜂群像遇到新疑点才临时请来的专项顾问。两种方式共同的目标，是不让没有依据、经不起推敲的方案走到最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集群就像一次有章法的专家会诊。先提出几个可能方向，再让检索、红队、可行性和验证等固定专家分工补证据、挑毛病；每一轮都检查有没有新增价值，没有就不再加人。这样，系统不会因为人越来越多而意见越来越乱，出了问题也能从检查点恢复。它的价值是用可控的时间和预算，把复杂问题先收敛成几条值得继续研究的稳定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动态蜂群适合研究做到一半发现真正难点的时候。比如证据不够、因果说不通、装备不具体、对手会怎样反应还没想清，或者没有验证办法，系统才临时请最合适的专项顾问加入。每位顾问只负责补一个明确短板，完成就离场；每条新意见都要写进同一本候选账，不能悄悄把旧结论改掉。它花的时间更多，但换来的是把复杂课题的漏项逐一补齐，让结论能经得住追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这里提到 Kimi K3，借鉴的是一种很朴素的组织思路，而不是直接复刻外部产品：问题出现才请对的人，而不是先把所有人都拉进来。新来的角色只办一件清楚的事，所有意见放到同一本账上比较，不把多个相近方案硬拼成一个看似全面的答案。谁可以加入由统一调度来决定，任务结束就回收。项目把这种思路做成了自己的 winning_swarm_dynamic_v2，确保动态增援带来的是质量提升，而不是复杂度膨胀。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怎么选很简单：如果现在最需要的是快速把方向摸清，就选质量集群；如果要拿出能对外承担的正式结论，就选动态蜂群。同一 Query 的真实运行中，质量集群大约十分钟完成快速初筛；动态蜂群大约三十一分钟，最终达到了百分之百来源绑定、L1 到 L3 通过和 approved。多出来的时间不是空耗，而是用在补漏、独立复核和定向修复上。也就是说，前者帮我们快，后者帮我们稳。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提升的最后一道保险，是不让看起来很完整的方案直接变成正式结论。独立专家不参加原始讨论，只看候选和有效证据，先问三件事：说得通吗，落得下吗，站得住吗。达标的进入正式收敛，缺关键一块的只做定向补齐，经不起复核的就阻断发布并留下原因。我们已经把“标题看起来很多、内容却重复”和“装备不够具体”从提醒升级为硬门，所以质量不是最后一句承诺，而是每一步都能拦住不合格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两张是真实工作台页面，分别回答两个项目方最关心的问题：研究是怎样推进的，以及研究得到了什么。左侧可以看到任务执行过程中的实时交互与事件，右侧是形成后的能力画像与结构化卡片。现场建议从同一任务入口依次下钻过程、证据组织和能力结果，让项目方看到的不是一个黑盒报告，而是可跟随、可检查的研究过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过程可见之后，再来看结论如何被带到前端。这里展示的是项目真实的制胜结果视图：制胜机理、结果总览与任务门控状态集中在一个页面，便于项目方先理解形成的装备方向，再根据需要回看对应的 S 节点和过程信息。它的价值不是把复杂研究压缩成一张漂亮卡片，而是给评审和沟通提供一个从结论回到机制、从机制回到过程的可视化入口。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除了两条蜂群策略，系统还将运行模式和报告表达做成可配置能力。任务可以通过 CLI 或 API 选择兼容回滚、普通协同、质量集群或动态蜂群，配置会随任务和运行快照保存，支持复现和审计。交付端可以按项目方需要选择项目论证五章模板或三层九项模板；模板改变的是阅读与决策视角，不改变事实、证据和审计边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坚持一个原则：质量硬门不降级，运行效率可持续优化。证据侧将增强主张与来源的直接对应、正文可核查呈现、时效校验、冲突证据处理和专家复核；效率侧将提前按装备族和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progress_ai_query_swa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e564f9bf13a167.jpg"/>
  <Relationship Id="rId3" Type="http://schemas.openxmlformats.org/officeDocument/2006/relationships/image" Target="../media/image_2436b6e00a825a5f.jp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f888bf9d6a897a2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82918"/>
            <a:ext cx="5482638" cy="1214627"/>
            <a:chOff x="518922" y="482918"/>
            <a:chExt cx="5482638" cy="12146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82918"/>
              <a:ext cx="2937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需求 QUERY：选题发现服务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5482638" cy="957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“需求 Query”不是标题生成器，而是异步运行的选题发现服务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809750"/>
            <a:ext cx="5219700" cy="2381250"/>
            <a:chOff x="533400" y="1809750"/>
            <a:chExt cx="5219700" cy="238125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5219700" cy="2381250"/>
            </a:xfrm>
            <a:prstGeom prst="roundRect">
              <a:avLst>
                <a:gd name="adj" fmla="val 800"/>
              </a:avLst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81050" y="2038350"/>
              <a:ext cx="135255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365" y="2118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用户定义边界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围绕母题发散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4192" y="28451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已有明确课题时，把一个大问题拆成不同研究入口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81050" y="31813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rgbClr val="B8C9D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41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1392" y="33404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必填母题；可补预期角度、需求牵引、技术驱动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1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1392" y="36833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需求、技术、体系、颠覆、规模建设等互异子题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81700" y="1809750"/>
            <a:ext cx="5676900" cy="2381250"/>
            <a:chOff x="5981700" y="1809750"/>
            <a:chExt cx="56769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5981700" y="1809750"/>
              <a:ext cx="5676900" cy="2381250"/>
            </a:xfrm>
            <a:prstGeom prst="roundRect">
              <a:avLst>
                <a:gd name="adj" fmla="val 8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29350" y="2038350"/>
              <a:ext cx="16192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4394" y="21183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系统定义领域边界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186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自动态势发散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2492" y="28451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前期机会扫描时，从公开态势与技术信号中寻找题目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229350" y="3181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224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9692" y="33404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可选关注领域、区域、技术或时间偏好；无需母题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24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9692" y="36833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能力缺口、技术机会、韧性、成本交换与工业化问题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6542" y="4578668"/>
            <a:ext cx="11411423" cy="1285493"/>
            <a:chOff x="526542" y="4578668"/>
            <a:chExt cx="11411423" cy="128549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457866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两种前端模式，进入同一条受治理的异步服务链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104900" y="5219700"/>
              <a:ext cx="10039350" cy="9525"/>
            </a:xfrm>
            <a:custGeom>
              <a:avLst/>
              <a:gdLst/>
              <a:ahLst/>
              <a:cxnLst/>
              <a:rect l="l" t="t" r="r" b="b"/>
              <a:pathLst>
                <a:path w="10039350" h="9525">
                  <a:moveTo>
                    <a:pt x="0" y="0"/>
                  </a:moveTo>
                  <a:lnTo>
                    <a:pt x="10039350" y="0"/>
                  </a:lnTo>
                </a:path>
              </a:pathLst>
            </a:custGeom>
            <a:noFill/>
            <a:ln w="28575">
              <a:solidFill>
                <a:srgbClr val="9CB6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9562" y="4981575"/>
              <a:ext cx="690677" cy="743331"/>
              <a:chOff x="759562" y="4981575"/>
              <a:chExt cx="690677" cy="743331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8667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455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95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异步提交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40762" y="4981575"/>
              <a:ext cx="690677" cy="743331"/>
              <a:chOff x="2740762" y="4981575"/>
              <a:chExt cx="690677" cy="743331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28479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267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407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联网校验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518416" y="4981575"/>
              <a:ext cx="1097768" cy="882586"/>
              <a:chOff x="4518416" y="4981575"/>
              <a:chExt cx="1097768" cy="88258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48291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0079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8416" y="5452110"/>
                <a:ext cx="1097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 个覆盖槽位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08588" y="56588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结构化生成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05629" y="4981575"/>
              <a:ext cx="885741" cy="882586"/>
              <a:chOff x="6605629" y="4981575"/>
              <a:chExt cx="885741" cy="88258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103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891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05629" y="5452110"/>
                <a:ext cx="8857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质量 / 去重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60464" y="5658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来源校验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9930" y="4981575"/>
              <a:ext cx="1199540" cy="882586"/>
              <a:chOff x="8429930" y="4981575"/>
              <a:chExt cx="1199540" cy="882586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87915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9703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29930" y="545211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原子写入草稿库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00313" y="56588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人工审核发布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0350536" y="4981575"/>
              <a:ext cx="1587429" cy="743331"/>
              <a:chOff x="10350536" y="4981575"/>
              <a:chExt cx="1587429" cy="743331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0906125" y="4981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08491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350536" y="5490210"/>
                <a:ext cx="15874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进入 Deep Research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27304" y="6385560"/>
            <a:ext cx="11038225" cy="234696"/>
            <a:chOff x="527304" y="6385560"/>
            <a:chExt cx="11038225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527304" y="6385560"/>
              <a:ext cx="6942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边界：联网来源只用于形成选题线索；正式报告证据仍由后续 Deep Research 采集、核验与审计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6754" y="6385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21018"/>
            <a:ext cx="8526971" cy="1169289"/>
            <a:chOff x="520446" y="521018"/>
            <a:chExt cx="8526971" cy="1169289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210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真实前端工作台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10578"/>
              <a:ext cx="85269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一次生成任务，经历联网校验、结构化生成与草稿审核，而非页面阻塞等待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828800"/>
            <a:ext cx="4171950" cy="4038600"/>
            <a:chOff x="533400" y="1828800"/>
            <a:chExt cx="4171950" cy="4038600"/>
          </a:xfrm>
        </p:grpSpPr>
        <p:sp>
          <p:nvSpPr>
            <p:cNvPr id="5" name="Rectangle 5"/>
            <p:cNvSpPr/>
            <p:nvPr/>
          </p:nvSpPr>
          <p:spPr>
            <a:xfrm>
              <a:off x="533400" y="1828800"/>
              <a:ext cx="4171950" cy="403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192" y="1987868"/>
              <a:ext cx="3686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页面只创建任务，Query Worker 独立执行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00100" y="23812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04850" y="2438400"/>
              <a:ext cx="1627720" cy="473011"/>
              <a:chOff x="704850" y="2438400"/>
              <a:chExt cx="1627720" cy="473011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704850" y="2438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21842" y="2445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提交生成任务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3366" y="2706052"/>
                <a:ext cx="13092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POST /generations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04850" y="3009900"/>
              <a:ext cx="3099664" cy="473011"/>
              <a:chOff x="704850" y="3009900"/>
              <a:chExt cx="3099664" cy="47301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04850" y="3009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842" y="30165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前端可见状态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3366" y="3277552"/>
                <a:ext cx="2781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排队 / 联网校验 / 生成 / 保存 / 完成或失败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04850" y="3581400"/>
              <a:ext cx="2935376" cy="473011"/>
              <a:chOff x="704850" y="3581400"/>
              <a:chExt cx="2935376" cy="473011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04850" y="3581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842" y="3588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轻量联网校验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3366" y="3849052"/>
                <a:ext cx="26168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3—5 个公开检索；最多 8 个 HTTPS 来源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04850" y="4152900"/>
              <a:ext cx="3113799" cy="473011"/>
              <a:chOff x="704850" y="4152900"/>
              <a:chExt cx="3113799" cy="47301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04850" y="4152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1842" y="415956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按覆盖槽位生成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3366" y="4420552"/>
                <a:ext cx="27952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20 个槽位，支持 4 / 6 / 8 / 12 / 16 / 20 条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4850" y="4724400"/>
              <a:ext cx="2873502" cy="473011"/>
              <a:chOff x="704850" y="4724400"/>
              <a:chExt cx="2873502" cy="473011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04850" y="4724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21842" y="47310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整批校验后原子入库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3366" y="4992052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质量、去重、来源校验全部通过才写草稿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04850" y="5295900"/>
              <a:ext cx="3037076" cy="270701"/>
              <a:chOff x="704850" y="5295900"/>
              <a:chExt cx="3037076" cy="270701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04850" y="5295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21842" y="5302568"/>
                <a:ext cx="272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人工审核发布 → Deep Research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048250" y="1828800"/>
            <a:ext cx="6610350" cy="3752850"/>
            <a:chOff x="5048250" y="1828800"/>
            <a:chExt cx="6610350" cy="3752850"/>
          </a:xfrm>
        </p:grpSpPr>
        <p:sp>
          <p:nvSpPr>
            <p:cNvPr id="32" name="Rectangle 32"/>
            <p:cNvSpPr/>
            <p:nvPr/>
          </p:nvSpPr>
          <p:spPr>
            <a:xfrm>
              <a:off x="5048250" y="1828800"/>
              <a:ext cx="6610350" cy="3752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48250" y="1828800"/>
              <a:ext cx="66103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81600" y="1914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324475" y="19145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467350" y="1914525"/>
              <a:ext cx="76200" cy="76200"/>
            </a:xfrm>
            <a:prstGeom prst="ellipse">
              <a:avLst/>
            </a:prstGeom>
            <a:solidFill>
              <a:srgbClr val="9CB6C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74429" y="1904524"/>
              <a:ext cx="979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真实项目工作台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5524" y="2152650"/>
              <a:ext cx="5755802" cy="3238500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5048250" y="5734050"/>
            <a:ext cx="6610350" cy="495014"/>
            <a:chOff x="5048250" y="5734050"/>
            <a:chExt cx="6610350" cy="495014"/>
          </a:xfrm>
        </p:grpSpPr>
        <p:sp>
          <p:nvSpPr>
            <p:cNvPr id="40" name="Rectangle 40"/>
            <p:cNvSpPr/>
            <p:nvPr/>
          </p:nvSpPr>
          <p:spPr>
            <a:xfrm>
              <a:off x="5048250" y="5734050"/>
              <a:ext cx="6610350" cy="4762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3985" y="58221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每条草稿不是只有标题：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4747" y="6038374"/>
              <a:ext cx="5372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+ coverage_slot + supplemental_information + rationale + source_references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30198" y="59350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失败可重试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6404610"/>
              <a:ext cx="8899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来源口径：联网来源只服务选题形成；研究边界、失效条件和预期装备输出写入补充信息，正式证据由 Deep Research 核验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762665" cy="936117"/>
            <a:chOff x="517398" y="559118"/>
            <a:chExt cx="1076266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两种带队方式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7626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面对同一个难题，我们准备了两种“带队做研究”的办法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3526" y="2647950"/>
            <a:ext cx="10765080" cy="1300734"/>
            <a:chOff x="783526" y="2647950"/>
            <a:chExt cx="10765080" cy="1300734"/>
          </a:xfrm>
        </p:grpSpPr>
        <p:sp>
          <p:nvSpPr>
            <p:cNvPr id="5" name="Line 5"/>
            <p:cNvSpPr/>
            <p:nvPr/>
          </p:nvSpPr>
          <p:spPr>
            <a:xfrm>
              <a:off x="1428750" y="3067050"/>
              <a:ext cx="9220200" cy="9525"/>
            </a:xfrm>
            <a:custGeom>
              <a:avLst/>
              <a:gdLst/>
              <a:ahLst/>
              <a:cxnLst/>
              <a:rect l="l" t="t" r="r" b="b"/>
              <a:pathLst>
                <a:path w="9220200" h="9525">
                  <a:moveTo>
                    <a:pt x="0" y="0"/>
                  </a:moveTo>
                  <a:lnTo>
                    <a:pt x="922020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09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057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105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29850" y="264795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9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7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5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8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1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再想出方向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9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拿证据核验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9295" y="35966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形成可交付结论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4476750"/>
            <a:ext cx="11125200" cy="1219200"/>
            <a:chOff x="533400" y="4476750"/>
            <a:chExt cx="11125200" cy="1219200"/>
          </a:xfrm>
        </p:grpSpPr>
        <p:sp>
          <p:nvSpPr>
            <p:cNvPr id="19" name="Rectangle 19"/>
            <p:cNvSpPr/>
            <p:nvPr/>
          </p:nvSpPr>
          <p:spPr>
            <a:xfrm>
              <a:off x="533400" y="4476750"/>
              <a:ext cx="5219700" cy="12192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94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像固定、成熟的专家小组：按既定节奏快速会诊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3242" y="539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特点：稳住节奏，把方向先摸清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4476750"/>
              <a:ext cx="52197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49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72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像按问题临时增援的专项顾问：缺哪块就补哪块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8742" y="5397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特点：补齐短板，把正式结论守住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27304" y="6404610"/>
              <a:ext cx="7659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两条路共享 S1–S6 主链：对手与场景 → 方案与装备 → 证据与验证 → 能力画像；差别只在团队怎么组织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8937117" cy="936117"/>
            <a:chOff x="517398" y="559118"/>
            <a:chExt cx="8937117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质量集群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先请一支固定专家小组，把方向摸得又快又稳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4902" y="2686050"/>
            <a:ext cx="11010615" cy="1712595"/>
            <a:chOff x="664902" y="2686050"/>
            <a:chExt cx="11010615" cy="1712595"/>
          </a:xfrm>
        </p:grpSpPr>
        <p:sp>
          <p:nvSpPr>
            <p:cNvPr id="5" name="Line 5"/>
            <p:cNvSpPr/>
            <p:nvPr/>
          </p:nvSpPr>
          <p:spPr>
            <a:xfrm>
              <a:off x="1714500" y="31623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6197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0" y="2686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02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1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4902" y="37166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先提出几个方向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1090" y="4105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不急着定结论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565" y="37166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分工补证据、挑毛病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2940" y="41052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检索、红队、可行性、验证各司其职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9484" y="37166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只留下少数好方向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9265" y="4105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形成稳定的装备方向初稿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4914900"/>
            <a:ext cx="11125200" cy="933450"/>
            <a:chOff x="533400" y="4914900"/>
            <a:chExt cx="11125200" cy="933450"/>
          </a:xfrm>
        </p:grpSpPr>
        <p:sp>
          <p:nvSpPr>
            <p:cNvPr id="19" name="Rectangle 19"/>
            <p:cNvSpPr/>
            <p:nvPr/>
          </p:nvSpPr>
          <p:spPr>
            <a:xfrm>
              <a:off x="533400" y="4914900"/>
              <a:ext cx="11125200" cy="9334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94" y="50663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441632"/>
              <a:ext cx="10700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每一轮都做质量检查；没有新增价值就不再加人；失败可以从检查点恢复，所以不会让“人越多、意见越乱”。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04610"/>
              <a:ext cx="8194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工程边界：最多 12 个实例、3 波、6 并发；通常保留 2–4 条非支配候选。适合快速探索、批量初筛、低预算任务。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827628" cy="936117"/>
            <a:chOff x="517398" y="559118"/>
            <a:chExt cx="98276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动态蜂群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方案哪里卡住，就临时请哪一类专家来补关键一块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962150"/>
            <a:ext cx="11125200" cy="2419350"/>
            <a:chOff x="533400" y="1962150"/>
            <a:chExt cx="11125200" cy="2419350"/>
          </a:xfrm>
        </p:grpSpPr>
        <p:sp>
          <p:nvSpPr>
            <p:cNvPr id="5" name="Rectangle 5"/>
            <p:cNvSpPr/>
            <p:nvPr/>
          </p:nvSpPr>
          <p:spPr>
            <a:xfrm>
              <a:off x="5334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研究先往前走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基础团队先完成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2480" y="3019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对手、方案、装备、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证据与验证的基本工作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962150"/>
              <a:ext cx="2438400" cy="241935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857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发现关键缺口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80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证据不够？因果不通？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80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装备不具体？对手反应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80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或验证办法还没想清？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1962150"/>
              <a:ext cx="2438400" cy="2419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13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临时精准增援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36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只请最需要的专项顾问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83680" y="3019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任务和边界说清楚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3680" y="3324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做完就离场，不拖泥带水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2202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769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意见统一记账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9280" y="2714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新意见不能悄悄覆盖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92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要么合并、要么补充、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9280" y="3324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要么按最新结论重做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4953000"/>
            <a:ext cx="11125200" cy="895350"/>
            <a:chOff x="533400" y="49530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0194" y="51044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5479732"/>
              <a:ext cx="9345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不靠一开始多叫人，而是把复杂课题中真正的漏项逐项补上，并把每次修改留下可追溯的来路。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6404610"/>
              <a:ext cx="8081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工程边界：配置 8–16 个实例、最多 6 并发 / 3 波；版本账本、角色合同与专家修复是项目实现的质量控制手段。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026168" cy="936117"/>
            <a:chOff x="517398" y="559118"/>
            <a:chExt cx="902616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动态孵化的思想来源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0261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不是“人海战术”，而是“问题出现才请对的人”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57400"/>
            <a:ext cx="11125200" cy="1885950"/>
            <a:chOff x="533400" y="2057400"/>
            <a:chExt cx="11125200" cy="1885950"/>
          </a:xfrm>
        </p:grpSpPr>
        <p:sp>
          <p:nvSpPr>
            <p:cNvPr id="5" name="Rectangle 5"/>
            <p:cNvSpPr/>
            <p:nvPr/>
          </p:nvSpPr>
          <p:spPr>
            <a:xfrm>
              <a:off x="5334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3040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缺什么，补什么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发现关键短板才加人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984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不为“看起来很热闹”堆角色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57400"/>
              <a:ext cx="3352800" cy="1885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3040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每个人，只办一件事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74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任务、边界、交付目标明确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98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做完回收，不带来额外噪声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3040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所有意见，放在一本账里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相近方案不平均拼凑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984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让更有价值的候选胜出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648200"/>
            <a:ext cx="11125200" cy="1066800"/>
            <a:chOff x="533400" y="4648200"/>
            <a:chExt cx="111252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8200"/>
              <a:ext cx="111252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575" y="4864894"/>
              <a:ext cx="214496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项目的工程化做法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25113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统一调度决定谁加入；角色合同、隔离会话、版本账本和专家评审共同约束过程，避免越做越乱。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988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Kimi K3 提供的是方法启发；项目的实际落地是自身的 winning_swarm_dynamic_v2，而非直接复用外部组件。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272884" cy="936117"/>
            <a:chOff x="517398" y="55911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怎么选策略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先要方向，选质量集群；要拿正式结论，选动态蜂群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00250"/>
            <a:ext cx="5067300" cy="3143250"/>
            <a:chOff x="533400" y="2000250"/>
            <a:chExt cx="50673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5067300" cy="31432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86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337" y="26903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适合：先把方向摸清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365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像一次快速专家会诊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7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用更短时间拿到可比较的方向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40890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适合探索、初筛、预算受限任务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10 分钟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000250"/>
            <a:ext cx="5067300" cy="3143250"/>
            <a:chOff x="6591300" y="2000250"/>
            <a:chExt cx="50673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591300" y="2000250"/>
              <a:ext cx="50673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465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9237" y="26903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适合：把正式结论守住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9618" y="3365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像遇到疑点就精准增援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6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把漏项补齐，把相近方案拉开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4089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适合复杂课题和正式装备需求论证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88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31 分钟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5562600"/>
            <a:ext cx="11450742" cy="514350"/>
            <a:chOff x="533400" y="5562600"/>
            <a:chExt cx="11450742" cy="514350"/>
          </a:xfrm>
        </p:grpSpPr>
        <p:sp>
          <p:nvSpPr>
            <p:cNvPr id="23" name="Rectangle 23"/>
            <p:cNvSpPr/>
            <p:nvPr/>
          </p:nvSpPr>
          <p:spPr>
            <a:xfrm>
              <a:off x="533400" y="5562600"/>
              <a:ext cx="11125200" cy="51435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5724525"/>
              <a:ext cx="1122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同一 Query 实测：动态模式最终达到 100% 来源绑定、L1–L3 通过和 approved；多花的时间用于补漏、复核和修复。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04610"/>
              <a:ext cx="1011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 Query 真实记录：Quality 576.738 秒 / 16 次调用；Dynamic 1,884.843 秒 / 34 次调用；数字用于策略选择，不外推为一般性能承诺。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426898" cy="936117"/>
            <a:chOff x="517398" y="559118"/>
            <a:chExt cx="942689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质量提升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4268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不让“看起来像答案”的方案，直接变成正式结论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00250"/>
            <a:ext cx="11125200" cy="2209800"/>
            <a:chOff x="533400" y="2000250"/>
            <a:chExt cx="1112520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先问：说得通吗？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365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是否符合任务和场景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794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因果链和军事价值是否成立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00250"/>
              <a:ext cx="33528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再问：落得下吗？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36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装备是不是具体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工程上是否可行、可验证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2469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最后问：站得住吗？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365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证据是否可信、方案是否重复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能否面对反例和后续复核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857750"/>
            <a:ext cx="11125200" cy="933450"/>
            <a:chOff x="533400" y="4857750"/>
            <a:chExt cx="11125200" cy="9334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1125200" cy="93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194" y="50282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独立专家评审的三种结果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422582"/>
              <a:ext cx="855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→ 进入正式收敛　　缺关键一块 → 定向补齐　　经不起复核 → 阻断发布并留下原因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693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工程事实：quality_expert_judge 只读候选账本和有效证据；综合分 ≥ 0.72、关键维度 ≥ 0.60 才能放行。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160" y="501968"/>
            <a:ext cx="11055858" cy="1045083"/>
            <a:chOff x="518160" y="501968"/>
            <a:chExt cx="11055858" cy="104508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前端成果：过程与能力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81050"/>
              <a:ext cx="110558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前端不只展示结果，也让研究过程和能力画像可被直接看见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1283018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同一任务入口：左边回答“研究怎么推进”，右边回答“研究得到了什么”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771650"/>
            <a:ext cx="4362450" cy="4419600"/>
            <a:chOff x="533400" y="1771650"/>
            <a:chExt cx="4362450" cy="4419600"/>
          </a:xfrm>
        </p:grpSpPr>
        <p:sp>
          <p:nvSpPr>
            <p:cNvPr id="6" name="Rectangle 6"/>
            <p:cNvSpPr/>
            <p:nvPr/>
          </p:nvSpPr>
          <p:spPr>
            <a:xfrm>
              <a:off x="533400" y="1771650"/>
              <a:ext cx="4362450" cy="441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771650"/>
              <a:ext cx="43624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754" y="1842135"/>
              <a:ext cx="257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实时交互与事件｜过程可感知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2076450"/>
              <a:ext cx="4362450" cy="41148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858000" y="1771650"/>
            <a:ext cx="4362450" cy="4419600"/>
            <a:chOff x="6858000" y="1771650"/>
            <a:chExt cx="4362450" cy="4419600"/>
          </a:xfrm>
        </p:grpSpPr>
        <p:sp>
          <p:nvSpPr>
            <p:cNvPr id="11" name="Rectangle 11"/>
            <p:cNvSpPr/>
            <p:nvPr/>
          </p:nvSpPr>
          <p:spPr>
            <a:xfrm>
              <a:off x="6858000" y="1771650"/>
              <a:ext cx="4362450" cy="441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0" y="1771650"/>
              <a:ext cx="43624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3354" y="1842135"/>
              <a:ext cx="257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能力画像与卡片｜结果可解释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2076450"/>
              <a:ext cx="4362450" cy="41148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40461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现场演示建议：进入一个真实任务后，先看实时事件，再查看能力画像与结构化卡片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7231380" cy="1208722"/>
            <a:chOff x="518160" y="501968"/>
            <a:chExt cx="7231380" cy="120872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前端成果：结果与评审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42950"/>
              <a:ext cx="7231380" cy="967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不把结论藏在后台：制胜机理、结果与门控状态都进入工作台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304" y="1604010"/>
            <a:ext cx="7721346" cy="4549140"/>
            <a:chOff x="527304" y="1604010"/>
            <a:chExt cx="7721346" cy="4549140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160401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真实结果视图｜从结果总览回看研究过程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809750"/>
              <a:ext cx="7715250" cy="4343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809750"/>
              <a:ext cx="7715250" cy="434340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8648700" y="1809750"/>
            <a:ext cx="3009900" cy="4343400"/>
            <a:chOff x="8648700" y="1809750"/>
            <a:chExt cx="3009900" cy="4343400"/>
          </a:xfrm>
        </p:grpSpPr>
        <p:sp>
          <p:nvSpPr>
            <p:cNvPr id="9" name="Rectangle 9"/>
            <p:cNvSpPr/>
            <p:nvPr/>
          </p:nvSpPr>
          <p:spPr>
            <a:xfrm>
              <a:off x="8648700" y="1809750"/>
              <a:ext cx="3009900" cy="43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6444" y="19802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现场看三件事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240030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8730" y="2714625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先看结果总览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9873" y="3005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理解形成的装备方向与结果结构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896350" y="339090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88730" y="3686175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再看制胜机理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9873" y="3977164"/>
              <a:ext cx="22250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回看对应 S 节点与形成逻辑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96350" y="43624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88730" y="4657725"/>
              <a:ext cx="1944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　最后看门控状态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89873" y="49487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支持评审沟通与后续下钻复核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9492" y="5569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让结论有可视化入口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前端交付的不是一张静态卡片，而是从结论回到机制、从机制回到过程的审阅入口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可配置交付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8750" y="3400425"/>
            <a:ext cx="9239250" cy="390525"/>
            <a:chOff x="1428750" y="3400425"/>
            <a:chExt cx="9239250" cy="390525"/>
          </a:xfrm>
        </p:grpSpPr>
        <p:sp>
          <p:nvSpPr>
            <p:cNvPr id="23" name="Line 23"/>
            <p:cNvSpPr/>
            <p:nvPr/>
          </p:nvSpPr>
          <p:spPr>
            <a:xfrm>
              <a:off x="1428750" y="3657600"/>
              <a:ext cx="9239250" cy="9525"/>
            </a:xfrm>
            <a:custGeom>
              <a:avLst/>
              <a:gdLst/>
              <a:ahLst/>
              <a:cxnLst/>
              <a:rect l="l" t="t" r="r" b="b"/>
              <a:pathLst>
                <a:path w="9239250" h="9525">
                  <a:moveTo>
                    <a:pt x="0" y="0"/>
                  </a:moveTo>
                  <a:lnTo>
                    <a:pt x="92392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458450" y="35242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8752" y="3400425"/>
              <a:ext cx="3259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任务配置 → 运行快照 → 可审计报告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018" y="42224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/ 下一阶段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2026-08-06T05:42:41Z</dcterms:created>
  <dcterms:modified xsi:type="dcterms:W3CDTF">2026-08-06T05:42:41Z</dcterms:modified>
  <cp:category/>
  <cp:contentStatus/>
</cp:coreProperties>
</file>