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本次汇报的核心结论是，项目已经不是把多个 Agent 拼在一起的功能原型，而是形成了从问题定义到审计交付的研究操作系统。AI Query 负责把研究入口标准化，质量集群和动态蜂群在同一条制胜机理链上提供不同的执行强度，专家评审和报告模板保证结果可以治理、追溯和交付。后面我们会先看入口如何建立，再说明两种策略为什么能服务不同复杂度的任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研究质量先取决于问题定义是否清楚，因此 Query 不是一个简单输入框，而是可治理的任务入口。主题发散适用于已有明确主题和边界的场景，由系统展开多角度结构化问题；自动发散则利用已有任务上下文、推荐 Query 或研究缺口补齐问题，避免研究路径过早固化。两种模式最终都进入 Query Library 的审核、发布、归档和版本管理，发布后可回填研究任务并写入运行快照。这里也要明确边界：自动生成只形成选题线索，不能替代后续正式证据采集。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这一页展示的是项目真实工作台，而不是概念界面。项目方可以现场选择主题发散或自动发散入口，查看生成的 Query 草稿，完成审核发布后再回填 Deep Research 任务。因为 Query 标识和版本会随运行快照保留，任何一次研究结论都可以回溯到当时采用的问题定义和治理状态。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不急着讲技术名词，先讲它们在解决什么问题。无论选质量集群还是动态蜂群，大家都在走同一条研究路：先看清问题，再想出方向，拿证据核验，最后形成可交付结论。差别只在带队方式：质量集群像固定、成熟的专家组快速会诊；动态蜂群像遇到新疑点才临时请来的专项顾问。两种方式共同的目标，是不让没有依据、经不起推敲的方案走到最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集群就像一次有章法的专家会诊。先提出几个可能方向，再让检索、红队、可行性和验证等固定专家分工补证据、挑毛病；每一轮都检查有没有新增价值，没有就不再加人。这样，系统不会因为人越来越多而意见越来越乱，出了问题也能从检查点恢复。它的价值是用可控的时间和预算，把复杂问题先收敛成几条值得继续研究的稳定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动态蜂群适合研究做到一半发现真正难点的时候。比如证据不够、因果说不通、装备不具体、对手会怎样反应还没想清，或者没有验证办法，系统才临时请最合适的专项顾问加入。每位顾问只负责补一个明确短板，完成就离场；每条新意见都要写进同一本候选账，不能悄悄把旧结论改掉。它花的时间更多，但换来的是把复杂课题的漏项逐一补齐，让结论能经得住追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这里提到 Kimi K3，借鉴的是一种很朴素的组织思路，而不是直接复刻外部产品：问题出现才请对的人，而不是先把所有人都拉进来。新来的角色只办一件清楚的事，所有意见放到同一本账上比较，不把多个相近方案硬拼成一个看似全面的答案。谁可以加入由统一调度来决定，任务结束就回收。项目把这种思路做成了自己的 winning_swarm_dynamic_v2，确保动态增援带来的是质量提升，而不是复杂度膨胀。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怎么选很简单：如果现在最需要的是快速把方向摸清，就选质量集群；如果要拿出能对外承担的正式结论，就选动态蜂群。同一 Query 的真实运行中，质量集群大约十分钟完成快速初筛；动态蜂群大约三十一分钟，最终达到了百分之百来源绑定、L1 到 L3 通过和 approved。多出来的时间不是空耗，而是用在补漏、独立复核和定向修复上。也就是说，前者帮我们快，后者帮我们稳。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提升的最后一道保险，是不让看起来很完整的方案直接变成正式结论。独立专家不参加原始讨论，只看候选和有效证据，先问三件事：说得通吗，落得下吗，站得住吗。达标的进入正式收敛，缺关键一块的只做定向补齐，经不起复核的就阻断发布并留下原因。我们已经把“标题看起来很多、内容却重复”和“装备不够具体”从提醒升级为硬门，所以质量不是最后一句承诺，而是每一步都能拦住不合格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这些是真实工作台页面，目的是让项目方能看到过程，而不是只接收最终报告。现场可以从一个任务开始，依次查看实时交互与事件、能力画像与卡片、制胜机理以及门控状态。这样既能展示从 Query 到结果的闭环，也能让评审方按需要下钻到过程和证据组织方式。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除了两条蜂群策略，系统还将运行模式和报告表达做成可配置能力。任务可以通过 CLI 或 API 选择兼容回滚、普通协同、质量集群或动态蜂群，配置会随任务和运行快照保存，支持复现和审计。交付端可以按项目方需要选择项目论证五章模板或三层九项模板；模板改变的是阅读与决策视角，不改变事实、证据和审计边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坚持一个原则：质量硬门不降级，运行效率可持续优化。证据侧将增强主张与来源的直接对应、正文可核查呈现、时效校验、冲突证据处理和专家复核；效率侧将提前按装备族和验收变量去重，减少同族重复候选，并优化动态 Agent 编排。我们会保留质量集群用于快速探索、动态蜂群用于正式收敛的双策略，并以来源绑定、交付硬门、运行时长和前端闭环演示作为下一轮验收的共同指标。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_progress_ai_query_swa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_progress_ai_query_swa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e564f9bf13a167.jpg"/>
  <Relationship Id="rId3" Type="http://schemas.openxmlformats.org/officeDocument/2006/relationships/image" Target="../media/image_2436b6e00a825a5f.jpg"/>
  <Relationship Id="rId4" Type="http://schemas.openxmlformats.org/officeDocument/2006/relationships/image" Target="../media/image_3f888bf9d6a897a2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010650" y="0"/>
            <a:ext cx="3181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53450" y="0"/>
            <a:ext cx="457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654368"/>
            <a:ext cx="2685250" cy="264033"/>
            <a:chOff x="602742" y="654368"/>
            <a:chExt cx="2685250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6543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项目方阶段进展汇报 / 2026.08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336358"/>
            <a:ext cx="4678680" cy="1937385"/>
            <a:chOff x="590550" y="1336358"/>
            <a:chExt cx="4678680" cy="1937385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336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项目已进入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16418"/>
              <a:ext cx="467868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可演示、可评测、可审计阶段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8170" y="3319462"/>
            <a:ext cx="7813875" cy="743522"/>
            <a:chOff x="598170" y="3319462"/>
            <a:chExt cx="7813875" cy="743522"/>
          </a:xfrm>
        </p:grpSpPr>
        <p:sp>
          <p:nvSpPr>
            <p:cNvPr id="9" name="TextBox 9"/>
            <p:cNvSpPr txBox="1"/>
            <p:nvPr/>
          </p:nvSpPr>
          <p:spPr>
            <a:xfrm>
              <a:off x="598170" y="331946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从任务入口到审计交付，关键能力已贯通。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710940"/>
              <a:ext cx="781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Query 自动生成、质量集群与动态蜂群已接入同一研究与交付链路。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039" y="4876800"/>
            <a:ext cx="8417166" cy="880301"/>
            <a:chOff x="239039" y="4876800"/>
            <a:chExt cx="8417166" cy="880301"/>
          </a:xfrm>
        </p:grpSpPr>
        <p:sp>
          <p:nvSpPr>
            <p:cNvPr id="12" name="Line 12"/>
            <p:cNvSpPr/>
            <p:nvPr/>
          </p:nvSpPr>
          <p:spPr>
            <a:xfrm>
              <a:off x="14097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2103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004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6007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4876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8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11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4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4067" y="50577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039" y="5493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7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质量集群探索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9194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41358" y="1836420"/>
            <a:ext cx="1993392" cy="2602992"/>
            <a:chOff x="9341358" y="1836420"/>
            <a:chExt cx="1993392" cy="2602992"/>
          </a:xfrm>
        </p:grpSpPr>
        <p:sp>
          <p:nvSpPr>
            <p:cNvPr id="28" name="TextBox 28"/>
            <p:cNvSpPr txBox="1"/>
            <p:nvPr/>
          </p:nvSpPr>
          <p:spPr>
            <a:xfrm>
              <a:off x="9341358" y="1836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可演示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353550" y="23050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41358" y="2903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可评测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353550" y="33718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1358" y="39700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504" y="6404610"/>
            <a:ext cx="10676275" cy="234696"/>
            <a:chOff x="603504" y="6404610"/>
            <a:chExt cx="10676275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046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材料口径：项目仓库真实实现与 2026-08-05 真实对比记录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100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6500812" cy="1298067"/>
            <a:chOff x="517398" y="559118"/>
            <a:chExt cx="6500812" cy="129806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AI QUERY 双模式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2958"/>
              <a:ext cx="6500812" cy="10542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自动生成不是单一按钮，而是两种可治理的任务发散模式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809750"/>
            <a:ext cx="5029200" cy="2590800"/>
            <a:chOff x="533400" y="1809750"/>
            <a:chExt cx="5029200" cy="259080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5029200" cy="2590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9432" y="2040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主题发散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2480" y="24669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从一个明确主题，系统展开多角度结构化问题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00100" y="29146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3136582"/>
              <a:ext cx="1684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 + 研究边界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718" y="3136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7530" y="3152775"/>
              <a:ext cx="2382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 生成候选 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480" y="36671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适合：已知研究方向的系统展开与人工选择收敛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0" y="1809750"/>
            <a:ext cx="5562600" cy="2590800"/>
            <a:chOff x="6096000" y="1809750"/>
            <a:chExt cx="5562600" cy="2590800"/>
          </a:xfrm>
        </p:grpSpPr>
        <p:sp>
          <p:nvSpPr>
            <p:cNvPr id="14" name="Rectangle 14"/>
            <p:cNvSpPr/>
            <p:nvPr/>
          </p:nvSpPr>
          <p:spPr>
            <a:xfrm>
              <a:off x="6096000" y="1809750"/>
              <a:ext cx="5562600" cy="2590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52032" y="2040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自动发散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5080" y="2466975"/>
              <a:ext cx="4824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按已有任务上下文、推荐 Query 或研究缺口补齐问题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362700" y="29146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4318" y="31365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任务上下文 / 残差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5068" y="3136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45118" y="3136582"/>
              <a:ext cx="12550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 Query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0" y="36671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适合：发现缺口后补齐研究路径，避免问题定义过早固化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9715" y="5048250"/>
            <a:ext cx="10730961" cy="944023"/>
            <a:chOff x="919715" y="5048250"/>
            <a:chExt cx="10730961" cy="944023"/>
          </a:xfrm>
        </p:grpSpPr>
        <p:sp>
          <p:nvSpPr>
            <p:cNvPr id="23" name="Line 23"/>
            <p:cNvSpPr/>
            <p:nvPr/>
          </p:nvSpPr>
          <p:spPr>
            <a:xfrm>
              <a:off x="1428750" y="5334000"/>
              <a:ext cx="9296400" cy="9525"/>
            </a:xfrm>
            <a:custGeom>
              <a:avLst/>
              <a:gdLst/>
              <a:ahLst/>
              <a:cxnLst/>
              <a:rect l="l" t="t" r="r" b="b"/>
              <a:pathLst>
                <a:path w="9296400" h="9525">
                  <a:moveTo>
                    <a:pt x="0" y="0"/>
                  </a:moveTo>
                  <a:lnTo>
                    <a:pt x="9296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43000" y="50482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962400" y="50482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934200" y="50482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439400" y="504825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628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22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40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59223" y="52387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9715" y="57135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结构化草稿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07930" y="5713571"/>
              <a:ext cx="16804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 / 发布 / 归档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8832" y="5713571"/>
              <a:ext cx="2182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/api/v1/query-library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99624" y="5713571"/>
              <a:ext cx="18510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回填任务 + 版本留痕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404610"/>
              <a:ext cx="6290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边界：生成阶段只形成选题线索；正式证据仍由后续 Deep Research 采集、核验与审计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17398" y="673418"/>
            <a:ext cx="4039305" cy="1327594"/>
            <a:chOff x="517398" y="673418"/>
            <a:chExt cx="4039305" cy="1327594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6734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前端成果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993458"/>
              <a:ext cx="4039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从生成到任务创建，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1208" y="153162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前端已提供完整操作入口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682240"/>
            <a:ext cx="2970444" cy="2370011"/>
            <a:chOff x="609600" y="2682240"/>
            <a:chExt cx="2970444" cy="2370011"/>
          </a:xfrm>
        </p:grpSpPr>
        <p:sp>
          <p:nvSpPr>
            <p:cNvPr id="7" name="Line 7"/>
            <p:cNvSpPr/>
            <p:nvPr/>
          </p:nvSpPr>
          <p:spPr>
            <a:xfrm>
              <a:off x="685800" y="280035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09600" y="2724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09600" y="3590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09600" y="44767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4306" y="2682240"/>
              <a:ext cx="2655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输入或选择推荐 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3035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研究任务入口保持直接可用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4306" y="3549015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进入问题库生成草稿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6592" y="3902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支持审核、发布与归档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4306" y="44348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发布后回填研究任务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6592" y="4788218"/>
              <a:ext cx="18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 Query ID 与版本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52950" y="1285875"/>
            <a:ext cx="7105650" cy="4400550"/>
            <a:chOff x="4552950" y="1285875"/>
            <a:chExt cx="7105650" cy="4400550"/>
          </a:xfrm>
        </p:grpSpPr>
        <p:sp>
          <p:nvSpPr>
            <p:cNvPr id="18" name="Rectangle 18"/>
            <p:cNvSpPr/>
            <p:nvPr/>
          </p:nvSpPr>
          <p:spPr>
            <a:xfrm>
              <a:off x="4552950" y="1285875"/>
              <a:ext cx="7105650" cy="44005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7250" y="1409700"/>
              <a:ext cx="6877050" cy="386715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60392" y="54168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工作台真实页面（项目仓库素材）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4627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现场演示重点：Query 输入、问题库入口、审核发布与任务回填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762665" cy="936117"/>
            <a:chOff x="517398" y="559118"/>
            <a:chExt cx="10762665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两种带队方式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7626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面对同一个难题，我们准备了两种“带队做研究”的办法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3526" y="2647950"/>
            <a:ext cx="10765080" cy="1300734"/>
            <a:chOff x="783526" y="2647950"/>
            <a:chExt cx="10765080" cy="1300734"/>
          </a:xfrm>
        </p:grpSpPr>
        <p:sp>
          <p:nvSpPr>
            <p:cNvPr id="5" name="Line 5"/>
            <p:cNvSpPr/>
            <p:nvPr/>
          </p:nvSpPr>
          <p:spPr>
            <a:xfrm>
              <a:off x="1428750" y="3067050"/>
              <a:ext cx="9220200" cy="9525"/>
            </a:xfrm>
            <a:custGeom>
              <a:avLst/>
              <a:gdLst/>
              <a:ahLst/>
              <a:cxnLst/>
              <a:rect l="l" t="t" r="r" b="b"/>
              <a:pathLst>
                <a:path w="9220200" h="9525">
                  <a:moveTo>
                    <a:pt x="0" y="0"/>
                  </a:moveTo>
                  <a:lnTo>
                    <a:pt x="922020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09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057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105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29850" y="264795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9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7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5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8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3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31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再想出方向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9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拿证据核验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49295" y="35966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形成可交付结论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4476750"/>
            <a:ext cx="11125200" cy="1219200"/>
            <a:chOff x="533400" y="4476750"/>
            <a:chExt cx="11125200" cy="1219200"/>
          </a:xfrm>
        </p:grpSpPr>
        <p:sp>
          <p:nvSpPr>
            <p:cNvPr id="19" name="Rectangle 19"/>
            <p:cNvSpPr/>
            <p:nvPr/>
          </p:nvSpPr>
          <p:spPr>
            <a:xfrm>
              <a:off x="533400" y="4476750"/>
              <a:ext cx="5219700" cy="12192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94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像固定、成熟的专家小组：按既定节奏快速会诊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3242" y="5397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特点：稳住节奏，把方向先摸清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4476750"/>
              <a:ext cx="521970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949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72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像按问题临时增援的专项顾问：缺哪块就补哪块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8742" y="53978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特点：补齐短板，把正式结论守住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527304" y="6404610"/>
              <a:ext cx="7659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两条路共享 S1–S6 主链：对手与场景 → 方案与装备 → 证据与验证 → 能力画像；差别只在团队怎么组织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8937117" cy="936117"/>
            <a:chOff x="517398" y="559118"/>
            <a:chExt cx="8937117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质量集群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先请一支固定专家小组，把方向摸得又快又稳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4902" y="2686050"/>
            <a:ext cx="11010615" cy="1712595"/>
            <a:chOff x="664902" y="2686050"/>
            <a:chExt cx="11010615" cy="1712595"/>
          </a:xfrm>
        </p:grpSpPr>
        <p:sp>
          <p:nvSpPr>
            <p:cNvPr id="5" name="Line 5"/>
            <p:cNvSpPr/>
            <p:nvPr/>
          </p:nvSpPr>
          <p:spPr>
            <a:xfrm>
              <a:off x="1714500" y="31623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6197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0" y="2686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02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1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4902" y="37166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先提出几个方向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1090" y="4105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不急着定结论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565" y="37166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分工补证据、挑毛病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72940" y="41052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检索、红队、可行性、验证各司其职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9484" y="37166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只留下少数好方向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9265" y="4105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形成稳定的装备方向初稿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4914900"/>
            <a:ext cx="11125200" cy="933450"/>
            <a:chOff x="533400" y="4914900"/>
            <a:chExt cx="11125200" cy="933450"/>
          </a:xfrm>
        </p:grpSpPr>
        <p:sp>
          <p:nvSpPr>
            <p:cNvPr id="19" name="Rectangle 19"/>
            <p:cNvSpPr/>
            <p:nvPr/>
          </p:nvSpPr>
          <p:spPr>
            <a:xfrm>
              <a:off x="533400" y="4914900"/>
              <a:ext cx="11125200" cy="9334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94" y="50663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441632"/>
              <a:ext cx="107008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每一轮都做质量检查；没有新增价值就不再加人；失败可以从检查点恢复，所以不会让“人越多、意见越乱”。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404610"/>
              <a:ext cx="8194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工程边界：最多 12 个实例、3 波、6 并发；通常保留 2–4 条非支配候选。适合快速探索、批量初筛、低预算任务。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827628" cy="936117"/>
            <a:chOff x="517398" y="559118"/>
            <a:chExt cx="982762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动态蜂群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8276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方案哪里卡住，就临时请哪一类专家来补关键一块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962150"/>
            <a:ext cx="11125200" cy="2419350"/>
            <a:chOff x="533400" y="1962150"/>
            <a:chExt cx="11125200" cy="2419350"/>
          </a:xfrm>
        </p:grpSpPr>
        <p:sp>
          <p:nvSpPr>
            <p:cNvPr id="5" name="Rectangle 5"/>
            <p:cNvSpPr/>
            <p:nvPr/>
          </p:nvSpPr>
          <p:spPr>
            <a:xfrm>
              <a:off x="5334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研究先往前走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2480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基础团队先完成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2480" y="3019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对手、方案、装备、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4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证据与验证的基本工作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962150"/>
              <a:ext cx="2438400" cy="2419350"/>
            </a:xfrm>
            <a:prstGeom prst="rect">
              <a:avLst/>
            </a:prstGeom>
            <a:solidFill>
              <a:srgbClr val="FFF3E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857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发现关键缺口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80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证据不够？因果不通？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80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装备不具体？对手反应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80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或验证办法还没想清？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24600" y="1962150"/>
              <a:ext cx="2438400" cy="2419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13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临时精准增援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36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只请最需要的专项顾问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83680" y="3019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任务和边界说清楚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3680" y="3324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做完就离场，不拖泥带水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2202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769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意见统一记账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9280" y="2714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新意见不能悄悄覆盖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92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要么合并、要么补充、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9280" y="3324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要么按最新结论重做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4953000"/>
            <a:ext cx="11125200" cy="895350"/>
            <a:chOff x="533400" y="495300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4953000"/>
              <a:ext cx="1112520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0194" y="51044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718" y="5479732"/>
              <a:ext cx="9345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不靠一开始多叫人，而是把复杂课题中真正的漏项逐项补上，并把每次修改留下可追溯的来路。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6404610"/>
              <a:ext cx="8081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工程边界：配置 8–16 个实例、最多 6 并发 / 3 波；版本账本、角色合同与专家修复是项目实现的质量控制手段。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026168" cy="936117"/>
            <a:chOff x="517398" y="559118"/>
            <a:chExt cx="902616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动态孵化的思想来源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0261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不是“人海战术”，而是“问题出现才请对的人”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57400"/>
            <a:ext cx="11125200" cy="1885950"/>
            <a:chOff x="533400" y="2057400"/>
            <a:chExt cx="11125200" cy="1885950"/>
          </a:xfrm>
        </p:grpSpPr>
        <p:sp>
          <p:nvSpPr>
            <p:cNvPr id="5" name="Rectangle 5"/>
            <p:cNvSpPr/>
            <p:nvPr/>
          </p:nvSpPr>
          <p:spPr>
            <a:xfrm>
              <a:off x="5334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30409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缺什么，补什么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发现关键短板才加人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984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不为“看起来很热闹”堆角色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57400"/>
              <a:ext cx="3352800" cy="1885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3040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每个人，只办一件事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74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任务、边界、交付目标明确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984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做完回收，不带来额外噪声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3040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所有意见，放在一本账里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相近方案不平均拼凑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984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让更有价值的候选胜出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648200"/>
            <a:ext cx="11125200" cy="1066800"/>
            <a:chOff x="533400" y="4648200"/>
            <a:chExt cx="11125200" cy="1066800"/>
          </a:xfrm>
        </p:grpSpPr>
        <p:sp>
          <p:nvSpPr>
            <p:cNvPr id="18" name="Rectangle 18"/>
            <p:cNvSpPr/>
            <p:nvPr/>
          </p:nvSpPr>
          <p:spPr>
            <a:xfrm>
              <a:off x="533400" y="4648200"/>
              <a:ext cx="111252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575" y="4864894"/>
              <a:ext cx="214496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项目的工程化做法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251132"/>
              <a:ext cx="9568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统一调度决定谁加入；角色合同、隔离会话、版本账本和专家评审共同约束过程，避免越做越乱。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988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Kimi K3 提供的是方法启发；项目的实际落地是自身的 winning_swarm_dynamic_v2，而非直接复用外部组件。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272884" cy="936117"/>
            <a:chOff x="517398" y="55911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怎么选策略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先要方向，选质量集群；要拿正式结论，选动态蜂群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000250"/>
            <a:ext cx="5067300" cy="3143250"/>
            <a:chOff x="533400" y="2000250"/>
            <a:chExt cx="50673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5067300" cy="31432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86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337" y="2690336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适合：先把方向摸清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001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3365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像一次快速专家会诊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17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用更短时间拿到可比较的方向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18" y="40890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适合探索、初筛、预算受限任务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10 分钟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91300" y="2000250"/>
            <a:ext cx="5067300" cy="3143250"/>
            <a:chOff x="6591300" y="2000250"/>
            <a:chExt cx="50673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6591300" y="2000250"/>
              <a:ext cx="506730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465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9237" y="26903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适合：把正式结论守住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9618" y="33651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像遇到疑点就精准增援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6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把漏项补齐，把相近方案拉开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618" y="40890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适合复杂课题和正式装备需求论证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88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31 分钟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5562600"/>
            <a:ext cx="11450742" cy="514350"/>
            <a:chOff x="533400" y="5562600"/>
            <a:chExt cx="11450742" cy="514350"/>
          </a:xfrm>
        </p:grpSpPr>
        <p:sp>
          <p:nvSpPr>
            <p:cNvPr id="23" name="Rectangle 23"/>
            <p:cNvSpPr/>
            <p:nvPr/>
          </p:nvSpPr>
          <p:spPr>
            <a:xfrm>
              <a:off x="533400" y="5562600"/>
              <a:ext cx="11125200" cy="51435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5724525"/>
              <a:ext cx="11229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同一 Query 实测：动态模式最终达到 100% 来源绑定、L1–L3 通过和 approved；多花的时间用于补漏、复核和修复。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27304" y="6404610"/>
              <a:ext cx="1011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 Query 真实记录：Quality 576.738 秒 / 16 次调用；Dynamic 1,884.843 秒 / 34 次调用；数字用于策略选择，不外推为一般性能承诺。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426898" cy="936117"/>
            <a:chOff x="517398" y="559118"/>
            <a:chExt cx="942689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质量提升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4268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不让“看起来像答案”的方案，直接变成正式结论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00250"/>
            <a:ext cx="11125200" cy="2209800"/>
            <a:chOff x="533400" y="2000250"/>
            <a:chExt cx="1112520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先问：说得通吗？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365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是否符合任务和场景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794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因果链和军事价值是否成立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00250"/>
              <a:ext cx="335280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再问：落得下吗？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36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装备是不是具体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工程上是否可行、可验证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2469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最后问：站得住吗？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365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证据是否可信、方案是否重复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能否面对反例和后续复核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857750"/>
            <a:ext cx="11125200" cy="933450"/>
            <a:chOff x="533400" y="4857750"/>
            <a:chExt cx="11125200" cy="9334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1125200" cy="93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194" y="502824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独立专家评审的三种结果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422582"/>
              <a:ext cx="855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→ 进入正式收敛　　缺关键一块 → 定向补齐　　经不起复核 → 阻断发布并留下原因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693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工程事实：quality_expert_judge 只读候选账本和有效证据；综合分 ≥ 0.72、关键维度 ≥ 0.60 才能放行。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40068"/>
            <a:ext cx="10272884" cy="936117"/>
            <a:chOff x="517398" y="54006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前端成果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6010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从任务创建到能力画像，前端已承载关键过程与结果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714500"/>
            <a:ext cx="3333750" cy="2347151"/>
            <a:chOff x="533400" y="1714500"/>
            <a:chExt cx="3333750" cy="2347151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0150" y="1809750"/>
              <a:ext cx="2040250" cy="19240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2179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实时交互与事件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33850" y="1714500"/>
            <a:ext cx="3333750" cy="2347151"/>
            <a:chOff x="4133850" y="1714500"/>
            <a:chExt cx="3333750" cy="2347151"/>
          </a:xfrm>
        </p:grpSpPr>
        <p:sp>
          <p:nvSpPr>
            <p:cNvPr id="9" name="Rectangle 9"/>
            <p:cNvSpPr/>
            <p:nvPr/>
          </p:nvSpPr>
          <p:spPr>
            <a:xfrm>
              <a:off x="413385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0600" y="1809750"/>
              <a:ext cx="2040250" cy="1924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422224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能力画像与卡片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34300" y="1714500"/>
            <a:ext cx="3924300" cy="2347151"/>
            <a:chOff x="7734300" y="1714500"/>
            <a:chExt cx="3924300" cy="2347151"/>
          </a:xfrm>
        </p:grpSpPr>
        <p:sp>
          <p:nvSpPr>
            <p:cNvPr id="13" name="Rectangle 13"/>
            <p:cNvSpPr/>
            <p:nvPr/>
          </p:nvSpPr>
          <p:spPr>
            <a:xfrm>
              <a:off x="7734300" y="1714500"/>
              <a:ext cx="392430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6464" y="1905000"/>
              <a:ext cx="3079973" cy="17335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822692" y="3797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制胜机理与门控状态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208" y="4732020"/>
            <a:ext cx="8097012" cy="1133475"/>
            <a:chOff x="521208" y="4732020"/>
            <a:chExt cx="8097012" cy="1133475"/>
          </a:xfrm>
        </p:grpSpPr>
        <p:sp>
          <p:nvSpPr>
            <p:cNvPr id="17" name="TextBox 17"/>
            <p:cNvSpPr txBox="1"/>
            <p:nvPr/>
          </p:nvSpPr>
          <p:spPr>
            <a:xfrm>
              <a:off x="521208" y="4732020"/>
              <a:ext cx="7017258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项目方可现场按任务查看：过程、证据、S 节点、能力画像与结果评审。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780" y="55721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以上均为项目仓库中的真实工作台页面；截图保持原始内容和比例，不作为概念界面展示。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404610"/>
              <a:ext cx="5504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演示建议：以一个真实任务为入口，顺序查看任务交互、能力画像与制胜结果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5631180" cy="1227772"/>
            <a:chOff x="518160" y="501968"/>
            <a:chExt cx="56311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可配置交付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研究策略和报告表达均可配置，避免用同一种成本处理所有任务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018" y="1707832"/>
            <a:ext cx="11133582" cy="1454468"/>
            <a:chOff x="525018" y="1707832"/>
            <a:chExt cx="11133582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707832"/>
              <a:ext cx="41665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Profile：选择研究强度与收敛机制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22383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legacy_v1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传统固定编排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861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兼容回滚与对照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1945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1380" y="223837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optimized_v2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214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协同优化编排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290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普通研究任务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95500"/>
              <a:ext cx="2457450" cy="10668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7430" y="22383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81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质量残差蜂群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895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质量残差探索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91550" y="2095500"/>
              <a:ext cx="3067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22383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94242" y="257841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95004" y="2861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复杂任务动态孵化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8750" y="3400425"/>
            <a:ext cx="9239250" cy="390525"/>
            <a:chOff x="1428750" y="3400425"/>
            <a:chExt cx="9239250" cy="390525"/>
          </a:xfrm>
        </p:grpSpPr>
        <p:sp>
          <p:nvSpPr>
            <p:cNvPr id="23" name="Line 23"/>
            <p:cNvSpPr/>
            <p:nvPr/>
          </p:nvSpPr>
          <p:spPr>
            <a:xfrm>
              <a:off x="1428750" y="3657600"/>
              <a:ext cx="9239250" cy="9525"/>
            </a:xfrm>
            <a:custGeom>
              <a:avLst/>
              <a:gdLst/>
              <a:ahLst/>
              <a:cxnLst/>
              <a:rect l="l" t="t" r="r" b="b"/>
              <a:pathLst>
                <a:path w="9239250" h="9525">
                  <a:moveTo>
                    <a:pt x="0" y="0"/>
                  </a:moveTo>
                  <a:lnTo>
                    <a:pt x="92392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458450" y="35242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18752" y="3400425"/>
              <a:ext cx="3259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任务配置 → 运行快照 → 可审计报告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5018" y="4222432"/>
            <a:ext cx="11133582" cy="1473518"/>
            <a:chOff x="525018" y="4222432"/>
            <a:chExt cx="11133582" cy="1473518"/>
          </a:xfrm>
        </p:grpSpPr>
        <p:sp>
          <p:nvSpPr>
            <p:cNvPr id="27" name="TextBox 27"/>
            <p:cNvSpPr txBox="1"/>
            <p:nvPr/>
          </p:nvSpPr>
          <p:spPr>
            <a:xfrm>
              <a:off x="525018" y="42224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报告模板：选择交付表达，而不是改变事实与审计边界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9150"/>
              <a:ext cx="5238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" y="4812982"/>
              <a:ext cx="4541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project_argument_v1　项目论证五章模板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1530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 · 项目画像 · 总体方案 · 关键技术 · 研制基础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4629150"/>
              <a:ext cx="52387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118" y="48129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three_layer_nine_item　三层九项模板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515302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需求挖掘 · 技术攻关 · 能力图像 · 效能贡献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522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配置通过 CLI / API 传入，并随任务与运行快照保留，支撑复现与审计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37260" y="692468"/>
            <a:ext cx="5231130" cy="1227772"/>
            <a:chOff x="937260" y="692468"/>
            <a:chExt cx="5231130" cy="1227772"/>
          </a:xfrm>
        </p:grpSpPr>
        <p:sp>
          <p:nvSpPr>
            <p:cNvPr id="3" name="TextBox 3"/>
            <p:cNvSpPr txBox="1"/>
            <p:nvPr/>
          </p:nvSpPr>
          <p:spPr>
            <a:xfrm>
              <a:off x="945642" y="6924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下一阶段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260" y="876300"/>
              <a:ext cx="52311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在不牺牲质量硬门的前提下，提升证据可信度与运行效率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832" y="2249805"/>
            <a:ext cx="4011168" cy="1984629"/>
            <a:chOff x="941832" y="2249805"/>
            <a:chExt cx="4011168" cy="1984629"/>
          </a:xfrm>
        </p:grpSpPr>
        <p:sp>
          <p:nvSpPr>
            <p:cNvPr id="6" name="TextBox 6"/>
            <p:cNvSpPr txBox="1"/>
            <p:nvPr/>
          </p:nvSpPr>
          <p:spPr>
            <a:xfrm>
              <a:off x="941832" y="22498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A　证据可信度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3006090"/>
              <a:ext cx="222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Claim—来源直接对应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3444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正文可核查呈现与时效校验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882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冲突证据处理与专家复核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71082" y="2249805"/>
            <a:ext cx="4011168" cy="1984629"/>
            <a:chOff x="6371082" y="2249805"/>
            <a:chExt cx="4011168" cy="1984629"/>
          </a:xfrm>
        </p:grpSpPr>
        <p:sp>
          <p:nvSpPr>
            <p:cNvPr id="12" name="TextBox 12"/>
            <p:cNvSpPr txBox="1"/>
            <p:nvPr/>
          </p:nvSpPr>
          <p:spPr>
            <a:xfrm>
              <a:off x="6371082" y="2249805"/>
              <a:ext cx="2483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B　运行效率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38175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2606" y="3006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减少同族重复候选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606" y="34442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提前按装备族 / 验收变量去重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606" y="3882390"/>
              <a:ext cx="2309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优化动态 Agent 编排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5048250"/>
            <a:ext cx="7239000" cy="1045845"/>
            <a:chOff x="2286000" y="5048250"/>
            <a:chExt cx="7239000" cy="1045845"/>
          </a:xfrm>
        </p:grpSpPr>
        <p:sp>
          <p:nvSpPr>
            <p:cNvPr id="18" name="Line 18"/>
            <p:cNvSpPr/>
            <p:nvPr/>
          </p:nvSpPr>
          <p:spPr>
            <a:xfrm>
              <a:off x="228600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0" y="0"/>
                  </a:moveTo>
                  <a:lnTo>
                    <a:pt x="314325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3143250" y="0"/>
                  </a:moveTo>
                  <a:lnTo>
                    <a:pt x="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72200" y="552450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152400"/>
                  </a:moveTo>
                  <a:lnTo>
                    <a:pt x="0" y="0"/>
                  </a:lnTo>
                  <a:lnTo>
                    <a:pt x="3810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7475" y="52273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质量不降级，效率可优化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9895" y="58007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下一轮验收重点：来源绑定、交付硬门、运行时长与前端闭环演示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404" y="6404610"/>
            <a:ext cx="10619125" cy="234696"/>
            <a:chOff x="946404" y="6404610"/>
            <a:chExt cx="1061912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946404" y="6404610"/>
              <a:ext cx="4401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保留双策略：Quality 用于快速探索，Dynamic 用于正式收敛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2026-08-05T19:06:24Z</dcterms:created>
  <dcterms:modified xsi:type="dcterms:W3CDTF">2026-08-05T19:06:24Z</dcterms:modified>
  <cp:category/>
  <cp:contentStatus/>
</cp:coreProperties>
</file>