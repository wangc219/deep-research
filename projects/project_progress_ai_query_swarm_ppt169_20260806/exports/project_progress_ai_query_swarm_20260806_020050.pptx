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本次汇报的阶段结论是：我们已把深度研究从一次性问答，推进为可配置、可治理、可审计的多智能体研究操作系统。它以 Query 定义研究入口，以执行 Profile 选择研究强度，以质量集群和动态蜂群组织探索与收敛，再由独立专家评审与报告模板决定是否发布、如何交付。今天重点不是展示几个孤立功能，而是说明这些能力已在项目主链路中联动落地。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首先看研究入口。项目将主题与补充信息交给 Query Generation Worker，经过轻量在线核验后生成结构化 Query 草稿，并在 Query Library 中完成审核、发布、归档与版本治理。需要明确的是，生成阶段的来源只是选题线索，不被当作正式研究证据；这样既提升任务启动效率，也守住后续证据采集和论证的质量边界。发布后的 Query 可以一键回填 Deep Research 任务，Query 标识和版本还会随运行快照保存下来。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这一页展示的是项目已实现的前端工作台，而不是概念原型。使用者可直接输入问题或选择推荐 Query，生成草稿、人工审阅、发布，再将已发布的 Query 回填到研究任务中。对于项目方而言，价值在于研究问题从一开始就可追溯：我们能回看某次结论使用了哪个 Query、哪个版本，以及它经历了怎样的治理过程。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有了稳定入口，下一步是把研究做深。我们借鉴 Kimi K3 集群孵化中“分工探索、候选保留、受约束收敛”的方法启发，但没有直接复用外部组件；项目中落地的是自己的 winning_swarm_dynamic_v2。它将任务拆成 Mission Graph，按依赖事件并行调度八到十六个实例，并通过版本化候选账本保存每一轮探索结果。这样动态扩展不是为了堆 Agent 数量，而是围绕装备能力、因果链、证据和验收约束持续补足研究缺口。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项目没有把所有任务都推给最重的动态模式，而是保留两条可选策略。质量集群保留 S1 到 S6 骨架，按质量残差弹性孵化最多十二个专家角色，适合快速探索和形成多样候选；动态蜂群则以更多角色、候选账本、专家修复和发布门控，承担正式收敛。以同一 Query 的真实运行看，质量路径用约五百七十七秒完成十六次模型调用，动态路径用约一千八百八十五秒完成三十四次调用和十七个动态 Agent，换来了百分之百来源绑定、L1 到 L3 通过以及 approved 审计状态。这里展示的是可解释的取舍，而不是片面追求速度或复杂度。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 Agent 并不天然产生高质量结论，所以我们把质量要求写进了系统门控。真实测试曾暴露出一种典型风险：标题看似完整、画像存在重复，但有效装备族不足，结果只能停留在 warning。修复后，具体项目数量、名称去重、机制差异、来源绑定和多层质量门都成为发布条件，只有同时满足才能进入 approved。也就是说，系统不是“生成后再解释”，而是在生成过程中持续判断能否交付。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这些前端成果让项目方能够现场检查研究链路，而不只接收一份静态报告。我们可以从一个真实任务进入，查看 Query 与运行事件、能力画像、制胜机理、证据组织和各层门控结果。这样的呈现把复杂的多智能体过程转成可浏览、可下钻、可复核的工作台体验，也为后续验收提供了直观入口。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在动态模式中，我们加入了 quality_expert_judge 评审专家智能体，它不是再生成一份报告，而是对版本化候选账本和有效证据标识进行盲评。它从领域契合、装备能力落点、创新性、军事价值、因果逻辑、可信度、工程可行性和稳健性八个维度打分；综合分需达到零点七二，领域契合、能力落点、军事价值和可信度四项均不得低于零点六。评审结果会驱动通过、定向修复或阻断发布，并把原因写入审计状态，因此“专家判断”被落实为可重复执行的发布机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系统的可配置性体现在研究策略和交付表达两个层面。任务可通过 CLI 或 API 选择 legacy_v1、optimized_v2、swarm_quality_v1 或 winning_swarm_dynamic_v2，配置会进入任务和运行快照，便于复现、对比和审计。报告端则提供项目论证五章模板与三层九项模板：前者面向需求、方案、关键技术和研制基础的论证表达，后者面向需求挖掘、技术攻关、能力图像和效能贡献的结构化呈现。模板改变的是项目方阅读和决策的视角，不改变事实、证据和审计边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阶段的原则很明确：质量硬门不降级，运行效率可持续优化。证据侧将加强主张与来源的直接对应、正文可核查呈现、时效校验、冲突证据处理和专家复核；效率侧将提前按装备族与验收变量去重，减少同族重复候选，并优化动态 Agent 编排。我们会保留质量集群用于快速探索、动态蜂群用于正式收敛的双策略，并以来源绑定、交付硬门、运行时长和前端闭环演示作为下一轮验收的共同指标。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ect_progress_ai_query_swar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ect_progress_ai_query_swar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e564f9bf13a167.jpg"/>
  <Relationship Id="rId3" Type="http://schemas.openxmlformats.org/officeDocument/2006/relationships/image" Target="../media/image_2436b6e00a825a5f.jpg"/>
  <Relationship Id="rId4" Type="http://schemas.openxmlformats.org/officeDocument/2006/relationships/image" Target="../media/image_3f888bf9d6a897a2.jpg"/>
  <Relationship Id="rId5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010650" y="0"/>
            <a:ext cx="3181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53450" y="0"/>
            <a:ext cx="457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654368"/>
            <a:ext cx="2685250" cy="264033"/>
            <a:chOff x="602742" y="654368"/>
            <a:chExt cx="2685250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602742" y="6543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项目方阶段进展汇报 / 2026.08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336358"/>
            <a:ext cx="4678680" cy="1937385"/>
            <a:chOff x="590550" y="1336358"/>
            <a:chExt cx="4678680" cy="1937385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1336358"/>
              <a:ext cx="2258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项目已进入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816418"/>
              <a:ext cx="467868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可演示、可评测、可审计阶段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8170" y="3319462"/>
            <a:ext cx="7813875" cy="743522"/>
            <a:chOff x="598170" y="3319462"/>
            <a:chExt cx="7813875" cy="743522"/>
          </a:xfrm>
        </p:grpSpPr>
        <p:sp>
          <p:nvSpPr>
            <p:cNvPr id="9" name="TextBox 9"/>
            <p:cNvSpPr txBox="1"/>
            <p:nvPr/>
          </p:nvSpPr>
          <p:spPr>
            <a:xfrm>
              <a:off x="598170" y="3319462"/>
              <a:ext cx="57778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从任务入口到审计交付，关键能力已贯通。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710940"/>
              <a:ext cx="7811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Query 自动生成、质量集群与动态蜂群已接入同一研究与交付链路。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39039" y="4876800"/>
            <a:ext cx="8417166" cy="880301"/>
            <a:chOff x="239039" y="4876800"/>
            <a:chExt cx="8417166" cy="880301"/>
          </a:xfrm>
        </p:grpSpPr>
        <p:sp>
          <p:nvSpPr>
            <p:cNvPr id="12" name="Line 12"/>
            <p:cNvSpPr/>
            <p:nvPr/>
          </p:nvSpPr>
          <p:spPr>
            <a:xfrm>
              <a:off x="14097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100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2103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001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2004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6007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001000" y="487680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08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011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14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54067" y="50577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9039" y="54930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Query 自动生成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77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质量集群探索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80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动态蜂群收敛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79194" y="5493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审计交付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41358" y="1836420"/>
            <a:ext cx="1993392" cy="2602992"/>
            <a:chOff x="9341358" y="1836420"/>
            <a:chExt cx="1993392" cy="2602992"/>
          </a:xfrm>
        </p:grpSpPr>
        <p:sp>
          <p:nvSpPr>
            <p:cNvPr id="28" name="TextBox 28"/>
            <p:cNvSpPr txBox="1"/>
            <p:nvPr/>
          </p:nvSpPr>
          <p:spPr>
            <a:xfrm>
              <a:off x="9341358" y="18364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可演示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353550" y="23050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41358" y="29032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可评测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353550" y="33718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41358" y="39700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504" y="6404610"/>
            <a:ext cx="10676275" cy="234696"/>
            <a:chOff x="603504" y="6404610"/>
            <a:chExt cx="10676275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03504" y="6404610"/>
              <a:ext cx="4228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材料口径：项目仓库真实实现与 2026-08-05 真实对比记录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8100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791624" cy="936117"/>
            <a:chOff x="517398" y="559118"/>
            <a:chExt cx="979162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任务入口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7916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Query 自动生成把研究任务入口前移并标准化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8595" y="2838450"/>
            <a:ext cx="7510359" cy="1775651"/>
            <a:chOff x="338595" y="2838450"/>
            <a:chExt cx="7510359" cy="1775651"/>
          </a:xfrm>
        </p:grpSpPr>
        <p:sp>
          <p:nvSpPr>
            <p:cNvPr id="5" name="Line 5"/>
            <p:cNvSpPr/>
            <p:nvPr/>
          </p:nvSpPr>
          <p:spPr>
            <a:xfrm>
              <a:off x="1809750" y="3333750"/>
              <a:ext cx="5095875" cy="9525"/>
            </a:xfrm>
            <a:custGeom>
              <a:avLst/>
              <a:gdLst/>
              <a:ahLst/>
              <a:cxnLst/>
              <a:rect l="l" t="t" r="r" b="b"/>
              <a:pathLst>
                <a:path w="5095875" h="9525">
                  <a:moveTo>
                    <a:pt x="0" y="0"/>
                  </a:moveTo>
                  <a:lnTo>
                    <a:pt x="5095875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2838450"/>
              <a:ext cx="990600" cy="990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2647950" y="2838450"/>
              <a:ext cx="990600" cy="990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552950" y="2838450"/>
              <a:ext cx="990600" cy="990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457950" y="2838450"/>
              <a:ext cx="990600" cy="99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45952" y="31832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50952" y="31832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5952" y="31832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60952" y="31832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8595" y="39966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主题与补充信息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6181" y="4350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明确研究边界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65520" y="3996690"/>
              <a:ext cx="23554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生成 Worker 出草稿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09444" y="4350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联网形成选题线索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64099" y="3996690"/>
              <a:ext cx="23683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Query Library 治理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41838" y="4350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审核、发布、归档、版本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0811" y="39966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回填研究任务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57546" y="4350068"/>
              <a:ext cx="1791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 Query ID / 版本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239250" y="2133600"/>
            <a:ext cx="2381250" cy="2819400"/>
            <a:chOff x="9239250" y="2133600"/>
            <a:chExt cx="2381250" cy="2819400"/>
          </a:xfrm>
        </p:grpSpPr>
        <p:sp>
          <p:nvSpPr>
            <p:cNvPr id="23" name="Rectangle 23"/>
            <p:cNvSpPr/>
            <p:nvPr/>
          </p:nvSpPr>
          <p:spPr>
            <a:xfrm>
              <a:off x="9239250" y="2133600"/>
              <a:ext cx="2381250" cy="28194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77756" y="23774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已落实功能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9486900" y="276225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79661" y="3046571"/>
              <a:ext cx="20790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/api/v1/query-library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9280" y="3457575"/>
              <a:ext cx="209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草稿审核 / 发布 / 归档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9280" y="3876675"/>
              <a:ext cx="1928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Query ID / 版本留痕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80042" y="43881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生成来源仅用于选题线索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527304" y="6404610"/>
              <a:ext cx="4659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注：自动生成不替代后续 Deep Research 的正式证据采集与核验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17398" y="673418"/>
            <a:ext cx="4039305" cy="1327594"/>
            <a:chOff x="517398" y="673418"/>
            <a:chExt cx="4039305" cy="1327594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6734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前端成果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7398" y="993458"/>
              <a:ext cx="40393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从生成到任务创建，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1208" y="153162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前端已提供完整操作入口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682240"/>
            <a:ext cx="2970444" cy="2370011"/>
            <a:chOff x="609600" y="2682240"/>
            <a:chExt cx="2970444" cy="2370011"/>
          </a:xfrm>
        </p:grpSpPr>
        <p:sp>
          <p:nvSpPr>
            <p:cNvPr id="7" name="Line 7"/>
            <p:cNvSpPr/>
            <p:nvPr/>
          </p:nvSpPr>
          <p:spPr>
            <a:xfrm>
              <a:off x="685800" y="2800350"/>
              <a:ext cx="9525" cy="1752600"/>
            </a:xfrm>
            <a:custGeom>
              <a:avLst/>
              <a:gdLst/>
              <a:ahLst/>
              <a:cxnLst/>
              <a:rect l="l" t="t" r="r" b="b"/>
              <a:pathLst>
                <a:path w="9525" h="1752600">
                  <a:moveTo>
                    <a:pt x="0" y="0"/>
                  </a:moveTo>
                  <a:lnTo>
                    <a:pt x="0" y="17526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09600" y="2724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09600" y="3590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09600" y="44767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4306" y="2682240"/>
              <a:ext cx="26557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输入或选择推荐 Query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6592" y="30356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研究任务入口保持直接可用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4306" y="3549015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进入问题库生成草稿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6592" y="39023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支持审核、发布与归档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4306" y="44348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发布后回填研究任务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6592" y="4788218"/>
              <a:ext cx="18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保留 Query ID 与版本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52950" y="1285875"/>
            <a:ext cx="7105650" cy="4400550"/>
            <a:chOff x="4552950" y="1285875"/>
            <a:chExt cx="7105650" cy="4400550"/>
          </a:xfrm>
        </p:grpSpPr>
        <p:sp>
          <p:nvSpPr>
            <p:cNvPr id="18" name="Rectangle 18"/>
            <p:cNvSpPr/>
            <p:nvPr/>
          </p:nvSpPr>
          <p:spPr>
            <a:xfrm>
              <a:off x="4552950" y="1285875"/>
              <a:ext cx="7105650" cy="44005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7250" y="1409700"/>
              <a:ext cx="6877050" cy="386715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60392" y="54168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工作台真实页面（项目仓库素材）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4627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现场演示重点：Query 输入、问题库入口、审核发布与任务回填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59118"/>
            <a:ext cx="5631180" cy="1303972"/>
            <a:chOff x="518160" y="559118"/>
            <a:chExt cx="5631180" cy="130397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动态蜂群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819150"/>
              <a:ext cx="563118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动态蜂群不是简单加 Agent，而是按任务缺口动态孵化与收敛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2152650"/>
            <a:ext cx="2571750" cy="2952750"/>
            <a:chOff x="533400" y="2152650"/>
            <a:chExt cx="2571750" cy="2952750"/>
          </a:xfrm>
        </p:grpSpPr>
        <p:sp>
          <p:nvSpPr>
            <p:cNvPr id="5" name="Rectangle 5"/>
            <p:cNvSpPr/>
            <p:nvPr/>
          </p:nvSpPr>
          <p:spPr>
            <a:xfrm>
              <a:off x="533400" y="2152650"/>
              <a:ext cx="2571750" cy="2952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3430" y="2447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集群孵化启发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70382" y="28975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按问题组织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0382" y="32594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多角色探索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0382" y="362140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与收敛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4192" y="4350068"/>
              <a:ext cx="21695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Kimi K3 集群思路提供启发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771900" y="2476500"/>
            <a:ext cx="2305050" cy="2305050"/>
            <a:chOff x="3771900" y="2476500"/>
            <a:chExt cx="2305050" cy="2305050"/>
          </a:xfrm>
        </p:grpSpPr>
        <p:sp>
          <p:nvSpPr>
            <p:cNvPr id="12" name="Ellipse 12"/>
            <p:cNvSpPr/>
            <p:nvPr/>
          </p:nvSpPr>
          <p:spPr>
            <a:xfrm>
              <a:off x="3771900" y="2476500"/>
              <a:ext cx="2305050" cy="230505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023246" y="30880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项目任务约束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92975" y="35528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具体装备 / 敌我行动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92975" y="38766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直接战果 / 失效边界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11980" y="42005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可证伪试验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2038350"/>
            <a:ext cx="4933950" cy="3162300"/>
            <a:chOff x="6286500" y="2038350"/>
            <a:chExt cx="4933950" cy="3162300"/>
          </a:xfrm>
        </p:grpSpPr>
        <p:sp>
          <p:nvSpPr>
            <p:cNvPr id="18" name="Line 18"/>
            <p:cNvSpPr/>
            <p:nvPr/>
          </p:nvSpPr>
          <p:spPr>
            <a:xfrm>
              <a:off x="6286500" y="3629025"/>
              <a:ext cx="781050" cy="9525"/>
            </a:xfrm>
            <a:custGeom>
              <a:avLst/>
              <a:gdLst/>
              <a:ahLst/>
              <a:cxnLst/>
              <a:rect l="l" t="t" r="r" b="b"/>
              <a:pathLst>
                <a:path w="781050" h="9525">
                  <a:moveTo>
                    <a:pt x="0" y="0"/>
                  </a:moveTo>
                  <a:lnTo>
                    <a:pt x="7810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067550" y="2476500"/>
              <a:ext cx="9525" cy="2343150"/>
            </a:xfrm>
            <a:custGeom>
              <a:avLst/>
              <a:gdLst/>
              <a:ahLst/>
              <a:cxnLst/>
              <a:rect l="l" t="t" r="r" b="b"/>
              <a:pathLst>
                <a:path w="9525" h="2343150">
                  <a:moveTo>
                    <a:pt x="0" y="0"/>
                  </a:moveTo>
                  <a:lnTo>
                    <a:pt x="0" y="23431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15200" y="2038350"/>
              <a:ext cx="3905250" cy="495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35418" y="218408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候选账本：保留可比较的探索分支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315200" y="2705100"/>
              <a:ext cx="3905250" cy="495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35418" y="2850832"/>
              <a:ext cx="3094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动态调度：按缺口派生 Agent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315200" y="3371850"/>
              <a:ext cx="3905250" cy="495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35418" y="3517582"/>
              <a:ext cx="33307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专家 Judge：分轮审视与反适应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315200" y="4038600"/>
              <a:ext cx="3905250" cy="495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35418" y="4184332"/>
              <a:ext cx="3281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组合去重：修复、补位与互异性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315200" y="4705350"/>
              <a:ext cx="3905250" cy="495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35418" y="4851082"/>
              <a:ext cx="30506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L1-L3 / Audit 通过后才发布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527304" y="6404610"/>
              <a:ext cx="716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项目实现：winning_swarm_dynamic_v2；借鉴集群孵化思路，但不将外部模式表述为项目现成组件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40068"/>
            <a:ext cx="11163395" cy="936117"/>
            <a:chOff x="517398" y="540068"/>
            <a:chExt cx="11163395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400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真实对比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60108"/>
              <a:ext cx="111633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质量集群适合快速初筛；动态蜂群适合正式装备需求论证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714500"/>
            <a:ext cx="4762500" cy="3505200"/>
            <a:chOff x="533400" y="1714500"/>
            <a:chExt cx="4762500" cy="3505200"/>
          </a:xfrm>
        </p:grpSpPr>
        <p:sp>
          <p:nvSpPr>
            <p:cNvPr id="5" name="Rectangle 5"/>
            <p:cNvSpPr/>
            <p:nvPr/>
          </p:nvSpPr>
          <p:spPr>
            <a:xfrm>
              <a:off x="533400" y="1714500"/>
              <a:ext cx="4762500" cy="35052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89432" y="1925955"/>
              <a:ext cx="26038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swarm_quality_v1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0956" y="2320290"/>
              <a:ext cx="2679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S1-S6 + 质量残差孵化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1718" y="2907982"/>
              <a:ext cx="40040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最多 12 个专用 Agent · 3 波次 / 并发 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956" y="3291840"/>
              <a:ext cx="38226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真实运行：576.738 秒 · 16 次调用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0956" y="3691890"/>
              <a:ext cx="40407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能力画像：6 项 · 最大相似度 0.4080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956" y="4091940"/>
              <a:ext cx="22718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来源绑定率：0.8214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0194" y="4609148"/>
              <a:ext cx="19445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Audit = limited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664327" y="2695575"/>
            <a:ext cx="863346" cy="1289876"/>
            <a:chOff x="5664327" y="2695575"/>
            <a:chExt cx="863346" cy="1289876"/>
          </a:xfrm>
        </p:grpSpPr>
        <p:sp>
          <p:nvSpPr>
            <p:cNvPr id="14" name="Line 14"/>
            <p:cNvSpPr/>
            <p:nvPr/>
          </p:nvSpPr>
          <p:spPr>
            <a:xfrm>
              <a:off x="5715000" y="33909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6286500" y="3257550"/>
              <a:ext cx="190500" cy="266700"/>
            </a:xfrm>
            <a:custGeom>
              <a:avLst/>
              <a:gdLst/>
              <a:ahLst/>
              <a:cxnLst/>
              <a:rect l="l" t="t" r="r" b="b"/>
              <a:pathLst>
                <a:path w="190500" h="266700">
                  <a:moveTo>
                    <a:pt x="19050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76354" y="26955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4327" y="29813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效率取舍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39254" y="37214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3.27×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96100" y="1714500"/>
            <a:ext cx="4762500" cy="3505200"/>
            <a:chOff x="6896100" y="1714500"/>
            <a:chExt cx="4762500" cy="3505200"/>
          </a:xfrm>
        </p:grpSpPr>
        <p:sp>
          <p:nvSpPr>
            <p:cNvPr id="20" name="Rectangle 20"/>
            <p:cNvSpPr/>
            <p:nvPr/>
          </p:nvSpPr>
          <p:spPr>
            <a:xfrm>
              <a:off x="6896100" y="1714500"/>
              <a:ext cx="4762500" cy="350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52132" y="1925955"/>
              <a:ext cx="39544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winning_swarm_dynamic_v2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53656" y="2320290"/>
              <a:ext cx="28177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Mission Graph 动态蜂群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54418" y="290798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实例范围：8–16 · 依赖事件并行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53656" y="3291840"/>
              <a:ext cx="41842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真实运行：17 动态 Agent · 34 次调用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53656" y="369189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1,884.843 秒 · 最大相似度 0.2473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3656" y="4091940"/>
              <a:ext cx="31290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绑定率 1.0 · L1-L3 均通过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52894" y="4609148"/>
              <a:ext cx="22483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Audit = approved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5448300"/>
            <a:ext cx="11125200" cy="683895"/>
            <a:chOff x="533400" y="5448300"/>
            <a:chExt cx="11125200" cy="683895"/>
          </a:xfrm>
        </p:grpSpPr>
        <p:sp>
          <p:nvSpPr>
            <p:cNvPr id="29" name="Rectangle 29"/>
            <p:cNvSpPr/>
            <p:nvPr/>
          </p:nvSpPr>
          <p:spPr>
            <a:xfrm>
              <a:off x="533400" y="5448300"/>
              <a:ext cx="11125200" cy="628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4380" y="5591175"/>
              <a:ext cx="80924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真实同 Query 对比：Dynamic 的时间增量主要来自候选账本、专家 Judge、修复与 Reporter，而非仅增加基线证据。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527304" y="6404610"/>
              <a:ext cx="67262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来源：2026-08-05 swarm_quality_v1 与 winning_swarm_dynamic_v2 同 Query Real 对比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40068"/>
            <a:ext cx="6731318" cy="1323022"/>
            <a:chOff x="518160" y="540068"/>
            <a:chExt cx="6731318" cy="132302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400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质量硬门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819150"/>
              <a:ext cx="6731318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动态蜂群通过“候选—审计—修复—发布”把质量要求落为硬门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6577" y="2343150"/>
            <a:ext cx="10478918" cy="1141095"/>
            <a:chOff x="806577" y="2343150"/>
            <a:chExt cx="10478918" cy="1141095"/>
          </a:xfrm>
        </p:grpSpPr>
        <p:sp>
          <p:nvSpPr>
            <p:cNvPr id="5" name="Line 5"/>
            <p:cNvSpPr/>
            <p:nvPr/>
          </p:nvSpPr>
          <p:spPr>
            <a:xfrm>
              <a:off x="1238250" y="27051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76300" y="2343150"/>
              <a:ext cx="723900" cy="7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3257550" y="2343150"/>
              <a:ext cx="723900" cy="7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638800" y="2343150"/>
              <a:ext cx="723900" cy="7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020050" y="2343150"/>
              <a:ext cx="723900" cy="7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401300" y="2343150"/>
              <a:ext cx="723900" cy="72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65730" y="26031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46980" y="26031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28230" y="26031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9480" y="26031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90730" y="26031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577" y="3190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任务约束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18303" y="3190875"/>
              <a:ext cx="2202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候选账本 / 动态 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9122" y="3190875"/>
              <a:ext cx="1743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专家评估 / 反适应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69504" y="3190875"/>
              <a:ext cx="1224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S6 交付硬门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41006" y="3190875"/>
              <a:ext cx="1044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Audit 发布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3962400"/>
            <a:ext cx="11125200" cy="1752600"/>
            <a:chOff x="533400" y="3962400"/>
            <a:chExt cx="11125200" cy="1752600"/>
          </a:xfrm>
        </p:grpSpPr>
        <p:sp>
          <p:nvSpPr>
            <p:cNvPr id="22" name="Rectangle 22"/>
            <p:cNvSpPr/>
            <p:nvPr/>
          </p:nvSpPr>
          <p:spPr>
            <a:xfrm>
              <a:off x="533400" y="3962400"/>
              <a:ext cx="5124450" cy="1752600"/>
            </a:xfrm>
            <a:prstGeom prst="rect">
              <a:avLst/>
            </a:prstGeom>
            <a:solidFill>
              <a:srgbClr val="FFF3E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1906" y="4168140"/>
              <a:ext cx="4623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原始失败：warning 不足以阻断形式完成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460057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标题枚举、画像重复仍被标记通过；有效装备族不足。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430" y="5000625"/>
              <a:ext cx="2892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结果只能视为“形式上的 5 项”。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34150" y="3962400"/>
              <a:ext cx="5124450" cy="17526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2656" y="416814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修复后：交付条件升级为硬门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4180" y="4600575"/>
              <a:ext cx="4851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5—7 项具体装备、名称去重、机制互异性、来源绑定。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4180" y="5000625"/>
              <a:ext cx="4395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L1-L3 全通过、绑定率 1.0、Audit=approved。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527304" y="6404610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真实修复：从候选账本补入高功率微波方向，并按结构化字段重建画像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40068"/>
            <a:ext cx="10272884" cy="936117"/>
            <a:chOff x="517398" y="540068"/>
            <a:chExt cx="1027288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400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前端成果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60108"/>
              <a:ext cx="10272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从任务创建到能力画像，前端已承载关键过程与结果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714500"/>
            <a:ext cx="3333750" cy="2347151"/>
            <a:chOff x="533400" y="1714500"/>
            <a:chExt cx="3333750" cy="2347151"/>
          </a:xfrm>
        </p:grpSpPr>
        <p:sp>
          <p:nvSpPr>
            <p:cNvPr id="5" name="Rectangle 5"/>
            <p:cNvSpPr/>
            <p:nvPr/>
          </p:nvSpPr>
          <p:spPr>
            <a:xfrm>
              <a:off x="533400" y="1714500"/>
              <a:ext cx="333375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0150" y="1809750"/>
              <a:ext cx="2040250" cy="192405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621792" y="3797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实时交互与事件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33850" y="1714500"/>
            <a:ext cx="3333750" cy="2347151"/>
            <a:chOff x="4133850" y="1714500"/>
            <a:chExt cx="3333750" cy="2347151"/>
          </a:xfrm>
        </p:grpSpPr>
        <p:sp>
          <p:nvSpPr>
            <p:cNvPr id="9" name="Rectangle 9"/>
            <p:cNvSpPr/>
            <p:nvPr/>
          </p:nvSpPr>
          <p:spPr>
            <a:xfrm>
              <a:off x="4133850" y="1714500"/>
              <a:ext cx="333375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0600" y="1809750"/>
              <a:ext cx="2040250" cy="19240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4222242" y="3797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能力画像与卡片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734300" y="1714500"/>
            <a:ext cx="3924300" cy="2347151"/>
            <a:chOff x="7734300" y="1714500"/>
            <a:chExt cx="3924300" cy="2347151"/>
          </a:xfrm>
        </p:grpSpPr>
        <p:sp>
          <p:nvSpPr>
            <p:cNvPr id="13" name="Rectangle 13"/>
            <p:cNvSpPr/>
            <p:nvPr/>
          </p:nvSpPr>
          <p:spPr>
            <a:xfrm>
              <a:off x="7734300" y="1714500"/>
              <a:ext cx="3924300" cy="23241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56464" y="1905000"/>
              <a:ext cx="3079973" cy="173355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7822692" y="37976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制胜机理与门控状态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1208" y="4732020"/>
            <a:ext cx="8097012" cy="1133475"/>
            <a:chOff x="521208" y="4732020"/>
            <a:chExt cx="8097012" cy="1133475"/>
          </a:xfrm>
        </p:grpSpPr>
        <p:sp>
          <p:nvSpPr>
            <p:cNvPr id="17" name="TextBox 17"/>
            <p:cNvSpPr txBox="1"/>
            <p:nvPr/>
          </p:nvSpPr>
          <p:spPr>
            <a:xfrm>
              <a:off x="521208" y="4732020"/>
              <a:ext cx="7017258" cy="8313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项目方可现场按任务查看：过程、证据、S 节点、能力画像与结果评审。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780" y="55721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以上均为项目仓库中的真实工作台页面；截图保持原始内容和比例，不作为概念界面展示。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527304" y="6404610"/>
              <a:ext cx="5504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演示建议：以一个真实任务为入口，顺序查看任务交互、能力画像与制胜结果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01968"/>
            <a:ext cx="6431280" cy="1227772"/>
            <a:chOff x="518160" y="501968"/>
            <a:chExt cx="6431280" cy="122777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独立专家评审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685800"/>
              <a:ext cx="643128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评审专家智能体不是再写一份报告，而是独立决定候选能否进入交付收敛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809750"/>
            <a:ext cx="3048000" cy="3143250"/>
            <a:chOff x="533400" y="1809750"/>
            <a:chExt cx="3048000" cy="3143250"/>
          </a:xfrm>
        </p:grpSpPr>
        <p:sp>
          <p:nvSpPr>
            <p:cNvPr id="5" name="Rectangle 5"/>
            <p:cNvSpPr/>
            <p:nvPr/>
          </p:nvSpPr>
          <p:spPr>
            <a:xfrm>
              <a:off x="533400" y="1809750"/>
              <a:ext cx="3048000" cy="3143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956" y="2053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只读盲评输入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9432" y="255460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版本化候选账本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0956" y="300609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+ 有效证据 ID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00100" y="35242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2480" y="3838575"/>
              <a:ext cx="2537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不读取其他 Agent 原始会话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41814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只输出结论与淘汰理由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183042" y="1943100"/>
            <a:ext cx="3063916" cy="2971800"/>
            <a:chOff x="4183042" y="1943100"/>
            <a:chExt cx="3063916" cy="2971800"/>
          </a:xfrm>
        </p:grpSpPr>
        <p:sp>
          <p:nvSpPr>
            <p:cNvPr id="13" name="Ellipse 13"/>
            <p:cNvSpPr/>
            <p:nvPr/>
          </p:nvSpPr>
          <p:spPr>
            <a:xfrm>
              <a:off x="4229100" y="1943100"/>
              <a:ext cx="2971800" cy="2971800"/>
            </a:xfrm>
            <a:prstGeom prst="ellipse">
              <a:avLst/>
            </a:prstGeom>
            <a:solidFill>
              <a:schemeClr val="accent5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183042" y="2802255"/>
              <a:ext cx="30639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quality_expert_judge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29500" y="3231832"/>
              <a:ext cx="29710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领域契合 · 能力落点 · 创新性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40562" y="3536632"/>
              <a:ext cx="27488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军事价值 · 因果 · 证据质量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90405" y="3841432"/>
              <a:ext cx="20491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工程可行性 · 稳健性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62931" y="4311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八维独立评审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01000" y="1809750"/>
            <a:ext cx="3657600" cy="3162300"/>
            <a:chOff x="8001000" y="1809750"/>
            <a:chExt cx="3657600" cy="3162300"/>
          </a:xfrm>
        </p:grpSpPr>
        <p:sp>
          <p:nvSpPr>
            <p:cNvPr id="20" name="Rectangle 20"/>
            <p:cNvSpPr/>
            <p:nvPr/>
          </p:nvSpPr>
          <p:spPr>
            <a:xfrm>
              <a:off x="8001000" y="1809750"/>
              <a:ext cx="3657600" cy="9144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39506" y="199644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通过 → 进入发布收敛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41792" y="2349818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综合分 ≥ 0.72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01000" y="2933700"/>
              <a:ext cx="3657600" cy="91440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39506" y="31203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修复 → 返回候选账本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41792" y="3473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关键维度不足时定向修复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01000" y="4057650"/>
              <a:ext cx="36576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39506" y="424434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阻断 → 审计留痕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41792" y="459771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quality_expert_judge_blocked_release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5780" y="5457825"/>
            <a:ext cx="6916102" cy="541020"/>
            <a:chOff x="525780" y="5457825"/>
            <a:chExt cx="6916102" cy="541020"/>
          </a:xfrm>
        </p:grpSpPr>
        <p:sp>
          <p:nvSpPr>
            <p:cNvPr id="30" name="TextBox 30"/>
            <p:cNvSpPr txBox="1"/>
            <p:nvPr/>
          </p:nvSpPr>
          <p:spPr>
            <a:xfrm>
              <a:off x="525780" y="5457825"/>
              <a:ext cx="6916102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关键维度门槛：领域契合、装备能力落点、军事价值、可信度均不低于 0.60；专家评审是动态模式的强制发布条件。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527304" y="6404610"/>
              <a:ext cx="6091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真实项目实现：动态模式启用并要求 expert judge；结果进入 Audit 策略与发布决策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01968"/>
            <a:ext cx="5631180" cy="1227772"/>
            <a:chOff x="518160" y="501968"/>
            <a:chExt cx="5631180" cy="122777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可配置交付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685800"/>
              <a:ext cx="563118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研究策略和报告表达均可配置，避免用同一种成本处理所有任务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5018" y="1707832"/>
            <a:ext cx="11133582" cy="1454468"/>
            <a:chOff x="525018" y="1707832"/>
            <a:chExt cx="11133582" cy="1454468"/>
          </a:xfrm>
        </p:grpSpPr>
        <p:sp>
          <p:nvSpPr>
            <p:cNvPr id="5" name="TextBox 5"/>
            <p:cNvSpPr txBox="1"/>
            <p:nvPr/>
          </p:nvSpPr>
          <p:spPr>
            <a:xfrm>
              <a:off x="525018" y="1707832"/>
              <a:ext cx="41665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 Profile：选择研究强度与收敛机制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5330" y="22383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legacy_v1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60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传统固定编排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854" y="28613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兼容回滚与对照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1945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21380" y="2238375"/>
              <a:ext cx="1351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optimized_v2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2214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协同优化编排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290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普通研究任务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905500" y="2095500"/>
              <a:ext cx="2457450" cy="106680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07430" y="2238375"/>
              <a:ext cx="1859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swarm_quality_v1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081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质量残差蜂群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895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质量残差探索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91550" y="2095500"/>
              <a:ext cx="30670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93480" y="2238375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winning_swarm_dynamic_v2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94242" y="2578418"/>
              <a:ext cx="2013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Mission Graph 动态蜂群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95004" y="2861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复杂任务动态孵化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28750" y="3400425"/>
            <a:ext cx="9239250" cy="390525"/>
            <a:chOff x="1428750" y="3400425"/>
            <a:chExt cx="9239250" cy="390525"/>
          </a:xfrm>
        </p:grpSpPr>
        <p:sp>
          <p:nvSpPr>
            <p:cNvPr id="23" name="Line 23"/>
            <p:cNvSpPr/>
            <p:nvPr/>
          </p:nvSpPr>
          <p:spPr>
            <a:xfrm>
              <a:off x="1428750" y="3657600"/>
              <a:ext cx="9239250" cy="9525"/>
            </a:xfrm>
            <a:custGeom>
              <a:avLst/>
              <a:gdLst/>
              <a:ahLst/>
              <a:cxnLst/>
              <a:rect l="l" t="t" r="r" b="b"/>
              <a:pathLst>
                <a:path w="9239250" h="9525">
                  <a:moveTo>
                    <a:pt x="0" y="0"/>
                  </a:moveTo>
                  <a:lnTo>
                    <a:pt x="92392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10458450" y="352425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20955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18752" y="3400425"/>
              <a:ext cx="3259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任务配置 → 运行快照 → 可审计报告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5018" y="4222432"/>
            <a:ext cx="11133582" cy="1473518"/>
            <a:chOff x="525018" y="4222432"/>
            <a:chExt cx="11133582" cy="1473518"/>
          </a:xfrm>
        </p:grpSpPr>
        <p:sp>
          <p:nvSpPr>
            <p:cNvPr id="27" name="TextBox 27"/>
            <p:cNvSpPr txBox="1"/>
            <p:nvPr/>
          </p:nvSpPr>
          <p:spPr>
            <a:xfrm>
              <a:off x="525018" y="4222432"/>
              <a:ext cx="56142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报告模板：选择交付表达，而不是改变事实与审计边界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29150"/>
              <a:ext cx="52387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2668" y="4812982"/>
              <a:ext cx="45414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project_argument_v1　项目论证五章模板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5153025"/>
              <a:ext cx="4982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需求分析 · 项目画像 · 总体方案 · 关键技术 · 研制基础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19850" y="4629150"/>
              <a:ext cx="52387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118" y="4812982"/>
              <a:ext cx="42148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three_layer_nine_item　三层九项模板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9880" y="5153025"/>
              <a:ext cx="3942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需求挖掘 · 技术攻关 · 能力图像 · 效能贡献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527304" y="6404610"/>
              <a:ext cx="5226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配置通过 CLI / API 传入，并随任务与运行快照保留，支撑复现与审计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524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937260" y="692468"/>
            <a:ext cx="5231130" cy="1227772"/>
            <a:chOff x="937260" y="692468"/>
            <a:chExt cx="5231130" cy="1227772"/>
          </a:xfrm>
        </p:grpSpPr>
        <p:sp>
          <p:nvSpPr>
            <p:cNvPr id="3" name="TextBox 3"/>
            <p:cNvSpPr txBox="1"/>
            <p:nvPr/>
          </p:nvSpPr>
          <p:spPr>
            <a:xfrm>
              <a:off x="945642" y="6924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09 / 下一阶段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37260" y="876300"/>
              <a:ext cx="523113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在不牺牲质量硬门的前提下，提升证据可信度与运行效率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1832" y="2249805"/>
            <a:ext cx="4011168" cy="1984629"/>
            <a:chOff x="941832" y="2249805"/>
            <a:chExt cx="4011168" cy="1984629"/>
          </a:xfrm>
        </p:grpSpPr>
        <p:sp>
          <p:nvSpPr>
            <p:cNvPr id="6" name="TextBox 6"/>
            <p:cNvSpPr txBox="1"/>
            <p:nvPr/>
          </p:nvSpPr>
          <p:spPr>
            <a:xfrm>
              <a:off x="941832" y="2249805"/>
              <a:ext cx="2797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A　证据可信度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3006090"/>
              <a:ext cx="2223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Claim—来源直接对应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3356" y="34442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正文可核查呈现与时效校验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356" y="38823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冲突证据处理与专家复核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71082" y="2249805"/>
            <a:ext cx="4011168" cy="1984629"/>
            <a:chOff x="6371082" y="2249805"/>
            <a:chExt cx="4011168" cy="1984629"/>
          </a:xfrm>
        </p:grpSpPr>
        <p:sp>
          <p:nvSpPr>
            <p:cNvPr id="12" name="TextBox 12"/>
            <p:cNvSpPr txBox="1"/>
            <p:nvPr/>
          </p:nvSpPr>
          <p:spPr>
            <a:xfrm>
              <a:off x="6371082" y="2249805"/>
              <a:ext cx="2483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B　运行效率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38175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2606" y="30060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减少同族重复候选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2606" y="3444240"/>
              <a:ext cx="320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提前按装备族 / 验收变量去重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2606" y="3882390"/>
              <a:ext cx="2309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优化动态 Agent 编排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5048250"/>
            <a:ext cx="7239000" cy="1045845"/>
            <a:chOff x="2286000" y="5048250"/>
            <a:chExt cx="7239000" cy="1045845"/>
          </a:xfrm>
        </p:grpSpPr>
        <p:sp>
          <p:nvSpPr>
            <p:cNvPr id="18" name="Line 18"/>
            <p:cNvSpPr/>
            <p:nvPr/>
          </p:nvSpPr>
          <p:spPr>
            <a:xfrm>
              <a:off x="228600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0" y="0"/>
                  </a:moveTo>
                  <a:lnTo>
                    <a:pt x="314325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38175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3143250" y="0"/>
                  </a:moveTo>
                  <a:lnTo>
                    <a:pt x="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172200" y="5524500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209550" y="152400"/>
                  </a:moveTo>
                  <a:lnTo>
                    <a:pt x="0" y="0"/>
                  </a:lnTo>
                  <a:lnTo>
                    <a:pt x="38100" y="2857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27475" y="5227320"/>
              <a:ext cx="37560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质量不降级，效率可优化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69895" y="58007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下一轮验收重点：来源绑定、交付硬门、运行时长与前端闭环演示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6404" y="6404610"/>
            <a:ext cx="10619125" cy="234696"/>
            <a:chOff x="946404" y="6404610"/>
            <a:chExt cx="10619125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946404" y="6404610"/>
              <a:ext cx="4401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保留双策略：Quality 用于快速探索，Dynamic 用于正式收敛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2026-08-05T18:00:51Z</dcterms:created>
  <dcterms:modified xsi:type="dcterms:W3CDTF">2026-08-05T18:00:51Z</dcterms:modified>
  <cp:category/>
  <cp:contentStatus/>
</cp:coreProperties>
</file>