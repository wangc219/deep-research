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本次汇报的核心结论是，项目已经不是把多个 Agent 拼在一起的功能原型，而是形成了从问题定义到审计交付的研究操作系统。AI Query 负责把研究入口标准化，质量集群和动态蜂群在同一条制胜机理链上提供不同的执行强度，专家评审和报告模板保证结果可以治理、追溯和交付。后面我们会先看入口如何建立，再说明两种策略为什么能服务不同复杂度的任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这一页先澄清一个关键认识：需求 Query 不是让模型一次性吐几个标题，而是一个独立、异步运行的选题发现服务。左侧的“围绕母题发散”，由用户给出课题边界，例如复杂电磁环境下的精确打击需求，再补充需求牵引、技术驱动等约束，系统从需求、技术、体系、颠覆和规模建设等不同角度，拆出互不重复的研究入口。右侧的“自动态势发散”则不要求用户先有题目：系统守住无人、低空、远程火力和精确打击等领域边界，Agent 从公开态势与技术信号中自己挑出值得研究的矛盾和机会。最大的区别不是模型能力，而是问题边界由谁定义：前者是用户，后者是系统。两种模式进入的是同一条受治理链路：联网校验、20 个覆盖槽位的结构化生成、质量去重与来源校验、草稿审核发布，再进入 Deep Research。联网来源只帮助形成选题线索，不能替代正式报告中的证据。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这不是一个会卡住页面的生成按钮。前端调用接口后只创建任务，独立 Query Worker 会异步领取并执行；页面会明确显示排队、联网校验、Query 生成、保存中和完成或失败，用户离开也不影响任务，失败可以重试。运行时先做轻量联网校验，读取 3 到 5 个公开检索线索，最多保留 8 个实际访问的 HTTPS 来源；之后按 20 个覆盖槽位生成 4 到 20 条 Query，并做单条质量、去重和来源校验，整批通过才原子写入草稿库。每条草稿不只是短标题，还带有覆盖视角、研究边界、形成理由和来源线索；人工审核发布后才带入 Deep Research。右侧是项目真实工作台，现场可以直接演示这一闭环。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不急着讲技术名词，先讲它们在解决什么问题。无论选质量集群还是动态蜂群，大家都在走同一条研究路：先看清问题，再想出方向，拿证据核验，最后形成可交付结论。差别只在带队方式：质量集群像固定、成熟的专家组快速会诊；动态蜂群像遇到新疑点才临时请来的专项顾问。两种方式共同的目标，是不让没有依据、经不起推敲的方案走到最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集群就像一次有章法的专家会诊。先提出几个可能方向，再让检索、红队、可行性和验证等固定专家分工补证据、挑毛病；每一轮都检查有没有新增价值，没有就不再加人。这样，系统不会因为人越来越多而意见越来越乱，出了问题也能从检查点恢复。它的价值是用可控的时间和预算，把复杂问题先收敛成几条值得继续研究的稳定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动态蜂群适合研究做到一半发现真正难点的时候。比如证据不够、因果说不通、装备不具体、对手会怎样反应还没想清，或者没有验证办法，系统才临时请最合适的专项顾问加入。每位顾问只负责补一个明确短板，完成就离场；每条新意见都要写进同一本候选账，不能悄悄把旧结论改掉。它花的时间更多，但换来的是把复杂课题的漏项逐一补齐，让结论能经得住追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这里提到 Kimi K3，借鉴的是一种很朴素的组织思路，而不是直接复刻外部产品：问题出现才请对的人，而不是先把所有人都拉进来。新来的角色只办一件清楚的事，所有意见放到同一本账上比较，不把多个相近方案硬拼成一个看似全面的答案。谁可以加入由统一调度来决定，任务结束就回收。项目把这种思路做成了自己的 winning_swarm_dynamic_v2，确保动态增援带来的是质量提升，而不是复杂度膨胀。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怎么选很简单：如果现在最需要的是快速把方向摸清，就选质量集群；如果要拿出能对外承担的正式结论，就选动态蜂群。同一 Query 的真实运行中，质量集群大约十分钟完成快速初筛；动态蜂群大约三十一分钟，最终达到了百分之百来源绑定、L1 到 L3 通过和 approved。多出来的时间不是空耗，而是用在补漏、独立复核和定向修复上。也就是说，前者帮我们快，后者帮我们稳。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质量提升的最后一道保险，是不让看起来很完整的方案直接变成正式结论。独立专家不参加原始讨论，只看候选和有效证据，先问三件事：说得通吗，落得下吗，站得住吗。达标的进入正式收敛，缺关键一块的只做定向补齐，经不起复核的就阻断发布并留下原因。我们已经把“标题看起来很多、内容却重复”和“装备不够具体”从提醒升级为硬门，所以质量不是最后一句承诺，而是每一步都能拦住不合格方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两张是真实工作台页面，分别回答两个项目方最关心的问题：研究是怎样推进的，以及研究得到了什么。左侧可以看到任务执行过程中的实时交互与事件，右侧是形成后的能力画像与结构化卡片。现场建议从同一任务入口依次下钻过程、证据组织和能力结果，让项目方看到的不是一个黑盒报告，而是可跟随、可检查的研究过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过程可见之后，再来看结论如何被带到前端。这里展示的是项目真实的制胜结果视图：制胜机理、结果总览与任务门控状态集中在一个页面，便于项目方先理解形成的装备方向，再根据需要回看对应的 S 节点和过程信息。它的价值不是把复杂研究压缩成一张漂亮卡片，而是给评审和沟通提供一个从结论回到机制、从机制回到过程的可视化入口。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接下来把镜头从结果拉回到研究的中段。左图是同一真实任务的 S1–S6 Agent 页面：研究路线、输入包、证据索引、共享受控资源以及六个专用 Agent 的结果节点都可查看。右图是同一任务的证据中心，每条证据不仅有来源，还保留它支撑的主张、创建它的 Agent、证据标识、质量评估和来源位置。因此项目方可以从机制推演一路下钻到具体证据，而不是只接受一条汇总结论。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研究进入交付阶段后，报告也不再脱离任务单独存在。这个真实报告评审页面左侧保留已完成任务和状态，右侧直接呈现当前任务的研究报告；需要时还可以回到交互过程、证据中心、S1–S6 Agent 和能力画像。这样汇报和评审面对的是一份可阅读的报告，同时保留返回研究过程与证据的入口，形成真正不断线的交付闭环。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除了两条蜂群策略，系统还将运行模式和报告表达做成可配置能力。任务可以通过 CLI 或 API 选择兼容回滚、普通协同、质量集群或动态蜂群，配置会随任务和运行快照保存，支持复现和审计。交付端可以按项目方需要选择项目论证五章模板或三层九项模板；模板改变的是阅读与决策视角，不改变事实、证据和审计边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坚持一个原则：质量硬门不降级，运行效率可持续优化。证据侧将增强主张与来源的直接对应、正文可核查呈现、时效校验、冲突证据处理和专家复核；效率侧将提前按装备族和验收变量去重，减少同族重复候选，并优化动态 Agent 编排。我们会保留质量集群用于快速探索、动态蜂群用于正式收敛的双策略，并以来源绑定、交付硬门、运行时长和前端闭环演示作为下一轮验收的共同指标。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ject_progress_ai_query_swa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ject_progress_ai_query_swa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b120ee2b17381e4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e564f9bf13a167.jpg"/>
  <Relationship Id="rId3" Type="http://schemas.openxmlformats.org/officeDocument/2006/relationships/image" Target="../media/image_2436b6e00a825a5f.jp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f888bf9d6a897a2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cf5a488cc77986f.jpg"/>
  <Relationship Id="rId3" Type="http://schemas.openxmlformats.org/officeDocument/2006/relationships/image" Target="../media/image_ab04330ee11746f9.jp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6928cb8b90e6d5a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9010650" y="0"/>
            <a:ext cx="3181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553450" y="0"/>
            <a:ext cx="457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654368"/>
            <a:ext cx="2685250" cy="264033"/>
            <a:chOff x="602742" y="654368"/>
            <a:chExt cx="2685250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02742" y="6543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项目方阶段进展汇报 / 2026.08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0550" y="1336358"/>
            <a:ext cx="4678680" cy="1937385"/>
            <a:chOff x="590550" y="1336358"/>
            <a:chExt cx="4678680" cy="1937385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13363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项目已进入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816418"/>
              <a:ext cx="467868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可演示、可评测、可审计阶段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8170" y="3319462"/>
            <a:ext cx="7813875" cy="743522"/>
            <a:chOff x="598170" y="3319462"/>
            <a:chExt cx="7813875" cy="743522"/>
          </a:xfrm>
        </p:grpSpPr>
        <p:sp>
          <p:nvSpPr>
            <p:cNvPr id="9" name="TextBox 9"/>
            <p:cNvSpPr txBox="1"/>
            <p:nvPr/>
          </p:nvSpPr>
          <p:spPr>
            <a:xfrm>
              <a:off x="598170" y="3319462"/>
              <a:ext cx="57778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从任务入口到审计交付，关键能力已贯通。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710940"/>
              <a:ext cx="781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Query 自动生成、质量集群与动态蜂群已接入同一研究与交付链路。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9039" y="4876800"/>
            <a:ext cx="8417166" cy="880301"/>
            <a:chOff x="239039" y="4876800"/>
            <a:chExt cx="8417166" cy="880301"/>
          </a:xfrm>
        </p:grpSpPr>
        <p:sp>
          <p:nvSpPr>
            <p:cNvPr id="12" name="Line 12"/>
            <p:cNvSpPr/>
            <p:nvPr/>
          </p:nvSpPr>
          <p:spPr>
            <a:xfrm>
              <a:off x="14097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100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210300" y="51435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004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600700" y="4876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001000" y="4876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08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11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473" y="50577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54067" y="5057775"/>
              <a:ext cx="2272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9039" y="5493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Query 自动生成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877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质量集群探索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8070" y="54930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动态蜂群收敛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9194" y="5493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审计交付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41358" y="1836420"/>
            <a:ext cx="1993392" cy="2602992"/>
            <a:chOff x="9341358" y="1836420"/>
            <a:chExt cx="1993392" cy="2602992"/>
          </a:xfrm>
        </p:grpSpPr>
        <p:sp>
          <p:nvSpPr>
            <p:cNvPr id="28" name="TextBox 28"/>
            <p:cNvSpPr txBox="1"/>
            <p:nvPr/>
          </p:nvSpPr>
          <p:spPr>
            <a:xfrm>
              <a:off x="9341358" y="18364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可演示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53550" y="23050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41358" y="29032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可评测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353550" y="3371850"/>
              <a:ext cx="1981200" cy="9525"/>
            </a:xfrm>
            <a:custGeom>
              <a:avLst/>
              <a:gdLst/>
              <a:ahLst/>
              <a:cxnLst/>
              <a:rect l="l" t="t" r="r" b="b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1358" y="39700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504" y="6404610"/>
            <a:ext cx="10676275" cy="234696"/>
            <a:chOff x="603504" y="6404610"/>
            <a:chExt cx="10676275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4046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材料口径：项目仓库真实实现与 2026-08-05 真实对比记录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8100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922" y="482918"/>
            <a:ext cx="5482638" cy="1214627"/>
            <a:chOff x="518922" y="482918"/>
            <a:chExt cx="5482638" cy="121462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82918"/>
              <a:ext cx="2937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需求 QUERY：选题发现服务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5482638" cy="9574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“需求 Query”不是标题生成器，而是异步运行的选题发现服务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809750"/>
            <a:ext cx="5219700" cy="2381250"/>
            <a:chOff x="533400" y="1809750"/>
            <a:chExt cx="5219700" cy="2381250"/>
          </a:xfrm>
        </p:grpSpPr>
        <p:sp>
          <p:nvSpPr>
            <p:cNvPr id="5" name="Rectangle 5"/>
            <p:cNvSpPr/>
            <p:nvPr/>
          </p:nvSpPr>
          <p:spPr>
            <a:xfrm>
              <a:off x="533400" y="1809750"/>
              <a:ext cx="5219700" cy="2381250"/>
            </a:xfrm>
            <a:prstGeom prst="roundRect">
              <a:avLst>
                <a:gd name="adj" fmla="val 800"/>
              </a:avLst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81050" y="2038350"/>
              <a:ext cx="1352550" cy="304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2365" y="21183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用户定义边界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围绕母题发散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4192" y="28451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已有明确课题时，把一个大问题拆成不同研究入口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81050" y="31813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rgbClr val="B8C9D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41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1392" y="33404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必填母题；可补预期角度、需求牵引、技术驱动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1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1392" y="36833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需求、技术、体系、颠覆、规模建设等互异子题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81700" y="1809750"/>
            <a:ext cx="5676900" cy="2381250"/>
            <a:chOff x="5981700" y="1809750"/>
            <a:chExt cx="56769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5981700" y="1809750"/>
              <a:ext cx="5676900" cy="2381250"/>
            </a:xfrm>
            <a:prstGeom prst="roundRect">
              <a:avLst>
                <a:gd name="adj" fmla="val 8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29350" y="2038350"/>
              <a:ext cx="1619250" cy="304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4394" y="211836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系统定义领域边界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18682" y="24593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自动态势发散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22492" y="28451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前期机会扫描时，从公开态势与技术信号中寻找题目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229350" y="31813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22492" y="33404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9692" y="33404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可选关注领域、区域、技术或时间偏好；无需母题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2492" y="3683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发现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79692" y="368331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能力缺口、技术机会、韧性、成本交换与工业化问题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26542" y="4578668"/>
            <a:ext cx="11411423" cy="1285493"/>
            <a:chOff x="526542" y="4578668"/>
            <a:chExt cx="11411423" cy="128549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4578668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两种前端模式，进入同一条受治理的异步服务链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104900" y="5219700"/>
              <a:ext cx="10039350" cy="9525"/>
            </a:xfrm>
            <a:custGeom>
              <a:avLst/>
              <a:gdLst/>
              <a:ahLst/>
              <a:cxnLst/>
              <a:rect l="l" t="t" r="r" b="b"/>
              <a:pathLst>
                <a:path w="10039350" h="9525">
                  <a:moveTo>
                    <a:pt x="0" y="0"/>
                  </a:moveTo>
                  <a:lnTo>
                    <a:pt x="10039350" y="0"/>
                  </a:lnTo>
                </a:path>
              </a:pathLst>
            </a:custGeom>
            <a:noFill/>
            <a:ln w="28575">
              <a:solidFill>
                <a:srgbClr val="9CB6CE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59562" y="4981575"/>
              <a:ext cx="690677" cy="743331"/>
              <a:chOff x="759562" y="4981575"/>
              <a:chExt cx="690677" cy="743331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8667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455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95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异步提交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40762" y="4981575"/>
              <a:ext cx="690677" cy="743331"/>
              <a:chOff x="2740762" y="4981575"/>
              <a:chExt cx="690677" cy="743331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28479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267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40762" y="54902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联网校验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518416" y="4981575"/>
              <a:ext cx="1097768" cy="882586"/>
              <a:chOff x="4518416" y="4981575"/>
              <a:chExt cx="1097768" cy="882586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48291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0079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8416" y="5452110"/>
                <a:ext cx="1097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 个覆盖槽位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708588" y="5658802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结构化生成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05629" y="4981575"/>
              <a:ext cx="885741" cy="882586"/>
              <a:chOff x="6605629" y="4981575"/>
              <a:chExt cx="885741" cy="882586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103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9891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05629" y="5452110"/>
                <a:ext cx="8857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质量 / 去重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60464" y="5658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来源校验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8429930" y="4981575"/>
              <a:ext cx="1199540" cy="882586"/>
              <a:chOff x="8429930" y="4981575"/>
              <a:chExt cx="1199540" cy="882586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8791575" y="49815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97036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429930" y="5452110"/>
                <a:ext cx="1199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原子写入草稿库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600313" y="56588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06D"/>
                    </a:solidFill>
                    <a:latin typeface="+mn-lt"/>
                    <a:ea typeface="+mn-ea"/>
                    <a:cs typeface="+mn-cs"/>
                  </a:rPr>
                  <a:t>人工审核发布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0350536" y="4981575"/>
              <a:ext cx="1587429" cy="743331"/>
              <a:chOff x="10350536" y="4981575"/>
              <a:chExt cx="1587429" cy="743331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10906125" y="4981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084915" y="5140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350536" y="5490210"/>
                <a:ext cx="158742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进入 Deep Research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27304" y="6385560"/>
            <a:ext cx="11038225" cy="234696"/>
            <a:chOff x="527304" y="6385560"/>
            <a:chExt cx="11038225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527304" y="6385560"/>
              <a:ext cx="6942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边界：联网来源只用于形成选题线索；正式报告证据仍由后续 Deep Research 采集、核验与审计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6754" y="63855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521018"/>
            <a:ext cx="8526971" cy="1169289"/>
            <a:chOff x="520446" y="521018"/>
            <a:chExt cx="8526971" cy="1169289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210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真实前端工作台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446" y="810578"/>
              <a:ext cx="8526971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一次生成任务，经历联网校验、结构化生成与草稿审核，而非页面阻塞等待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828800"/>
            <a:ext cx="4171950" cy="4038600"/>
            <a:chOff x="533400" y="1828800"/>
            <a:chExt cx="4171950" cy="4038600"/>
          </a:xfrm>
        </p:grpSpPr>
        <p:sp>
          <p:nvSpPr>
            <p:cNvPr id="5" name="Rectangle 5"/>
            <p:cNvSpPr/>
            <p:nvPr/>
          </p:nvSpPr>
          <p:spPr>
            <a:xfrm>
              <a:off x="533400" y="1828800"/>
              <a:ext cx="4171950" cy="403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192" y="1987868"/>
              <a:ext cx="3686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页面只创建任务，Query Worker 独立执行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00100" y="23812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04850" y="2438400"/>
              <a:ext cx="1627720" cy="473011"/>
              <a:chOff x="704850" y="2438400"/>
              <a:chExt cx="1627720" cy="473011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704850" y="2438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21842" y="2445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提交生成任务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3366" y="2706052"/>
                <a:ext cx="13092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POST /generations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04850" y="3009900"/>
              <a:ext cx="3099664" cy="473011"/>
              <a:chOff x="704850" y="3009900"/>
              <a:chExt cx="3099664" cy="47301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04850" y="3009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842" y="30165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前端可见状态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3366" y="3277552"/>
                <a:ext cx="27811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排队 / 联网校验 / 生成 / 保存 / 完成或失败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04850" y="3581400"/>
              <a:ext cx="2935376" cy="473011"/>
              <a:chOff x="704850" y="3581400"/>
              <a:chExt cx="2935376" cy="473011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04850" y="3581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842" y="3588068"/>
                <a:ext cx="1158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轻量联网校验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3366" y="3849052"/>
                <a:ext cx="26168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3—5 个公开检索；最多 8 个 HTTPS 来源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04850" y="4152900"/>
              <a:ext cx="3113799" cy="473011"/>
              <a:chOff x="704850" y="4152900"/>
              <a:chExt cx="3113799" cy="47301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04850" y="4152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1842" y="415956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按覆盖槽位生成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3366" y="4420552"/>
                <a:ext cx="27952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20 个槽位，支持 4 / 6 / 8 / 12 / 16 / 20 条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04850" y="4724400"/>
              <a:ext cx="2873502" cy="473011"/>
              <a:chOff x="704850" y="4724400"/>
              <a:chExt cx="2873502" cy="473011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04850" y="47244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21842" y="4731068"/>
                <a:ext cx="17311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整批校验后原子入库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3366" y="4992052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AF0F7"/>
                    </a:solidFill>
                    <a:latin typeface="+mn-lt"/>
                    <a:ea typeface="+mn-ea"/>
                    <a:cs typeface="+mn-cs"/>
                  </a:rPr>
                  <a:t>质量、去重、来源校验全部通过才写草稿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04850" y="5295900"/>
              <a:ext cx="3037076" cy="270701"/>
              <a:chOff x="704850" y="5295900"/>
              <a:chExt cx="3037076" cy="270701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04850" y="529590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21842" y="5302568"/>
                <a:ext cx="272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人工审核发布 → Deep Research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048250" y="1828800"/>
            <a:ext cx="6610350" cy="3752850"/>
            <a:chOff x="5048250" y="1828800"/>
            <a:chExt cx="6610350" cy="3752850"/>
          </a:xfrm>
        </p:grpSpPr>
        <p:sp>
          <p:nvSpPr>
            <p:cNvPr id="32" name="Rectangle 32"/>
            <p:cNvSpPr/>
            <p:nvPr/>
          </p:nvSpPr>
          <p:spPr>
            <a:xfrm>
              <a:off x="5048250" y="1828800"/>
              <a:ext cx="6610350" cy="37528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48250" y="1828800"/>
              <a:ext cx="66103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81600" y="1914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324475" y="19145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467350" y="1914525"/>
              <a:ext cx="76200" cy="76200"/>
            </a:xfrm>
            <a:prstGeom prst="ellipse">
              <a:avLst/>
            </a:prstGeom>
            <a:solidFill>
              <a:srgbClr val="9CB6C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66125" y="1904524"/>
              <a:ext cx="14878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 Query 生成工作台</a:t>
              </a:r>
            </a:p>
          </p:txBody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6527" y="2152650"/>
              <a:ext cx="5753796" cy="3238500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>
            <a:off x="5048250" y="5734050"/>
            <a:ext cx="6610350" cy="495014"/>
            <a:chOff x="5048250" y="5734050"/>
            <a:chExt cx="6610350" cy="495014"/>
          </a:xfrm>
        </p:grpSpPr>
        <p:sp>
          <p:nvSpPr>
            <p:cNvPr id="40" name="Rectangle 40"/>
            <p:cNvSpPr/>
            <p:nvPr/>
          </p:nvSpPr>
          <p:spPr>
            <a:xfrm>
              <a:off x="5048250" y="5734050"/>
              <a:ext cx="6610350" cy="4762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13985" y="5822156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每条草稿不是只有标题：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4747" y="6038374"/>
              <a:ext cx="53727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 + coverage_slot + supplemental_information + rationale + source_references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30198" y="59350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失败可重试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6404610"/>
              <a:ext cx="8899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来源口径：联网来源只服务选题形成；研究边界、失效条件和预期装备输出写入补充信息，正式证据由 Deep Research 核验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762665" cy="936117"/>
            <a:chOff x="517398" y="559118"/>
            <a:chExt cx="1076266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两种带队方式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7626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面对同一个难题，我们准备了两种“带队做研究”的办法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3526" y="2647950"/>
            <a:ext cx="10765080" cy="1300734"/>
            <a:chOff x="783526" y="2647950"/>
            <a:chExt cx="10765080" cy="1300734"/>
          </a:xfrm>
        </p:grpSpPr>
        <p:sp>
          <p:nvSpPr>
            <p:cNvPr id="5" name="Line 5"/>
            <p:cNvSpPr/>
            <p:nvPr/>
          </p:nvSpPr>
          <p:spPr>
            <a:xfrm>
              <a:off x="1428750" y="3067050"/>
              <a:ext cx="9220200" cy="9525"/>
            </a:xfrm>
            <a:custGeom>
              <a:avLst/>
              <a:gdLst/>
              <a:ahLst/>
              <a:cxnLst/>
              <a:rect l="l" t="t" r="r" b="b"/>
              <a:pathLst>
                <a:path w="9220200" h="9525">
                  <a:moveTo>
                    <a:pt x="0" y="0"/>
                  </a:moveTo>
                  <a:lnTo>
                    <a:pt x="922020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09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057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105650" y="2647950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229850" y="2647950"/>
              <a:ext cx="838200" cy="83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9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97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456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9837" y="29489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3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1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再想出方向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9526" y="3596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拿证据核验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9295" y="35966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形成可交付结论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4476750"/>
            <a:ext cx="11125200" cy="1219200"/>
            <a:chOff x="533400" y="4476750"/>
            <a:chExt cx="11125200" cy="1219200"/>
          </a:xfrm>
        </p:grpSpPr>
        <p:sp>
          <p:nvSpPr>
            <p:cNvPr id="19" name="Rectangle 19"/>
            <p:cNvSpPr/>
            <p:nvPr/>
          </p:nvSpPr>
          <p:spPr>
            <a:xfrm>
              <a:off x="533400" y="4476750"/>
              <a:ext cx="5219700" cy="12192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94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像固定、成熟的专家小组：按既定节奏快速会诊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3242" y="539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特点：稳住节奏，把方向先摸清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38900" y="4476750"/>
              <a:ext cx="521970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94932" y="4688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7218" y="50987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像按问题临时增援的专项顾问：缺哪块就补哪块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8742" y="53978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特点：补齐短板，把正式结论守住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27304" y="6404610"/>
              <a:ext cx="7659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两条路共享 S1–S6 主链：对手与场景 → 方案与装备 → 证据与验证 → 能力画像；差别只在团队怎么组织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8937117" cy="936117"/>
            <a:chOff x="517398" y="559118"/>
            <a:chExt cx="8937117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质量集群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先请一支固定专家小组，把方向摸得又快又稳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4902" y="2686050"/>
            <a:ext cx="11010615" cy="1712595"/>
            <a:chOff x="664902" y="2686050"/>
            <a:chExt cx="11010615" cy="1712595"/>
          </a:xfrm>
        </p:grpSpPr>
        <p:sp>
          <p:nvSpPr>
            <p:cNvPr id="5" name="Line 5"/>
            <p:cNvSpPr/>
            <p:nvPr/>
          </p:nvSpPr>
          <p:spPr>
            <a:xfrm>
              <a:off x="1714500" y="31623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619750" y="26860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0" y="2686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02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1795" y="30279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4902" y="37166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先提出几个方向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1090" y="4105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不急着定结论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49565" y="37166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分工补证据、挑毛病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72940" y="41052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检索、红队、可行性、验证各司其职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79484" y="37166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只留下少数好方向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9265" y="4105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形成稳定的装备方向初稿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4914900"/>
            <a:ext cx="11125200" cy="933450"/>
            <a:chOff x="533400" y="4914900"/>
            <a:chExt cx="11125200" cy="933450"/>
          </a:xfrm>
        </p:grpSpPr>
        <p:sp>
          <p:nvSpPr>
            <p:cNvPr id="19" name="Rectangle 19"/>
            <p:cNvSpPr/>
            <p:nvPr/>
          </p:nvSpPr>
          <p:spPr>
            <a:xfrm>
              <a:off x="533400" y="4914900"/>
              <a:ext cx="11125200" cy="9334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94" y="50663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1718" y="5441632"/>
              <a:ext cx="10700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每一轮都做质量检查；没有新增价值就不再加人；失败可以从检查点恢复，所以不会让“人越多、意见越乱”。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04610"/>
              <a:ext cx="8194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工程边界：最多 12 个实例、3 波、6 并发；通常保留 2–4 条非支配候选。适合快速探索、批量初筛、低预算任务。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827628" cy="936117"/>
            <a:chOff x="517398" y="559118"/>
            <a:chExt cx="98276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动态蜂群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8276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方案哪里卡住，就临时请哪一类专家来补关键一块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962150"/>
            <a:ext cx="11125200" cy="2419350"/>
            <a:chOff x="533400" y="1962150"/>
            <a:chExt cx="11125200" cy="2419350"/>
          </a:xfrm>
        </p:grpSpPr>
        <p:sp>
          <p:nvSpPr>
            <p:cNvPr id="5" name="Rectangle 5"/>
            <p:cNvSpPr/>
            <p:nvPr/>
          </p:nvSpPr>
          <p:spPr>
            <a:xfrm>
              <a:off x="5334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研究先往前走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2480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基础团队先完成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2480" y="3019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对手、方案、装备、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证据与验证的基本工作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962150"/>
              <a:ext cx="2438400" cy="2419350"/>
            </a:xfrm>
            <a:prstGeom prst="rect">
              <a:avLst/>
            </a:prstGeom>
            <a:solidFill>
              <a:srgbClr val="FFF3E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857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发现关键缺口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80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证据不够？因果不通？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80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装备不具体？对手反应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8080" y="33242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或验证办法还没想清？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1962150"/>
              <a:ext cx="2438400" cy="2419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13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临时精准增援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3680" y="27146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只请最需要的专项顾问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83680" y="3019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任务和边界说清楚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3680" y="33242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做完就离场，不拖泥带水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220200" y="1962150"/>
              <a:ext cx="2438400" cy="24193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76994" y="22278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意见统一记账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9280" y="2714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新意见不能悄悄覆盖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9280" y="3019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要么合并、要么补充、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79280" y="3324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要么按最新结论重做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4953000"/>
            <a:ext cx="11125200" cy="895350"/>
            <a:chOff x="533400" y="4953000"/>
            <a:chExt cx="11125200" cy="8953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0194" y="51044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质量提升从哪里来？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718" y="5479732"/>
              <a:ext cx="9345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不靠一开始多叫人，而是把复杂课题中真正的漏项逐项补上，并把每次修改留下可追溯的来路。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527304" y="6404610"/>
              <a:ext cx="8081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工程边界：配置 8–16 个实例、最多 6 并发 / 3 波；版本账本、角色合同与专家修复是项目实现的质量控制手段。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026168" cy="936117"/>
            <a:chOff x="517398" y="559118"/>
            <a:chExt cx="902616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动态孵化的思想来源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0261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不是“人海战术”，而是“问题出现才请对的人”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57400"/>
            <a:ext cx="11125200" cy="1885950"/>
            <a:chOff x="533400" y="2057400"/>
            <a:chExt cx="11125200" cy="1885950"/>
          </a:xfrm>
        </p:grpSpPr>
        <p:sp>
          <p:nvSpPr>
            <p:cNvPr id="5" name="Rectangle 5"/>
            <p:cNvSpPr/>
            <p:nvPr/>
          </p:nvSpPr>
          <p:spPr>
            <a:xfrm>
              <a:off x="5334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3040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缺什么，补什么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发现关键短板才加人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984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不为“看起来很热闹”堆角色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57400"/>
              <a:ext cx="3352800" cy="1885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3040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每个人，只办一件事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74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任务、边界、交付目标明确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984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做完回收，不带来额外噪声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57400"/>
              <a:ext cx="3352800" cy="18859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3040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所有意见，放在一本账里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74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相近方案不平均拼凑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984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让更有价值的候选胜出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648200"/>
            <a:ext cx="11125200" cy="1066800"/>
            <a:chOff x="533400" y="4648200"/>
            <a:chExt cx="111252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533400" y="4648200"/>
              <a:ext cx="111252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575" y="4864894"/>
              <a:ext cx="214496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项目的工程化做法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251132"/>
              <a:ext cx="9568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统一调度决定谁加入；角色合同、隔离会话、版本账本和专家评审共同约束过程，避免越做越乱。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988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Kimi K3 提供的是方法启发；项目的实际落地是自身的 winning_swarm_dynamic_v2，而非直接复用外部组件。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10272884" cy="936117"/>
            <a:chOff x="517398" y="559118"/>
            <a:chExt cx="1027288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怎么选策略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102728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先要方向，选质量集群；要拿正式结论，选动态蜂群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000250"/>
            <a:ext cx="5067300" cy="3143250"/>
            <a:chOff x="533400" y="2000250"/>
            <a:chExt cx="50673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5067300" cy="314325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886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质量集群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337" y="2690336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适合：先把方向摸清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001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1718" y="33651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像一次快速专家会诊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17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用更短时间拿到可比较的方向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1718" y="40890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适合探索、初筛、预算受限任务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10 分钟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91300" y="2000250"/>
            <a:ext cx="5067300" cy="3143250"/>
            <a:chOff x="6591300" y="2000250"/>
            <a:chExt cx="5067300" cy="3143250"/>
          </a:xfrm>
        </p:grpSpPr>
        <p:sp>
          <p:nvSpPr>
            <p:cNvPr id="14" name="Rectangle 14"/>
            <p:cNvSpPr/>
            <p:nvPr/>
          </p:nvSpPr>
          <p:spPr>
            <a:xfrm>
              <a:off x="6591300" y="2000250"/>
              <a:ext cx="506730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46570" y="223361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动态蜂群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49237" y="2690336"/>
              <a:ext cx="233299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适合：把正式结论守住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31051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9618" y="33651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像遇到疑点就精准增援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618" y="37271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把漏项补齐，把相近方案拉开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618" y="40890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适合复杂课题和正式装备需求论证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8856" y="4625340"/>
              <a:ext cx="24862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真实运行：约 31 分钟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5562600"/>
            <a:ext cx="11450742" cy="514350"/>
            <a:chOff x="533400" y="5562600"/>
            <a:chExt cx="11450742" cy="514350"/>
          </a:xfrm>
        </p:grpSpPr>
        <p:sp>
          <p:nvSpPr>
            <p:cNvPr id="23" name="Rectangle 23"/>
            <p:cNvSpPr/>
            <p:nvPr/>
          </p:nvSpPr>
          <p:spPr>
            <a:xfrm>
              <a:off x="533400" y="5562600"/>
              <a:ext cx="11125200" cy="51435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5724525"/>
              <a:ext cx="112297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同一 Query 实测：动态模式最终达到 100% 来源绑定、L1–L3 通过和 approved；多花的时间用于补漏、复核和修复。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27304" y="6404610"/>
              <a:ext cx="10117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 Query 真实记录：Quality 576.738 秒 / 16 次调用；Dynamic 1,884.843 秒 / 34 次调用；数字用于策略选择，不外推为一般性能承诺。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398" y="559118"/>
            <a:ext cx="9426898" cy="936117"/>
            <a:chOff x="517398" y="559118"/>
            <a:chExt cx="942689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591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质量提升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7398" y="879158"/>
              <a:ext cx="94268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不让“看起来像答案”的方案，直接变成正式结论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2000250"/>
            <a:ext cx="11125200" cy="2209800"/>
            <a:chOff x="533400" y="2000250"/>
            <a:chExt cx="1112520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01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先问：说得通吗？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718" y="27365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是否符合任务和场景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1718" y="30794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因果链和军事价值是否成立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419600" y="2000250"/>
              <a:ext cx="3352800" cy="2209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676394" y="22469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再问：落得下吗？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77918" y="2736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装备是不是具体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79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工程上是否可行、可验证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05800" y="2000250"/>
              <a:ext cx="3352800" cy="2209800"/>
            </a:xfrm>
            <a:prstGeom prst="rect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2594" y="224694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最后问：站得住吗？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64118" y="27365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证据是否可信、方案是否重复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30794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能否面对反例和后续复核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4857750"/>
            <a:ext cx="11125200" cy="933450"/>
            <a:chOff x="533400" y="4857750"/>
            <a:chExt cx="11125200" cy="933450"/>
          </a:xfrm>
        </p:grpSpPr>
        <p:sp>
          <p:nvSpPr>
            <p:cNvPr id="18" name="Rectangle 18"/>
            <p:cNvSpPr/>
            <p:nvPr/>
          </p:nvSpPr>
          <p:spPr>
            <a:xfrm>
              <a:off x="533400" y="4857750"/>
              <a:ext cx="11125200" cy="933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0194" y="50282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独立专家评审的三种结果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718" y="5422582"/>
              <a:ext cx="855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→ 进入正式收敛　　缺关键一块 → 定向补齐　　经不起复核 → 阻断发布并留下原因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7693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工程事实：quality_expert_judge 只读候选账本和有效证据；综合分 ≥ 0.72、关键维度 ≥ 0.60 才能放行。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160" y="501968"/>
            <a:ext cx="11055858" cy="1045083"/>
            <a:chOff x="518160" y="501968"/>
            <a:chExt cx="11055858" cy="104508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前端成果：过程与能力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81050"/>
              <a:ext cx="110558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前端不只展示结果，也让研究过程和能力画像可被直接看见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1283018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同一任务入口：左边回答“研究怎么推进”，右边回答“研究得到了什么”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771650"/>
            <a:ext cx="4362450" cy="4419600"/>
            <a:chOff x="533400" y="1771650"/>
            <a:chExt cx="4362450" cy="4419600"/>
          </a:xfrm>
        </p:grpSpPr>
        <p:sp>
          <p:nvSpPr>
            <p:cNvPr id="6" name="Rectangle 6"/>
            <p:cNvSpPr/>
            <p:nvPr/>
          </p:nvSpPr>
          <p:spPr>
            <a:xfrm>
              <a:off x="533400" y="1771650"/>
              <a:ext cx="4362450" cy="441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771650"/>
              <a:ext cx="43624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8754" y="1842135"/>
              <a:ext cx="257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实时交互与事件｜过程可感知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2076450"/>
              <a:ext cx="4362450" cy="41148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6858000" y="1771650"/>
            <a:ext cx="4362450" cy="4419600"/>
            <a:chOff x="6858000" y="1771650"/>
            <a:chExt cx="4362450" cy="4419600"/>
          </a:xfrm>
        </p:grpSpPr>
        <p:sp>
          <p:nvSpPr>
            <p:cNvPr id="11" name="Rectangle 11"/>
            <p:cNvSpPr/>
            <p:nvPr/>
          </p:nvSpPr>
          <p:spPr>
            <a:xfrm>
              <a:off x="6858000" y="1771650"/>
              <a:ext cx="4362450" cy="4419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0" y="1771650"/>
              <a:ext cx="43624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23354" y="1842135"/>
              <a:ext cx="257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能力画像与卡片｜结果可解释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2076450"/>
              <a:ext cx="4362450" cy="41148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527304" y="640461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现场演示建议：进入一个真实任务后，先看实时事件，再查看能力画像与结构化卡片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7231380" cy="1208722"/>
            <a:chOff x="518160" y="501968"/>
            <a:chExt cx="7231380" cy="120872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前端成果：结果与评审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42950"/>
              <a:ext cx="7231380" cy="967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不把结论藏在后台：制胜机理、结果与门控状态都进入工作台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7304" y="1604010"/>
            <a:ext cx="7721346" cy="4549140"/>
            <a:chOff x="527304" y="1604010"/>
            <a:chExt cx="7721346" cy="4549140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160401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真实结果视图｜从结果总览回看研究过程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1809750"/>
              <a:ext cx="7715250" cy="4343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809750"/>
              <a:ext cx="7715250" cy="434340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8648700" y="1809750"/>
            <a:ext cx="3009900" cy="4343400"/>
            <a:chOff x="8648700" y="1809750"/>
            <a:chExt cx="3009900" cy="4343400"/>
          </a:xfrm>
        </p:grpSpPr>
        <p:sp>
          <p:nvSpPr>
            <p:cNvPr id="9" name="Rectangle 9"/>
            <p:cNvSpPr/>
            <p:nvPr/>
          </p:nvSpPr>
          <p:spPr>
            <a:xfrm>
              <a:off x="8648700" y="1809750"/>
              <a:ext cx="3009900" cy="43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86444" y="19802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现场看三件事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240030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8730" y="2714625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先看结果总览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9873" y="3005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理解形成的装备方向与结果结构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896350" y="339090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88730" y="3686175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再看制胜机理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9873" y="3977164"/>
              <a:ext cx="22250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回看对应 S 节点与形成逻辑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96350" y="43624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88730" y="4657725"/>
              <a:ext cx="1944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　最后看门控状态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89873" y="49487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支持评审沟通与后续下钻复核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9492" y="55692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让结论有可视化入口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27304" y="640461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前端交付的不是一张静态卡片，而是从结论回到机制、从机制回到过程的审阅入口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160" y="501968"/>
            <a:ext cx="10940644" cy="1045083"/>
            <a:chOff x="518160" y="501968"/>
            <a:chExt cx="10940644" cy="104508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351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前端闭环：推演与证据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42950"/>
              <a:ext cx="1094064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 S1–S6 推演到证据中心，研究过程在前端可逐层下钻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1283018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同一真实任务保持上下文：先看机制如何推演，再核验每项结论由什么证据支撑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7304" y="1623060"/>
            <a:ext cx="5149596" cy="3139440"/>
            <a:chOff x="527304" y="1623060"/>
            <a:chExt cx="5149596" cy="3139440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623060"/>
              <a:ext cx="3817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S1–S6 Agent：输入包、共享资源与结果节点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866900"/>
              <a:ext cx="5143500" cy="2895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866900"/>
              <a:ext cx="5143500" cy="28956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975604" y="1623060"/>
            <a:ext cx="5149596" cy="3139440"/>
            <a:chOff x="5975604" y="1623060"/>
            <a:chExt cx="5149596" cy="3139440"/>
          </a:xfrm>
        </p:grpSpPr>
        <p:sp>
          <p:nvSpPr>
            <p:cNvPr id="10" name="TextBox 10"/>
            <p:cNvSpPr txBox="1"/>
            <p:nvPr/>
          </p:nvSpPr>
          <p:spPr>
            <a:xfrm>
              <a:off x="5975604" y="1623060"/>
              <a:ext cx="3640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证据中心：主张、来源、Agent 与质量记录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81700" y="1866900"/>
              <a:ext cx="5143500" cy="2895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700" y="1866900"/>
              <a:ext cx="5143500" cy="28956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523494" y="5314950"/>
            <a:ext cx="11135106" cy="766001"/>
            <a:chOff x="523494" y="5314950"/>
            <a:chExt cx="11135106" cy="766001"/>
          </a:xfrm>
        </p:grpSpPr>
        <p:sp>
          <p:nvSpPr>
            <p:cNvPr id="14" name="Line 14"/>
            <p:cNvSpPr/>
            <p:nvPr/>
          </p:nvSpPr>
          <p:spPr>
            <a:xfrm>
              <a:off x="533400" y="53149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9CB6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494" y="5466398"/>
              <a:ext cx="84242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不是“Agent 在后台跑完了”，而是可从机制推演一路查到每条证据。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6542" y="5816918"/>
              <a:ext cx="7094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任务、输入 Packet、证据索引、结果节点、来源位置与质量评估都保留在对应视图中。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640461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截图来自本地真实工作台同一已完成任务；用于展示机制推演与证据核验的连续入口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8160" y="501968"/>
            <a:ext cx="8087487" cy="1208722"/>
            <a:chOff x="518160" y="501968"/>
            <a:chExt cx="8087487" cy="120872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前端闭环：报告交付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742950"/>
              <a:ext cx="8087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研究完成后，报告评审也在工作台中承接：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112395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从任务到交付不断线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7304" y="1623060"/>
            <a:ext cx="7340346" cy="4311015"/>
            <a:chOff x="527304" y="1623060"/>
            <a:chExt cx="7340346" cy="4311015"/>
          </a:xfrm>
        </p:grpSpPr>
        <p:sp>
          <p:nvSpPr>
            <p:cNvPr id="6" name="TextBox 6"/>
            <p:cNvSpPr txBox="1"/>
            <p:nvPr/>
          </p:nvSpPr>
          <p:spPr>
            <a:xfrm>
              <a:off x="527304" y="1623060"/>
              <a:ext cx="459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真实报告评审页｜已完成任务与研究报告在同一工作台中承接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1809750"/>
              <a:ext cx="7334250" cy="41243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6711" y="1809750"/>
              <a:ext cx="7327628" cy="4124325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8191500" y="1809750"/>
            <a:ext cx="3467100" cy="4124325"/>
            <a:chOff x="8191500" y="1809750"/>
            <a:chExt cx="3467100" cy="4124325"/>
          </a:xfrm>
        </p:grpSpPr>
        <p:sp>
          <p:nvSpPr>
            <p:cNvPr id="10" name="Rectangle 10"/>
            <p:cNvSpPr/>
            <p:nvPr/>
          </p:nvSpPr>
          <p:spPr>
            <a:xfrm>
              <a:off x="8191500" y="1809750"/>
              <a:ext cx="3467100" cy="41243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48294" y="19802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交付闭环三步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458200" y="24003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50580" y="2752725"/>
              <a:ext cx="1944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选择已完成任务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51723" y="30437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任务状态与运行记录仍在左侧保留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458200" y="344805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0580" y="3800475"/>
              <a:ext cx="2156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直接阅读研究报告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51723" y="40914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研究结果在前端形成可沟通的交付入口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458200" y="44958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rgbClr val="47698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0580" y="4848225"/>
              <a:ext cx="1732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　按需回看过程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1723" y="5082064"/>
              <a:ext cx="1801114" cy="4589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650"/>
                </a:lnSpc>
              </a:pPr>
              <a:r>
                <a:rPr lang="zh-CN" sz="128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交互、证据与能力画像等均可继续下钻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1342" y="5531168"/>
              <a:ext cx="195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可读报告 + 可回看过程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40461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交付不再是脱离生成过程的一次性文档，而是可以回到机制与证据的任务级成果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8160" y="501968"/>
            <a:ext cx="5631180" cy="1227772"/>
            <a:chOff x="518160" y="501968"/>
            <a:chExt cx="5631180" cy="1227772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501968"/>
              <a:ext cx="1397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可配置交付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160" y="685800"/>
              <a:ext cx="56311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研究策略和报告表达均可配置，避免用同一种成本处理所有任务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018" y="1707832"/>
            <a:ext cx="11133582" cy="1454468"/>
            <a:chOff x="525018" y="1707832"/>
            <a:chExt cx="11133582" cy="1454468"/>
          </a:xfrm>
        </p:grpSpPr>
        <p:sp>
          <p:nvSpPr>
            <p:cNvPr id="5" name="TextBox 5"/>
            <p:cNvSpPr txBox="1"/>
            <p:nvPr/>
          </p:nvSpPr>
          <p:spPr>
            <a:xfrm>
              <a:off x="525018" y="1707832"/>
              <a:ext cx="41665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 Profile：选择研究强度与收敛机制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22383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legacy_v1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60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传统固定编排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6854" y="28613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兼容回滚与对照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19450" y="2095500"/>
              <a:ext cx="24574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21380" y="2238375"/>
              <a:ext cx="1351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optimized_v2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2214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协同优化编排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290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普通研究任务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905500" y="2095500"/>
              <a:ext cx="2457450" cy="1066800"/>
            </a:xfrm>
            <a:prstGeom prst="rect">
              <a:avLst/>
            </a:prstGeom>
            <a:solidFill>
              <a:srgbClr val="FFF3E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07430" y="22383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45F06"/>
                  </a:solidFill>
                  <a:latin typeface="+mn-lt"/>
                  <a:ea typeface="+mn-ea"/>
                  <a:cs typeface="+mn-cs"/>
                </a:rPr>
                <a:t>swarm_quality_v1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8192" y="2578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质量残差蜂群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8954" y="2861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质量残差探索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91550" y="2095500"/>
              <a:ext cx="30670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22383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winning_swarm_dynamic_v2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94242" y="257841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Mission Graph 动态蜂群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95004" y="28613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复杂任务动态孵化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8750" y="3400425"/>
            <a:ext cx="9239250" cy="390525"/>
            <a:chOff x="1428750" y="3400425"/>
            <a:chExt cx="9239250" cy="390525"/>
          </a:xfrm>
        </p:grpSpPr>
        <p:sp>
          <p:nvSpPr>
            <p:cNvPr id="23" name="Line 23"/>
            <p:cNvSpPr/>
            <p:nvPr/>
          </p:nvSpPr>
          <p:spPr>
            <a:xfrm>
              <a:off x="1428750" y="3657600"/>
              <a:ext cx="9239250" cy="9525"/>
            </a:xfrm>
            <a:custGeom>
              <a:avLst/>
              <a:gdLst/>
              <a:ahLst/>
              <a:cxnLst/>
              <a:rect l="l" t="t" r="r" b="b"/>
              <a:pathLst>
                <a:path w="9239250" h="9525">
                  <a:moveTo>
                    <a:pt x="0" y="0"/>
                  </a:moveTo>
                  <a:lnTo>
                    <a:pt x="92392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10458450" y="352425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20955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18752" y="3400425"/>
              <a:ext cx="3259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任务配置 → 运行快照 → 可审计报告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5018" y="4222432"/>
            <a:ext cx="11133582" cy="1473518"/>
            <a:chOff x="525018" y="4222432"/>
            <a:chExt cx="11133582" cy="1473518"/>
          </a:xfrm>
        </p:grpSpPr>
        <p:sp>
          <p:nvSpPr>
            <p:cNvPr id="27" name="TextBox 27"/>
            <p:cNvSpPr txBox="1"/>
            <p:nvPr/>
          </p:nvSpPr>
          <p:spPr>
            <a:xfrm>
              <a:off x="525018" y="4222432"/>
              <a:ext cx="56142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报告模板：选择交付表达，而不是改变事实与审计边界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9150"/>
              <a:ext cx="52387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2668" y="4812982"/>
              <a:ext cx="45414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project_argument_v1　项目论证五章模板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153025"/>
              <a:ext cx="4982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 · 项目画像 · 总体方案 · 关键技术 · 研制基础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19850" y="4629150"/>
              <a:ext cx="5238750" cy="1066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118" y="48129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three_layer_nine_item　三层九项模板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59880" y="5153025"/>
              <a:ext cx="39427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需求挖掘 · 技术攻关 · 能力图像 · 效能贡献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7304" y="6404610"/>
            <a:ext cx="11038225" cy="234696"/>
            <a:chOff x="527304" y="6404610"/>
            <a:chExt cx="11038225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527304" y="6404610"/>
              <a:ext cx="522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06D"/>
                  </a:solidFill>
                  <a:latin typeface="+mn-lt"/>
                  <a:ea typeface="+mn-ea"/>
                  <a:cs typeface="+mn-cs"/>
                </a:rPr>
                <a:t>配置通过 CLI / API 传入，并随任务与运行快照保留，支撑复现与审计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552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937260" y="692468"/>
            <a:ext cx="5231130" cy="1227772"/>
            <a:chOff x="937260" y="692468"/>
            <a:chExt cx="5231130" cy="1227772"/>
          </a:xfrm>
        </p:grpSpPr>
        <p:sp>
          <p:nvSpPr>
            <p:cNvPr id="3" name="TextBox 3"/>
            <p:cNvSpPr txBox="1"/>
            <p:nvPr/>
          </p:nvSpPr>
          <p:spPr>
            <a:xfrm>
              <a:off x="945642" y="6924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/ 下一阶段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260" y="876300"/>
              <a:ext cx="52311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在不牺牲质量硬门的前提下，提升证据可信度与运行效率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1832" y="2249805"/>
            <a:ext cx="4011168" cy="1984629"/>
            <a:chOff x="941832" y="2249805"/>
            <a:chExt cx="4011168" cy="1984629"/>
          </a:xfrm>
        </p:grpSpPr>
        <p:sp>
          <p:nvSpPr>
            <p:cNvPr id="6" name="TextBox 6"/>
            <p:cNvSpPr txBox="1"/>
            <p:nvPr/>
          </p:nvSpPr>
          <p:spPr>
            <a:xfrm>
              <a:off x="941832" y="2249805"/>
              <a:ext cx="279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A　证据可信度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3006090"/>
              <a:ext cx="2223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Claim—来源直接对应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34442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正文可核查呈现与时效校验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8823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冲突证据处理与专家复核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71082" y="2249805"/>
            <a:ext cx="4011168" cy="1984629"/>
            <a:chOff x="6371082" y="2249805"/>
            <a:chExt cx="4011168" cy="1984629"/>
          </a:xfrm>
        </p:grpSpPr>
        <p:sp>
          <p:nvSpPr>
            <p:cNvPr id="12" name="TextBox 12"/>
            <p:cNvSpPr txBox="1"/>
            <p:nvPr/>
          </p:nvSpPr>
          <p:spPr>
            <a:xfrm>
              <a:off x="6371082" y="2249805"/>
              <a:ext cx="2483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 B　运行效率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381750" y="27241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2606" y="3006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减少同族重复候选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2606" y="344424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提前按装备族 / 验收变量去重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72606" y="3882390"/>
              <a:ext cx="2309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优化动态 Agent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5048250"/>
            <a:ext cx="7239000" cy="1045845"/>
            <a:chOff x="2286000" y="5048250"/>
            <a:chExt cx="7239000" cy="1045845"/>
          </a:xfrm>
        </p:grpSpPr>
        <p:sp>
          <p:nvSpPr>
            <p:cNvPr id="18" name="Line 18"/>
            <p:cNvSpPr/>
            <p:nvPr/>
          </p:nvSpPr>
          <p:spPr>
            <a:xfrm>
              <a:off x="228600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0" y="0"/>
                  </a:moveTo>
                  <a:lnTo>
                    <a:pt x="314325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81750" y="5048250"/>
              <a:ext cx="3143250" cy="628650"/>
            </a:xfrm>
            <a:custGeom>
              <a:avLst/>
              <a:gdLst/>
              <a:ahLst/>
              <a:cxnLst/>
              <a:rect l="l" t="t" r="r" b="b"/>
              <a:pathLst>
                <a:path w="3143250" h="628650">
                  <a:moveTo>
                    <a:pt x="3143250" y="0"/>
                  </a:moveTo>
                  <a:lnTo>
                    <a:pt x="0" y="6286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6172200" y="552450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152400"/>
                  </a:moveTo>
                  <a:lnTo>
                    <a:pt x="0" y="0"/>
                  </a:lnTo>
                  <a:lnTo>
                    <a:pt x="3810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7475" y="5227320"/>
              <a:ext cx="37560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质量不降级，效率可优化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69895" y="580072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下一轮验收重点：来源绑定、交付硬门、运行时长与前端闭环演示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6404" y="6404610"/>
            <a:ext cx="10619125" cy="234696"/>
            <a:chOff x="946404" y="6404610"/>
            <a:chExt cx="1061912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946404" y="6404610"/>
              <a:ext cx="4401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AF0F7"/>
                  </a:solidFill>
                  <a:latin typeface="+mn-lt"/>
                  <a:ea typeface="+mn-ea"/>
                  <a:cs typeface="+mn-cs"/>
                </a:rPr>
                <a:t>保留双策略：Quality 用于快速探索，Dynamic 用于正式收敛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6754" y="640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ject_progress_ai_query_swarm">
  <a:themeElements>
    <a:clrScheme name="project_progress_ai_query_swarm">
      <a:dk1>
        <a:srgbClr val="18212F"/>
      </a:dk1>
      <a:lt1>
        <a:srgbClr val="F8FAFC"/>
      </a:lt1>
      <a:dk2>
        <a:srgbClr val="1F497D"/>
      </a:dk2>
      <a:lt2>
        <a:srgbClr val="F8FAFC"/>
      </a:lt2>
      <a:accent1>
        <a:srgbClr val="0D2B55"/>
      </a:accent1>
      <a:accent2>
        <a:srgbClr val="E89A22"/>
      </a:accent2>
      <a:accent3>
        <a:srgbClr val="2B78B8"/>
      </a:accent3>
      <a:accent4>
        <a:srgbClr val="0D2B55"/>
      </a:accent4>
      <a:accent5>
        <a:srgbClr val="EAF0F7"/>
      </a:accent5>
      <a:accent6>
        <a:srgbClr val="F79646"/>
      </a:accent6>
      <a:hlink>
        <a:srgbClr val="E89A22"/>
      </a:hlink>
      <a:folHlink>
        <a:srgbClr val="2B78B8"/>
      </a:folHlink>
    </a:clrScheme>
    <a:fontScheme name="project_progress_ai_query_swa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ject_progress_ai_query_swa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2026-08-06T05:59:21Z</dcterms:created>
  <dcterms:modified xsi:type="dcterms:W3CDTF">2026-08-06T05:59:21Z</dcterms:modified>
  <cp:category/>
  <cp:contentStatus/>
</cp:coreProperties>
</file>