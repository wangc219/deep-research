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本次汇报的核心结论是，项目已经不是把多个 Agent 拼在一起的功能原型，而是形成了从问题定义到审计交付的研究操作系统。AI Query 负责把研究入口标准化，质量集群和动态蜂群在同一条制胜机理链上提供不同的执行强度，专家评审和报告模板保证结果可以治理、追溯和交付。后面我们会先看入口如何建立，再说明两种策略为什么能服务不同复杂度的任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研究质量先取决于问题定义是否清楚，因此 Query 不是一个简单输入框，而是可治理的任务入口。主题发散适用于已有明确主题和边界的场景，由系统展开多角度结构化问题；自动发散则利用已有任务上下文、推荐 Query 或研究缺口补齐问题，避免研究路径过早固化。两种模式最终都进入 Query Library 的审核、发布、归档和版本管理，发布后可回填研究任务并写入运行快照。这里也要明确边界：自动生成只形成选题线索，不能替代后续正式证据采集。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这一页展示的是项目真实工作台，而不是概念界面。项目方可以现场选择主题发散或自动发散入口，查看生成的 Query 草稿，完成审核发布后再回填 Deep Research 任务。因为 Query 标识和版本会随运行快照保留，任何一次研究结论都可以回溯到当时采用的问题定义和治理状态。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接下来进入核心架构：质量集群和动态蜂群不是两套割裂的产品，而是同一条 S1 到 S6 制胜机理链的两种执行策略。两者都从对手体系、作战基线和机理出发，经装备、证据和验证收敛到 S6 的能力画像与装备组合。差异不在研究目标，而在组织和收敛方式：质量集群以固定、有界的专家组快速补强，动态蜂群则让任务图按质量残差生长。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质量集群可以理解为受控的专家小组并行评审。它围绕 S1 到 S6 把前沿检索、红队、架构、证据核验、成熟度审查和验证设计分配给有限角色，经历基线、候选、分波补强、质量门、非支配候选和 S6 画像六步。系统最多孵化十二个实例、最多三波、最多六并发，预期质量增益低于零点零三就停止扩张；每波保存检查点，失败候选隔离并从最早未完成波次恢复。它的价值不是无限发散，而是在可预算、可恢复、可审计的范围内，快速形成二到四条稳定的装备方向初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动态蜂群不是简单多开 Agent，而是把复杂课题看成会生长的 Mission Graph。它先以 S1 到 S6 种子实例建立基础覆盖，只有在证据不足、因果断裂、装备不具体、对手适应未解决、跨场景不稳或验证路径缺失时，主控调度器才生成新的角色合同。每个角色合同都明确任务、触发残差、合并目标、权限、Skill、知识包、Token 预算、质量阈值和停止条件，任务结束后立即回收。并行贡献进入版本化候选账本，只能合并、拒绝或重基，旧版本不能静默覆盖新结论；这使动态增长保持可控而不是失控扩张。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我们借鉴 Kimi K3 的是架构思想，而不是直接复刻任何外部接口或组件。这个思想的关键，是从预先固定一支 Agent 队伍，转向按当前任务状态临时生成价值最高的能力单元。项目吸收了五条工程原则：按缺口孵化、角色合同一次性、并行成果进入统一账本、让候选竞争而非平均融合，以及把增长权集中给控制器。落实到项目就是残差触发、隔离会话、Merge Receipt、版本重基、专家盲评和有界回收；实际运行 Profile 是项目自身的 winning_swarm_dynamic_v2。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这张表把两种策略的取舍放到同一 Query 的真实运行中比较。质量集群在五百七十六点七三八秒内完成十六次调用，适合快速初筛，但审计状态仍是 limited；动态蜂群用时一千八百八十四点八四三秒，经过三十四次调用和十七个动态 Agent，达到百分之百来源绑定、L1 到 L3 通过和 approved 状态。动态路径约为质量路径三点二七倍的墙钟时间，增量主要来自候选账本、专家盲评、定向修复和 Reporter，而不是单纯增加基线证据。因此策略选择应由任务复杂度和正式交付要求决定，而不是只看速度。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 Agent 并不天然保证质量，所以我们把发布要求写进了候选到账本、盲评、修复和 S6 组合的流程。quality_expert_judge 只读取版本化候选账本和有效证据标识，不读取原始 Agent 会话，并从领域契合、能力落点、创新性、军事价值、因果、可信度、工程可行性和稳健性八个维度进行盲评。综合分必须达到零点七二，关键维度均不得低于零点六；不满足时只针对存在实质缺口的候选修复，而不重跑全链。S6 还会检查装备是否具体、项目功能是否完整、候选是否机制重复、是否有来源绑定和可证伪路径，因此生成结果与可发布结论之间存在明确的工程门槛。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这些是真实工作台页面，目的是让项目方能看到过程，而不是只接收最终报告。现场可以从一个任务开始，依次查看实时交互与事件、能力画像与卡片、制胜机理以及门控状态。这样既能展示从 Query 到结果的闭环，也能让评审方按需要下钻到过程和证据组织方式。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除了两条蜂群策略，系统还将运行模式和报告表达做成可配置能力。任务可以通过 CLI 或 API 选择兼容回滚、普通协同、质量集群或动态蜂群，配置会随任务和运行快照保存，支持复现和审计。交付端可以按项目方需要选择项目论证五章模板或三层九项模板；模板改变的是阅读与决策视角，不改变事实、证据和审计边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坚持一个原则：质量硬门不降级，运行效率可持续优化。证据侧将增强主张与来源的直接对应、正文可核查呈现、时效校验、冲突证据处理和专家复核；效率侧将提前按装备族和验收变量去重，减少同族重复候选，并优化动态 Agent 编排。我们会保留质量集群用于快速探索、动态蜂群用于正式收敛的双策略，并以来源绑定、交付硬门、运行时长和前端闭环演示作为下一轮验收的共同指标。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_progress_ai_query_swar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_progress_ai_query_swar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e564f9bf13a167.jpg"/>
  <Relationship Id="rId3" Type="http://schemas.openxmlformats.org/officeDocument/2006/relationships/image" Target="../media/image_2436b6e00a825a5f.jpg"/>
  <Relationship Id="rId4" Type="http://schemas.openxmlformats.org/officeDocument/2006/relationships/image" Target="../media/image_3f888bf9d6a897a2.jpg"/>
  <Relationship Id="rId5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010650" y="0"/>
            <a:ext cx="3181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53450" y="0"/>
            <a:ext cx="457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654368"/>
            <a:ext cx="2685250" cy="264033"/>
            <a:chOff x="602742" y="654368"/>
            <a:chExt cx="2685250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6543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项目方阶段进展汇报 / 2026.08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336358"/>
            <a:ext cx="4678680" cy="1937385"/>
            <a:chOff x="590550" y="1336358"/>
            <a:chExt cx="4678680" cy="1937385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133635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项目已进入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816418"/>
              <a:ext cx="467868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可演示、可评测、可审计阶段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8170" y="3319462"/>
            <a:ext cx="7813875" cy="743522"/>
            <a:chOff x="598170" y="3319462"/>
            <a:chExt cx="7813875" cy="743522"/>
          </a:xfrm>
        </p:grpSpPr>
        <p:sp>
          <p:nvSpPr>
            <p:cNvPr id="9" name="TextBox 9"/>
            <p:cNvSpPr txBox="1"/>
            <p:nvPr/>
          </p:nvSpPr>
          <p:spPr>
            <a:xfrm>
              <a:off x="598170" y="3319462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从任务入口到审计交付，关键能力已贯通。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710940"/>
              <a:ext cx="7811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Query 自动生成、质量集群与动态蜂群已接入同一研究与交付链路。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9039" y="4876800"/>
            <a:ext cx="8417166" cy="880301"/>
            <a:chOff x="239039" y="4876800"/>
            <a:chExt cx="8417166" cy="880301"/>
          </a:xfrm>
        </p:grpSpPr>
        <p:sp>
          <p:nvSpPr>
            <p:cNvPr id="12" name="Line 12"/>
            <p:cNvSpPr/>
            <p:nvPr/>
          </p:nvSpPr>
          <p:spPr>
            <a:xfrm>
              <a:off x="14097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100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2103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001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2004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6007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0" y="487680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08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011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4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54067" y="50577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039" y="54930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Query 自动生成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77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质量集群探索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80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动态蜂群收敛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9194" y="5493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审计交付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41358" y="1836420"/>
            <a:ext cx="1993392" cy="2602992"/>
            <a:chOff x="9341358" y="1836420"/>
            <a:chExt cx="1993392" cy="2602992"/>
          </a:xfrm>
        </p:grpSpPr>
        <p:sp>
          <p:nvSpPr>
            <p:cNvPr id="28" name="TextBox 28"/>
            <p:cNvSpPr txBox="1"/>
            <p:nvPr/>
          </p:nvSpPr>
          <p:spPr>
            <a:xfrm>
              <a:off x="9341358" y="18364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可演示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353550" y="23050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41358" y="2903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可评测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353550" y="33718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41358" y="39700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504" y="6404610"/>
            <a:ext cx="10676275" cy="234696"/>
            <a:chOff x="603504" y="6404610"/>
            <a:chExt cx="10676275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3504" y="6404610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材料口径：项目仓库真实实现与 2026-08-05 真实对比记录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8100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6500812" cy="1298067"/>
            <a:chOff x="517398" y="559118"/>
            <a:chExt cx="6500812" cy="129806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959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AI QUERY 双模式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2958"/>
              <a:ext cx="6500812" cy="10542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Query 自动生成不是单一按钮，而是两种可治理的任务发散模式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809750"/>
            <a:ext cx="5029200" cy="2590800"/>
            <a:chOff x="533400" y="1809750"/>
            <a:chExt cx="5029200" cy="2590800"/>
          </a:xfrm>
        </p:grpSpPr>
        <p:sp>
          <p:nvSpPr>
            <p:cNvPr id="5" name="Rectangle 5"/>
            <p:cNvSpPr/>
            <p:nvPr/>
          </p:nvSpPr>
          <p:spPr>
            <a:xfrm>
              <a:off x="533400" y="1809750"/>
              <a:ext cx="5029200" cy="2590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89432" y="2040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主题发散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2480" y="24669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从一个明确主题，系统展开多角度结构化问题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00100" y="29146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18" y="3136582"/>
              <a:ext cx="1684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 + 研究边界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718" y="3136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97530" y="3152775"/>
              <a:ext cx="2382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Worker 生成候选 Query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2480" y="36671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适合：已知研究方向的系统展开与人工选择收敛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0" y="1809750"/>
            <a:ext cx="5562600" cy="2590800"/>
            <a:chOff x="6096000" y="1809750"/>
            <a:chExt cx="5562600" cy="2590800"/>
          </a:xfrm>
        </p:grpSpPr>
        <p:sp>
          <p:nvSpPr>
            <p:cNvPr id="14" name="Rectangle 14"/>
            <p:cNvSpPr/>
            <p:nvPr/>
          </p:nvSpPr>
          <p:spPr>
            <a:xfrm>
              <a:off x="6096000" y="1809750"/>
              <a:ext cx="5562600" cy="2590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52032" y="2040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自动发散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5080" y="2466975"/>
              <a:ext cx="48245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按已有任务上下文、推荐 Query 或研究缺口补齐问题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362700" y="291465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4318" y="3136582"/>
              <a:ext cx="1917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任务上下文 / 残差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45068" y="3136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45118" y="3136582"/>
              <a:ext cx="12550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 Query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5080" y="36671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适合：发现缺口后补齐研究路径，避免问题定义过早固化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9715" y="5048250"/>
            <a:ext cx="10730961" cy="944023"/>
            <a:chOff x="919715" y="5048250"/>
            <a:chExt cx="10730961" cy="944023"/>
          </a:xfrm>
        </p:grpSpPr>
        <p:sp>
          <p:nvSpPr>
            <p:cNvPr id="23" name="Line 23"/>
            <p:cNvSpPr/>
            <p:nvPr/>
          </p:nvSpPr>
          <p:spPr>
            <a:xfrm>
              <a:off x="1428750" y="5334000"/>
              <a:ext cx="9296400" cy="9525"/>
            </a:xfrm>
            <a:custGeom>
              <a:avLst/>
              <a:gdLst/>
              <a:ahLst/>
              <a:cxnLst/>
              <a:rect l="l" t="t" r="r" b="b"/>
              <a:pathLst>
                <a:path w="9296400" h="9525">
                  <a:moveTo>
                    <a:pt x="0" y="0"/>
                  </a:moveTo>
                  <a:lnTo>
                    <a:pt x="9296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143000" y="504825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962400" y="504825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934200" y="504825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439400" y="504825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62823" y="52387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2223" y="52387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54023" y="52387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59223" y="52387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9715" y="571357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结构化草稿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07930" y="5713571"/>
              <a:ext cx="16804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 / 发布 / 归档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28832" y="5713571"/>
              <a:ext cx="21822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/api/v1/query-library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99624" y="5713571"/>
              <a:ext cx="18510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回填任务 + 版本留痕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27304" y="6404610"/>
              <a:ext cx="62903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边界：生成阶段只形成选题线索；正式证据仍由后续 Deep Research 采集、核验与审计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17398" y="673418"/>
            <a:ext cx="4039305" cy="1327594"/>
            <a:chOff x="517398" y="673418"/>
            <a:chExt cx="4039305" cy="1327594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6734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前端成果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7398" y="993458"/>
              <a:ext cx="40393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从生成到任务创建，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1208" y="153162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前端已提供完整操作入口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682240"/>
            <a:ext cx="2970444" cy="2370011"/>
            <a:chOff x="609600" y="2682240"/>
            <a:chExt cx="2970444" cy="2370011"/>
          </a:xfrm>
        </p:grpSpPr>
        <p:sp>
          <p:nvSpPr>
            <p:cNvPr id="7" name="Line 7"/>
            <p:cNvSpPr/>
            <p:nvPr/>
          </p:nvSpPr>
          <p:spPr>
            <a:xfrm>
              <a:off x="685800" y="2800350"/>
              <a:ext cx="9525" cy="1752600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09600" y="2724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09600" y="3590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09600" y="44767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4306" y="2682240"/>
              <a:ext cx="2655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输入或选择推荐 Query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592" y="30356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研究任务入口保持直接可用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4306" y="3549015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进入问题库生成草稿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6592" y="39023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支持审核、发布与归档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4306" y="44348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发布后回填研究任务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6592" y="4788218"/>
              <a:ext cx="18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保留 Query ID 与版本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52950" y="1285875"/>
            <a:ext cx="7105650" cy="4400550"/>
            <a:chOff x="4552950" y="1285875"/>
            <a:chExt cx="7105650" cy="4400550"/>
          </a:xfrm>
        </p:grpSpPr>
        <p:sp>
          <p:nvSpPr>
            <p:cNvPr id="18" name="Rectangle 18"/>
            <p:cNvSpPr/>
            <p:nvPr/>
          </p:nvSpPr>
          <p:spPr>
            <a:xfrm>
              <a:off x="4552950" y="1285875"/>
              <a:ext cx="7105650" cy="44005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7250" y="1409700"/>
              <a:ext cx="6877050" cy="386715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60392" y="54168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工作台真实页面（项目仓库素材）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4627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现场演示重点：Query 输入、问题库入口、审核发布与任务回填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10076299" cy="936117"/>
            <a:chOff x="517398" y="559118"/>
            <a:chExt cx="10076299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共同主链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100762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同一条 S1–S6 制胜机理链，两种不同的执行策略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790700"/>
            <a:ext cx="11125200" cy="590550"/>
            <a:chOff x="533400" y="1790700"/>
            <a:chExt cx="11125200" cy="590550"/>
          </a:xfrm>
        </p:grpSpPr>
        <p:sp>
          <p:nvSpPr>
            <p:cNvPr id="5" name="Rectangle 5"/>
            <p:cNvSpPr/>
            <p:nvPr/>
          </p:nvSpPr>
          <p:spPr>
            <a:xfrm>
              <a:off x="533400" y="1790700"/>
              <a:ext cx="11125200" cy="5905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2668" y="1984058"/>
              <a:ext cx="953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QUALITY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353818" y="1984058"/>
              <a:ext cx="33519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固定角色池 + 有界波次 + 质量门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45018" y="198405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稳定、快速、可预算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82777" y="3048000"/>
            <a:ext cx="10548361" cy="1198245"/>
            <a:chOff x="882777" y="3048000"/>
            <a:chExt cx="10548361" cy="1198245"/>
          </a:xfrm>
        </p:grpSpPr>
        <p:sp>
          <p:nvSpPr>
            <p:cNvPr id="10" name="Line 10"/>
            <p:cNvSpPr/>
            <p:nvPr/>
          </p:nvSpPr>
          <p:spPr>
            <a:xfrm>
              <a:off x="1314450" y="34671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95350" y="304800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800350" y="304800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705350" y="304800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610350" y="304800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515350" y="304800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458450" y="3048000"/>
              <a:ext cx="838200" cy="83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64400" y="335708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69400" y="335708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74400" y="335708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79400" y="335708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84400" y="335708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27500" y="335708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2777" y="3952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对手体系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87777" y="3952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作战基线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70862" y="3952875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机理 / 红队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5862" y="3952875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 / 架构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74849" y="3952875"/>
              <a:ext cx="1319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 / 成熟度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23962" y="3952875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 / 组合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4857750"/>
            <a:ext cx="11125200" cy="590550"/>
            <a:chOff x="533400" y="4857750"/>
            <a:chExt cx="11125200" cy="590550"/>
          </a:xfrm>
        </p:grpSpPr>
        <p:sp>
          <p:nvSpPr>
            <p:cNvPr id="30" name="Rectangle 30"/>
            <p:cNvSpPr/>
            <p:nvPr/>
          </p:nvSpPr>
          <p:spPr>
            <a:xfrm>
              <a:off x="533400" y="4857750"/>
              <a:ext cx="111252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2668" y="5051108"/>
              <a:ext cx="953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DYNAMIC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53818" y="5051108"/>
              <a:ext cx="42848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种子角色 + 残差触发孵化 + 候选竞争收敛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5018" y="5051108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按缺口生长、按贡献合并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527304" y="6404610"/>
              <a:ext cx="7300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共同目标：从对手与作战问题出发，经装备、证据和验证收敛为可审计的 S6 能力画像与装备组合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59118"/>
            <a:ext cx="8311515" cy="1246822"/>
            <a:chOff x="518160" y="559118"/>
            <a:chExt cx="8311515" cy="124682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质量集群策略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800100"/>
              <a:ext cx="8311515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swarm_quality_v1：固定角色池和有界波次，快速形成稳定的装备方向初稿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5780" y="2809875"/>
            <a:ext cx="8013040" cy="1836420"/>
            <a:chOff x="525780" y="2809875"/>
            <a:chExt cx="8013040" cy="1836420"/>
          </a:xfrm>
        </p:grpSpPr>
        <p:sp>
          <p:nvSpPr>
            <p:cNvPr id="5" name="Line 5"/>
            <p:cNvSpPr/>
            <p:nvPr/>
          </p:nvSpPr>
          <p:spPr>
            <a:xfrm>
              <a:off x="1009650" y="314325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676275" y="2809875"/>
              <a:ext cx="666750" cy="666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914525" y="2809875"/>
              <a:ext cx="666750" cy="666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152775" y="2809875"/>
              <a:ext cx="666750" cy="666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391025" y="2809875"/>
              <a:ext cx="666750" cy="666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629275" y="2809875"/>
              <a:ext cx="666750" cy="666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905625" y="2809875"/>
              <a:ext cx="666750" cy="666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37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197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02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5847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967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307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1144" y="3645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基线研究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59394" y="3645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候选假设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97644" y="3645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分波补强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31306" y="36452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78732" y="36452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非支配候选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87754" y="3645218"/>
              <a:ext cx="1102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S6 能力画像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5780" y="4352925"/>
              <a:ext cx="8013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补强角色：检索 · 弱信号 · 红队 · 实现架构 · 证据核验 · TRL / 成本 · 验证试验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286750" y="1943100"/>
            <a:ext cx="3371850" cy="3238500"/>
            <a:chOff x="8286750" y="1943100"/>
            <a:chExt cx="3371850" cy="3238500"/>
          </a:xfrm>
        </p:grpSpPr>
        <p:sp>
          <p:nvSpPr>
            <p:cNvPr id="26" name="Rectangle 26"/>
            <p:cNvSpPr/>
            <p:nvPr/>
          </p:nvSpPr>
          <p:spPr>
            <a:xfrm>
              <a:off x="8286750" y="1943100"/>
              <a:ext cx="3371850" cy="3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44306" y="21869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有界、可恢复、可审计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44306" y="2720340"/>
              <a:ext cx="1722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 12 个实例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44306" y="310134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 3 波 / 并发 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45830" y="3514725"/>
              <a:ext cx="2569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质量增益 &lt; 0.03 即停止扩张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47354" y="4023360"/>
              <a:ext cx="2939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会话隔离；交接证据包 / ID / 合并目标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47354" y="44615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检查点保存；从最早未完成波次恢复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46592" y="4826318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通常保留 2–4 条非支配候选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527304" y="6404610"/>
              <a:ext cx="6635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适用：快速探索、批量初筛、低预算任务；正式结论仍需要更强人工复核或切换动态蜂群路径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8922" y="540068"/>
            <a:ext cx="8638861" cy="1191577"/>
            <a:chOff x="518922" y="540068"/>
            <a:chExt cx="8638861" cy="119157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4006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动态蜂群策略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740092"/>
              <a:ext cx="8104965" cy="9574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winning_swarm_dynamic_v2：按候选质量残差临时孵化能力单元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5780" y="1438275"/>
              <a:ext cx="86320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不是多开 Agent，而是让 Mission Graph 在需要的位置生长，并把并行贡献纳入同一版本账本。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962150"/>
            <a:ext cx="2762250" cy="3181350"/>
            <a:chOff x="533400" y="1962150"/>
            <a:chExt cx="2762250" cy="3181350"/>
          </a:xfrm>
        </p:grpSpPr>
        <p:sp>
          <p:nvSpPr>
            <p:cNvPr id="6" name="Rectangle 6"/>
            <p:cNvSpPr/>
            <p:nvPr/>
          </p:nvSpPr>
          <p:spPr>
            <a:xfrm>
              <a:off x="533400" y="1962150"/>
              <a:ext cx="2762250" cy="3181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906" y="2186940"/>
              <a:ext cx="19135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S1–S6 种子实例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3430" y="26955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对手体系 / 适应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3430" y="30384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作战基线 / 竞争战法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3430" y="3381375"/>
              <a:ext cx="1893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机理 / 红队 / 装备族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37242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前沿装备 / 实现架构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40671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证据 / TRL / 成本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44100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验证设计 / 组合评审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954" y="48234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种子先行，不预开满全部岗位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76650" y="2200275"/>
            <a:ext cx="3981450" cy="2846070"/>
            <a:chOff x="3676650" y="2200275"/>
            <a:chExt cx="3981450" cy="2846070"/>
          </a:xfrm>
        </p:grpSpPr>
        <p:sp>
          <p:nvSpPr>
            <p:cNvPr id="16" name="Ellipse 16"/>
            <p:cNvSpPr/>
            <p:nvPr/>
          </p:nvSpPr>
          <p:spPr>
            <a:xfrm>
              <a:off x="4752975" y="2609850"/>
              <a:ext cx="1828800" cy="1828800"/>
            </a:xfrm>
            <a:prstGeom prst="ellipse">
              <a:avLst/>
            </a:prstGeom>
            <a:solidFill>
              <a:schemeClr val="accent5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67903" y="3126105"/>
              <a:ext cx="19989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Mission Graph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92624" y="35175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候选质量残差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64665" y="3865721"/>
              <a:ext cx="28054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证据 · 因果 · 装备 · 适应 · 验证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676650" y="35242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705600" y="35242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17662" y="22002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依赖满足即启动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11649" y="47529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缺口触发角色合同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39100" y="1962150"/>
            <a:ext cx="3619500" cy="3181350"/>
            <a:chOff x="8039100" y="1962150"/>
            <a:chExt cx="3619500" cy="3181350"/>
          </a:xfrm>
        </p:grpSpPr>
        <p:sp>
          <p:nvSpPr>
            <p:cNvPr id="25" name="Rectangle 25"/>
            <p:cNvSpPr/>
            <p:nvPr/>
          </p:nvSpPr>
          <p:spPr>
            <a:xfrm>
              <a:off x="8039100" y="1962150"/>
              <a:ext cx="3619500" cy="3181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7606" y="2186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版本化候选账本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78368" y="2660332"/>
              <a:ext cx="29904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贡献 → 合并 / 拒绝 / rebase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79130" y="30956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旧版本不能静默覆盖新结论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79130" y="34766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专家盲评后仅定向修复缺口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79130" y="3857625"/>
              <a:ext cx="2660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S6 从非支配候选中选择组合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286750" y="43053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79511" y="4513421"/>
              <a:ext cx="27289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配置 8–16 实例，内部上限约 18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9511" y="4780121"/>
              <a:ext cx="2910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最多 6 并发 / 3 波，保留修复预算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527304" y="6404610"/>
              <a:ext cx="8025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角色合同含任务、触发残差、合并目标、权限、Skill、知识包、Token 预算、质量阈值与停止条件；完成即回收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8160" y="521018"/>
            <a:ext cx="11132028" cy="1058227"/>
            <a:chOff x="518160" y="521018"/>
            <a:chExt cx="11132028" cy="10582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210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架构思想借鉴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800100"/>
              <a:ext cx="111320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Kimi K3 式动态孵化思想，被工程化为可控的角色增长机制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5780" y="1285875"/>
              <a:ext cx="7708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借鉴的是“按任务状态临时生成最有价值能力”的架构思想，不是复刻外部接口或组件。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962150"/>
            <a:ext cx="4762500" cy="3295650"/>
            <a:chOff x="533400" y="1962150"/>
            <a:chExt cx="4762500" cy="3295650"/>
          </a:xfrm>
        </p:grpSpPr>
        <p:sp>
          <p:nvSpPr>
            <p:cNvPr id="6" name="Rectangle 6"/>
            <p:cNvSpPr/>
            <p:nvPr/>
          </p:nvSpPr>
          <p:spPr>
            <a:xfrm>
              <a:off x="533400" y="1962150"/>
              <a:ext cx="4762500" cy="3295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0956" y="21869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动态孵化的五个原则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2679382"/>
              <a:ext cx="31770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按缺口孵化，不按岗位堆叠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718" y="3079432"/>
              <a:ext cx="38767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角色是一次性合同，不是永久成员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1718" y="3479482"/>
              <a:ext cx="31770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并行探索必须进入统一账本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1718" y="3879532"/>
              <a:ext cx="2477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　让竞争替代平均融合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4279582"/>
              <a:ext cx="39321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　增长权交给控制器，而非子 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242" y="48263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目标：避免递归膨胀、上下文污染与并行互相覆盖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33694" y="2091690"/>
            <a:ext cx="5763743" cy="3108389"/>
            <a:chOff x="5933694" y="2091690"/>
            <a:chExt cx="5763743" cy="3108389"/>
          </a:xfrm>
        </p:grpSpPr>
        <p:sp>
          <p:nvSpPr>
            <p:cNvPr id="15" name="TextBox 15"/>
            <p:cNvSpPr txBox="1"/>
            <p:nvPr/>
          </p:nvSpPr>
          <p:spPr>
            <a:xfrm>
              <a:off x="5934456" y="20916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项目中的工程化落地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943600" y="24765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34456" y="2739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残差触发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50911" y="277987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证据、因果、装备、适应、验证缺口才触发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34456" y="3215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角色合同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50911" y="325612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任务、权限、预算、阈值、停止条件明确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34456" y="36918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隔离与账本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50911" y="3732371"/>
              <a:ext cx="3323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独立会话 + Merge Receipt + 版本重基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34456" y="41681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质量与回收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50911" y="4208621"/>
              <a:ext cx="31303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专家盲评 + 定向修复 + 有界实例回收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33694" y="4818698"/>
              <a:ext cx="50501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项目实现：winning_swarm_dynamic_v2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527304" y="6404610"/>
              <a:ext cx="8354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可概括为：Kimi K3 动态孵化思想 = 按状态生成价值最高的能力；项目落地 = 残差触发 + 合同 + 账本 + 评审 + 回收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40068"/>
            <a:ext cx="10272884" cy="936117"/>
            <a:chOff x="517398" y="540068"/>
            <a:chExt cx="1027288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4006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真实运行对比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6010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更快的初筛，与更强的正式收敛：两种策略各有边界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657350"/>
            <a:ext cx="11125200" cy="514350"/>
            <a:chOff x="533400" y="1657350"/>
            <a:chExt cx="11125200" cy="514350"/>
          </a:xfrm>
        </p:grpSpPr>
        <p:sp>
          <p:nvSpPr>
            <p:cNvPr id="5" name="Rectangle 5"/>
            <p:cNvSpPr/>
            <p:nvPr/>
          </p:nvSpPr>
          <p:spPr>
            <a:xfrm>
              <a:off x="533400" y="1657350"/>
              <a:ext cx="2857500" cy="5143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390900" y="1657350"/>
              <a:ext cx="3962400" cy="5143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353300" y="1657350"/>
              <a:ext cx="43053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4380" y="18288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1880" y="1828800"/>
              <a:ext cx="1859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swarm_quality_v1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4280" y="1828800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winning_swarm_dynamic_v2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" y="2390775"/>
            <a:ext cx="11417808" cy="2838450"/>
            <a:chOff x="533400" y="2390775"/>
            <a:chExt cx="11417808" cy="2838450"/>
          </a:xfrm>
        </p:grpSpPr>
        <p:sp>
          <p:nvSpPr>
            <p:cNvPr id="12" name="Line 12"/>
            <p:cNvSpPr/>
            <p:nvPr/>
          </p:nvSpPr>
          <p:spPr>
            <a:xfrm>
              <a:off x="533400" y="2781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33400" y="3390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33400" y="4000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33400" y="4610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33400" y="5219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4380" y="23907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适用场景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1880" y="23907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快速探索、批量初筛、低预算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4280" y="23907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复杂课题、正式装备需求论证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4380" y="3000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组织方式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11880" y="300037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固定角色池 + 有界波次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4280" y="30003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种子角色 + 缺口触发孵化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3609975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实例 / 并发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11880" y="36099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 12；并发 6、3 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4280" y="3609975"/>
              <a:ext cx="3508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8–16（内部约束至 18）；并发 6、3 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380" y="4219575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收敛 / 恢复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1880" y="42195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质量门、非支配候选；从最早未完成波次恢复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74280" y="4219575"/>
              <a:ext cx="4376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版本账本、盲评修复；从最新账本恢复并 rebase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4380" y="4829175"/>
              <a:ext cx="1419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 Query 运行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1880" y="4829175"/>
              <a:ext cx="3707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576.738 秒 · 16 次调用 · Audit=limited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4280" y="4829175"/>
              <a:ext cx="4152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1,884.843 秒 · 34 次调用 · Audit=approved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5562600"/>
            <a:ext cx="11125200" cy="514350"/>
            <a:chOff x="533400" y="5562600"/>
            <a:chExt cx="11125200" cy="514350"/>
          </a:xfrm>
        </p:grpSpPr>
        <p:sp>
          <p:nvSpPr>
            <p:cNvPr id="33" name="Rectangle 33"/>
            <p:cNvSpPr/>
            <p:nvPr/>
          </p:nvSpPr>
          <p:spPr>
            <a:xfrm>
              <a:off x="533400" y="5562600"/>
              <a:ext cx="11125200" cy="51435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142" y="5740718"/>
              <a:ext cx="1000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取舍：Quality 更快，但正式结论需更强人工复核；Dynamic 更慢、更贵，但来源绑定、候选互异性与审计收敛更强。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527304" y="6404610"/>
              <a:ext cx="91508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来源：2026-08-05 同 Query 真实对比；Dynamic 墙钟约为 Quality 的 3.27 倍，时间增量来自账本、盲评、修复与 Reporter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8541" y="501968"/>
            <a:ext cx="10348341" cy="962977"/>
            <a:chOff x="518541" y="501968"/>
            <a:chExt cx="10348341" cy="96297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19696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质量门与独立评审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541" y="693896"/>
              <a:ext cx="10348341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从候选到发布，系统用质量硬门和专家盲评控制正式结论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5780" y="1171575"/>
              <a:ext cx="85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“能生成”不等于“可发布”：候选必须经过账本治理、独立盲评、定向修复与 S6 组合检查。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43515" y="2152650"/>
            <a:ext cx="10685956" cy="963073"/>
            <a:chOff x="843515" y="2152650"/>
            <a:chExt cx="10685956" cy="963073"/>
          </a:xfrm>
        </p:grpSpPr>
        <p:sp>
          <p:nvSpPr>
            <p:cNvPr id="6" name="Line 6"/>
            <p:cNvSpPr/>
            <p:nvPr/>
          </p:nvSpPr>
          <p:spPr>
            <a:xfrm>
              <a:off x="1352550" y="245745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47750" y="2152650"/>
              <a:ext cx="609600" cy="60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390900" y="2152650"/>
              <a:ext cx="609600" cy="60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734050" y="2152650"/>
              <a:ext cx="609600" cy="60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077200" y="2152650"/>
              <a:ext cx="609600" cy="60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496550" y="2152650"/>
              <a:ext cx="609600" cy="60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86623" y="23622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29773" y="23622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72923" y="23622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6073" y="23622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735423" y="23622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515" y="28370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候选与证据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87024" y="28370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版本账本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30174" y="28370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只读盲评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73324" y="28370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定向修复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73229" y="2837021"/>
              <a:ext cx="1456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S6 / Audit 发布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3524250"/>
            <a:ext cx="5048250" cy="2209800"/>
            <a:chOff x="533400" y="3524250"/>
            <a:chExt cx="5048250" cy="2209800"/>
          </a:xfrm>
        </p:grpSpPr>
        <p:sp>
          <p:nvSpPr>
            <p:cNvPr id="23" name="Rectangle 23"/>
            <p:cNvSpPr/>
            <p:nvPr/>
          </p:nvSpPr>
          <p:spPr>
            <a:xfrm>
              <a:off x="533400" y="3524250"/>
              <a:ext cx="5048250" cy="22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0575" y="3740944"/>
              <a:ext cx="274288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quality_expert_judge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1718" y="4127182"/>
              <a:ext cx="3842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只读：版本化候选账本 + 有效证据 ID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2480" y="4486275"/>
              <a:ext cx="41447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八维：领域契合 · 能力落点 · 创新 · 军事价值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2480" y="4810125"/>
              <a:ext cx="33369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因果 · 可信度 · 工程可行性 · 稳健性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2480" y="5229225"/>
              <a:ext cx="437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不读取原始 Agent 会话；只输出结论与淘汰理由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91250" y="3524250"/>
            <a:ext cx="5467350" cy="2209800"/>
            <a:chOff x="6191250" y="3524250"/>
            <a:chExt cx="5467350" cy="2209800"/>
          </a:xfrm>
        </p:grpSpPr>
        <p:sp>
          <p:nvSpPr>
            <p:cNvPr id="30" name="Rectangle 30"/>
            <p:cNvSpPr/>
            <p:nvPr/>
          </p:nvSpPr>
          <p:spPr>
            <a:xfrm>
              <a:off x="6191250" y="3524250"/>
              <a:ext cx="5467350" cy="2209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48806" y="37490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发布与修复规则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9568" y="4146232"/>
              <a:ext cx="35040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综合分 ≥ 0.72，关键维度均 ≥ 0.60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50330" y="45053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通过：进入非支配组合收敛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0330" y="48291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不足：只修复实质缺口，不重跑全链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1092" y="5207318"/>
              <a:ext cx="5003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hard gate：装备具体 · 机制互异 · 来源绑定 · 可证伪路径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27304" y="6404610"/>
              <a:ext cx="8273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S6 不堆叠相近卡片：从非支配候选选择组合，并校验装备主体、项目功能、机制互异性、公开来源与验证路径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40068"/>
            <a:ext cx="10272884" cy="936117"/>
            <a:chOff x="517398" y="540068"/>
            <a:chExt cx="1027288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400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前端成果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6010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从任务创建到能力画像，前端已承载关键过程与结果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714500"/>
            <a:ext cx="3333750" cy="2347151"/>
            <a:chOff x="533400" y="1714500"/>
            <a:chExt cx="3333750" cy="2347151"/>
          </a:xfrm>
        </p:grpSpPr>
        <p:sp>
          <p:nvSpPr>
            <p:cNvPr id="5" name="Rectangle 5"/>
            <p:cNvSpPr/>
            <p:nvPr/>
          </p:nvSpPr>
          <p:spPr>
            <a:xfrm>
              <a:off x="533400" y="1714500"/>
              <a:ext cx="333375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0150" y="1809750"/>
              <a:ext cx="2040250" cy="19240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21792" y="3797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实时交互与事件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33850" y="1714500"/>
            <a:ext cx="3333750" cy="2347151"/>
            <a:chOff x="4133850" y="1714500"/>
            <a:chExt cx="3333750" cy="2347151"/>
          </a:xfrm>
        </p:grpSpPr>
        <p:sp>
          <p:nvSpPr>
            <p:cNvPr id="9" name="Rectangle 9"/>
            <p:cNvSpPr/>
            <p:nvPr/>
          </p:nvSpPr>
          <p:spPr>
            <a:xfrm>
              <a:off x="4133850" y="1714500"/>
              <a:ext cx="333375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0600" y="1809750"/>
              <a:ext cx="2040250" cy="19240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4222242" y="3797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能力画像与卡片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734300" y="1714500"/>
            <a:ext cx="3924300" cy="2347151"/>
            <a:chOff x="7734300" y="1714500"/>
            <a:chExt cx="3924300" cy="2347151"/>
          </a:xfrm>
        </p:grpSpPr>
        <p:sp>
          <p:nvSpPr>
            <p:cNvPr id="13" name="Rectangle 13"/>
            <p:cNvSpPr/>
            <p:nvPr/>
          </p:nvSpPr>
          <p:spPr>
            <a:xfrm>
              <a:off x="7734300" y="1714500"/>
              <a:ext cx="392430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6464" y="1905000"/>
              <a:ext cx="3079973" cy="17335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7822692" y="37976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制胜机理与门控状态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1208" y="4732020"/>
            <a:ext cx="8097012" cy="1133475"/>
            <a:chOff x="521208" y="4732020"/>
            <a:chExt cx="8097012" cy="1133475"/>
          </a:xfrm>
        </p:grpSpPr>
        <p:sp>
          <p:nvSpPr>
            <p:cNvPr id="17" name="TextBox 17"/>
            <p:cNvSpPr txBox="1"/>
            <p:nvPr/>
          </p:nvSpPr>
          <p:spPr>
            <a:xfrm>
              <a:off x="521208" y="4732020"/>
              <a:ext cx="7017258" cy="8313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项目方可现场按任务查看：过程、证据、S 节点、能力画像与结果评审。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780" y="55721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以上均为项目仓库中的真实工作台页面；截图保持原始内容和比例，不作为概念界面展示。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527304" y="6404610"/>
              <a:ext cx="5504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演示建议：以一个真实任务为入口，顺序查看任务交互、能力画像与制胜结果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01968"/>
            <a:ext cx="5631180" cy="1227772"/>
            <a:chOff x="518160" y="501968"/>
            <a:chExt cx="5631180" cy="122777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可配置交付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685800"/>
              <a:ext cx="563118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研究策略和报告表达均可配置，避免用同一种成本处理所有任务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5018" y="1707832"/>
            <a:ext cx="11133582" cy="1454468"/>
            <a:chOff x="525018" y="1707832"/>
            <a:chExt cx="11133582" cy="1454468"/>
          </a:xfrm>
        </p:grpSpPr>
        <p:sp>
          <p:nvSpPr>
            <p:cNvPr id="5" name="TextBox 5"/>
            <p:cNvSpPr txBox="1"/>
            <p:nvPr/>
          </p:nvSpPr>
          <p:spPr>
            <a:xfrm>
              <a:off x="525018" y="1707832"/>
              <a:ext cx="41665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 Profile：选择研究强度与收敛机制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22383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legacy_v1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0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传统固定编排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854" y="28613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兼容回滚与对照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1945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21380" y="2238375"/>
              <a:ext cx="1351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optimized_v2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2214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协同优化编排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290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普通研究任务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905500" y="2095500"/>
              <a:ext cx="2457450" cy="106680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07430" y="2238375"/>
              <a:ext cx="1859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swarm_quality_v1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81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质量残差蜂群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895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质量残差探索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91550" y="2095500"/>
              <a:ext cx="30670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93480" y="22383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winning_swarm_dynamic_v2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94242" y="2578418"/>
              <a:ext cx="2013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Mission Graph 动态蜂群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95004" y="2861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复杂任务动态孵化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28750" y="3400425"/>
            <a:ext cx="9239250" cy="390525"/>
            <a:chOff x="1428750" y="3400425"/>
            <a:chExt cx="9239250" cy="390525"/>
          </a:xfrm>
        </p:grpSpPr>
        <p:sp>
          <p:nvSpPr>
            <p:cNvPr id="23" name="Line 23"/>
            <p:cNvSpPr/>
            <p:nvPr/>
          </p:nvSpPr>
          <p:spPr>
            <a:xfrm>
              <a:off x="1428750" y="3657600"/>
              <a:ext cx="9239250" cy="9525"/>
            </a:xfrm>
            <a:custGeom>
              <a:avLst/>
              <a:gdLst/>
              <a:ahLst/>
              <a:cxnLst/>
              <a:rect l="l" t="t" r="r" b="b"/>
              <a:pathLst>
                <a:path w="9239250" h="9525">
                  <a:moveTo>
                    <a:pt x="0" y="0"/>
                  </a:moveTo>
                  <a:lnTo>
                    <a:pt x="92392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10458450" y="352425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18752" y="3400425"/>
              <a:ext cx="3259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任务配置 → 运行快照 → 可审计报告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5018" y="4222432"/>
            <a:ext cx="11133582" cy="1473518"/>
            <a:chOff x="525018" y="4222432"/>
            <a:chExt cx="11133582" cy="1473518"/>
          </a:xfrm>
        </p:grpSpPr>
        <p:sp>
          <p:nvSpPr>
            <p:cNvPr id="27" name="TextBox 27"/>
            <p:cNvSpPr txBox="1"/>
            <p:nvPr/>
          </p:nvSpPr>
          <p:spPr>
            <a:xfrm>
              <a:off x="525018" y="4222432"/>
              <a:ext cx="56142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报告模板：选择交付表达，而不是改变事实与审计边界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29150"/>
              <a:ext cx="52387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" y="4812982"/>
              <a:ext cx="45414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project_argument_v1　项目论证五章模板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153025"/>
              <a:ext cx="4982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需求分析 · 项目画像 · 总体方案 · 关键技术 · 研制基础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19850" y="4629150"/>
              <a:ext cx="52387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118" y="481298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three_layer_nine_item　三层九项模板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5153025"/>
              <a:ext cx="3942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需求挖掘 · 技术攻关 · 能力图像 · 效能贡献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527304" y="6404610"/>
              <a:ext cx="522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配置通过 CLI / API 传入，并随任务与运行快照保留，支撑复现与审计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52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37260" y="692468"/>
            <a:ext cx="5231130" cy="1227772"/>
            <a:chOff x="937260" y="692468"/>
            <a:chExt cx="5231130" cy="1227772"/>
          </a:xfrm>
        </p:grpSpPr>
        <p:sp>
          <p:nvSpPr>
            <p:cNvPr id="3" name="TextBox 3"/>
            <p:cNvSpPr txBox="1"/>
            <p:nvPr/>
          </p:nvSpPr>
          <p:spPr>
            <a:xfrm>
              <a:off x="945642" y="6924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 / 下一阶段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37260" y="876300"/>
              <a:ext cx="523113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在不牺牲质量硬门的前提下，提升证据可信度与运行效率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1832" y="2249805"/>
            <a:ext cx="4011168" cy="1984629"/>
            <a:chOff x="941832" y="2249805"/>
            <a:chExt cx="4011168" cy="1984629"/>
          </a:xfrm>
        </p:grpSpPr>
        <p:sp>
          <p:nvSpPr>
            <p:cNvPr id="6" name="TextBox 6"/>
            <p:cNvSpPr txBox="1"/>
            <p:nvPr/>
          </p:nvSpPr>
          <p:spPr>
            <a:xfrm>
              <a:off x="941832" y="2249805"/>
              <a:ext cx="2797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A　证据可信度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3006090"/>
              <a:ext cx="2223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Claim—来源直接对应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356" y="34442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正文可核查呈现与时效校验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356" y="38823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冲突证据处理与专家复核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71082" y="2249805"/>
            <a:ext cx="4011168" cy="1984629"/>
            <a:chOff x="6371082" y="2249805"/>
            <a:chExt cx="4011168" cy="1984629"/>
          </a:xfrm>
        </p:grpSpPr>
        <p:sp>
          <p:nvSpPr>
            <p:cNvPr id="12" name="TextBox 12"/>
            <p:cNvSpPr txBox="1"/>
            <p:nvPr/>
          </p:nvSpPr>
          <p:spPr>
            <a:xfrm>
              <a:off x="6371082" y="2249805"/>
              <a:ext cx="2483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B　运行效率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38175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2606" y="30060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减少同族重复候选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2606" y="344424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提前按装备族 / 验收变量去重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2606" y="3882390"/>
              <a:ext cx="2309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优化动态 Agent 编排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5048250"/>
            <a:ext cx="7239000" cy="1045845"/>
            <a:chOff x="2286000" y="5048250"/>
            <a:chExt cx="7239000" cy="1045845"/>
          </a:xfrm>
        </p:grpSpPr>
        <p:sp>
          <p:nvSpPr>
            <p:cNvPr id="18" name="Line 18"/>
            <p:cNvSpPr/>
            <p:nvPr/>
          </p:nvSpPr>
          <p:spPr>
            <a:xfrm>
              <a:off x="228600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0" y="0"/>
                  </a:moveTo>
                  <a:lnTo>
                    <a:pt x="314325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38175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3143250" y="0"/>
                  </a:moveTo>
                  <a:lnTo>
                    <a:pt x="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172200" y="5524500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209550" y="152400"/>
                  </a:moveTo>
                  <a:lnTo>
                    <a:pt x="0" y="0"/>
                  </a:lnTo>
                  <a:lnTo>
                    <a:pt x="38100" y="2857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27475" y="52273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质量不降级，效率可优化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69895" y="58007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下一轮验收重点：来源绑定、交付硬门、运行时长与前端闭环演示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404" y="6404610"/>
            <a:ext cx="10619125" cy="234696"/>
            <a:chOff x="946404" y="6404610"/>
            <a:chExt cx="10619125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946404" y="6404610"/>
              <a:ext cx="4401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保留双策略：Quality 用于快速探索，Dynamic 用于正式收敛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2026-08-05T18:46:41Z</dcterms:created>
  <dcterms:modified xsi:type="dcterms:W3CDTF">2026-08-05T18:46:41Z</dcterms:modified>
  <cp:category/>
  <cp:contentStatus/>
</cp:coreProperties>
</file>