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本次汇报的核心结论是，项目已经不是把多个 Agent 拼在一起的功能原型，而是形成了从问题定义到审计交付的研究操作系统。AI Query 负责把研究入口标准化，质量集群和动态蜂群在同一条制胜机理链上提供不同的执行强度，专家评审和报告模板保证结果可以治理、追溯和交付。后面我们会先看入口如何建立，再说明两种策略为什么能服务不同复杂度的任务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这一页先澄清一个关键认识：需求 Query 不是让模型一次性吐几个标题，而是一个独立、异步运行的选题发现服务。左侧的“围绕母题发散”，由用户给出课题边界，例如复杂电磁环境下的精确打击需求，再补充需求牵引、技术驱动等约束，系统从需求、技术、体系、颠覆和规模建设等不同角度，拆出互不重复的研究入口。右侧的“自动态势发散”则不要求用户先有题目：系统守住无人、低空、远程火力和精确打击等领域边界，Agent 从公开态势与技术信号中自己挑出值得研究的矛盾和机会。最大的区别不是模型能力，而是问题边界由谁定义：前者是用户，后者是系统。两种模式进入的是同一条受治理链路：联网校验、20 个覆盖槽位的结构化生成、质量去重与来源校验、草稿审核发布，再进入 Deep Research。联网来源只帮助形成选题线索，不能替代正式报告中的证据。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这不是一个会卡住页面的生成按钮。前端调用接口后只创建任务，独立 Query Worker 会异步领取并执行；页面会明确显示排队、联网校验、Query 生成、保存中和完成或失败，用户离开也不影响任务，失败可以重试。运行时先做轻量联网校验，读取 3 到 5 个公开检索线索，最多保留 8 个实际访问的 HTTPS 来源；之后按 20 个覆盖槽位生成 4 到 20 条 Query，并做单条质量、去重和来源校验，整批通过才原子写入草稿库。每条草稿不只是短标题，还带有覆盖视角、研究边界、形成理由和来源线索；人工审核发布后才带入 Deep Research。右侧是项目真实工作台，现场可以直接演示这一闭环。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接下来不急着讲技术名词，先讲它们在解决什么问题。无论选质量集群还是动态蜂群，大家都在走同一条研究路：先看清问题，再想出方向，拿证据核验，最后形成可交付结论。差别只在带队方式：质量集群像固定、成熟的专家组快速会诊；动态蜂群像遇到新疑点才临时请来的专项顾问。两种方式共同的目标，是不让没有依据、经不起推敲的方案走到最后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质量集群就像一次有章法的专家会诊。先提出几个可能方向，再让检索、红队、可行性和验证等固定专家分工补证据、挑毛病；每一轮都检查有没有新增价值，没有就不再加人。这样，系统不会因为人越来越多而意见越来越乱，出了问题也能从检查点恢复。它的价值是用可控的时间和预算，把复杂问题先收敛成几条值得继续研究的稳定方向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动态蜂群适合研究做到一半发现真正难点的时候。比如证据不够、因果说不通、装备不具体、对手会怎样反应还没想清，或者没有验证办法，系统才临时请最合适的专项顾问加入。每位顾问只负责补一个明确短板，完成就离场；每条新意见都要写进同一本候选账，不能悄悄把旧结论改掉。它花的时间更多，但换来的是把复杂课题的漏项逐一补齐，让结论能经得住追问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这里提到 Kimi K3，借鉴的是一种很朴素的组织思路，而不是直接复刻外部产品：问题出现才请对的人，而不是先把所有人都拉进来。新来的角色只办一件清楚的事，所有意见放到同一本账上比较，不把多个相近方案硬拼成一个看似全面的答案。谁可以加入由统一调度来决定，任务结束就回收。项目把这种思路做成了自己的 winning_swarm_dynamic_v2，确保动态增援带来的是质量提升，而不是复杂度膨胀。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怎么选很简单：如果现在最需要的是快速把方向摸清，就选质量集群；如果要拿出能对外承担的正式结论，就选动态蜂群。同一 Query 的真实运行中，质量集群大约十分钟完成快速初筛；动态蜂群大约三十一分钟，最终达到了百分之百来源绑定、L1 到 L3 通过和 approved。多出来的时间不是空耗，而是用在补漏、独立复核和定向修复上。也就是说，前者帮我们快，后者帮我们稳。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质量提升的最后一道保险，是不让看起来很完整的方案直接变成正式结论。独立专家不参加原始讨论，只看候选和有效证据，先问三件事：说得通吗，落得下吗，站得住吗。达标的进入正式收敛，缺关键一块的只做定向补齐，经不起复核的就阻断发布并留下原因。我们已经把“标题看起来很多、内容却重复”和“装备不够具体”从提醒升级为硬门，所以质量不是最后一句承诺，而是每一步都能拦住不合格方案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这些是真实工作台页面，目的是让项目方能看到过程，而不是只接收最终报告。现场可以从一个任务开始，依次查看实时交互与事件、能力画像与卡片、制胜机理以及门控状态。这样既能展示从 Query 到结果的闭环，也能让评审方按需要下钻到过程和证据组织方式。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除了两条蜂群策略，系统还将运行模式和报告表达做成可配置能力。任务可以通过 CLI 或 API 选择兼容回滚、普通协同、质量集群或动态蜂群，配置会随任务和运行快照保存，支持复现和审计。交付端可以按项目方需要选择项目论证五章模板或三层九项模板；模板改变的是阅读与决策视角，不改变事实、证据和审计边界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阶段坚持一个原则：质量硬门不降级，运行效率可持续优化。证据侧将增强主张与来源的直接对应、正文可核查呈现、时效校验、冲突证据处理和专家复核；效率侧将提前按装备族和验收变量去重，减少同族重复候选，并优化动态 Agent 编排。我们会保留质量集群用于快速探索、动态蜂群用于正式收敛的双策略，并以来源绑定、交付硬门、运行时长和前端闭环演示作为下一轮验收的共同指标。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oject_progress_ai_query_swar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9010650" y="0"/>
            <a:ext cx="3181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553450" y="0"/>
            <a:ext cx="457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02742" y="654368"/>
            <a:ext cx="2685250" cy="264033"/>
            <a:chOff x="602742" y="654368"/>
            <a:chExt cx="2685250" cy="264033"/>
          </a:xfrm>
        </p:grpSpPr>
        <p:sp>
          <p:nvSpPr>
            <p:cNvPr id="4" name="TextBox 4"/>
            <p:cNvSpPr txBox="1"/>
            <p:nvPr/>
          </p:nvSpPr>
          <p:spPr>
            <a:xfrm>
              <a:off x="602742" y="6543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项目方阶段进展汇报 / 2026.08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0550" y="1336358"/>
            <a:ext cx="4678680" cy="1937385"/>
            <a:chOff x="590550" y="1336358"/>
            <a:chExt cx="4678680" cy="1937385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1336358"/>
              <a:ext cx="225828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项目已进入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1816418"/>
              <a:ext cx="4678680" cy="1457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800"/>
                </a:lnSpc>
              </a:pPr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可演示、可评测、可审计阶段</a:t>
              </a:r>
              <a:endParaRPr lang="zh-CN" sz="4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98170" y="3319462"/>
            <a:ext cx="7813875" cy="743522"/>
            <a:chOff x="598170" y="3319462"/>
            <a:chExt cx="7813875" cy="743522"/>
          </a:xfrm>
        </p:grpSpPr>
        <p:sp>
          <p:nvSpPr>
            <p:cNvPr id="9" name="TextBox 9"/>
            <p:cNvSpPr txBox="1"/>
            <p:nvPr/>
          </p:nvSpPr>
          <p:spPr>
            <a:xfrm>
              <a:off x="598170" y="3319462"/>
              <a:ext cx="57778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从任务入口到审计交付，关键能力已贯通。</a:t>
              </a:r>
              <a:endParaRPr lang="zh-CN" sz="22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3710940"/>
              <a:ext cx="78115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Query 自动生成、质量集群与动态蜂群已接入同一研究与交付链路。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39039" y="4876800"/>
            <a:ext cx="8417166" cy="880301"/>
            <a:chOff x="239039" y="4876800"/>
            <a:chExt cx="8417166" cy="880301"/>
          </a:xfrm>
        </p:grpSpPr>
        <p:sp>
          <p:nvSpPr>
            <p:cNvPr id="12" name="Line 12"/>
            <p:cNvSpPr/>
            <p:nvPr/>
          </p:nvSpPr>
          <p:spPr>
            <a:xfrm>
              <a:off x="1409700" y="51435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810000" y="51435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210300" y="51435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00100" y="48768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200400" y="48768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600700" y="48768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001000" y="4876800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00873" y="50577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01173" y="50577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01473" y="50577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54067" y="50577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  <a:endPara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9039" y="5493068"/>
              <a:ext cx="1655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Query 自动生成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87770" y="54930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质量集群探索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88070" y="54930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动态蜂群收敛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79194" y="54930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审计交付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341358" y="1836420"/>
            <a:ext cx="1993392" cy="2602992"/>
            <a:chOff x="9341358" y="1836420"/>
            <a:chExt cx="1993392" cy="2602992"/>
          </a:xfrm>
        </p:grpSpPr>
        <p:sp>
          <p:nvSpPr>
            <p:cNvPr id="28" name="TextBox 28"/>
            <p:cNvSpPr txBox="1"/>
            <p:nvPr/>
          </p:nvSpPr>
          <p:spPr>
            <a:xfrm>
              <a:off x="9341358" y="18364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可演示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9353550" y="230505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341358" y="29032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可评测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9353550" y="337185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41358" y="39700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可审计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3504" y="6404610"/>
            <a:ext cx="10676275" cy="234696"/>
            <a:chOff x="603504" y="6404610"/>
            <a:chExt cx="10676275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603504" y="6404610"/>
              <a:ext cx="42284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材料口径：项目仓库真实实现与 2026-08-05 真实对比记录</a:t>
              </a:r>
              <a:endParaRPr lang="zh-CN" sz="1200" dirty="0">
                <a:solidFill>
                  <a:srgbClr val="52606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8100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922" y="482918"/>
            <a:ext cx="5482638" cy="1214627"/>
            <a:chOff x="518922" y="482918"/>
            <a:chExt cx="5482638" cy="121462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82918"/>
              <a:ext cx="29372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/ 需求 QUERY：选题发现服务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740092"/>
              <a:ext cx="5482638" cy="9574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“需求 Query”不是标题生成器，而是异步运行的选题发现服务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809750"/>
            <a:ext cx="5219700" cy="2381250"/>
            <a:chOff x="533400" y="1809750"/>
            <a:chExt cx="5219700" cy="2381250"/>
          </a:xfrm>
        </p:grpSpPr>
        <p:sp>
          <p:nvSpPr>
            <p:cNvPr id="5" name="Rectangle 5"/>
            <p:cNvSpPr/>
            <p:nvPr/>
          </p:nvSpPr>
          <p:spPr>
            <a:xfrm>
              <a:off x="533400" y="1809750"/>
              <a:ext cx="5219700" cy="2381250"/>
            </a:xfrm>
            <a:prstGeom prst="roundRect">
              <a:avLst>
                <a:gd name="adj" fmla="val 800"/>
              </a:avLst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81050" y="2038350"/>
              <a:ext cx="1352550" cy="304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2365" y="21183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用户定义边界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70382" y="24593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围绕母题发散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4192" y="28451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已有明确课题时，把一个大问题拆成不同研究入口</a:t>
              </a:r>
              <a:endParaRPr lang="zh-CN" sz="1350" dirty="0">
                <a:solidFill>
                  <a:srgbClr val="52606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781050" y="318135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19050">
              <a:solidFill>
                <a:srgbClr val="B8C9D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4192" y="33404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31392" y="334041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必填母题；可补预期角度、需求牵引、技术驱动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192" y="3683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产出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1392" y="368331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需求、技术、体系、颠覆、规模建设等互异子题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981700" y="1809750"/>
            <a:ext cx="5676900" cy="2381250"/>
            <a:chOff x="5981700" y="1809750"/>
            <a:chExt cx="5676900" cy="2381250"/>
          </a:xfrm>
        </p:grpSpPr>
        <p:sp>
          <p:nvSpPr>
            <p:cNvPr id="16" name="Rectangle 16"/>
            <p:cNvSpPr/>
            <p:nvPr/>
          </p:nvSpPr>
          <p:spPr>
            <a:xfrm>
              <a:off x="5981700" y="1809750"/>
              <a:ext cx="5676900" cy="2381250"/>
            </a:xfrm>
            <a:prstGeom prst="roundRect">
              <a:avLst>
                <a:gd name="adj" fmla="val 8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29350" y="2038350"/>
              <a:ext cx="1619250" cy="304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4394" y="211836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系统定义领域边界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18682" y="24593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自动态势发散</a:t>
              </a:r>
              <a:endParaRPr lang="zh-CN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22492" y="284511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前期机会扫描时，从公开态势与技术信号中寻找题目</a:t>
              </a:r>
              <a:endParaRPr lang="zh-CN" sz="1350" dirty="0">
                <a:solidFill>
                  <a:srgbClr val="EAF0F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6229350" y="31813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47698E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22492" y="33404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输入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79692" y="33404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可选关注领域、区域、技术或时间偏好；无需母题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22492" y="3683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发现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79692" y="368331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能力缺口、技术机会、韧性、成本交换与工业化问题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26542" y="4578668"/>
            <a:ext cx="11411423" cy="1285493"/>
            <a:chOff x="526542" y="4578668"/>
            <a:chExt cx="11411423" cy="1285493"/>
          </a:xfrm>
        </p:grpSpPr>
        <p:sp>
          <p:nvSpPr>
            <p:cNvPr id="27" name="TextBox 27"/>
            <p:cNvSpPr txBox="1"/>
            <p:nvPr/>
          </p:nvSpPr>
          <p:spPr>
            <a:xfrm>
              <a:off x="526542" y="4578668"/>
              <a:ext cx="4021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两种前端模式，进入同一条受治理的异步服务链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Line 28"/>
            <p:cNvSpPr/>
            <p:nvPr/>
          </p:nvSpPr>
          <p:spPr>
            <a:xfrm>
              <a:off x="1104900" y="5219700"/>
              <a:ext cx="10039350" cy="9525"/>
            </a:xfrm>
            <a:custGeom>
              <a:avLst/>
              <a:gdLst/>
              <a:ahLst/>
              <a:cxnLst/>
              <a:rect l="l" t="t" r="r" b="b"/>
              <a:pathLst>
                <a:path w="10039350" h="9525">
                  <a:moveTo>
                    <a:pt x="0" y="0"/>
                  </a:moveTo>
                  <a:lnTo>
                    <a:pt x="10039350" y="0"/>
                  </a:lnTo>
                </a:path>
              </a:pathLst>
            </a:custGeom>
            <a:noFill/>
            <a:ln w="28575">
              <a:solidFill>
                <a:srgbClr val="9CB6CE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59562" y="4981575"/>
              <a:ext cx="690677" cy="743331"/>
              <a:chOff x="759562" y="4981575"/>
              <a:chExt cx="690677" cy="743331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866775" y="49815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45565" y="5140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59562" y="5490210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异步提交</a:t>
                </a:r>
                <a:endPara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2740762" y="4981575"/>
              <a:ext cx="690677" cy="743331"/>
              <a:chOff x="2740762" y="4981575"/>
              <a:chExt cx="690677" cy="743331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2847975" y="49815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3026765" y="5140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740762" y="5490210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联网校验</a:t>
                </a:r>
                <a:endPara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4518416" y="4981575"/>
              <a:ext cx="1097768" cy="882586"/>
              <a:chOff x="4518416" y="4981575"/>
              <a:chExt cx="1097768" cy="882586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4829175" y="49815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5007965" y="5140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518416" y="5452110"/>
                <a:ext cx="10977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20 个覆盖槽位</a:t>
                </a:r>
                <a:endPara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708588" y="565880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06D"/>
                    </a:solidFill>
                    <a:latin typeface="+mn-lt"/>
                    <a:ea typeface="+mn-ea"/>
                    <a:cs typeface="+mn-cs"/>
                  </a:rPr>
                  <a:t>结构化生成</a:t>
                </a:r>
                <a:endParaRPr lang="zh-CN" sz="105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605629" y="4981575"/>
              <a:ext cx="885741" cy="882586"/>
              <a:chOff x="6605629" y="4981575"/>
              <a:chExt cx="885741" cy="882586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6810375" y="49815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989165" y="5140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605629" y="5452110"/>
                <a:ext cx="8857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质量 / 去重</a:t>
                </a:r>
                <a:endPara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760464" y="56588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06D"/>
                    </a:solidFill>
                    <a:latin typeface="+mn-lt"/>
                    <a:ea typeface="+mn-ea"/>
                    <a:cs typeface="+mn-cs"/>
                  </a:rPr>
                  <a:t>来源校验</a:t>
                </a:r>
                <a:endParaRPr lang="zh-CN" sz="105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429930" y="4981575"/>
              <a:ext cx="1199540" cy="882586"/>
              <a:chOff x="8429930" y="4981575"/>
              <a:chExt cx="1199540" cy="882586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8791575" y="49815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970365" y="5140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endPara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429930" y="5452110"/>
                <a:ext cx="11995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原子写入草稿库</a:t>
                </a:r>
                <a:endPara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600313" y="565880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06D"/>
                    </a:solidFill>
                    <a:latin typeface="+mn-lt"/>
                    <a:ea typeface="+mn-ea"/>
                    <a:cs typeface="+mn-cs"/>
                  </a:rPr>
                  <a:t>人工审核发布</a:t>
                </a:r>
                <a:endParaRPr lang="zh-CN" sz="105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0350536" y="4981575"/>
              <a:ext cx="1587429" cy="743331"/>
              <a:chOff x="10350536" y="4981575"/>
              <a:chExt cx="1587429" cy="743331"/>
            </a:xfrm>
          </p:grpSpPr>
          <p:sp>
            <p:nvSpPr>
              <p:cNvPr id="52" name="Ellipse 52"/>
              <p:cNvSpPr/>
              <p:nvPr/>
            </p:nvSpPr>
            <p:spPr>
              <a:xfrm>
                <a:off x="10906125" y="4981575"/>
                <a:ext cx="476250" cy="476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1084915" y="5140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</a:t>
                </a:r>
                <a:endPara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350536" y="5490210"/>
                <a:ext cx="158742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进入 Deep Research</a:t>
                </a:r>
                <a:endPara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527304" y="6385560"/>
            <a:ext cx="11038225" cy="234696"/>
            <a:chOff x="527304" y="6385560"/>
            <a:chExt cx="11038225" cy="234696"/>
          </a:xfrm>
        </p:grpSpPr>
        <p:sp>
          <p:nvSpPr>
            <p:cNvPr id="57" name="TextBox 57"/>
            <p:cNvSpPr txBox="1"/>
            <p:nvPr/>
          </p:nvSpPr>
          <p:spPr>
            <a:xfrm>
              <a:off x="527304" y="6385560"/>
              <a:ext cx="69425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边界：联网来源只用于形成选题线索；正式报告证据仍由后续 Deep Research 采集、核验与审计</a:t>
              </a:r>
              <a:endParaRPr lang="zh-CN" sz="1200" dirty="0">
                <a:solidFill>
                  <a:srgbClr val="52606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366754" y="63855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en-US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21018"/>
            <a:ext cx="8526971" cy="1169289"/>
            <a:chOff x="520446" y="521018"/>
            <a:chExt cx="8526971" cy="1169289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21018"/>
              <a:ext cx="17788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真实前端工作台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810578"/>
              <a:ext cx="8526971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一次生成任务，经历联网校验、结构化生成与草稿审核，而非页面阻塞等待</a:t>
              </a:r>
              <a:endParaRPr lang="zh-CN" sz="25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1828800"/>
            <a:ext cx="4171950" cy="4038600"/>
            <a:chOff x="533400" y="1828800"/>
            <a:chExt cx="4171950" cy="4038600"/>
          </a:xfrm>
        </p:grpSpPr>
        <p:sp>
          <p:nvSpPr>
            <p:cNvPr id="5" name="Rectangle 5"/>
            <p:cNvSpPr/>
            <p:nvPr/>
          </p:nvSpPr>
          <p:spPr>
            <a:xfrm>
              <a:off x="533400" y="1828800"/>
              <a:ext cx="4171950" cy="403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4192" y="1987868"/>
              <a:ext cx="3686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页面只创建任务，Query Worker 独立执行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800100" y="238125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04850" y="2438400"/>
              <a:ext cx="1627720" cy="473011"/>
              <a:chOff x="704850" y="2438400"/>
              <a:chExt cx="1627720" cy="473011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704850" y="243840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21842" y="2445068"/>
                <a:ext cx="1158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提交生成任务</a:t>
                </a:r>
                <a:endPara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23366" y="2706052"/>
                <a:ext cx="130920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EAF0F7"/>
                    </a:solidFill>
                    <a:latin typeface="+mn-lt"/>
                    <a:ea typeface="+mn-ea"/>
                    <a:cs typeface="+mn-cs"/>
                  </a:rPr>
                  <a:t>POST /generations</a:t>
                </a:r>
                <a:endParaRPr lang="en-US" sz="10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04850" y="3009900"/>
              <a:ext cx="3099664" cy="473011"/>
              <a:chOff x="704850" y="3009900"/>
              <a:chExt cx="3099664" cy="473011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704850" y="300990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21842" y="3016568"/>
                <a:ext cx="1158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前端可见状态</a:t>
                </a:r>
                <a:endPara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23366" y="3277552"/>
                <a:ext cx="278114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AF0F7"/>
                    </a:solidFill>
                    <a:latin typeface="+mn-lt"/>
                    <a:ea typeface="+mn-ea"/>
                    <a:cs typeface="+mn-cs"/>
                  </a:rPr>
                  <a:t>排队 / 联网校验 / 生成 / 保存 / 完成或失败</a:t>
                </a:r>
                <a:endParaRPr lang="zh-CN" sz="10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704850" y="3581400"/>
              <a:ext cx="2935376" cy="473011"/>
              <a:chOff x="704850" y="3581400"/>
              <a:chExt cx="2935376" cy="473011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704850" y="358140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21842" y="3588068"/>
                <a:ext cx="1158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轻量联网校验</a:t>
                </a:r>
                <a:endPara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23366" y="3849052"/>
                <a:ext cx="26168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AF0F7"/>
                    </a:solidFill>
                    <a:latin typeface="+mn-lt"/>
                    <a:ea typeface="+mn-ea"/>
                    <a:cs typeface="+mn-cs"/>
                  </a:rPr>
                  <a:t>3—5 个公开检索；最多 8 个 HTTPS 来源</a:t>
                </a:r>
                <a:endParaRPr lang="zh-CN" sz="10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04850" y="4152900"/>
              <a:ext cx="3113799" cy="473011"/>
              <a:chOff x="704850" y="4152900"/>
              <a:chExt cx="3113799" cy="473011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704850" y="415290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21842" y="4159568"/>
                <a:ext cx="13494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按覆盖槽位生成</a:t>
                </a:r>
                <a:endPara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23366" y="4420552"/>
                <a:ext cx="27952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AF0F7"/>
                    </a:solidFill>
                    <a:latin typeface="+mn-lt"/>
                    <a:ea typeface="+mn-ea"/>
                    <a:cs typeface="+mn-cs"/>
                  </a:rPr>
                  <a:t>20 个槽位，支持 4 / 6 / 8 / 12 / 16 / 20 条</a:t>
                </a:r>
                <a:endParaRPr lang="zh-CN" sz="10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04850" y="4724400"/>
              <a:ext cx="2873502" cy="473011"/>
              <a:chOff x="704850" y="4724400"/>
              <a:chExt cx="2873502" cy="473011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704850" y="472440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21842" y="4731068"/>
                <a:ext cx="17311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整批校验后原子入库</a:t>
                </a:r>
                <a:endPara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23366" y="4992052"/>
                <a:ext cx="25549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AF0F7"/>
                    </a:solidFill>
                    <a:latin typeface="+mn-lt"/>
                    <a:ea typeface="+mn-ea"/>
                    <a:cs typeface="+mn-cs"/>
                  </a:rPr>
                  <a:t>质量、去重、来源校验全部通过才写草稿</a:t>
                </a:r>
                <a:endParaRPr lang="zh-CN" sz="10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04850" y="5295900"/>
              <a:ext cx="3037076" cy="270701"/>
              <a:chOff x="704850" y="5295900"/>
              <a:chExt cx="3037076" cy="270701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704850" y="529590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021842" y="5302568"/>
                <a:ext cx="27200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人工审核发布 → Deep Research</a:t>
                </a:r>
                <a:endPara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5048250" y="1828800"/>
            <a:ext cx="6610350" cy="3752850"/>
            <a:chOff x="5048250" y="1828800"/>
            <a:chExt cx="6610350" cy="3752850"/>
          </a:xfrm>
        </p:grpSpPr>
        <p:sp>
          <p:nvSpPr>
            <p:cNvPr id="32" name="Rectangle 32"/>
            <p:cNvSpPr/>
            <p:nvPr/>
          </p:nvSpPr>
          <p:spPr>
            <a:xfrm>
              <a:off x="5048250" y="1828800"/>
              <a:ext cx="6610350" cy="37528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048250" y="1828800"/>
              <a:ext cx="6610350" cy="247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5181600" y="19145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324475" y="1914525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5467350" y="1914525"/>
              <a:ext cx="76200" cy="76200"/>
            </a:xfrm>
            <a:prstGeom prst="ellipse">
              <a:avLst/>
            </a:prstGeom>
            <a:solidFill>
              <a:srgbClr val="9CB6C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474429" y="1904524"/>
              <a:ext cx="9795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真实项目工作台</a:t>
              </a:r>
              <a:endParaRPr lang="zh-CN" sz="980" b="1" dirty="0">
                <a:solidFill>
                  <a:srgbClr val="52606D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475524" y="2152650"/>
              <a:ext cx="5755802" cy="3238500"/>
            </a:xfrm>
            <a:prstGeom prst="rect">
              <a:avLst/>
            </a:prstGeom>
          </p:spPr>
        </p:pic>
      </p:grpSp>
      <p:grpSp>
        <p:nvGrpSpPr>
          <p:cNvPr id="44" name="Group 44"/>
          <p:cNvGrpSpPr/>
          <p:nvPr/>
        </p:nvGrpSpPr>
        <p:grpSpPr>
          <a:xfrm>
            <a:off x="5048250" y="5734050"/>
            <a:ext cx="6610350" cy="495014"/>
            <a:chOff x="5048250" y="5734050"/>
            <a:chExt cx="6610350" cy="495014"/>
          </a:xfrm>
        </p:grpSpPr>
        <p:sp>
          <p:nvSpPr>
            <p:cNvPr id="40" name="Rectangle 40"/>
            <p:cNvSpPr/>
            <p:nvPr/>
          </p:nvSpPr>
          <p:spPr>
            <a:xfrm>
              <a:off x="5048250" y="5734050"/>
              <a:ext cx="6610350" cy="4762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13985" y="5822156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每条草稿不是只有标题：</a:t>
              </a:r>
              <a:endPara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14747" y="6038374"/>
              <a:ext cx="53727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query + coverage_slot + supplemental_information + rationale + source_references</a:t>
              </a:r>
              <a:endParaRPr lang="en-US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730198" y="593502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失败可重试</a:t>
              </a:r>
              <a:endParaRPr lang="zh-CN" sz="10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527304" y="6404610"/>
              <a:ext cx="88993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来源口径：联网来源只服务选题形成；研究边界、失效条件和预期装备输出写入补充信息，正式证据由 Deep Research 核验</a:t>
              </a:r>
              <a:endParaRPr lang="zh-CN" sz="1200" dirty="0">
                <a:solidFill>
                  <a:srgbClr val="52606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en-US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2404110" cy="804545"/>
            <a:chOff x="517398" y="559118"/>
            <a:chExt cx="2404110" cy="804545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36588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两种执行</a:t>
              </a:r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模式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2404110" cy="484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两种执行</a:t>
              </a: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模式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17525" y="1819275"/>
            <a:ext cx="11125200" cy="1219200"/>
            <a:chOff x="533400" y="4476750"/>
            <a:chExt cx="11125200" cy="1219200"/>
          </a:xfrm>
        </p:grpSpPr>
        <p:sp>
          <p:nvSpPr>
            <p:cNvPr id="19" name="Rectangle 19"/>
            <p:cNvSpPr/>
            <p:nvPr/>
          </p:nvSpPr>
          <p:spPr>
            <a:xfrm>
              <a:off x="533400" y="4476750"/>
              <a:ext cx="5219700" cy="121920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9432" y="46882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质量集群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1718" y="5098732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像固定、成熟的专家小组：按既定节奏快速会诊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38900" y="4476750"/>
              <a:ext cx="5219700" cy="1219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94932" y="46882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动态蜂群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97218" y="5098732"/>
              <a:ext cx="356235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按问题动态孵化</a:t>
              </a:r>
              <a:r>
                <a:rPr lang="en-US" alt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altLang="en-US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并行执行相关</a:t>
              </a:r>
              <a:r>
                <a:rPr lang="zh-CN" altLang="en-US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智能体</a:t>
              </a:r>
              <a:endParaRPr lang="zh-CN" altLang="en-US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98742" y="5397818"/>
              <a:ext cx="1270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350" dirty="0">
                <a:solidFill>
                  <a:srgbClr val="EAF0F7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366500" y="6404610"/>
            <a:ext cx="198755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04</a:t>
            </a:r>
            <a:endParaRPr lang="en-US" sz="12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52" name="Group 29"/>
          <p:cNvGrpSpPr/>
          <p:nvPr/>
        </p:nvGrpSpPr>
        <p:grpSpPr>
          <a:xfrm>
            <a:off x="517525" y="3249930"/>
            <a:ext cx="11125200" cy="1122045"/>
            <a:chOff x="533400" y="4953000"/>
            <a:chExt cx="11125200" cy="1122045"/>
          </a:xfrm>
        </p:grpSpPr>
        <p:sp>
          <p:nvSpPr>
            <p:cNvPr id="53" name="Rectangle 26"/>
            <p:cNvSpPr/>
            <p:nvPr/>
          </p:nvSpPr>
          <p:spPr>
            <a:xfrm>
              <a:off x="533400" y="4953000"/>
              <a:ext cx="11125200" cy="11220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4" name="TextBox 27"/>
            <p:cNvSpPr txBox="1"/>
            <p:nvPr/>
          </p:nvSpPr>
          <p:spPr>
            <a:xfrm>
              <a:off x="790194" y="5104448"/>
              <a:ext cx="993140" cy="299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sym typeface="+mn-ea"/>
                </a:rPr>
                <a:t>质量集群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TextBox 28"/>
            <p:cNvSpPr txBox="1"/>
            <p:nvPr/>
          </p:nvSpPr>
          <p:spPr>
            <a:xfrm>
              <a:off x="789305" y="5471795"/>
              <a:ext cx="9617710" cy="48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不靠一开始多叫人，而是根据质量</a:t>
              </a:r>
              <a:r>
                <a:rPr lang="en-US" altLang="zh-CN" sz="16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altLang="en-US" sz="16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在</a:t>
              </a:r>
              <a:r>
                <a:rPr lang="zh-CN" sz="16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复杂任务中动态孵化。根据质量</a:t>
              </a:r>
              <a:r>
                <a:rPr lang="zh-CN" altLang="en-US" sz="16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临时孵化专项顾问加入</a:t>
              </a:r>
              <a:br>
                <a:rPr lang="zh-CN" altLang="en-US" sz="16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</a:br>
              <a:r>
                <a:rPr lang="zh-CN" altLang="en-US" sz="16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弥补相关质量短板</a:t>
              </a:r>
              <a:endParaRPr lang="zh-CN" altLang="en-US" sz="165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6" name="Group 29"/>
          <p:cNvGrpSpPr/>
          <p:nvPr/>
        </p:nvGrpSpPr>
        <p:grpSpPr>
          <a:xfrm>
            <a:off x="517525" y="4673600"/>
            <a:ext cx="11125200" cy="1218565"/>
            <a:chOff x="533400" y="4953000"/>
            <a:chExt cx="11125200" cy="1218565"/>
          </a:xfrm>
        </p:grpSpPr>
        <p:sp>
          <p:nvSpPr>
            <p:cNvPr id="57" name="Rectangle 26"/>
            <p:cNvSpPr/>
            <p:nvPr/>
          </p:nvSpPr>
          <p:spPr>
            <a:xfrm>
              <a:off x="533400" y="4953000"/>
              <a:ext cx="11125200" cy="12185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8" name="TextBox 27"/>
            <p:cNvSpPr txBox="1"/>
            <p:nvPr/>
          </p:nvSpPr>
          <p:spPr>
            <a:xfrm>
              <a:off x="790194" y="5104448"/>
              <a:ext cx="993140" cy="299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动态</a:t>
              </a:r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蜂群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28"/>
            <p:cNvSpPr txBox="1"/>
            <p:nvPr/>
          </p:nvSpPr>
          <p:spPr>
            <a:xfrm>
              <a:off x="789305" y="5353685"/>
              <a:ext cx="9920605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altLang="en-US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</a:t>
              </a:r>
              <a:r>
                <a:rPr lang="en-US" alt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query</a:t>
              </a:r>
              <a:r>
                <a:rPr lang="zh-CN" altLang="en-US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解析成任务图</a:t>
              </a:r>
              <a:r>
                <a:rPr lang="en-US" alt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altLang="en-US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根据当前任务状态孵化相关专家角色</a:t>
              </a:r>
              <a:r>
                <a:rPr lang="en-US" alt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altLang="en-US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每个角色是一次性合同，根据</a:t>
              </a:r>
              <a:r>
                <a:rPr lang="en-US" alt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query</a:t>
              </a:r>
              <a:r>
                <a:rPr lang="zh-CN" altLang="en-US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每个角色都有明确的任务</a:t>
              </a:r>
              <a:r>
                <a:rPr lang="en-US" alt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altLang="en-US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完成后立即回收，避免下次</a:t>
              </a:r>
              <a:r>
                <a:rPr lang="zh-CN" altLang="en-US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任务上下文污染</a:t>
              </a:r>
              <a:endParaRPr lang="zh-CN" altLang="en-US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8937117" cy="936117"/>
            <a:chOff x="517398" y="559118"/>
            <a:chExt cx="8937117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质量集群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893711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先请一支固定专家小组，把方向摸得又快又稳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64902" y="2686050"/>
            <a:ext cx="11010615" cy="1712595"/>
            <a:chOff x="664902" y="2686050"/>
            <a:chExt cx="11010615" cy="1712595"/>
          </a:xfrm>
        </p:grpSpPr>
        <p:sp>
          <p:nvSpPr>
            <p:cNvPr id="5" name="Line 5"/>
            <p:cNvSpPr/>
            <p:nvPr/>
          </p:nvSpPr>
          <p:spPr>
            <a:xfrm>
              <a:off x="1714500" y="316230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26860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5619750" y="26860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001250" y="2686050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28795" y="30279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en-US" sz="19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0295" y="30279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en-US" sz="19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91795" y="30279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en-US" sz="19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4902" y="37166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先提出几个方向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01090" y="41052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不急着定结论</a:t>
              </a:r>
              <a:endParaRPr lang="zh-CN" sz="1500" dirty="0">
                <a:solidFill>
                  <a:srgbClr val="52606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49565" y="3716655"/>
              <a:ext cx="26928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分工补证据、挑毛病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72940" y="41052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检索、红队、可行性、验证各司其职</a:t>
              </a:r>
              <a:endParaRPr lang="zh-CN" sz="1500" dirty="0">
                <a:solidFill>
                  <a:srgbClr val="52606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79484" y="371665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只留下少数好方向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59265" y="41052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形成稳定的装备方向初稿</a:t>
              </a:r>
              <a:endParaRPr lang="zh-CN" sz="1500" dirty="0">
                <a:solidFill>
                  <a:srgbClr val="52606D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4914900"/>
            <a:ext cx="11125200" cy="933450"/>
            <a:chOff x="533400" y="4914900"/>
            <a:chExt cx="11125200" cy="933450"/>
          </a:xfrm>
        </p:grpSpPr>
        <p:sp>
          <p:nvSpPr>
            <p:cNvPr id="19" name="Rectangle 19"/>
            <p:cNvSpPr/>
            <p:nvPr/>
          </p:nvSpPr>
          <p:spPr>
            <a:xfrm>
              <a:off x="533400" y="4914900"/>
              <a:ext cx="11125200" cy="9334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0194" y="506634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质量提升从哪里来？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1718" y="5441632"/>
              <a:ext cx="107008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每一轮都做质量检查；没有新增价值就不再加人；失败可以从检查点恢复，所以不会让“人越多、意见越乱”。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527304" y="6404610"/>
              <a:ext cx="81943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工程边界：最多 12 个实例、3 波、6 并发；通常保留 2–4 条非支配候选。适合快速探索、批量初筛、低预算任务。</a:t>
              </a:r>
              <a:endParaRPr lang="zh-CN" sz="1200" dirty="0">
                <a:solidFill>
                  <a:srgbClr val="52606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en-US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9827628" cy="936117"/>
            <a:chOff x="517398" y="559118"/>
            <a:chExt cx="9827628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动态蜂群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98276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方案哪里卡住，就临时请哪一类专家来补关键一块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962150"/>
            <a:ext cx="11125200" cy="2419350"/>
            <a:chOff x="533400" y="1962150"/>
            <a:chExt cx="11125200" cy="2419350"/>
          </a:xfrm>
        </p:grpSpPr>
        <p:sp>
          <p:nvSpPr>
            <p:cNvPr id="5" name="Rectangle 5"/>
            <p:cNvSpPr/>
            <p:nvPr/>
          </p:nvSpPr>
          <p:spPr>
            <a:xfrm>
              <a:off x="533400" y="1962150"/>
              <a:ext cx="2438400" cy="24193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0194" y="22278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研究先往前走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2480" y="27146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基础团队先完成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2480" y="3019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对手、方案、装备、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2480" y="3324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证据与验证的基本工作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429000" y="1962150"/>
              <a:ext cx="2438400" cy="2419350"/>
            </a:xfrm>
            <a:prstGeom prst="rect">
              <a:avLst/>
            </a:prstGeom>
            <a:solidFill>
              <a:srgbClr val="FFF3E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685794" y="22278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B45F06"/>
                  </a:solidFill>
                  <a:latin typeface="+mn-lt"/>
                  <a:ea typeface="+mn-ea"/>
                  <a:cs typeface="+mn-cs"/>
                </a:rPr>
                <a:t>发现关键缺口</a:t>
              </a:r>
              <a:endParaRPr lang="zh-CN" sz="1950" b="1" dirty="0">
                <a:solidFill>
                  <a:srgbClr val="B45F0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88080" y="27146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证据不够？因果不通？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88080" y="3019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装备不具体？对手反应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88080" y="3324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或验证办法还没想清？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324600" y="1962150"/>
              <a:ext cx="2438400" cy="2419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1394" y="22278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临时精准增援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83680" y="27146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只请最需要的专项顾问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83680" y="30194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任务和边界说清楚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3680" y="33242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做完就离场，不拖泥带水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220200" y="1962150"/>
              <a:ext cx="2438400" cy="24193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76994" y="22278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意见统一记账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79280" y="27146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新意见不能悄悄覆盖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9280" y="3019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要么合并、要么补充、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9280" y="3324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要么按最新结论重做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4953000"/>
            <a:ext cx="11125200" cy="895350"/>
            <a:chOff x="533400" y="4953000"/>
            <a:chExt cx="11125200" cy="895350"/>
          </a:xfrm>
        </p:grpSpPr>
        <p:sp>
          <p:nvSpPr>
            <p:cNvPr id="26" name="Rectangle 26"/>
            <p:cNvSpPr/>
            <p:nvPr/>
          </p:nvSpPr>
          <p:spPr>
            <a:xfrm>
              <a:off x="533400" y="4953000"/>
              <a:ext cx="11125200" cy="895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0194" y="510444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质量提升从哪里来？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1718" y="5479732"/>
              <a:ext cx="9345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不靠一开始多叫人，而是把复杂课题中真正的漏项逐项补上，并把每次修改留下可追溯的来路。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527304" y="6404610"/>
              <a:ext cx="80813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工程边界：配置 8–16 个实例、最多 6 并发 / 3 波；版本账本、角色合同与专家修复是项目实现的质量控制手段。</a:t>
              </a:r>
              <a:endParaRPr lang="zh-CN" sz="1200" dirty="0">
                <a:solidFill>
                  <a:srgbClr val="52606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en-US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25"/>
          <p:cNvGrpSpPr/>
          <p:nvPr/>
        </p:nvGrpSpPr>
        <p:grpSpPr>
          <a:xfrm>
            <a:off x="517525" y="1941195"/>
            <a:ext cx="11125200" cy="2419350"/>
            <a:chOff x="533400" y="1962150"/>
            <a:chExt cx="11125200" cy="2419350"/>
          </a:xfrm>
        </p:grpSpPr>
        <p:sp>
          <p:nvSpPr>
            <p:cNvPr id="34" name="Rectangle 5"/>
            <p:cNvSpPr/>
            <p:nvPr/>
          </p:nvSpPr>
          <p:spPr>
            <a:xfrm>
              <a:off x="533400" y="1962150"/>
              <a:ext cx="2438400" cy="24193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5" name="TextBox 6"/>
            <p:cNvSpPr txBox="1"/>
            <p:nvPr/>
          </p:nvSpPr>
          <p:spPr>
            <a:xfrm>
              <a:off x="790194" y="22278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研究先往前走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7"/>
            <p:cNvSpPr txBox="1"/>
            <p:nvPr/>
          </p:nvSpPr>
          <p:spPr>
            <a:xfrm>
              <a:off x="792480" y="27146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基础团队先完成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8"/>
            <p:cNvSpPr txBox="1"/>
            <p:nvPr/>
          </p:nvSpPr>
          <p:spPr>
            <a:xfrm>
              <a:off x="792480" y="3019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对手、方案、装备、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9"/>
            <p:cNvSpPr txBox="1"/>
            <p:nvPr/>
          </p:nvSpPr>
          <p:spPr>
            <a:xfrm>
              <a:off x="792480" y="3324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证据与验证的基本工作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Rectangle 10"/>
            <p:cNvSpPr/>
            <p:nvPr/>
          </p:nvSpPr>
          <p:spPr>
            <a:xfrm>
              <a:off x="3429000" y="1962150"/>
              <a:ext cx="2438400" cy="2419350"/>
            </a:xfrm>
            <a:prstGeom prst="rect">
              <a:avLst/>
            </a:prstGeom>
            <a:solidFill>
              <a:srgbClr val="FFF3E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40" name="TextBox 11"/>
            <p:cNvSpPr txBox="1"/>
            <p:nvPr/>
          </p:nvSpPr>
          <p:spPr>
            <a:xfrm>
              <a:off x="3685794" y="22278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B45F06"/>
                  </a:solidFill>
                  <a:latin typeface="+mn-lt"/>
                  <a:ea typeface="+mn-ea"/>
                  <a:cs typeface="+mn-cs"/>
                </a:rPr>
                <a:t>发现关键缺口</a:t>
              </a:r>
              <a:endParaRPr lang="zh-CN" sz="1950" b="1" dirty="0">
                <a:solidFill>
                  <a:srgbClr val="B45F0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12"/>
            <p:cNvSpPr txBox="1"/>
            <p:nvPr/>
          </p:nvSpPr>
          <p:spPr>
            <a:xfrm>
              <a:off x="3688080" y="27146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证据不够？因果不通？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13"/>
            <p:cNvSpPr txBox="1"/>
            <p:nvPr/>
          </p:nvSpPr>
          <p:spPr>
            <a:xfrm>
              <a:off x="3688080" y="3019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装备不具体？对手反应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14"/>
            <p:cNvSpPr txBox="1"/>
            <p:nvPr/>
          </p:nvSpPr>
          <p:spPr>
            <a:xfrm>
              <a:off x="3688080" y="3324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或验证办法还没想清？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Rectangle 15"/>
            <p:cNvSpPr/>
            <p:nvPr/>
          </p:nvSpPr>
          <p:spPr>
            <a:xfrm>
              <a:off x="6324600" y="1962150"/>
              <a:ext cx="2438400" cy="2419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TextBox 16"/>
            <p:cNvSpPr txBox="1"/>
            <p:nvPr/>
          </p:nvSpPr>
          <p:spPr>
            <a:xfrm>
              <a:off x="6581394" y="22278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临时精准增援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17"/>
            <p:cNvSpPr txBox="1"/>
            <p:nvPr/>
          </p:nvSpPr>
          <p:spPr>
            <a:xfrm>
              <a:off x="6583680" y="27146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只请最需要的专项顾问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18"/>
            <p:cNvSpPr txBox="1"/>
            <p:nvPr/>
          </p:nvSpPr>
          <p:spPr>
            <a:xfrm>
              <a:off x="6583680" y="30194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任务和边界说清楚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19"/>
            <p:cNvSpPr txBox="1"/>
            <p:nvPr/>
          </p:nvSpPr>
          <p:spPr>
            <a:xfrm>
              <a:off x="6583680" y="33242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做完就离场，不拖泥带水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Rectangle 20"/>
            <p:cNvSpPr/>
            <p:nvPr/>
          </p:nvSpPr>
          <p:spPr>
            <a:xfrm>
              <a:off x="9220200" y="1962150"/>
              <a:ext cx="2438400" cy="24193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50" name="TextBox 21"/>
            <p:cNvSpPr txBox="1"/>
            <p:nvPr/>
          </p:nvSpPr>
          <p:spPr>
            <a:xfrm>
              <a:off x="9476994" y="22278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意见统一记账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TextBox 22"/>
            <p:cNvSpPr txBox="1"/>
            <p:nvPr/>
          </p:nvSpPr>
          <p:spPr>
            <a:xfrm>
              <a:off x="9479280" y="27146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新意见不能悄悄覆盖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23"/>
            <p:cNvSpPr txBox="1"/>
            <p:nvPr/>
          </p:nvSpPr>
          <p:spPr>
            <a:xfrm>
              <a:off x="9479280" y="3019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要么合并、要么补充、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24"/>
            <p:cNvSpPr txBox="1"/>
            <p:nvPr/>
          </p:nvSpPr>
          <p:spPr>
            <a:xfrm>
              <a:off x="9479280" y="3324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要么按最新结论重做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9026168" cy="936117"/>
            <a:chOff x="517398" y="559118"/>
            <a:chExt cx="9026168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2160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动态孵化的思想来源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90261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不是“人海战术”，而是“问题出现才请对的人”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2057400"/>
            <a:ext cx="11125200" cy="1885950"/>
            <a:chOff x="533400" y="2057400"/>
            <a:chExt cx="11125200" cy="1885950"/>
          </a:xfrm>
        </p:grpSpPr>
        <p:sp>
          <p:nvSpPr>
            <p:cNvPr id="5" name="Rectangle 5"/>
            <p:cNvSpPr/>
            <p:nvPr/>
          </p:nvSpPr>
          <p:spPr>
            <a:xfrm>
              <a:off x="533400" y="2057400"/>
              <a:ext cx="3352800" cy="18859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0194" y="2304098"/>
              <a:ext cx="19492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缺什么，补什么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718" y="27746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发现关键短板才加人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1718" y="3098482"/>
              <a:ext cx="2704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不为“看起来很热闹”堆角色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4419600" y="2057400"/>
              <a:ext cx="3352800" cy="1885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676394" y="230409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每个人，只办一件事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77918" y="27746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任务、边界、交付目标明确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77918" y="30984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做完回收，不带来额外噪声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05800" y="2057400"/>
              <a:ext cx="3352800" cy="18859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62594" y="2304098"/>
              <a:ext cx="30517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所有意见，放在一本账里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64118" y="27746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相近方案不平均拼凑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64118" y="30984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让更有价值的候选胜出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4648200"/>
            <a:ext cx="11125200" cy="1066800"/>
            <a:chOff x="533400" y="4648200"/>
            <a:chExt cx="11125200" cy="1066800"/>
          </a:xfrm>
        </p:grpSpPr>
        <p:sp>
          <p:nvSpPr>
            <p:cNvPr id="18" name="Rectangle 18"/>
            <p:cNvSpPr/>
            <p:nvPr/>
          </p:nvSpPr>
          <p:spPr>
            <a:xfrm>
              <a:off x="533400" y="4648200"/>
              <a:ext cx="1112520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0575" y="4864894"/>
              <a:ext cx="214496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项目的工程化做法</a:t>
              </a:r>
              <a:endParaRPr lang="zh-CN" sz="188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1718" y="5251132"/>
              <a:ext cx="9568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统一调度决定谁加入；角色合同、隔离会话、版本账本和专家评审共同约束过程，避免越做越乱。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527304" y="6404610"/>
              <a:ext cx="7988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Kimi K3 提供的是方法启发；项目的实际落地是自身的 winning_swarm_dynamic_v2，而非直接复用外部组件。</a:t>
              </a:r>
              <a:endParaRPr lang="zh-CN" sz="1200" dirty="0">
                <a:solidFill>
                  <a:srgbClr val="52606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07</a:t>
              </a:r>
              <a:endParaRPr lang="en-US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10272884" cy="936117"/>
            <a:chOff x="517398" y="559118"/>
            <a:chExt cx="10272884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397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怎么选策略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102728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先要方向，选质量集群；要拿正式结论，选动态蜂群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2000250"/>
            <a:ext cx="5067300" cy="3143250"/>
            <a:chOff x="533400" y="2000250"/>
            <a:chExt cx="5067300" cy="3143250"/>
          </a:xfrm>
        </p:grpSpPr>
        <p:sp>
          <p:nvSpPr>
            <p:cNvPr id="5" name="Rectangle 5"/>
            <p:cNvSpPr/>
            <p:nvPr/>
          </p:nvSpPr>
          <p:spPr>
            <a:xfrm>
              <a:off x="533400" y="2000250"/>
              <a:ext cx="5067300" cy="31432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88670" y="223361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质量集群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337" y="2690336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适合：先把方向摸清</a:t>
              </a:r>
              <a:endParaRPr lang="zh-CN" sz="172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800100" y="31051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1718" y="33651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像一次快速专家会诊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1718" y="37271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用更短时间拿到可比较的方向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1718" y="40890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适合探索、初筛、预算受限任务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0956" y="4625340"/>
              <a:ext cx="24862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真实运行：约 10 分钟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591300" y="2000250"/>
            <a:ext cx="5067300" cy="3143250"/>
            <a:chOff x="6591300" y="2000250"/>
            <a:chExt cx="5067300" cy="3143250"/>
          </a:xfrm>
        </p:grpSpPr>
        <p:sp>
          <p:nvSpPr>
            <p:cNvPr id="14" name="Rectangle 14"/>
            <p:cNvSpPr/>
            <p:nvPr/>
          </p:nvSpPr>
          <p:spPr>
            <a:xfrm>
              <a:off x="6591300" y="2000250"/>
              <a:ext cx="5067300" cy="3143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46570" y="223361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动态蜂群</a:t>
              </a:r>
              <a:endParaRPr lang="zh-CN" sz="22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49237" y="2690336"/>
              <a:ext cx="23329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适合：把正式结论守住</a:t>
              </a:r>
              <a:endParaRPr lang="zh-CN" sz="1720" dirty="0">
                <a:solidFill>
                  <a:srgbClr val="EAF0F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0" y="31051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49618" y="33651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像遇到疑点就精准增援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49618" y="37271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把漏项补齐，把相近方案拉开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49618" y="408908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适合复杂课题和正式装备需求论证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48856" y="4625340"/>
              <a:ext cx="24862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真实运行：约 31 分钟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5562600"/>
            <a:ext cx="11450742" cy="514350"/>
            <a:chOff x="533400" y="5562600"/>
            <a:chExt cx="11450742" cy="514350"/>
          </a:xfrm>
        </p:grpSpPr>
        <p:sp>
          <p:nvSpPr>
            <p:cNvPr id="23" name="Rectangle 23"/>
            <p:cNvSpPr/>
            <p:nvPr/>
          </p:nvSpPr>
          <p:spPr>
            <a:xfrm>
              <a:off x="533400" y="5562600"/>
              <a:ext cx="11125200" cy="514350"/>
            </a:xfrm>
            <a:prstGeom prst="rect">
              <a:avLst/>
            </a:prstGeom>
            <a:solidFill>
              <a:srgbClr val="FFF3E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4380" y="5724525"/>
              <a:ext cx="11229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45F06"/>
                  </a:solidFill>
                  <a:latin typeface="+mn-lt"/>
                  <a:ea typeface="+mn-ea"/>
                  <a:cs typeface="+mn-cs"/>
                </a:rPr>
                <a:t>同一 Query 实测：动态模式最终达到 100% 来源绑定、L1–L3 通过和 approved；多花的时间用于补漏、复核和修复。</a:t>
              </a:r>
              <a:endParaRPr lang="zh-CN" sz="1500" b="1" dirty="0">
                <a:solidFill>
                  <a:srgbClr val="B45F0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527304" y="6404610"/>
              <a:ext cx="10117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同 Query 真实记录：Quality 576.738 秒 / 16 次调用；Dynamic 1,884.843 秒 / 34 次调用；数字用于策略选择，不外推为一般性能承诺。</a:t>
              </a:r>
              <a:endParaRPr lang="zh-CN" sz="1200" dirty="0">
                <a:solidFill>
                  <a:srgbClr val="52606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08</a:t>
              </a:r>
              <a:endParaRPr lang="en-US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9426898" cy="936117"/>
            <a:chOff x="517398" y="559118"/>
            <a:chExt cx="9426898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08 / 质量提升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942689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不让“看起来像答案”的方案，直接变成正式结论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2000250"/>
            <a:ext cx="11125200" cy="2209800"/>
            <a:chOff x="533400" y="2000250"/>
            <a:chExt cx="11125200" cy="2209800"/>
          </a:xfrm>
        </p:grpSpPr>
        <p:sp>
          <p:nvSpPr>
            <p:cNvPr id="5" name="Rectangle 5"/>
            <p:cNvSpPr/>
            <p:nvPr/>
          </p:nvSpPr>
          <p:spPr>
            <a:xfrm>
              <a:off x="533400" y="2000250"/>
              <a:ext cx="3352800" cy="220980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0194" y="2246948"/>
              <a:ext cx="22248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先问：说得通吗？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718" y="27365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是否符合任务和场景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1718" y="30794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因果链和军事价值是否成立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4419600" y="2000250"/>
              <a:ext cx="3352800" cy="2209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676394" y="2246948"/>
              <a:ext cx="22248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再问：落得下吗？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77918" y="2736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装备是不是具体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77918" y="30794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工程上是否可行、可验证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05800" y="2000250"/>
              <a:ext cx="3352800" cy="220980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62594" y="224694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最后问：站得住吗？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64118" y="27365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证据是否可信、方案是否重复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64118" y="30794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能否面对反例和后续复核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4857750"/>
            <a:ext cx="11125200" cy="933450"/>
            <a:chOff x="533400" y="4857750"/>
            <a:chExt cx="11125200" cy="933450"/>
          </a:xfrm>
        </p:grpSpPr>
        <p:sp>
          <p:nvSpPr>
            <p:cNvPr id="18" name="Rectangle 18"/>
            <p:cNvSpPr/>
            <p:nvPr/>
          </p:nvSpPr>
          <p:spPr>
            <a:xfrm>
              <a:off x="533400" y="4857750"/>
              <a:ext cx="11125200" cy="933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0194" y="5028248"/>
              <a:ext cx="30517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独立专家评审的三种结果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1718" y="5422582"/>
              <a:ext cx="855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 → 进入正式收敛　　缺关键一块 → 定向补齐　　经不起复核 → 阻断发布并留下原因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527304" y="6404610"/>
              <a:ext cx="7693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工程事实：quality_expert_judge 只读候选账本和有效证据；综合分 ≥ 0.72、关键维度 ≥ 0.60 才能放行。</a:t>
              </a:r>
              <a:endParaRPr lang="zh-CN" sz="1200" dirty="0">
                <a:solidFill>
                  <a:srgbClr val="52606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09</a:t>
              </a:r>
              <a:endParaRPr lang="en-US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40068"/>
            <a:ext cx="10272884" cy="936117"/>
            <a:chOff x="517398" y="540068"/>
            <a:chExt cx="10272884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400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09 / 前端成果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60108"/>
              <a:ext cx="102728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从任务创建到能力画像，前端已承载关键过程与结果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714500"/>
            <a:ext cx="3333750" cy="2347151"/>
            <a:chOff x="533400" y="1714500"/>
            <a:chExt cx="3333750" cy="2347151"/>
          </a:xfrm>
        </p:grpSpPr>
        <p:sp>
          <p:nvSpPr>
            <p:cNvPr id="5" name="Rectangle 5"/>
            <p:cNvSpPr/>
            <p:nvPr/>
          </p:nvSpPr>
          <p:spPr>
            <a:xfrm>
              <a:off x="533400" y="1714500"/>
              <a:ext cx="3333750" cy="23241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80150" y="1809750"/>
              <a:ext cx="2040250" cy="192405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621792" y="37976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实时交互与事件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133850" y="1714500"/>
            <a:ext cx="3333750" cy="2347151"/>
            <a:chOff x="4133850" y="1714500"/>
            <a:chExt cx="3333750" cy="2347151"/>
          </a:xfrm>
        </p:grpSpPr>
        <p:sp>
          <p:nvSpPr>
            <p:cNvPr id="9" name="Rectangle 9"/>
            <p:cNvSpPr/>
            <p:nvPr/>
          </p:nvSpPr>
          <p:spPr>
            <a:xfrm>
              <a:off x="4133850" y="1714500"/>
              <a:ext cx="3333750" cy="23241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80600" y="1809750"/>
              <a:ext cx="2040250" cy="192405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4222242" y="37976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能力画像与卡片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734300" y="1714500"/>
            <a:ext cx="3924300" cy="2347151"/>
            <a:chOff x="7734300" y="1714500"/>
            <a:chExt cx="3924300" cy="2347151"/>
          </a:xfrm>
        </p:grpSpPr>
        <p:sp>
          <p:nvSpPr>
            <p:cNvPr id="13" name="Rectangle 13"/>
            <p:cNvSpPr/>
            <p:nvPr/>
          </p:nvSpPr>
          <p:spPr>
            <a:xfrm>
              <a:off x="7734300" y="1714500"/>
              <a:ext cx="3924300" cy="23241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56464" y="1905000"/>
              <a:ext cx="3079973" cy="173355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7822692" y="37976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制胜机理与门控状态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21208" y="4732020"/>
            <a:ext cx="8097012" cy="1133475"/>
            <a:chOff x="521208" y="4732020"/>
            <a:chExt cx="8097012" cy="1133475"/>
          </a:xfrm>
        </p:grpSpPr>
        <p:sp>
          <p:nvSpPr>
            <p:cNvPr id="17" name="TextBox 17"/>
            <p:cNvSpPr txBox="1"/>
            <p:nvPr/>
          </p:nvSpPr>
          <p:spPr>
            <a:xfrm>
              <a:off x="521208" y="4732020"/>
              <a:ext cx="7017258" cy="8313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项目方可现场按任务查看：过程、证据、S 节点、能力画像与结果评审。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5780" y="557212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以上均为项目仓库中的真实工作台页面；截图保持原始内容和比例，不作为概念界面展示。</a:t>
              </a:r>
              <a:endParaRPr lang="zh-CN" sz="1500" dirty="0">
                <a:solidFill>
                  <a:srgbClr val="52606D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527304" y="6404610"/>
              <a:ext cx="5504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演示建议：以一个真实任务为入口，顺序查看任务交互、能力画像与制胜结果</a:t>
              </a:r>
              <a:endParaRPr lang="zh-CN" sz="1200" dirty="0">
                <a:solidFill>
                  <a:srgbClr val="52606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</a:t>
              </a:r>
              <a:endParaRPr lang="en-US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160" y="501968"/>
            <a:ext cx="5631180" cy="1227772"/>
            <a:chOff x="518160" y="501968"/>
            <a:chExt cx="5631180" cy="122777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01968"/>
              <a:ext cx="1397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 / 可配置交付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160" y="685800"/>
              <a:ext cx="563118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研究策略和报告表达均可配置，避免用同一种成本处理所有任务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5018" y="1707832"/>
            <a:ext cx="11133582" cy="1454468"/>
            <a:chOff x="525018" y="1707832"/>
            <a:chExt cx="11133582" cy="1454468"/>
          </a:xfrm>
        </p:grpSpPr>
        <p:sp>
          <p:nvSpPr>
            <p:cNvPr id="5" name="TextBox 5"/>
            <p:cNvSpPr txBox="1"/>
            <p:nvPr/>
          </p:nvSpPr>
          <p:spPr>
            <a:xfrm>
              <a:off x="525018" y="1707832"/>
              <a:ext cx="41665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 Profile：选择研究强度与收敛机制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2095500"/>
              <a:ext cx="2457450" cy="1066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5330" y="223837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legacy_v1</a:t>
              </a:r>
              <a:endParaRPr lang="en-US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6092" y="2578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传统固定编排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6854" y="28613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兼容回滚与对照</a:t>
              </a:r>
              <a:endParaRPr lang="zh-CN" sz="1200" dirty="0">
                <a:solidFill>
                  <a:srgbClr val="52606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219450" y="2095500"/>
              <a:ext cx="2457450" cy="1066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421380" y="2238375"/>
              <a:ext cx="1351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optimized_v2</a:t>
              </a:r>
              <a:endParaRPr lang="en-US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22142" y="2578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协同优化编排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22904" y="2861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普通研究任务</a:t>
              </a:r>
              <a:endParaRPr lang="zh-CN" sz="1200" dirty="0">
                <a:solidFill>
                  <a:srgbClr val="52606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905500" y="2095500"/>
              <a:ext cx="2457450" cy="1066800"/>
            </a:xfrm>
            <a:prstGeom prst="rect">
              <a:avLst/>
            </a:prstGeom>
            <a:solidFill>
              <a:srgbClr val="FFF3E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107430" y="2238375"/>
              <a:ext cx="18598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B45F06"/>
                  </a:solidFill>
                  <a:latin typeface="+mn-lt"/>
                  <a:ea typeface="+mn-ea"/>
                  <a:cs typeface="+mn-cs"/>
                </a:rPr>
                <a:t>swarm_quality_v1</a:t>
              </a:r>
              <a:endParaRPr lang="en-US" sz="1500" b="1" dirty="0">
                <a:solidFill>
                  <a:srgbClr val="B45F0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08192" y="2578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质量残差蜂群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08954" y="2861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质量残差探索</a:t>
              </a:r>
              <a:endParaRPr lang="zh-CN" sz="1200" dirty="0">
                <a:solidFill>
                  <a:srgbClr val="52606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591550" y="2095500"/>
              <a:ext cx="306705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93480" y="2238375"/>
              <a:ext cx="28245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winning_swarm_dynamic_v2</a:t>
              </a:r>
              <a:endParaRPr lang="en-US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94242" y="2578418"/>
              <a:ext cx="2013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Mission Graph 动态蜂群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95004" y="28613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复杂任务动态孵化</a:t>
              </a:r>
              <a:endParaRPr lang="zh-CN" sz="1200" dirty="0">
                <a:solidFill>
                  <a:srgbClr val="EAF0F7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18033" y="3574732"/>
            <a:ext cx="11133582" cy="1473518"/>
            <a:chOff x="525018" y="4222432"/>
            <a:chExt cx="11133582" cy="1473518"/>
          </a:xfrm>
        </p:grpSpPr>
        <p:sp>
          <p:nvSpPr>
            <p:cNvPr id="27" name="TextBox 27"/>
            <p:cNvSpPr txBox="1"/>
            <p:nvPr/>
          </p:nvSpPr>
          <p:spPr>
            <a:xfrm>
              <a:off x="525018" y="4222432"/>
              <a:ext cx="56142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报告模板：选择交付表达，而不是改变事实与审计边界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29150"/>
              <a:ext cx="523875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2668" y="4812982"/>
              <a:ext cx="45414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project_argument_v1　项目论证五章模板</a:t>
              </a:r>
              <a:endPara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430" y="5153025"/>
              <a:ext cx="49827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需求分析 · 项目画像 · 总体方案 · 关键技术 · 研制基础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19850" y="4629150"/>
              <a:ext cx="5238750" cy="1066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59118" y="4812982"/>
              <a:ext cx="42148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three_layer_nine_item　三层九项模板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59880" y="5153025"/>
              <a:ext cx="39427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需求挖掘 · 技术攻关 · 能力图像 · 效能贡献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50469" y="6302375"/>
            <a:ext cx="11038225" cy="234696"/>
            <a:chOff x="527304" y="6404610"/>
            <a:chExt cx="11038225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527304" y="6404610"/>
              <a:ext cx="5226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配置通过 CLI / API 传入，并随任务与运行快照保留，支撑复现与审计</a:t>
              </a:r>
              <a:endParaRPr lang="zh-CN" sz="1200" dirty="0">
                <a:solidFill>
                  <a:srgbClr val="52606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</a:t>
              </a:r>
              <a:endParaRPr lang="en-US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524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937260" y="692468"/>
            <a:ext cx="5231130" cy="1227772"/>
            <a:chOff x="937260" y="692468"/>
            <a:chExt cx="5231130" cy="1227772"/>
          </a:xfrm>
        </p:grpSpPr>
        <p:sp>
          <p:nvSpPr>
            <p:cNvPr id="3" name="TextBox 3"/>
            <p:cNvSpPr txBox="1"/>
            <p:nvPr/>
          </p:nvSpPr>
          <p:spPr>
            <a:xfrm>
              <a:off x="945642" y="6924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11 / 下一阶段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37260" y="876300"/>
              <a:ext cx="523113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在不牺牲质量硬门的前提下，提升证据可信度与运行效率</a:t>
              </a:r>
              <a:endParaRPr lang="zh-CN" sz="30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1832" y="2249805"/>
            <a:ext cx="4011168" cy="1984629"/>
            <a:chOff x="941832" y="2249805"/>
            <a:chExt cx="4011168" cy="1984629"/>
          </a:xfrm>
        </p:grpSpPr>
        <p:sp>
          <p:nvSpPr>
            <p:cNvPr id="6" name="TextBox 6"/>
            <p:cNvSpPr txBox="1"/>
            <p:nvPr/>
          </p:nvSpPr>
          <p:spPr>
            <a:xfrm>
              <a:off x="941832" y="2249805"/>
              <a:ext cx="2797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轨道 A　证据可信度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952500" y="27241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3356" y="3006090"/>
              <a:ext cx="2223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Claim—来源直接对应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3356" y="34442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正文可核查呈现与时效校验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3356" y="38823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冲突证据处理与专家复核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71082" y="2249805"/>
            <a:ext cx="4011168" cy="1984629"/>
            <a:chOff x="6371082" y="2249805"/>
            <a:chExt cx="4011168" cy="1984629"/>
          </a:xfrm>
        </p:grpSpPr>
        <p:sp>
          <p:nvSpPr>
            <p:cNvPr id="12" name="TextBox 12"/>
            <p:cNvSpPr txBox="1"/>
            <p:nvPr/>
          </p:nvSpPr>
          <p:spPr>
            <a:xfrm>
              <a:off x="6371082" y="2249805"/>
              <a:ext cx="24834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轨道 B　运行效率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6381750" y="27241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72606" y="30060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减少同族重复候选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72606" y="3444240"/>
              <a:ext cx="32047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提前按装备族 / 验收变量去重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72606" y="3882390"/>
              <a:ext cx="23095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优化动态 Agent 编排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86000" y="5048250"/>
            <a:ext cx="7239000" cy="1045845"/>
            <a:chOff x="2286000" y="5048250"/>
            <a:chExt cx="7239000" cy="1045845"/>
          </a:xfrm>
        </p:grpSpPr>
        <p:sp>
          <p:nvSpPr>
            <p:cNvPr id="18" name="Line 18"/>
            <p:cNvSpPr/>
            <p:nvPr/>
          </p:nvSpPr>
          <p:spPr>
            <a:xfrm>
              <a:off x="2286000" y="5048250"/>
              <a:ext cx="3143250" cy="628650"/>
            </a:xfrm>
            <a:custGeom>
              <a:avLst/>
              <a:gdLst/>
              <a:ahLst/>
              <a:cxnLst/>
              <a:rect l="l" t="t" r="r" b="b"/>
              <a:pathLst>
                <a:path w="3143250" h="628650">
                  <a:moveTo>
                    <a:pt x="0" y="0"/>
                  </a:moveTo>
                  <a:lnTo>
                    <a:pt x="3143250" y="6286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381750" y="5048250"/>
              <a:ext cx="3143250" cy="628650"/>
            </a:xfrm>
            <a:custGeom>
              <a:avLst/>
              <a:gdLst/>
              <a:ahLst/>
              <a:cxnLst/>
              <a:rect l="l" t="t" r="r" b="b"/>
              <a:pathLst>
                <a:path w="3143250" h="628650">
                  <a:moveTo>
                    <a:pt x="3143250" y="0"/>
                  </a:moveTo>
                  <a:lnTo>
                    <a:pt x="0" y="6286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6172200" y="5524500"/>
              <a:ext cx="209550" cy="285750"/>
            </a:xfrm>
            <a:custGeom>
              <a:avLst/>
              <a:gdLst/>
              <a:ahLst/>
              <a:cxnLst/>
              <a:rect l="l" t="t" r="r" b="b"/>
              <a:pathLst>
                <a:path w="209550" h="285750">
                  <a:moveTo>
                    <a:pt x="209550" y="152400"/>
                  </a:moveTo>
                  <a:lnTo>
                    <a:pt x="0" y="0"/>
                  </a:lnTo>
                  <a:lnTo>
                    <a:pt x="38100" y="2857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027475" y="5227320"/>
              <a:ext cx="37560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质量不降级，效率可优化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69895" y="5800725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下一轮验收重点：来源绑定、交付硬门、运行时长与前端闭环演示</a:t>
              </a:r>
              <a:endParaRPr lang="zh-CN" sz="1500" dirty="0">
                <a:solidFill>
                  <a:srgbClr val="EAF0F7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6404" y="6404610"/>
            <a:ext cx="10619125" cy="234696"/>
            <a:chOff x="946404" y="6404610"/>
            <a:chExt cx="10619125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946404" y="6404610"/>
              <a:ext cx="4401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保留双策略：Quality 用于快速探索，Dynamic 用于正式收敛</a:t>
              </a:r>
              <a:endParaRPr lang="zh-CN" sz="1200" dirty="0">
                <a:solidFill>
                  <a:srgbClr val="EAF0F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  <a:endPara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project_progress_ai_query_swarm">
  <a:themeElements>
    <a:clrScheme name="project_progress_ai_query_swarm">
      <a:dk1>
        <a:srgbClr val="18212F"/>
      </a:dk1>
      <a:lt1>
        <a:srgbClr val="F8FAFC"/>
      </a:lt1>
      <a:dk2>
        <a:srgbClr val="1F497D"/>
      </a:dk2>
      <a:lt2>
        <a:srgbClr val="F8FAFC"/>
      </a:lt2>
      <a:accent1>
        <a:srgbClr val="0D2B55"/>
      </a:accent1>
      <a:accent2>
        <a:srgbClr val="E89A22"/>
      </a:accent2>
      <a:accent3>
        <a:srgbClr val="2B78B8"/>
      </a:accent3>
      <a:accent4>
        <a:srgbClr val="0D2B55"/>
      </a:accent4>
      <a:accent5>
        <a:srgbClr val="EAF0F7"/>
      </a:accent5>
      <a:accent6>
        <a:srgbClr val="F79646"/>
      </a:accent6>
      <a:hlink>
        <a:srgbClr val="E89A22"/>
      </a:hlink>
      <a:folHlink>
        <a:srgbClr val="2B78B8"/>
      </a:folHlink>
    </a:clrScheme>
    <a:fontScheme name="project_progress_ai_query_swar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ect_progress_ai_query_swar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roject_progress_ai_query_swarm">
  <a:themeElements>
    <a:clrScheme name="project_progress_ai_query_swarm">
      <a:dk1>
        <a:srgbClr val="18212F"/>
      </a:dk1>
      <a:lt1>
        <a:srgbClr val="F8FAFC"/>
      </a:lt1>
      <a:dk2>
        <a:srgbClr val="1F497D"/>
      </a:dk2>
      <a:lt2>
        <a:srgbClr val="F8FAFC"/>
      </a:lt2>
      <a:accent1>
        <a:srgbClr val="0D2B55"/>
      </a:accent1>
      <a:accent2>
        <a:srgbClr val="E89A22"/>
      </a:accent2>
      <a:accent3>
        <a:srgbClr val="2B78B8"/>
      </a:accent3>
      <a:accent4>
        <a:srgbClr val="0D2B55"/>
      </a:accent4>
      <a:accent5>
        <a:srgbClr val="EAF0F7"/>
      </a:accent5>
      <a:accent6>
        <a:srgbClr val="F79646"/>
      </a:accent6>
      <a:hlink>
        <a:srgbClr val="E89A22"/>
      </a:hlink>
      <a:folHlink>
        <a:srgbClr val="2B78B8"/>
      </a:folHlink>
    </a:clrScheme>
    <a:fontScheme name="project_progress_ai_query_swar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ect_progress_ai_query_swar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3294</Words>
  <Application>WPS 文字</Application>
  <PresentationFormat>On-screen Show (16:9)</PresentationFormat>
  <Paragraphs>456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方正雅意黑 GB18030L2</vt:lpstr>
      <vt:lpstr>汉仪书宋二KW</vt:lpstr>
      <vt:lpstr>儷宋 Pro</vt:lpstr>
      <vt:lpstr>微软雅黑</vt:lpstr>
      <vt:lpstr>宋体</vt:lpstr>
      <vt:lpstr>Arial Unicode MS</vt:lpstr>
      <vt:lpstr>Calibri</vt:lpstr>
      <vt:lpstr>Helvetica Neue</vt:lpstr>
      <vt:lpstr>微软雅黑</vt:lpstr>
      <vt:lpstr>project_progress_ai_query_swarm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WPS_1781090227</cp:lastModifiedBy>
  <cp:revision>2</cp:revision>
  <dcterms:created xsi:type="dcterms:W3CDTF">2026-08-06T06:40:25Z</dcterms:created>
  <dcterms:modified xsi:type="dcterms:W3CDTF">2026-08-06T06:40:25Z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E140B831F078EB69592C746AA660F445_42</vt:lpwstr>
  </property>
</Properties>
</file>